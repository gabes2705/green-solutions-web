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Prélèvements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bubble3D val="0"/>
            <c:spPr>
              <a:solidFill>
                <a:srgbClr val="D9A441"/>
              </a:solidFill>
              <a:effectLst/>
            </c:spPr>
          </c:dPt>
          <c:dPt>
            <c:idx val="2"/>
            <c:bubble3D val="0"/>
            <c:spPr>
              <a:solidFill>
                <a:srgbClr val="7FA88C"/>
              </a:solidFill>
              <a:effectLst/>
            </c:spPr>
          </c:dPt>
          <c:dLbls>
            <c:dLbl>
              <c:idx val="0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C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Eau potable</c:v>
                </c:pt>
                <c:pt idx="2">
                  <c:v>Industrie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65</c:v>
                </c:pt>
                <c:pt idx="1">
                  <c:v>30</c:v>
                </c:pt>
                <c:pt idx="2">
                  <c:v>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annuelle (millions de tonnes)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C]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A44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A8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E7A3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F866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Pomme de terre</c:v>
                  </c:pt>
                  <c:pt idx="1">
                    <c:v>Céréales*</c:v>
                  </c:pt>
                  <c:pt idx="2">
                    <c:v>Tomate</c:v>
                  </c:pt>
                  <c:pt idx="3">
                    <c:v>Agrumes</c:v>
                  </c:pt>
                  <c:pt idx="4">
                    <c:v>Dattes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4.7</c:v>
                </c:pt>
                <c:pt idx="1">
                  <c:v>3.5</c:v>
                </c:pt>
                <c:pt idx="2">
                  <c:v>2.2</c:v>
                </c:pt>
                <c:pt idx="3">
                  <c:v>1.4</c:v>
                </c:pt>
                <c:pt idx="4">
                  <c:v>1.2</c:v>
                </c:pt>
              </c:numCache>
            </c:numRef>
          </c:val>
        </c:ser>
        <c:dLbls>
          <c:numFmt formatCode="[$-40C]0.0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Fourchette basse (%)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Pivot</c:v>
                  </c:pt>
                  <c:pt idx="3">
                    <c:v>Submersion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Fourchette haute (%)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Pivot</c:v>
                  </c:pt>
                  <c:pt idx="3">
                    <c:v>Submersion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reen-solutions-web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reen-solutions-web\scripts\dossiers\drapeaux\alger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389888"/>
            <a:ext cx="1965960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389888"/>
            <a:ext cx="1965960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RÉPUBLIQUE ALGÉRIENNE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Alger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Maraîchage, dattes et céréales entre littoral saturé et périmètres sahariens.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l'hydro-rétention change quand l'eau ne se renouvelle plus.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Septembre 2026 · Document confidentiel · À l'usage exclusif du destinataire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EN BREF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secteur stratégique, très exposé à la ressource en eau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12 %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PIB provient de l'agriculture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8,5 M ha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surface agricole utile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1,4 M ha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irrigués, soit environ 16 % de la SAU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10–20 %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population active, selon les sources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algérienne couvre l'essentiel de la demande nationale en légumes, en pomme de terre et en dattes, mais le pays importe encore de l'ordre de 6 à 8 millions de tonnes de blé par an. La marge de progression passe par l'eau disponible à la parcelle.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ressource rare, inégalement répartie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irrigué sous pivot, Sud algérien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disponibilité en eau renouvelable est de l'ordre de 300 m³ par habitant et par an, très en dessous du seuil de pénurie communément retenu de 1 000 m³.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mobilise environ les deux tiers de l'eau prélevée : toute tension sur la ressource se traduit d'abord par des restrictions d'irrigation.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gradient pluviométrique est brutal : 600 à 1 000 mm par an en Kabylie, 300 à 400 mm sur les Hauts Plateaux, moins de 100 mm dès l'entrée du Sahara.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nappes sahariennes exploitées à El Oued, Ouargla ou Adrar sont pour l'essentiel fossiles : le mètre cube pompé ne se reconstitue pas à l'échelle humaine.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réponse publique — barrages, transferts, unités de dessalement de grande capacité — porte sur l'offre. L'hydro-rétention agit sur la demande, à la parcelle.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PART L'EAU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L'agriculture, premier poste de prélèvement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cela implique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Réduire de 10 % la consommation agricole libère plus de volume que l'arrêt complet de l'usage industriel.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un pays qui produit une part croissante de son eau potable par dessalement, chaque mètre cube économisé à la parcelle a une valeur directe.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FILIÈRES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 productions structurent l'offre nationale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Pomme de terre, tomate et dattes sont intégralement irriguées : c'est là que l'économie d'eau se convertit en marge.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Les céréales sont majoritairement pluviales et le volume varie fortement d'une campagne à l'autre selon la pluviométrie.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technologies, deux contraintes différentes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retenir l'eau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Hydro-rétenteur à base de potassium, incorporé dans la zone racinaire à la plantation ou à la reprise.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 l'eau d'irrigation ou de pluie et la restitue progressivement, ce qui supprime le stress hydrique des phases critiques.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d'absorption de l'ordre de 300 fois son poids ; durée d'effet utile de 3 à 4 ans dans le sol.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dégrade de 20 à 25 % par an, sans accumulation dans le profil ni risque de surdosage.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nourrir sans épuiser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Fertilisant en microdoses d'acides aminés, azote, phosphore et potassium, issu de ressources renouvelables.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chélatant : il n'appauvrit pas le complexe argilo-humique et n'augmente ni la salinité ni la teneur en nitrates.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Certifié SOHISCERT et EU Bio — condition d'accès aux cahiers des charges des acheteurs européens.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à 4 flacons de 140 ml par hectare, compatible avec les équipements de fertirrigation en place.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produits se vendent séparément mais se renforcent : l'hydro-rétenteur prolonge la disponibilité de l'eau, le fertilisant valorise cette eau sans charger un sol déjà sensible à la salinité.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ORDRES DE GRANDEUR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Économie d'eau attendue selon le mode d'irrigation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fourchettes sont indicatives et fondées sur les gains documentés de nos hydro-rétenteurs.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culture. Ces chiffres donnent un ordre de grandeur : ils ne constituent en aucun cas une valeur garantie, contractuelle ou absolue.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TERRAINS PRIORITAIRES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engager les premiers essais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Mitidja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130 000 ha de plaine agricole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bassin d'agrumes et de maraîchage du pays, adossé au marché d'Alger.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Nappe alluviale surexploitée, avec des remontées salines constatées en bordure côtière.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Exploitations moyennes déjà équipées en goutte-à-goutte, capables de décider vite sur un essai.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Ziban — Biskra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Dattes Deglet Nour et primeurs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pôle dattier du pays et principal fournisseur de primeurs hors saison.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Sols sableux à très faible capacité de rétention : l'eau percole avant d'être absorbée.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Filière d'exportation déjà structurée vers l'Europe, sensible aux exigences de certification.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Oued — Souf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Pomme de terre sous pivot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Bassin de pomme de terre développé sur sable, irrigué par pivots depuis des nappes profondes.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 filtrant et évapotranspiration élevée : le poste irrigation pèse lourd dans le coût de revient.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 fossile non renouvelable : l'économie d'eau conditionne la durée d'exploitation.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PROCÉDONS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déploiement progressif, mesuré à chaque étape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du sol, du mode d'irrigation et de la culture. Aucun engagement à ce stade.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Parcelle témoin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comparatif sur une parcelle, avec témoin conduit strictement à l'identique.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Relevés de consommation et de rendement sur un cycle cultural complet.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Généralisation progressive aux autres parcelles sur la base des résultats constatés.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de dosage est la même partout : 3 grammes par litre de terre utile. Ce qui change d'un terrain à l'autre, c'est le volume de terre réellement exploré par les racines — un pivot sur sable du Souf et un verger d'agrumes de Mitidja n'appellent pas la même quantité.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ANTICIPER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 identifiés et réponses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Variabilité interannuelle de la pluviométrie : une campagne humide masque l'intérêt du produit sur les Hauts Plateaux.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Foncier morcelé au Nord : beaucoup de petites exploitations, décision d'achat dispersée.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Concurrence de produits bas de gamme à base de sodium, qui ont laissé de mauvais souvenirs.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Contraintes d'importation et délais logistiques sur les intrants agricoles.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Réponses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Conduire l'essai sur un cycle complet avec parcelle témoin, pour objectiver le gain même en année favorable.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par les coopératives, les groupements et les grandes fermes pilotes du Sud.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la formulation : potassium et non sodium, compatible avec les cultures alimentaires.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Étaler l'engagement : la durée d'effet de 3 à 4 ans amortit le coût sur plusieurs campagnes.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acrylamide (laboratoire Polymex, ISO 9001, teneur inférieure à 3,0 µg/g), screening REACH / SVHC (SGS) et certificat SOHISCERT valable jusqu'au 4 septembre 2027 : disponibles sur demande.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Dites-nous votre parcelle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Culture, mode d'irrigation, nature du sol, volume d'eau consommé aujourd'hui. Nous revenons avec la combinaison de technologies correspondante, les dosages, et les essais déjà conduits dans des situations comparables.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premier échange n'engage à rien.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pic>
        <p:nvPicPr>
          <p:cNvPr id="6" name="Image 1" descr="C:\Users\Utilisateur\dev\green-solutions-web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2026-09-15T12:53:11Z</dcterms:created>
  <dcterms:modified xsi:type="dcterms:W3CDTF">2026-09-15T12:53:11Z</dcterms:modified>
</cp:coreProperties>
</file>