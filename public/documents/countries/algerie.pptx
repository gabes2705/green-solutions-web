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Indice mondial du nombre et de la durée des sécheresses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C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Depuis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40C]0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Prélèvements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bubble3D val="0"/>
            <c:spPr>
              <a:solidFill>
                <a:srgbClr val="7FA88C"/>
              </a:solidFill>
              <a:effectLst/>
            </c:spPr>
          </c:dPt>
          <c:dLbls>
            <c:dLbl>
              <c:idx val="0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0C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Agriculture</c:v>
                </c:pt>
                <c:pt idx="1">
                  <c:v>Eau potable</c:v>
                </c:pt>
                <c:pt idx="2">
                  <c:v>Industrie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</c:v>
                </c:pt>
                <c:pt idx="1">
                  <c:v>30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annuelle (millions de tonnes)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C]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A8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E7A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866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Pomme de terre</c:v>
                  </c:pt>
                  <c:pt idx="1">
                    <c:v>Céréales*</c:v>
                  </c:pt>
                  <c:pt idx="2">
                    <c:v>Tomate</c:v>
                  </c:pt>
                  <c:pt idx="3">
                    <c:v>Agrumes</c:v>
                  </c:pt>
                  <c:pt idx="4">
                    <c:v>Dattes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</c:v>
                </c:pt>
                <c:pt idx="1">
                  <c:v>3.5</c:v>
                </c:pt>
                <c:pt idx="2">
                  <c:v>2.2</c:v>
                </c:pt>
                <c:pt idx="3">
                  <c:v>1.4</c:v>
                </c:pt>
                <c:pt idx="4">
                  <c:v>1.2</c:v>
                </c:pt>
              </c:numCache>
            </c:numRef>
          </c:val>
        </c:ser>
        <c:dLbls>
          <c:numFmt formatCode="[$-40C]0.0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 de fourchette (%)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Tomates</c:v>
                  </c:pt>
                  <c:pt idx="1">
                    <c:v>Pommes de terre</c:v>
                  </c:pt>
                  <c:pt idx="2">
                    <c:v>Dattes</c:v>
                  </c:pt>
                  <c:pt idx="3">
                    <c:v>Agrumes</c:v>
                  </c:pt>
                  <c:pt idx="4">
                    <c:v>Olives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Haut de fourchette (%)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Tomates</c:v>
                  </c:pt>
                  <c:pt idx="1">
                    <c:v>Pommes de terre</c:v>
                  </c:pt>
                  <c:pt idx="2">
                    <c:v>Dattes</c:v>
                  </c:pt>
                  <c:pt idx="3">
                    <c:v>Agrumes</c:v>
                  </c:pt>
                  <c:pt idx="4">
                    <c:v>Olives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</c:numCache>
            </c:numRef>
          </c:val>
        </c:ser>
        <c:dLbls>
          <c:numFmt formatCode="[$-40C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Fourchette basse (%)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Aspersion</c:v>
                  </c:pt>
                  <c:pt idx="2">
                    <c:v>Pivot</c:v>
                  </c:pt>
                  <c:pt idx="3">
                    <c:v>Submersion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Fourchette haute (%)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41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Aspersion</c:v>
                  </c:pt>
                  <c:pt idx="2">
                    <c:v>Pivot</c:v>
                  </c:pt>
                  <c:pt idx="3">
                    <c:v>Submersion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65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[$-40C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41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0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D7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alger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91" y="1389888"/>
            <a:ext cx="1964425" cy="1310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9991" y="1389888"/>
            <a:ext cx="1964425" cy="131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RÉPUBLIQUE ALGÉRIENNE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Alger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Maraîchage, dattes et céréales entre littoral saturé et périmètres sahariens.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l'hydro-rétention change quand l'eau ne se renouvelle plus.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· Document confidentiel · À l'usage exclusif du destinataire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EN BREF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secteur stratégique, très exposé à la ressource en eau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12 %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provient de l'agriculture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8,5 M ha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surface agricole utile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1,4 M ha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irrigués, soit environ 16 % de la SAU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10–20 %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active, selon les sources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 algérienne couvre l'essentiel de la demande nationale en légumes, en pomme de terre et en dattes, mais le pays importe encore de l'ordre de 6 à 8 millions de tonnes de blé par an. La marge de progression passe par l'eau disponible à la parcelle.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ressource rare, inégalement répartie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irrigué sous pivot, Sud algérien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disponibilité en eau renouvelable est de l'ordre de 300 m³ par habitant et par an, très en dessous du seuil de pénurie communément retenu de 1 000 m³.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 mobilise environ les deux tiers de l'eau prélevée : toute tension sur la ressource se traduit d'abord par des restrictions d'irrigation.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gradient pluviométrique est brutal : 600 à 1 000 mm par an en Kabylie, 300 à 400 mm sur les Hauts Plateaux, moins de 100 mm dès l'entrée du Sahara.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nappes sahariennes exploitées à El Oued, Ouargla ou Adrar sont pour l'essentiel fossiles : le mètre cube pompé ne se reconstitue pas à l'échelle humaine.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publique — barrages, transferts, unités de dessalement de grande capacité — porte sur l'offre. L'hydro-rétention agit sur la demande, à la parcelle.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SÉCHERESSE ET STRESS HYDRIQUE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pression augmente, mais le risque se lit localement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indicateurs, pas un raccourci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l’échelle mondiale, le nombre et la durée des sécheresses ont augmenté de 29 % depuis 2000 par rapport aux deux décennies précédentes.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stress hydrique mesure autre chose : les prélèvements rapportés aux ressources renouvelables disponibles après les besoins environnementaux. Ce signal mondial n’est donc pas une prévision nationale ; il doit être confronté aux pluies, aux nappes, aux saisons et aux usages locaux.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PART L'EAU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L'agriculture, premier poste de prélèvement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cela implique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de 10 % la consommation agricole libère plus de volume que l'arrêt complet de l'usage industriel.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pays qui produit une part croissante de son eau potable par dessalement, chaque mètre cube économisé à la parcelle a une valeur directe.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ET SÉCURITÉ ALIMENTAIRE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Produire davantage pour importer moins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Md$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d'importations alimentaires par an, céréales et lait en tête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importateurs mondiaux de blé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palmiers dattiers, Deglet Nour en tête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4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producteurs mondiaux de dattes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politique agricole encourage la mise en valeur des terres du Sud — céréales sous pivot, pomme de terre, maïs — pour réduire la facture des importations. Chaque hectare gagné sur le désert se paie en eau souterraine : l'efficience au champ conditionne l'extension.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FILIÈRES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productions structurent l'offre nationale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Pomme de terre, tomate et dattes sont intégralement irriguées : c'est là que l'économie d'eau se convertit en marge.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Les céréales sont majoritairement pluviales et le volume varie fortement d'une campagne à l'autre selon la pluviométrie.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FILIÈRE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Dattes : la Deglet Nour sous contrainte d'eau et de sel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palmeraies des Ziban, de l'Oued Righ et du Souf fournissent l'essentiel de la production, dont la Deglet Nour exportée.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L'irrigation par submersion reste courante, alors que les nappes profondes du Sahara ne se renouvellent pas.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remontée des sels et l'ensablement réduisent le calibre et la qualité des dattes dans les vieilles palmeraies.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nouvelles plantations passent au goutte-à-goutte : c'est le moment où l'hydro-rétenteur se pose le plus simplement.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rejet planté avec EVERGREEN® dans la fosse garde l'eau au niveau des racines entre deux irrigations.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DEUXIÈME FILIÈRE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Pomme de terre sous pivot : le rendement se joue à l'arrosage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près de 5 millions de tonnes, la pomme de terre est la première production végétale du pays.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Oued est devenu en vingt ans un bassin majeur, sur sable, sous pivot, avec une eau pompée en profondeur.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sol sableux, l'eau traverse la zone racinaire en quelques heures : une partie de chaque arrosage est perdue.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du pompage et de l'électricité pèse de plus en plus dans la marge à l'hectare.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essais secteur contre secteur sous un même pivot mesurent l'eau économisée sur une saison complète.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de rendement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de rendement attendu par culture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lire avec prudence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Fourchettes retenues par notre calculateur de dose, pour une culture conduite normalement avec EVERGREEN® à la plantation.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réel dépend du sol, du climat et de la conduite. Pour les céréales, aucun gain n'est avancé sans essai de terrain.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technologies, deux contraintes différentes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retenir l'eau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Hydro-rétenteur à base de potassium, incorporé dans la zone racinaire à la plantation ou à la reprise.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 l'eau d'irrigation ou de pluie et la restitue progressivement, ce qui supprime le stress hydrique des phases critiques.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d'absorption de l'ordre de 300 fois son poids ; durée d'effet utile de 3 à 4 ans dans le sol.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dégrade de 20 à 25 % par an, sans accumulation dans le profil ni risque de surdosage.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nourrir sans épuiser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Fertilisant en microdoses d'acides aminés, azote, phosphore et potassium, issu de ressources renouvelables.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chélatant : il n'appauvrit pas le complexe argilo-humique et n'augmente ni la salinité ni la teneur en nitrates.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 SOHISCERT et EU Bio — condition d'accès aux cahiers des charges des acheteurs européens.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4 flacons de 140 ml par hectare, compatible avec les équipements de fertirrigation en place.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produits se vendent séparément mais se renforcent : l'hydro-rétenteur prolonge la disponibilité de l'eau, le fertilisant valorise cette eau sans charger un sol déjà sensible à la salinité.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de la gamme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les cultures, fixer les sols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protéger sans résidu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contre maladies, parasites, champignons et ravageurs, sans molécule de synthèse.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Pulvérisation foliaire et racinaire, à effet préventif comme curatif.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résidu dans le sol, la plante ou l'air : pollinisateurs et auxiliaires préservés.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Formulé sur mesure pour un problème précis : cochenille, HLB des agrumes, nématodes.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l'arbre des régions chaudes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à 15 m en six à huit ans, avec un tronc de gros diamètre.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 à 100 g d'EVERGREEN® par plant, l'irrigation nécessaire diminue de 50 %.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de −25 °C à +45 °C ; son bois ne s'enflamme qu'à partir de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Brise-vent, protection des sols contre l'érosion, 400 à 700 kg de miel par hectare.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livrés en pot (25 à 30 cm), certifiés indemnes de maladies et remplacés sous garantie en cas de perte. Première coupe à la fin de la sixième année, bois valorisé autour de 400 à 450 € le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d'eau attendue selon le mode d'irrigation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lire avec prudence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fourchettes sont indicatives et fondées sur les gains documentés de nos hydro-rétenteurs.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réel dépend du sol, du climat et de la culture. Ces chiffres donnent un ordre de grandeur : ils ne constituent en aucun cas une valeur garantie, contractuelle ou absolue.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TERRAINS PRIORITAIRES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engager les premiers essais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Mitidja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130 000 ha de plaine agricole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bassin d'agrumes et de maraîchage du pays, adossé au marché d'Alger.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Nappe alluviale surexploitée, avec des remontées salines constatées en bordure côtière.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moyennes déjà équipées en goutte-à-goutte, capables de décider vite sur un essai.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Ziban — Biskra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Dattes Deglet Nour et primeurs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pôle dattier du pays et principal fournisseur de primeurs hors saison.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 sableux à très faible capacité de rétention : l'eau percole avant d'être absorbée.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d'exportation déjà structurée vers l'Europe, sensible aux exigences de certification.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Oued — Souf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Pomme de terre sous pivot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Bassin de pomme de terre développé sur sable, irrigué par pivots depuis des nappes profondes.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filtrant et évapotranspiration élevée : le poste irrigation pèse lourd dans le coût de revient.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 fossile non renouvelable : l'économie d'eau conditionne la durée d'exploitation.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PROCÉDONS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déploiement progressif, mesuré à chaque étape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sol, du mode d'irrigation et de la culture. Aucun engagement à ce stade.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Parcelle témoin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essai comparatif sur une parcelle, avec témoin conduit strictement à l'identique.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consommation et de rendement sur un cycle cultural complet.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progressive aux autres parcelles sur la base des résultats constatés.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 dosage est la même partout : 3 grammes par litre de terre utile. Ce qui change d'un terrain à l'autre, c'est le volume de terre réellement exploré par les racines — un pivot sur sable du Souf et un verger d'agrumes de Mitidja n'appellent pas la même quantité.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ensemble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partenaire local pour l'Algérie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Exclusivité territoriale et stock de lancement pour la première saison commerciale.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technique des équipes, protocoles de dosage et mises à jour à chaque saison.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Essais conjoints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Parcelles de démonstration avec témoin, résultats partagés avec les producteurs.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avec le ministère de l'Agriculture et les programmes de sécurité alimentaire.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s'adapte au territoire : un importateur, un distributeur d'intrants ou un groupement de producteurs peut porter le partenariat.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ANTICIPER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identifiés et réponses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Variabilité interannuelle de la pluviométrie : une campagne humide masque l'intérêt du produit sur les Hauts Plateaux.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Foncier morcelé au Nord : beaucoup de petites exploitations, décision d'achat dispersée.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de produits bas de gamme à base de sodium, qui ont laissé de mauvais souvenirs.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d'importation et délais logistiques sur les intrants agricoles.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 l'essai sur un cycle complet avec parcelle témoin, pour objectiver le gain même en année favorable.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par les coopératives, les groupements et les grandes fermes pilotes du Sud.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formulation : potassium et non sodium, compatible avec les cultures alimentaires.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Étaler l'engagement : la durée d'effet de 3 à 4 ans amortit le coût sur plusieurs campagnes.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acrylamide (laboratoire Polymex, ISO 9001, teneur inférieure à 3,0 µg/g), screening REACH / SVHC (SGS) et certificat SOHISCERT valable jusqu'au 4 septembre 2027 : disponibles sur demande.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et hypothèses de travail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principales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national des statistiques (ONS) : comptes nationaux, production agricole.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l'Agriculture et du Développement rural : statistiques agricoles.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Douanes algériennes : importations de céréales, de lait et de produits alimentaires.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(FAOSTAT, AQUASTAT) et Banque mondiale (WDI).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 : nombre et durée des sécheresses, +29 % depuis 2000 par rapport à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ONU-Eau / FAO AQUASTAT, indicateur ODD 6.4.2 : définition et seuils du stress hydrique.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de travail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sont des ordres de grandeur arrondis, tirés des dernières données publiques disponibles.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gains d'eau et de rendement sont indicatifs et varient selon le sol, le climat et la culture.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64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commercial : chiffres à actualiser avant toute soumission officielle.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2F1E8"/>
          </a:solidFill>
          <a:ln w="9525">
            <a:solidFill>
              <a:srgbClr val="E0DF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d'essais, certificats (SOHISCERT, analyses Polymex et SGS) et fiches techniques : disponibles sur demande.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F7D7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Dites-nous votre parcelle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mode d'irrigation, nature du sol, volume d'eau consommé aujourd'hui. Nous revenons avec la combinaison de technologies correspondante, les dosages, et les essais déjà conduits dans des situations comparables.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premier échange n'engage à rien.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Suisse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Algérie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2026-10-07T08:25:10Z</dcterms:created>
  <dcterms:modified xsi:type="dcterms:W3CDTF">2026-10-07T08:25:10Z</dcterms:modified>
</cp:coreProperties>
</file>