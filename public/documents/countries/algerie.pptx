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5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00E5FF"/>
                </a:solidFill>
              </a:rPr>
              <a:t>تقرير تطوير السوق الجزائري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الزراعة والمياه والتكنولوجيا الخضراء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5F5F5"/>
                </a:solidFill>
              </a:rPr>
              <a:t>2024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1A5F3E"/>
                </a:solidFill>
              </a:rPr>
              <a:t>نظرة عامة على السوق الجزائري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4572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716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A1A"/>
                </a:solidFill>
              </a:rPr>
              <a:t>🌍 المساحة: 2.38 مليون كم²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A1A"/>
                </a:solidFill>
              </a:rPr>
              <a:t>👥 السكان: 44 مليون نسمة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A1A"/>
                </a:solidFill>
              </a:rPr>
              <a:t>📊 الناتج المحلي: يعتمد على النفط والزراعة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A1A"/>
                </a:solidFill>
              </a:rPr>
              <a:t>🌾 الزراعة: 10-12% من الناتج المحلي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2004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A1A"/>
                </a:solidFill>
              </a:rPr>
              <a:t>💧 التحديات: شح المياه والجفاف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1A5F3E"/>
                </a:solidFill>
              </a:rPr>
              <a:t>المناخ والتحديات المائية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4572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716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A1A"/>
                </a:solidFill>
              </a:rPr>
              <a:t>الصحراء الكبرى تغطي 80% من الأراضي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A1A"/>
                </a:solidFill>
              </a:rPr>
              <a:t>هطول الأمطار السنوي: 100-400 ملم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A1A"/>
                </a:solidFill>
              </a:rPr>
              <a:t>معدل التبخر العالي جداً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A1A"/>
                </a:solidFill>
              </a:rPr>
              <a:t>نقص موارد المياه الجوفية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2004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A1A"/>
                </a:solidFill>
              </a:rPr>
              <a:t>تأثر المناطق الساحلية والشمالية أقل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1A5F3E"/>
                </a:solidFill>
              </a:rPr>
              <a:t>القطاعات الزراعية الرئيسية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4572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5F3E"/>
                </a:solidFill>
              </a:rPr>
              <a:t>القمح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1.5 مليون هكتار | 2.5-4 مليون طن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0" y="1920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5F3E"/>
                </a:solidFill>
              </a:rPr>
              <a:t>الشعير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92024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2 مليون هكتار | 1-2 مليون طن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0" y="2468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5F3E"/>
                </a:solidFill>
              </a:rPr>
              <a:t>الزيتون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246888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500,000 هكتار | 500,000 طن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0" y="3017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5F3E"/>
                </a:solidFill>
              </a:rPr>
              <a:t>التمر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301752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120,000 هكتار | 900,000 طن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1A5F3E"/>
                </a:solidFill>
              </a:rPr>
              <a:t>أنماط استخدام المياه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4572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5F3E"/>
                </a:solidFill>
              </a:rPr>
              <a:t>الزراعة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0" y="1691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4A9D6F"/>
                </a:solidFill>
              </a:rPr>
              <a:t>84%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371600"/>
            <a:ext cx="5760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استخدام الري التقليدي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0" y="22860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5F3E"/>
                </a:solidFill>
              </a:rPr>
              <a:t>الصناعة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0" y="26060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4A9D6F"/>
                </a:solidFill>
              </a:rPr>
              <a:t>8%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286000"/>
            <a:ext cx="5760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استخدام محدود في المناطق الساحلية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0" y="32004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5F3E"/>
                </a:solidFill>
              </a:rPr>
              <a:t>الاستخدام المنزلي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0" y="35204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4A9D6F"/>
                </a:solidFill>
              </a:rPr>
              <a:t>8%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200400"/>
            <a:ext cx="5760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توزيع متفاوت حسب المنطقة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1A5F3E"/>
                </a:solidFill>
              </a:rPr>
              <a:t>البنية التحتية للري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4572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716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A1A1A"/>
                </a:solidFill>
              </a:rPr>
              <a:t>السدود: 76 سد رئيسي بطاقة تخزين 13 مليار م³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A1A1A"/>
                </a:solidFill>
              </a:rPr>
              <a:t>الآبار الارتوازية: 25,000 بئر في الصحراء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A1A1A"/>
                </a:solidFill>
              </a:rPr>
              <a:t>الري بالتنقيط: ينتشر في الواحات وشرق الولايات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A1A1A"/>
                </a:solidFill>
              </a:rPr>
              <a:t>شبكات الري التقليدية: لا تزال سائدة في المناطق الشمالية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2004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A1A1A"/>
                </a:solidFill>
              </a:rPr>
              <a:t>محطات معالجة المياه: في التطور والتحديث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1A5F3E"/>
                </a:solidFill>
              </a:rPr>
              <a:t>تحديات منطقة الساحل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4572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716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A1A"/>
                </a:solidFill>
              </a:rPr>
              <a:t>التصحر المتسارع والزحف الصحراوي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A1A"/>
                </a:solidFill>
              </a:rPr>
              <a:t>تدهور التربة وفقدان الخصوبة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A1A"/>
                </a:solidFill>
              </a:rPr>
              <a:t>الإجهاد المائي الشديد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A1A"/>
                </a:solidFill>
              </a:rPr>
              <a:t>الفقر والبطالة الريفية المرتفعة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2004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A1A"/>
                </a:solidFill>
              </a:rPr>
              <a:t>الهجرة القسرية من المناطق الحدودية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1A5F3E"/>
                </a:solidFill>
              </a:rPr>
              <a:t>توافق التكنولوجيا الخضراء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4572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5F3E"/>
                </a:solidFill>
              </a:rPr>
              <a:t>الطاقة الشمسية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ممتاز - 2500+ ساعة شمس سنوياً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0" y="1828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5F3E"/>
                </a:solidFill>
              </a:rPr>
              <a:t>الري الذكي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82880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حرج - توفير 30-40% من المياه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0" y="22860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5F3E"/>
                </a:solidFill>
              </a:rPr>
              <a:t>إدارة التربة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28600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مهم - استعادة الخصوبة والكربون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0" y="2743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5F3E"/>
                </a:solidFill>
              </a:rPr>
              <a:t>الزراعة الدقيقة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274320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واعد - تحسين الغلة 20-25%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0" y="32004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5F3E"/>
                </a:solidFill>
              </a:rPr>
              <a:t>حصاد المياه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20040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ضروري - أنظمة الخزانات الصغيرة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1A5F3E"/>
                </a:solidFill>
              </a:rPr>
              <a:t>دراسة حالة: نجاح الري بالتنقيط في الواحات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4572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4A9D6F"/>
                </a:solidFill>
              </a:rPr>
              <a:t>بسكرة وأدرار - منطقة واحات التمر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توفير المياه: 35% انخفاض استهلاك المياه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زيادة الإنتاج: 40% زيادة في محصول التمر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تحسين الدخل: مدخول الفلاح ارتفع 50%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7889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المستدامة: الأرض تحتفظ بخصوبتها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2004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التكرار: 15,000 هكتار الآن بالري المحسّن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1A5F3E"/>
                </a:solidFill>
              </a:rPr>
              <a:t>دراسة حالة: الري بالطاقة الشمسية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4572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4A9D6F"/>
                </a:solidFill>
              </a:rPr>
              <a:t>غرداية والمنطقة الوسطى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الطاقة: أنظمة بطاريات شمسية بـ 50 كيلوواط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التوفير: انخفاض تكاليف الكهرباء بـ 80%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الاستقلالية: حرية من الشبكة الكهربائية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7889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البيئة: خفض الانبعاثات بـ 100 طن CO₂/السنة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2004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التوسع: 50 موقع تشغيلي الآن و100 مخطط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1A5F3E"/>
                </a:solidFill>
              </a:rPr>
              <a:t>البيئة التنظيمية والدعم الحكومي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4572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716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A1A1A"/>
                </a:solidFill>
              </a:rPr>
              <a:t>برنامج التنمية الريفية المستدامة (2020-2030)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A1A1A"/>
                </a:solidFill>
              </a:rPr>
              <a:t>دعم حكومي: 50% من تكاليف الري بالتنقيط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A1A1A"/>
                </a:solidFill>
              </a:rPr>
              <a:t>إعفاءات ضريبية للتكنولوجيات الخضراء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A1A1A"/>
                </a:solidFill>
              </a:rPr>
              <a:t>قروض ميسّرة من البنوك الحكومية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2004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A1A1A"/>
                </a:solidFill>
              </a:rPr>
              <a:t>سياسة حماية المياه الجوفية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1A5F3E"/>
                </a:solidFill>
              </a:rPr>
              <a:t>فرص الشراكة والاستثمار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4572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716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1. تحديث البنية التحتية المائية - 2 مليار دولار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2. تركيب أنظمة الري الذكية - 500 مليون دولار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3. المزارع الشمسية المدمجة - 1 مليار دولار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606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4. مراكز التدريب والبحث - 200 مليون دولار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0175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5. صادرات المحاصيل العضوية - 300 مليون دولار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1A5F3E"/>
                </a:solidFill>
              </a:rPr>
              <a:t>خريطة الطريق للتنفيذ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4572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5F3E"/>
                </a:solidFill>
              </a:rPr>
              <a:t>المرحلة الأولى (2024-2025)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الدراسات والتخطيط وتحديد الأولويات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1920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5F3E"/>
                </a:solidFill>
              </a:rPr>
              <a:t>المرحلة الثانية (2025-2027)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92024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تركيب أولي في 5 واحات رئيسية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0" y="2468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5F3E"/>
                </a:solidFill>
              </a:rPr>
              <a:t>المرحلة الثالثة (2027-2030)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46888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التوسع إلى 25 منطقة وتدريب الفلاحين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5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00E5FF"/>
                </a:solidFill>
              </a:rPr>
              <a:t>الخلاصة والنقاط الأساسية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الجزائر تملك إمكانيات زراعية هائلة غير مستغلة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14400" y="1783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التكنولوجيا الخضراء حل حقيقي لأزمة المياه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1945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نماذج ناجحة تثبت فعالية الحل والعائد الاستثماري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الدعم الحكومي والشراكات الخاصة ضرورية للنجاح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الفرص الاستثمارية كبيرة والعودة مضمونة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5F5F5"/>
                </a:solidFill>
              </a:rPr>
              <a:t>تم إعداد هذا التقرير: 2024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2026-09-14T06:51:51Z</dcterms:created>
  <dcterms:modified xsi:type="dcterms:W3CDTF">2026-09-14T06:51:51Z</dcterms:modified>
</cp:coreProperties>
</file>