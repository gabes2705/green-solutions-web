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Globalni indeks broja i trajanja suša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C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1980.–1999.</c:v>
                  </c:pt>
                  <c:pt idx="1">
                    <c:v>Od 2000.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Zahvaćanje vode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bubble3D val="0"/>
            <c:spPr>
              <a:solidFill>
                <a:srgbClr val="D98C2B"/>
              </a:solidFill>
              <a:effectLst/>
            </c:spPr>
          </c:dPt>
          <c:dPt>
            <c:idx val="2"/>
            <c:bubble3D val="0"/>
            <c:spPr>
              <a:solidFill>
                <a:srgbClr val="5A8BA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Javna vodoopskrba</c:v>
                </c:pt>
                <c:pt idx="1">
                  <c:v>Industrija</c:v>
                </c:pt>
                <c:pt idx="2">
                  <c:v>Poljoprivreda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25</c:v>
                </c:pt>
                <c:pt idx="2">
                  <c:v>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Godišnja proizvodnja (milijuni tona)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C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8B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F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25C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Kukuruz</c:v>
                  </c:pt>
                  <c:pt idx="1">
                    <c:v>Pšenica</c:v>
                  </c:pt>
                  <c:pt idx="2">
                    <c:v>Šećerna repa</c:v>
                  </c:pt>
                  <c:pt idx="3">
                    <c:v>Ječam</c:v>
                  </c:pt>
                  <c:pt idx="4">
                    <c:v>Soja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0.9</c:v>
                </c:pt>
                <c:pt idx="2">
                  <c:v>0.9</c:v>
                </c:pt>
                <c:pt idx="3">
                  <c:v>0.3</c:v>
                </c:pt>
                <c:pt idx="4">
                  <c:v>0.25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Donja granica (%)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Mandarine</c:v>
                  </c:pt>
                  <c:pt idx="1">
                    <c:v>Masline</c:v>
                  </c:pt>
                  <c:pt idx="2">
                    <c:v>Grožđe</c:v>
                  </c:pt>
                  <c:pt idx="3">
                    <c:v>Rajčica</c:v>
                  </c:pt>
                  <c:pt idx="4">
                    <c:v>Jabuke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Gornja granica (%)</c:v>
                </c:pt>
              </c:strCache>
            </c:strRef>
          </c:tx>
          <c:spPr>
            <a:solidFill>
              <a:srgbClr val="D98C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Mandarine</c:v>
                  </c:pt>
                  <c:pt idx="1">
                    <c:v>Masline</c:v>
                  </c:pt>
                  <c:pt idx="2">
                    <c:v>Grožđe</c:v>
                  </c:pt>
                  <c:pt idx="3">
                    <c:v>Rajčica</c:v>
                  </c:pt>
                  <c:pt idx="4">
                    <c:v>Jabuke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50</c:v>
                </c:pt>
                <c:pt idx="4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Donja granica (%)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Kap po kap</c:v>
                  </c:pt>
                  <c:pt idx="1">
                    <c:v>Rasprskivanje</c:v>
                  </c:pt>
                  <c:pt idx="2">
                    <c:v>Pivot</c:v>
                  </c:pt>
                  <c:pt idx="3">
                    <c:v>Gravitacijsko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Gornja granica (%)</c:v>
                </c:pt>
              </c:strCache>
            </c:strRef>
          </c:tx>
          <c:spPr>
            <a:solidFill>
              <a:srgbClr val="D98C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Kap po kap</c:v>
                  </c:pt>
                  <c:pt idx="1">
                    <c:v>Rasprskivanje</c:v>
                  </c:pt>
                  <c:pt idx="2">
                    <c:v>Pivot</c:v>
                  </c:pt>
                  <c:pt idx="3">
                    <c:v>Gravitacijsko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croa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553718"/>
            <a:ext cx="1965960" cy="9829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8456" y="1553718"/>
            <a:ext cx="1965960" cy="98298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REPUBLIKA HRVATSKA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D98C2B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Zagreb · 2026.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Ratarstvo, masline i mandarine u zemlji bogatoj vodom, a bez navodnjavanja.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hidroretencija mijenja ondje gdje infrastrukture nema.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ECOSORB® · ECOFERT® · NAPEMA® · PAULOWNIA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Rujan 2026. · Povjerljiv dokument · Isključivo za primatelja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TRŽIŠTE UKRATKO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Vode na pretek, navodnjavanja gotovo nikako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1,5 mil. ha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korištenoga poljoprivrednog zemljišta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površine se stvarno navodnjava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600 000 ha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procijenjeni potencijal za navodnjavanje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400 000 ha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kukuruzom i pšenicom, gotovo sve oborinsko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Hrvatska je među vodom najbogatijim zemljama Europe, a istodobno ima jedan od najnižih udjela navodnjavanih površina u Uniji. Posljedica je izravna: prinos glavnih kultura ovisi o rasporedu oborina, a ne o odluci poljoprivrednika. Upravo zato je ovo tržište drukčije od mediteranskih — ovdje se ne optimizira postojeće navodnjavanje, nego se djeluje ondje gdje ga uopće nema.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Suša pogađa usjeve koji se ne mogu zaliti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2415" y="5687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Ratarski krajolik, kontinentalna Hrvatska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Suše 2003., 2012., 2017., 2022. i 2024. nanijele su znatne štete ratarstvu Slavonije, uz gubitke prinosa kukuruza koji su u najtežim godinama premašili trećinu.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sustava za navodnjavanje na najvećem dijelu površina, jedini raspoloživi odgovor na sušu jest voda koju tlo samo uspije zadržati.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Klimatski su rasponi veliki: kontinentalna Panonska nizina s ljetnim sušama nasuprot krškom priobalju, gdje su tla plitka i gotovo bez zadržavanja vode.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dolini Neretve prodor morske vode u ušće povećava zaslanjenost tla i vode za natapanje, što isključuje svako rješenje na bazi natrija.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Javni odgovor — sustavi navodnjavanja, akumulacije, sredstva EU za ruralni razvoj — gradi ponudu, a traje godinama. Hidroretencija djeluje odmah, unutar same parcele.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SUŠA I VODNI STRES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Pritisak raste, ali rizik ostaje lokalan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Dva različita pokazatelja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Globalno su broj i trajanje suša od 2000. porasli 29% u odnosu na prethodna dva desetljeća.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Vodni stres mjeri nešto drugo: zahvaćanje vode kao udio obnovljivih resursa nakon okolišnih potreba. Taj globalni signal nije prognoza za pojedinu državu; mora se čitati uz lokalne oborine, vodonosnike, sezone i načine uporabe.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KAMO ODLAZI VODA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Poljoprivreda je najmanji potrošač — i najizloženija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Što to znači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Suprotno mediteranskim zemljama, poljoprivreda ovdje zahvaća najmanji dio vode — ne zato što joj ne treba, nego zato što je nema čime dovesti na parcelu.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Ograničenje stoga nije količina vode u zemlji, nego njezina dostupnost korijenu u trenutku kada je biljci potrebna.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GOSPODARSTVO I SIGURNOST HRANE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Dobro tlo, a hrana se ipak uvozi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BDP-a dolazi iz poljoprivrede, šumarstva i ribarstva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 mlrd. €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godišnji deficit u vanjskoj trgovini hranom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100 tis.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poljoprivrednih gospodarstava, većinom malih i obiteljskih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50 000 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mandarina godišnje iz doline Neretve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Nacionalni projekt navodnjavanja i sredstva Zajedničke poljoprivredne politike EU financiraju nove sustave, ali većina površina i dalje ovisi o kiši. Svaka ljetna suša zato izravno pogađa prinos, a time i cijenu hrane.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 proizvodnji nosi obujam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Čitanje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Kukuruz i pšenica zauzimaju najveće površine i gotovo se u cijelosti uzgajaju oborinski: ondje se svaka sušna godina izravno očitava u prinosu.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Visokovrijedne kulture — masline, vinova loza, mandarine iz Neretve — obuhvaćaju male površine, ali nose izvoznu vrijednost i najbrže opravdavaju ulaganje po hektaru.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PRVI SEKTOR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Mandarine u dolini Neretve: voda i sol na istoj parceli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Neretve najveće je hrvatsko područje uzgoja mandarina, na melioriranom tlu uz samo ušće rijeke.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Ljeti se more probija uzvodno: zaslanjena voda za navodnjavanje i zaslanjeno tlo smanjuju prinos i kvalitetu ploda.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Cijena ovisi o veličini i izgledu ploda: ujednačena berba izravno je prihod.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Nasadi su trajni i skupi za obnovu; zaštita korijena od sušnog stresa čuva višegodišnje ulaganje.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Zadržavanje vode u zoni korijena smanjuje broj zalijevanja i količinu vode koju treba crpiti.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DRUGI SEKTOR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Masline i vinogradi na kršu, gotovo bez navodnjavanja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Istra i Dalmacija uzgajaju masline i vinovu lozu na plitkom, kamenitom tlu koje brzo gubi vodu.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Većina nasada nema navodnjavanje, a ljetna suša pada upravo u vrijeme cvatnje i nalijevanja ploda.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Mlade sadnice najosjetljivije su u prve dvije godine, kada je gubitak sadnica najveći trošak.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EVERGREEN® u sadnoj jami zadržava vodu oko korijena između rijetkih ljetnih kiša.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Maslinovo ulje i vino sa zaštićenim oznakama postižu visoku cijenu: stabilan prinos isplaćuje ulaganje.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Potencijal prinosa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Očekivano povećanje prinosa po kulturi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Čitati s oprezom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Rasponi koje koristi naš kalkulator doze, za normalno vođen usjev uz EVERGREEN® primijenjen pri sadnji.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Stvarni rezultat ovisi o tlu, klimi i agrotehnici. Za žitarice se povećanje ne navodi bez poljskog pokusa.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NAŠ ODGOVOR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Dvije tehnologije za dva različita ograničenja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— zadržati vodu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Hidroretenter na bazi kalija, unesen u zonu korijena pri sadnji ili nadosadnji.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Hvata kišnicu ili vodu od navodnjavanja i postupno je vraća biljci, uklanjajući vodni stres u kritičnim fazama.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Kapacitet upijanja reda veličine 300 puta vlastite težine; korisno djelovanje 3 do 4 godine u tlu.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Razgrađuje se 20 do 25 % godišnje, bez nakupljanja i bez opasnosti od predoziranja.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 — hraniti bez iscrpljivanja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Gnojivo u mikrodozama aminokiselina, dušika, fosfora i kalija, iz obnovljivih izvora.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kelatno: ne osiromašuje glineno-humusni kompleks i ne povećava slanost ni udio nitrata.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Certificirano SOHISCERT i u skladu s uredbom EU o ekološkoj proizvodnji — uvjet pristupa specifikacijama europskih kupaca.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 4 bočice od 140 ml po hektaru, primjenjivo postojećom opremom za fertirigaciju.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se proizvoda prodaju odvojeno, ali su osmišljena da se pojačavaju: hidroretenter produljuje dostupnost vode, a gnojivo tu dostupnu vodu vrednuje bez degradacije tla. Na oborinskoj parceli, gdje nema navodnjavanja koje bi se moglo pojačati, prvi je od njih jedina poluga koja preostaje.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Ostatak asortimana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Zaštititi usjeve, zadržati tlo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NAPEMA® — zaštita bez ostataka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Suzbija bolesti, nametnike, gljivice i štetnike, bez sintetskih molekula.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Folijarno i korijensko prskanje, s preventivnim i kurativnim učinkom.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ostataka u tlu, biljci i zraku: oprašivači i korisni kukci ostaju pošteđeni.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Pripravak po mjeri za točno određen problem: štitaste uši, HLB agruma, nematode.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Paulownia ALTIFOLIA® — stablo za topla područja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do 15 m za šest do osam godina, s debelim deblom.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100 g EVERGREEN®-a po sadnici potrebno navodnjavanje smanjuje se za 50 %.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Podnosi od −25 °C do +45 °C; drvo se zapali tek na 426 °C.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Vjetrobran, zaštita tla od erozije, 400 do 700 kg meda po hektaru.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Sadnice se isporučuju u posudama (25 do 30 cm), s potvrdom o zdravstvenoj ispravnosti, i zamjenjuju se u jamstvu u slučaju gubitka. Prva sječa na kraju šeste godine, drvo se vrednuje oko 400 do 450 € po m³.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REDOVI VELIČINE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Očekivana ušteda vode prema načinu navodnjavanja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Čitati s oprezom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 su rasponi okvirni i oslanjaju se na dokumentirane uštede naših hidroretentera.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oborinskoj parceli mjerilo nije ušteda vode, nego zadržan prinos u sušnoj godini. Stvarni rezultat ovisi o tlu, klimi i kulturi: ove brojke daju red veličine i ni u kojem slučaju ne predstavljaju zajamčenu, ugovornu ni apsolutnu vrijednost.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PRIORITETNA PODRUČJA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Gdje započeti prve pokuse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472586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Slavonija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Žitnica zemlje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Najveće ratarske površine u zemlji, gotovo sve oborinske: hidroretenter djeluje bez ikakve infrastrukture.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Suše 2022. i 2024. pokazale su koliko stoji nedostatak vode u fazi svilanja kukuruza.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Velika gospodarstva i zadruge s kapacitetom za pokus s kontrolnom parcelom.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783080"/>
            <a:ext cx="3472586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0722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Dolina Neretve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60722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Mandarine i povrće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0722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Izvozno voćarstvo i povrtlarstvo na aluvijalnom tlu, s visokom vrijednošću po hektaru.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Prodor morske vode podiže zaslanjenost: formulacija na bazi kalija, a ne natrija, ovdje je uvjet, a ne prednost.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Kratki ciklusi povrća daju rezultat pokusa unutar jedne sezone.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4749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49" y="1783080"/>
            <a:ext cx="3472586" cy="1691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5917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Istra i Dalmacija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5917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Masline i vinova loza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Krška tla, plitka i kamenita, gotovo bez zadržavanja: voda procijedi prije nego je korijen iskoristi.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Ljetna suša pogađa u razdoblju nalijevanja ploda, kada maslina i loza odlučuju o kakvoći.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Visoka jedinična vrijednost: ekstra djevičansko ulje i vina sa zaštićenom oznakom.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RADIMO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Postupno uvođenje, mjereno u svakom koraku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Dijagnostika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tla, načina navodnjavanja i kulture. U ovoj fazi bez ikakve obveze.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Pokusna parcela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Usporedni pokus na jednoj parceli, uz kontrolnu parcelu vođenu na jednak način.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Mjerenje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Bilježenje potrošnje vode i prinosa tijekom cijeloga vegetacijskog ciklusa.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Proširenje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Postupno širenje na ostale parcele na temelju utvrđenih rezultata.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 doziranja svugdje je isto: 3 grama po litri korisne zemlje. Ono što se mijenja od gospodarstva do gospodarstva jest obujam tla koji korijenje stvarno prožima.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Zajednički rad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Lokalni partner za Hrvatsku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Distribucija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Teritorijalna isključivost i početna zaliha za prvu prodajnu sezonu.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Obuka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Tehnička obuka timova, protokoli doziranja i ažuriranje svake sezone.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Zajednički pokusi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Pokazne parcele s kontrolom i rezultati podijeljeni s proizvođačima.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Institucije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Dijalog s Ministarstvom poljoprivrede i programima sigurnosti hrane.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 se prilagođava području: partnerstvo može voditi uvoznik, distributer repromaterijala ili udruga proizvođača.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TREBA PREDVIDJETI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Prepoznati rizici i odgovori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Rizici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Kišna godina prikriva korist proizvoda: u oborinskom uzgoju razlika se vidi tek u sušnoj sezoni.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Rascjepkanost posjeda i velik broj malih gospodarstava: odluka o kupnji je raspršena.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Europski okvir o namjerno dodanim mikroplastikama stavlja svaki poljoprivredni polimer pod povećalo.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Konkurencija jeftinih polimera na bazi natrija, koji su ostavili loše iskustvo na zaslanjenim tlima.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Odgovori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Voditi pokus kroz cijeli ciklus s kontrolnom parcelom, kako bi dobitak bio mjerljiv i u povoljnoj godini.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Ići preko zadruga i proizvođačkih organizacija, a ne od gospodarstva do gospodarstva.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Priložiti dokumentaciju o razgradnji — 20 do 25 % godišnje, bez nakupljanja — te screening REACH / SVHC.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Dokumentirati formulaciju: kalij, a ne natrij, primjereno prehrambenim kulturama i zaslanjenim tlima.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akrilamida (laboratorij Polymex, ISO 9001, udio niži od 3,0 µg/g), screening REACH / SVHC (SGS) i certifikat SOHISCERT koji vrijedi do 4. rujna 2027. dostupni su na zahtjev. Mjere ruralnog razvoja iz sredstava EU mogu sufinancirati ulaganje u poboljšanje tla.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Izvori i radne pretpostavke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Glavni izvori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Državni zavod za statistiku: biljna proizvodnja i poljoprivredna gospodarstva.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Ministarstvo poljoprivrede: Nacionalni projekt navodnjavanja i gospodarenja zemljištem i vodama.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Eurostat: struktura poljoprivrednih gospodarstava, vanjska trgovina hranom.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(FAOSTAT, AQUASTAT) i Svjetska banka (WDI).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UNCCD, Drought in Numbers 2022: broj i trajanje suša, +29% od 2000. u odnosu na 1980.–1999.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UN-Water / FAO AQUASTAT, pokazatelj SDG 6.4.2: definicija i pragovi vodnog stresa.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Radne pretpostavke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Brojke su zaokružene veličine, preuzete iz najnovijih dostupnih javnih podataka.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Uštede vode i povećanja prinosa okvirni su i ovise o tlu, klimi i kulturi.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Radni poslovni dokument: brojke treba ažurirati prije svakog službenog podnošenja.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Izvješća o pokusima, certifikati (SOHISCERT, analize Polymex i SGS) i tehnički listovi: dostupni na zahtjev.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Recite nam kakvo je vaše gospodarstvo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Kultura, način navodnjavanja, tip tla, količina vode koju danas trošite. Vraćamo se s odgovarajućom kombinacijom tehnologija, s dozama i s pokusima već provedenima u usporedivim situacijama.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Prvi razgovor ni na što ne obvezuje.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Švicarska</a:t>
            </a:r>
            <a:endParaRPr lang="en-US" sz="1400" dirty="0"/>
          </a:p>
        </p:txBody>
      </p:sp>
      <p:pic>
        <p:nvPicPr>
          <p:cNvPr id="6" name="Image 1" descr="/home/claude/green-solutions-web/scripts/dossiers/sceau-aim-clai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Tržišna studija Hrvatska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2026-10-07T08:25:37Z</dcterms:created>
  <dcterms:modified xsi:type="dcterms:W3CDTF">2026-10-07T08:25:37Z</dcterms:modified>
</cp:coreProperties>
</file>