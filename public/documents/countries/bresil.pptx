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Milhões de hectares, base 2019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Mananciais</c:v>
                  </c:pt>
                  <c:pt idx="1">
                    <c:v>Reúso / fertirrigação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</c:v>
                </c:pt>
                <c:pt idx="1">
                  <c:v>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US$ bilhões, valores nominais</c:v>
                </c:pt>
              </c:strCache>
            </c:strRef>
          </c:tx>
          <c:spPr>
            <a:solidFill>
              <a:srgbClr val="1D4E6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E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4E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C2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164.3</c:v>
                </c:pt>
                <c:pt idx="1">
                  <c:v>169.2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F2E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E1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D8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https://commons.wikimedia.org/wiki/File:Caf%C3%A9_planta%C3%A7%C3%A3o_Altin%C3%B3polis.jpg
https://creativecommons.org/licenses/by-sa/3.0/
Redimensionamento e recorte de apresentação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
https://commons.wikimedia.org/wiki/File:Vin%C3%ADcola_Rio_Sol_-_Vale_do_S%C3%A3o_Francisco_-_Lagoa_Grande_-_Pernambuco.jpg
https://creativecommons.org/licenses/by/4.0/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https://commons.wikimedia.org/wiki/File:Caf%C3%A9_planta%C3%A7%C3%A3o_Altin%C3%B3polis.jpg
https://creativecommons.org/licenses/by-sa/3.0/
https://commons.wikimedia.org/wiki/File:Vin%C3%ADcola_Rio_Sol_-_Vale_do_S%C3%A3o_Francisco_-_Lagoa_Grande_-_Pernambuco.jpg
https://creativecommons.org/licenses/by/4.0/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[1] ANA. Atlas Irrigação, 2021, base 2019. Área equipada e origem da água. https://www.gov.br/ana/pt-br/assuntos/noticias-e-eventos/noticias/atlas-irrigacao-atualiza-area-irrigada-total-no-brasil-em-8-2-milhoes-de-hectares
[2] MAPA. Balanço das exportações do agronegócio, 2025. US$ 169,2 bilhões, base 2024 de US$ 164,3 bilhões. https://www.gov.br/agricultura/pt-br/assuntos/noticias/agronegocio-brasileiro-fecha-2025-com-recorde-em-exportacoes-de-us-169-bilhoes-e-superavit-de-us-149-07-bilhoes
[3] MIDR. Seca histórica, 2024. Contexto de escassez hídrica. https://www.gov.br/mdr/pt-br/noticias/seca-historica-reconhecimento-de-emergencia-facilita-liberacao-de-recursos
[4] Embrapa. Estado atual da cultura da videira no Vale do São Francisco, 2018. https://www.infoteca.cnptia.embrapa.br/handle/doc/1092832
Consulta: 28/09/2026. As prioridades comerciais e o protocolo são propostas da Green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ov.br/ana/pt-br/assuntos/noticias-e-eventos/noticias/atlas-irrigacao-atualiza-area-irrigada-total-no-brasil-em-8-2-milhoes-de-hectares" TargetMode="External"/><Relationship Id="rId2" Type="http://schemas.openxmlformats.org/officeDocument/2006/relationships/hyperlink" Target="https://www.gov.br/agricultura/pt-br/assuntos/noticias/agronegocio-brasileiro-fecha-2025-com-recorde-em-exportacoes-de-us-169-bilhoes-e-superavit-de-us-149-07-bilhoes" TargetMode="External"/><Relationship Id="rId3" Type="http://schemas.openxmlformats.org/officeDocument/2006/relationships/hyperlink" Target="https://www.gov.br/mdr/pt-br/noticias/seca-historica-reconhecimento-de-emergencia-facilita-liberacao-de-recursos" TargetMode="External"/><Relationship Id="rId4" Type="http://schemas.openxmlformats.org/officeDocument/2006/relationships/hyperlink" Target="https://www.infoteca.cnptia.embrapa.br/handle/doc/1092832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ommons.wikimedia.org/wiki/File:Caf%C3%A9_planta%C3%A7%C3%A3o_Altin%C3%B3polis.jpg" TargetMode="External"/><Relationship Id="rId2" Type="http://schemas.openxmlformats.org/officeDocument/2006/relationships/hyperlink" Target="https://creativecommons.org/licenses/by-sa/3.0/" TargetMode="External"/><Relationship Id="rId3" Type="http://schemas.openxmlformats.org/officeDocument/2006/relationships/hyperlink" Target="https://commons.wikimedia.org/wiki/File:Vin%C3%ADcola_Rio_Sol_-_Vale_do_S%C3%A3o_Francisco_-_Lagoa_Grande_-_Pernambuco.jpg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2784" y="0"/>
            <a:ext cx="5918911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72784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58368" y="566928"/>
            <a:ext cx="4041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GROUP</a:t>
            </a:r>
            <a:endParaRPr lang="en-US" sz="1100" dirty="0"/>
          </a:p>
        </p:txBody>
      </p:sp>
      <p:pic>
        <p:nvPicPr>
          <p:cNvPr id="5" name="Image 1" descr="/home/claude/green-solutions-web/public/images/logo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457200"/>
            <a:ext cx="603504" cy="603504"/>
          </a:xfrm>
          <a:prstGeom prst="rect">
            <a:avLst/>
          </a:prstGeom>
        </p:spPr>
      </p:pic>
      <p:pic>
        <p:nvPicPr>
          <p:cNvPr id="6" name="Image 2" descr="/home/claude/green-solutions-web/scripts/dossiers/drapeaux/bres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073" y="1389888"/>
            <a:ext cx="1872343" cy="131064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3742073" y="1389888"/>
            <a:ext cx="1872343" cy="1310640"/>
          </a:xfrm>
          <a:prstGeom prst="rect">
            <a:avLst/>
          </a:prstGeom>
          <a:ln w="9525">
            <a:solidFill>
              <a:srgbClr val="3A3A3A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58368" y="1298448"/>
            <a:ext cx="27614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REPÚBLICA FEDERATIVA DO BRASIL</a:t>
            </a:r>
            <a:endParaRPr lang="en-US" sz="2400" dirty="0"/>
          </a:p>
        </p:txBody>
      </p:sp>
      <p:sp>
        <p:nvSpPr>
          <p:cNvPr id="9" name="Shape 4"/>
          <p:cNvSpPr/>
          <p:nvPr/>
        </p:nvSpPr>
        <p:spPr>
          <a:xfrm>
            <a:off x="658368" y="2889504"/>
            <a:ext cx="2788920" cy="45720"/>
          </a:xfrm>
          <a:prstGeom prst="rect">
            <a:avLst/>
          </a:prstGeom>
          <a:solidFill>
            <a:srgbClr val="D98C2B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658368" y="3163824"/>
            <a:ext cx="4956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8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Brasília · 2026</a:t>
            </a:r>
            <a:endParaRPr lang="en-US" sz="1600" dirty="0"/>
          </a:p>
        </p:txBody>
      </p:sp>
      <p:sp>
        <p:nvSpPr>
          <p:cNvPr id="11" name="Text 6"/>
          <p:cNvSpPr txBox="1"/>
          <p:nvPr/>
        </p:nvSpPr>
        <p:spPr>
          <a:xfrm>
            <a:off x="658368" y="3767328"/>
            <a:ext cx="4956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da água em uma potência agrícola.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Fruticultura irrigada e implantação de culturas perenes.</a:t>
            </a:r>
            <a:endParaRPr lang="en-US" sz="1450" dirty="0"/>
          </a:p>
        </p:txBody>
      </p:sp>
      <p:sp>
        <p:nvSpPr>
          <p:cNvPr id="12" name="Text 7"/>
          <p:cNvSpPr txBox="1"/>
          <p:nvPr/>
        </p:nvSpPr>
        <p:spPr>
          <a:xfrm>
            <a:off x="658368" y="489204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C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EVERGREEN® · ECOSORB® · ECOFERT®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8368" y="6053328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de 2026 · Proposta de cooperação agrícola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nacional, decisões por propriedade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8,2 M ha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95528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equipada para irrigação, base 2019 [1]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3458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 M ha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54626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irrigação com água de mananciais, base 2019 [1]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12557" y="1874520"/>
            <a:ext cx="3484778" cy="2514600"/>
          </a:xfrm>
          <a:prstGeom prst="roundRect">
            <a:avLst>
              <a:gd name="adj" fmla="val 3636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5437" y="2148840"/>
            <a:ext cx="3119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US$ 169,2 bi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13725" y="3154680"/>
            <a:ext cx="308244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exportações do agronegócio em 2025 [2]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709160"/>
            <a:ext cx="110029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anos de referência diferem. O Atlas Irrigação 2021 descreve a base de 2019. O agronegócio inclui cadeias agroindustriais e pecuárias, além das lavouras. Os números dimensionam o mercado, sem representar vendas potenciais da Green Solutions.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E PRODUÇÃO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disponibilidade varia entre bacias e safras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2415" y="1783080"/>
            <a:ext cx="5074920" cy="3794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22415" y="568756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Vinhas em Lagoa Grande, Pernambuco. Rosanetur, CC BY 4.0. Fotografia de contexto.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783080"/>
            <a:ext cx="5379415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seca de 2024 levou a ANA a declarar escassez em importantes bacias. Esse episódio mostra a necessidade de planejar a produção por bacia, com dados locais [3].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Vale do São Francisco, a Embrapa destaca a uva e a manga como culturas centrais da fruticultura irrigada [4].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proposta prioriza propriedades capazes de comparar o manejo atual com a incorporação de um hidrorretentor na zona radicular.</a:t>
            </a:r>
            <a:endParaRPr lang="en-US" sz="1400" dirty="0"/>
          </a:p>
          <a:p>
            <a:pPr algn="l" marL="342900" indent="-342900">
              <a:lnSpc>
                <a:spcPct val="122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ensaio é verificar a água aplicada por quilograma comercializável, mantendo a qualidade exigida pelo comprador.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HÍDRICA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Irrigação: duas origens de água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dado permite concluir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ANA, Atlas Irrigação 2021 [1]. Áreas equipadas, não volumes de água. A segunda categoria inclui o aproveitamento de efluentes na fertirrigação. Cada sistema exige diagnóstico próprio.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499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Milhões de hectares, base 2019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COMÉRCIO EXTERIOR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Exportações do agronegócio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73609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783080"/>
            <a:ext cx="3291840" cy="3977640"/>
          </a:xfrm>
          <a:prstGeom prst="roundRect">
            <a:avLst>
              <a:gd name="adj" fmla="val 2778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2011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cadeia com compradores exigentes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560320"/>
            <a:ext cx="28346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MAPA, balanço de 2025 [2], que informa a base comparativa de 2024. O crescimento nominal não mede produtividade nem disponibilidade de água. A escolha comercial proposta recai sobre culturas em que se possa medir o valor por hectare.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149961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bilhões, valores nominais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CADEIA PRIORITÁRIA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Uva e manga no Vale do São Francisco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oportunidade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caracterização regional da Embrapa identifica um polo especializado em fruticultura irrigada [4].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Propomos um ensaio em renovação de pomar ou implantação de mudas, com avaliação de sobrevivência e crescimento.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proposta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área produtiva, o protocolo deve preservar os parâmetros de qualidade comercial e registrar o volume de irrigação.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Petrolina e Juazeiro são uma área de prospecção, sem instalação ou contrato local anunciado.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 APLICAÇÃO A AVALIAR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Implantação de café e viveiros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oportunidade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fase de implantação oferece uma unidade de comparação simples: custo por muda estabelecida.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proposta é acompanhar umidade na zona radicular, sobrevivência, crescimento e frequência de irrigação.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proposta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orçamento inclui produto, mão de obra e reposição de mudas, além de água e energia.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fotografia mostra uma paisagem agrícola brasileira. Não documenta um ensaio Green Solutions.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GREEN SOLUTIONS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Retenção de água e manejo da nutrição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EVERGREEN® / ECOSORB®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hidrorretenção junto às raízes, com dose definida para o solo, a salinidade da água e o volume radicular.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o mesmo manejo sem produto, incluindo diferentes turnos de irrigação quando o protocolo permitir.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implantação de mudas e áreas instrumentadas, onde o efeito possa ser acompanhado.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ECOFERT®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integração ao programa nutricional a partir de análises de solo e folha.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orçamento de nutrientes explícito para separar efeitos de água e fertilização.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a adequação da formulação, a documentação e as condições de uso para cada operação.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propostas para validação local. Este dossier não apresenta resultados de ensaios Green Solutions realizados no Brasil nem garante percentuais de economia.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COOPERAÇÃO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piloto com decisão econômica ao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cultura e talhão. Analisar solo e água, histórico de irrigação e custos de bombeamento.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3684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42284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4228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642284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42284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parcelas testemunhas e tratadas, repetições e critérios de sucesso com o responsável agronômico.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33008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1608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160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Medição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61608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m³/ha, kg comercializáveis/ha, qualidade e custo total durante um ciclo completo.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331" y="1874520"/>
            <a:ext cx="2545004" cy="2834640"/>
          </a:xfrm>
          <a:prstGeom prst="roundRect">
            <a:avLst>
              <a:gd name="adj" fmla="val 3593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0931" y="2103120"/>
            <a:ext cx="566928" cy="566928"/>
          </a:xfrm>
          <a:prstGeom prst="ellipse">
            <a:avLst/>
          </a:prstGeom>
          <a:solidFill>
            <a:srgbClr val="1D4E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80931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80931" y="2788920"/>
            <a:ext cx="208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280931" y="3291840"/>
            <a:ext cx="20878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custo por kg e margem incremental. Ampliar apenas onde o resultado justificar o investimento.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4983480"/>
            <a:ext cx="11002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Cooperativas, produtores e equipes de pesquisa são interlocutores potenciais. Nenhuma parceria institucional é anunciada neste documento.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DE SUCESSO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validar antes de ampliar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de atenção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Salinidade e textura podem alterar o comportamento do hidrorretentor.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safra favorável pode ocultar diferenças entre tratamentos.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aplicação e a logística precisam entrar na conta.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783080"/>
            <a:ext cx="522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D4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Respostas propostas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70168" y="2286000"/>
            <a:ext cx="522716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solo e água antes da instalação.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testemunhas, repetições e registros meteorológicos.</a:t>
            </a:r>
            <a:endParaRPr lang="en-US" sz="1350" dirty="0"/>
          </a:p>
          <a:p>
            <a:pPr algn="l"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a margem líquida com o manejo existente, por cultura.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7619"/>
            </a:avLst>
          </a:prstGeom>
          <a:solidFill>
            <a:srgbClr val="EEF2F5"/>
          </a:solidFill>
          <a:ln w="9525">
            <a:solidFill>
              <a:srgbClr val="D8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83480"/>
            <a:ext cx="1054577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verificação documental e regulatória local antecede qualquer fornecimento. As fontes públicas descrevem o mercado e não constituem endosso aos produtos.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D87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Fontes e datas de referência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ANA. Atlas Irrigação, 2021, base 2019. Área equipada e origem da água.</a:t>
            </a:r>
            <a:endParaRPr lang="en-US" sz="15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85800" y="2075688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www.gov.br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MAPA. Balanço das exportações do agronegócio, 2025. US$ 169,2 bilhões, base 2024 de US$ 164,3 bilhões.</a:t>
            </a:r>
            <a:endParaRPr lang="en-US" sz="1500" dirty="0"/>
          </a:p>
        </p:txBody>
      </p:sp>
      <p:sp>
        <p:nvSpPr>
          <p:cNvPr id="7" name="Text 5">
            <a:hlinkClick r:id="rId2" tooltip=""/>
          </p:cNvPr>
          <p:cNvSpPr/>
          <p:nvPr/>
        </p:nvSpPr>
        <p:spPr>
          <a:xfrm>
            <a:off x="685800" y="309981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www.gov.br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3557016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MIDR. Seca histórica, 2024. Contexto de escassez hídrica.</a:t>
            </a:r>
            <a:endParaRPr lang="en-US" sz="15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685800" y="412394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www.gov.br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58114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Embrapa. Estado atual da cultura da videira no Vale do São Francisco, 2018.</a:t>
            </a:r>
            <a:endParaRPr lang="en-US" sz="1500" dirty="0"/>
          </a:p>
        </p:txBody>
      </p:sp>
      <p:sp>
        <p:nvSpPr>
          <p:cNvPr id="11" name="Text 9">
            <a:hlinkClick r:id="rId4" tooltip=""/>
          </p:cNvPr>
          <p:cNvSpPr/>
          <p:nvPr/>
        </p:nvSpPr>
        <p:spPr>
          <a:xfrm>
            <a:off x="685800" y="51480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www.infoteca.cnptia.embrapa.br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587044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Consulta: 28/09/2026. As prioridades comerciais e o protocolo são propostas da Green Solutions.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Fotografias e direitos de uso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94360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 plantação Altinópolis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Jonathan Wilkins · CC BY-SA 3.0</a:t>
            </a:r>
            <a:endParaRPr lang="en-US" sz="1700" dirty="0"/>
          </a:p>
        </p:txBody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685800" y="2304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</a:t>
            </a:r>
            <a:endParaRPr lang="en-US" sz="1200" dirty="0"/>
          </a:p>
        </p:txBody>
      </p:sp>
      <p:sp>
        <p:nvSpPr>
          <p:cNvPr id="6" name="Text 4">
            <a:hlinkClick r:id="rId2" tooltip=""/>
          </p:cNvPr>
          <p:cNvSpPr/>
          <p:nvPr/>
        </p:nvSpPr>
        <p:spPr>
          <a:xfrm>
            <a:off x="4114800" y="23042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3.0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Vinícola Rio Sol, Lagoa Grande, Pernambuco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Rosanetur · CC BY 4.0</a:t>
            </a:r>
            <a:endParaRPr lang="en-US" sz="1700" dirty="0"/>
          </a:p>
        </p:txBody>
      </p:sp>
      <p:sp>
        <p:nvSpPr>
          <p:cNvPr id="8" name="Text 6">
            <a:hlinkClick r:id="rId3" tooltip=""/>
          </p:cNvPr>
          <p:cNvSpPr/>
          <p:nvPr/>
        </p:nvSpPr>
        <p:spPr>
          <a:xfrm>
            <a:off x="685800" y="37673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Wikimedia Commons</a:t>
            </a:r>
            <a:endParaRPr lang="en-US" sz="1200" dirty="0"/>
          </a:p>
        </p:txBody>
      </p:sp>
      <p:sp>
        <p:nvSpPr>
          <p:cNvPr id="9" name="Text 7">
            <a:hlinkClick r:id="rId4" tooltip=""/>
          </p:cNvPr>
          <p:cNvSpPr/>
          <p:nvPr/>
        </p:nvSpPr>
        <p:spPr>
          <a:xfrm>
            <a:off x="4114800" y="37673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D4E6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4.0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846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Fotografias de contexto. Redimensionamento e recorte para a apresentação, sob as licenças indicadas. Não documentam ensaios ou propriedades Green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projeto adequado à sua propriedade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8961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 cultura, o tipo de solo, o sistema de irrigação e o objetivo do projeto. A Green Solutions propõe um protocolo comparativo e os indicadores que orientarão a decisão.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oportunidade concreta: avaliar a retenção de água onde cada metro cúbico e cada muda têm valor.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98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contact@green-solutions-group.com · Green Solutions Groupe AIM SA, 46, route de la Condémine, 1475 Forel, Suisse</a:t>
            </a:r>
            <a:endParaRPr lang="en-US" sz="1400" dirty="0"/>
          </a:p>
        </p:txBody>
      </p:sp>
      <p:pic>
        <p:nvPicPr>
          <p:cNvPr id="5" name="Image 0" descr="/home/claude/green-solutions-web/scripts/dossiers/sceau-aim-clair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10637215" y="5193792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3825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Solutions · Brasil · Setembro de 2026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114013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FFF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2026-10-07T08:25:21Z</dcterms:created>
  <dcterms:modified xsi:type="dcterms:W3CDTF">2026-10-07T08:25:21Z</dcterms:modified>
</cp:coreProperties>
</file>