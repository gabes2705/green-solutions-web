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0.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Million tonnes of cereals</c:v>
                </c:pt>
              </c:strCache>
            </c:strRef>
          </c:tx>
          <c:spPr>
            <a:solidFill>
              <a:srgbClr val="1C5A73"/>
            </a:solidFill>
            <a:effectLst/>
          </c:spPr>
          <c:invertIfNegative val="0"/>
          <c:dLbls>
            <c:numFmt formatCode="[$-409]0.0"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dPt>
            <c:idx val="0"/>
            <c:invertIfNegative val="0"/>
            <c:bubble3D val="0"/>
            <c:spPr>
              <a:solidFill>
                <a:srgbClr val="1C5A73"/>
              </a:solidFill>
              <a:effectLst/>
            </c:spPr>
          </c:dPt>
          <c:dPt>
            <c:idx val="1"/>
            <c:invertIfNegative val="0"/>
            <c:bubble3D val="0"/>
            <c:spPr>
              <a:solidFill>
                <a:srgbClr val="E0A33E"/>
              </a:solidFill>
              <a:effectLst/>
            </c:spPr>
          </c:dPt>
          <c:cat>
            <c:multiLvlStrRef>
              <c:f>Sheet1!$A$2:$A$3</c:f>
              <c:multiLvlStrCache>
                <c:ptCount val="2"/>
                <c:lvl>
                  <c:pt idx="0">
                    <c:v>Net output, 2024</c:v>
                  </c:pt>
                  <c:pt idx="1">
                    <c:v>Estimated requirement</c:v>
                  </c:pt>
                </c:lvl>
              </c:multiLvlStrCache>
            </c:multiLvlStrRef>
          </c:cat>
          <c:val>
            <c:numRef>
              <c:f>Sheet1!$B$2:$B$3</c:f>
              <c:numCache>
                <c:formatCode>General</c:formatCode>
                <c:ptCount val="2"/>
                <c:pt idx="0">
                  <c:v>1.12</c:v>
                </c:pt>
                <c:pt idx="1">
                  <c:v>1.5</c:v>
                </c:pt>
              </c:numCache>
            </c:numRef>
          </c:val>
        </c:ser>
        <c:dLbls>
          <c:numFmt formatCode="[$-409]0.0"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C8089"/>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6E2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C808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Share of cereal area (%)</c:v>
                </c:pt>
              </c:strCache>
            </c:strRef>
          </c:tx>
          <c:spPr>
            <a:solidFill>
              <a:srgbClr val="1C5A73"/>
            </a:solidFill>
            <a:effectLst/>
          </c:spPr>
          <c:invertIfNegative val="0"/>
          <c:dLbls>
            <c:numFmt formatCode="[$-409]0&quot;%&quot;"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dPt>
            <c:idx val="0"/>
            <c:invertIfNegative val="0"/>
            <c:bubble3D val="0"/>
            <c:spPr>
              <a:solidFill>
                <a:srgbClr val="1C5A73"/>
              </a:solidFill>
              <a:effectLst/>
            </c:spPr>
          </c:dPt>
          <c:dPt>
            <c:idx val="1"/>
            <c:invertIfNegative val="0"/>
            <c:bubble3D val="0"/>
            <c:spPr>
              <a:solidFill>
                <a:srgbClr val="E0A33E"/>
              </a:solidFill>
              <a:effectLst/>
            </c:spPr>
          </c:dPt>
          <c:dPt>
            <c:idx val="2"/>
            <c:invertIfNegative val="0"/>
            <c:bubble3D val="0"/>
            <c:spPr>
              <a:solidFill>
                <a:srgbClr val="5E93A8"/>
              </a:solidFill>
              <a:effectLst/>
            </c:spPr>
          </c:dPt>
          <c:dPt>
            <c:idx val="3"/>
            <c:invertIfNegative val="0"/>
            <c:bubble3D val="0"/>
            <c:spPr>
              <a:solidFill>
                <a:srgbClr val="C2703A"/>
              </a:solidFill>
              <a:effectLst/>
            </c:spPr>
          </c:dPt>
          <c:cat>
            <c:multiLvlStrRef>
              <c:f>Sheet1!$A$2:$A$5</c:f>
              <c:multiLvlStrCache>
                <c:ptCount val="4"/>
                <c:lvl>
                  <c:pt idx="0">
                    <c:v>Sorghum</c:v>
                  </c:pt>
                  <c:pt idx="1">
                    <c:v>Maize</c:v>
                  </c:pt>
                  <c:pt idx="2">
                    <c:v>Millet</c:v>
                  </c:pt>
                  <c:pt idx="3">
                    <c:v>Rice</c:v>
                  </c:pt>
                </c:lvl>
              </c:multiLvlStrCache>
            </c:multiLvlStrRef>
          </c:cat>
          <c:val>
            <c:numRef>
              <c:f>Sheet1!$B$2:$B$5</c:f>
              <c:numCache>
                <c:formatCode>General</c:formatCode>
                <c:ptCount val="4"/>
                <c:pt idx="0">
                  <c:v>70</c:v>
                </c:pt>
                <c:pt idx="1">
                  <c:v>22</c:v>
                </c:pt>
                <c:pt idx="2">
                  <c:v>6</c:v>
                </c:pt>
                <c:pt idx="3">
                  <c:v>2</c:v>
                </c:pt>
              </c:numCache>
            </c:numRef>
          </c:val>
        </c:ser>
        <c:dLbls>
          <c:numFmt formatCode="[$-409]0&quot;%&quot;"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C8089"/>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6E2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C808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Low end of range (%)</c:v>
                </c:pt>
              </c:strCache>
            </c:strRef>
          </c:tx>
          <c:spPr>
            <a:solidFill>
              <a:srgbClr val="1C5A73"/>
            </a:solidFill>
            <a:effectLst/>
          </c:spPr>
          <c:invertIfNegative val="0"/>
          <c:dLbls>
            <c:numFmt formatCode="[$-409]0&quot;%&quot;"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cat>
            <c:multiLvlStrRef>
              <c:f>Sheet1!$A$2:$A$5</c:f>
              <c:multiLvlStrCache>
                <c:ptCount val="4"/>
                <c:lvl>
                  <c:pt idx="0">
                    <c:v>Drip</c:v>
                  </c:pt>
                  <c:pt idx="1">
                    <c:v>Sprinkler</c:v>
                  </c:pt>
                  <c:pt idx="2">
                    <c:v>Hand watering</c:v>
                  </c:pt>
                  <c:pt idx="3">
                    <c:v>Furrow</c:v>
                  </c:pt>
                </c:lvl>
              </c:multiLvlStrCache>
            </c:multiLvlStrRef>
          </c:cat>
          <c:val>
            <c:numRef>
              <c:f>Sheet1!$B$2:$B$5</c:f>
              <c:numCache>
                <c:formatCode>General</c:formatCode>
                <c:ptCount val="4"/>
                <c:pt idx="0">
                  <c:v>40</c:v>
                </c:pt>
                <c:pt idx="1">
                  <c:v>50</c:v>
                </c:pt>
                <c:pt idx="2">
                  <c:v>55</c:v>
                </c:pt>
                <c:pt idx="3">
                  <c:v>55</c:v>
                </c:pt>
              </c:numCache>
            </c:numRef>
          </c:val>
        </c:ser>
        <c:ser>
          <c:idx val="1"/>
          <c:order val="1"/>
          <c:tx>
            <c:strRef>
              <c:f>Sheet1!$C$1</c:f>
              <c:strCache>
                <c:ptCount val="1"/>
                <c:pt idx="0">
                  <c:v>High end of range (%)</c:v>
                </c:pt>
              </c:strCache>
            </c:strRef>
          </c:tx>
          <c:spPr>
            <a:solidFill>
              <a:srgbClr val="E0A33E"/>
            </a:solidFill>
            <a:effectLst/>
          </c:spPr>
          <c:invertIfNegative val="0"/>
          <c:dLbls>
            <c:numFmt formatCode="[$-409]0&quot;%&quot;"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cat>
            <c:multiLvlStrRef>
              <c:f>Sheet1!$A$2:$A$5</c:f>
              <c:multiLvlStrCache>
                <c:ptCount val="4"/>
                <c:lvl>
                  <c:pt idx="0">
                    <c:v>Drip</c:v>
                  </c:pt>
                  <c:pt idx="1">
                    <c:v>Sprinkler</c:v>
                  </c:pt>
                  <c:pt idx="2">
                    <c:v>Hand watering</c:v>
                  </c:pt>
                  <c:pt idx="3">
                    <c:v>Furrow</c:v>
                  </c:pt>
                </c:lvl>
              </c:multiLvlStrCache>
            </c:multiLvlStrRef>
          </c:cat>
          <c:val>
            <c:numRef>
              <c:f>Sheet1!$C$2:$C$5</c:f>
              <c:numCache>
                <c:formatCode>General</c:formatCode>
                <c:ptCount val="4"/>
                <c:pt idx="0">
                  <c:v>55</c:v>
                </c:pt>
                <c:pt idx="1">
                  <c:v>65</c:v>
                </c:pt>
                <c:pt idx="2">
                  <c:v>70</c:v>
                </c:pt>
                <c:pt idx="3">
                  <c:v>70</c:v>
                </c:pt>
              </c:numCache>
            </c:numRef>
          </c:val>
        </c:ser>
        <c:dLbls>
          <c:numFmt formatCode="[$-409]0&quot;%&quot;"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C8089"/>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6E2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C808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image" Target="../media/image-11-2.jpeg"/><Relationship Id="rId3" Type="http://schemas.openxmlformats.org/officeDocument/2006/relationships/image" Target="../media/image-11-3.jpe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0D0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272784" y="0"/>
            <a:ext cx="5918911" cy="6858000"/>
          </a:xfrm>
          <a:prstGeom prst="rect">
            <a:avLst/>
          </a:prstGeom>
        </p:spPr>
      </p:pic>
      <p:sp>
        <p:nvSpPr>
          <p:cNvPr id="3" name="Shape 0"/>
          <p:cNvSpPr/>
          <p:nvPr/>
        </p:nvSpPr>
        <p:spPr>
          <a:xfrm>
            <a:off x="0" y="0"/>
            <a:ext cx="6272784" cy="6858000"/>
          </a:xfrm>
          <a:prstGeom prst="rect">
            <a:avLst/>
          </a:prstGeom>
          <a:solidFill>
            <a:srgbClr val="0D0D0D"/>
          </a:solidFill>
          <a:ln/>
        </p:spPr>
      </p:sp>
      <p:sp>
        <p:nvSpPr>
          <p:cNvPr id="4" name="Text 1"/>
          <p:cNvSpPr txBox="1"/>
          <p:nvPr/>
        </p:nvSpPr>
        <p:spPr>
          <a:xfrm>
            <a:off x="658368" y="566928"/>
            <a:ext cx="4041648" cy="292608"/>
          </a:xfrm>
          <a:prstGeom prst="rect">
            <a:avLst/>
          </a:prstGeom>
          <a:noFill/>
          <a:ln/>
        </p:spPr>
        <p:txBody>
          <a:bodyPr wrap="square" lIns="0" tIns="0" rIns="0" bIns="0" rtlCol="0" anchor="ctr"/>
          <a:lstStyle/>
          <a:p>
            <a:pPr algn="l" indent="0" marL="0">
              <a:buNone/>
            </a:pPr>
            <a:r>
              <a:rPr lang="en-US" sz="1100" b="1" spc="80" kern="0" dirty="0">
                <a:solidFill>
                  <a:srgbClr val="8BC34A"/>
                </a:solidFill>
                <a:latin typeface="Calibri" pitchFamily="34" charset="0"/>
                <a:ea typeface="Calibri" pitchFamily="34" charset="-122"/>
                <a:cs typeface="Calibri" pitchFamily="34" charset="-120"/>
              </a:rPr>
              <a:t>GREEN SOLUTIONS GROUP</a:t>
            </a:r>
            <a:endParaRPr lang="en-US" sz="1100" dirty="0"/>
          </a:p>
        </p:txBody>
      </p:sp>
      <p:pic>
        <p:nvPicPr>
          <p:cNvPr id="5" name="Image 1" descr="C:\Users\Utilisateur\dev\gsw-dossiers\public\images\logo-icon.png">    </p:cNvPr>
          <p:cNvPicPr>
            <a:picLocks noChangeAspect="1"/>
          </p:cNvPicPr>
          <p:nvPr/>
        </p:nvPicPr>
        <p:blipFill>
          <a:blip r:embed="rId2"/>
          <a:stretch>
            <a:fillRect/>
          </a:stretch>
        </p:blipFill>
        <p:spPr>
          <a:xfrm>
            <a:off x="5010912" y="457200"/>
            <a:ext cx="603504" cy="603504"/>
          </a:xfrm>
          <a:prstGeom prst="rect">
            <a:avLst/>
          </a:prstGeom>
        </p:spPr>
      </p:pic>
      <p:pic>
        <p:nvPicPr>
          <p:cNvPr id="6" name="Image 2" descr="C:\Users\Utilisateur\dev\gsw-dossiers\scripts\dossiers\drapeaux\soudan-sud.png">    </p:cNvPr>
          <p:cNvPicPr>
            <a:picLocks noChangeAspect="1"/>
          </p:cNvPicPr>
          <p:nvPr/>
        </p:nvPicPr>
        <p:blipFill>
          <a:blip r:embed="rId3"/>
          <a:stretch>
            <a:fillRect/>
          </a:stretch>
        </p:blipFill>
        <p:spPr>
          <a:xfrm>
            <a:off x="3648456" y="1553718"/>
            <a:ext cx="1965960" cy="982980"/>
          </a:xfrm>
          <a:prstGeom prst="rect">
            <a:avLst/>
          </a:prstGeom>
        </p:spPr>
      </p:pic>
      <p:sp>
        <p:nvSpPr>
          <p:cNvPr id="7" name="Shape 2"/>
          <p:cNvSpPr/>
          <p:nvPr/>
        </p:nvSpPr>
        <p:spPr>
          <a:xfrm>
            <a:off x="3648456" y="1553718"/>
            <a:ext cx="1965960" cy="982980"/>
          </a:xfrm>
          <a:prstGeom prst="rect">
            <a:avLst/>
          </a:prstGeom>
          <a:ln w="9525">
            <a:solidFill>
              <a:srgbClr val="3A3A3A"/>
            </a:solidFill>
            <a:prstDash val="solid"/>
          </a:ln>
        </p:spPr>
      </p:sp>
      <p:sp>
        <p:nvSpPr>
          <p:cNvPr id="8" name="Text 3"/>
          <p:cNvSpPr txBox="1"/>
          <p:nvPr/>
        </p:nvSpPr>
        <p:spPr>
          <a:xfrm>
            <a:off x="658368" y="1298448"/>
            <a:ext cx="2761488" cy="1234440"/>
          </a:xfrm>
          <a:prstGeom prst="rect">
            <a:avLst/>
          </a:prstGeom>
          <a:noFill/>
          <a:ln/>
        </p:spPr>
        <p:txBody>
          <a:bodyPr wrap="square" lIns="0" tIns="0" rIns="0" bIns="0" rtlCol="0" anchor="t"/>
          <a:lstStyle/>
          <a:p>
            <a:pPr algn="l" indent="0" marL="0">
              <a:lnSpc>
                <a:spcPct val="110000"/>
              </a:lnSpc>
              <a:buNone/>
            </a:pPr>
            <a:r>
              <a:rPr lang="en-US" sz="2400" b="1" dirty="0">
                <a:solidFill>
                  <a:srgbClr val="FFFFFF"/>
                </a:solidFill>
                <a:latin typeface="Cambria" pitchFamily="34" charset="0"/>
                <a:ea typeface="Cambria" pitchFamily="34" charset="-122"/>
                <a:cs typeface="Cambria" pitchFamily="34" charset="-120"/>
              </a:rPr>
              <a:t>REPUBLIC OF SOUTH SUDAN</a:t>
            </a:r>
            <a:endParaRPr lang="en-US" sz="2400" dirty="0"/>
          </a:p>
        </p:txBody>
      </p:sp>
      <p:sp>
        <p:nvSpPr>
          <p:cNvPr id="9" name="Shape 4"/>
          <p:cNvSpPr/>
          <p:nvPr/>
        </p:nvSpPr>
        <p:spPr>
          <a:xfrm>
            <a:off x="658368" y="2889504"/>
            <a:ext cx="2788920" cy="45720"/>
          </a:xfrm>
          <a:prstGeom prst="rect">
            <a:avLst/>
          </a:prstGeom>
          <a:solidFill>
            <a:srgbClr val="E0A33E"/>
          </a:solidFill>
          <a:ln/>
        </p:spPr>
      </p:sp>
      <p:sp>
        <p:nvSpPr>
          <p:cNvPr id="10" name="Text 5"/>
          <p:cNvSpPr txBox="1"/>
          <p:nvPr/>
        </p:nvSpPr>
        <p:spPr>
          <a:xfrm>
            <a:off x="658368" y="3163824"/>
            <a:ext cx="4956048" cy="384048"/>
          </a:xfrm>
          <a:prstGeom prst="rect">
            <a:avLst/>
          </a:prstGeom>
          <a:noFill/>
          <a:ln/>
        </p:spPr>
        <p:txBody>
          <a:bodyPr wrap="square" lIns="0" tIns="0" rIns="0" bIns="0" rtlCol="0" anchor="ctr"/>
          <a:lstStyle/>
          <a:p>
            <a:pPr algn="l" indent="0" marL="0">
              <a:buNone/>
            </a:pPr>
            <a:r>
              <a:rPr lang="en-US" sz="1600" b="1" dirty="0">
                <a:solidFill>
                  <a:srgbClr val="E0A33E"/>
                </a:solidFill>
                <a:latin typeface="Cambria" pitchFamily="34" charset="0"/>
                <a:ea typeface="Cambria" pitchFamily="34" charset="-122"/>
                <a:cs typeface="Cambria" pitchFamily="34" charset="-120"/>
              </a:rPr>
              <a:t>Juba · 2026</a:t>
            </a:r>
            <a:endParaRPr lang="en-US" sz="1600" dirty="0"/>
          </a:p>
        </p:txBody>
      </p:sp>
      <p:sp>
        <p:nvSpPr>
          <p:cNvPr id="11" name="Text 6"/>
          <p:cNvSpPr txBox="1"/>
          <p:nvPr/>
        </p:nvSpPr>
        <p:spPr>
          <a:xfrm>
            <a:off x="658368" y="3767328"/>
            <a:ext cx="4956048" cy="914400"/>
          </a:xfrm>
          <a:prstGeom prst="rect">
            <a:avLst/>
          </a:prstGeom>
          <a:noFill/>
          <a:ln/>
        </p:spPr>
        <p:txBody>
          <a:bodyPr wrap="square" lIns="0" tIns="0" rIns="0" bIns="0" rtlCol="0" anchor="t"/>
          <a:lstStyle/>
          <a:p>
            <a:pPr algn="l" indent="0" marL="0">
              <a:lnSpc>
                <a:spcPct val="128000"/>
              </a:lnSpc>
              <a:buNone/>
            </a:pPr>
            <a:r>
              <a:rPr lang="en-US" sz="1450" dirty="0">
                <a:solidFill>
                  <a:srgbClr val="FFFFFF"/>
                </a:solidFill>
                <a:latin typeface="Calibri" pitchFamily="34" charset="0"/>
                <a:ea typeface="Calibri" pitchFamily="34" charset="-122"/>
                <a:cs typeface="Calibri" pitchFamily="34" charset="-120"/>
              </a:rPr>
              <a:t>Sorghum, maize, cassava and vegetables in a country of floods and dry spells.</a:t>
            </a:r>
            <a:endParaRPr lang="en-US" sz="1450" dirty="0"/>
          </a:p>
          <a:p>
            <a:pPr algn="l" indent="0" marL="0">
              <a:lnSpc>
                <a:spcPct val="128000"/>
              </a:lnSpc>
              <a:buNone/>
            </a:pPr>
            <a:r>
              <a:rPr lang="en-US" sz="1450" dirty="0">
                <a:solidFill>
                  <a:srgbClr val="FFFFFF"/>
                </a:solidFill>
                <a:latin typeface="Calibri" pitchFamily="34" charset="0"/>
                <a:ea typeface="Calibri" pitchFamily="34" charset="-122"/>
                <a:cs typeface="Calibri" pitchFamily="34" charset="-120"/>
              </a:rPr>
              <a:t>Where hydro-retention helps, and where drainage must come first.</a:t>
            </a:r>
            <a:endParaRPr lang="en-US" sz="1450" dirty="0"/>
          </a:p>
        </p:txBody>
      </p:sp>
      <p:sp>
        <p:nvSpPr>
          <p:cNvPr id="12" name="Text 7"/>
          <p:cNvSpPr txBox="1"/>
          <p:nvPr/>
        </p:nvSpPr>
        <p:spPr>
          <a:xfrm>
            <a:off x="658368" y="4892040"/>
            <a:ext cx="4956048" cy="347472"/>
          </a:xfrm>
          <a:prstGeom prst="rect">
            <a:avLst/>
          </a:prstGeom>
          <a:noFill/>
          <a:ln/>
        </p:spPr>
        <p:txBody>
          <a:bodyPr wrap="square" lIns="0" tIns="0" rIns="0" bIns="0" rtlCol="0" anchor="ctr"/>
          <a:lstStyle/>
          <a:p>
            <a:pPr algn="l" indent="0" marL="0">
              <a:buNone/>
            </a:pPr>
            <a:r>
              <a:rPr lang="en-US" sz="1100" b="1" dirty="0">
                <a:solidFill>
                  <a:srgbClr val="8BC34A"/>
                </a:solidFill>
                <a:latin typeface="Calibri" pitchFamily="34" charset="0"/>
                <a:ea typeface="Calibri" pitchFamily="34" charset="-122"/>
                <a:cs typeface="Calibri" pitchFamily="34" charset="-120"/>
              </a:rPr>
              <a:t>ECOSORB® · ECOFERT® · NAPEMA® · PAULOWNIA</a:t>
            </a:r>
            <a:endParaRPr lang="en-US" sz="1100" dirty="0"/>
          </a:p>
        </p:txBody>
      </p:sp>
      <p:sp>
        <p:nvSpPr>
          <p:cNvPr id="13" name="Text 8"/>
          <p:cNvSpPr txBox="1"/>
          <p:nvPr/>
        </p:nvSpPr>
        <p:spPr>
          <a:xfrm>
            <a:off x="658368" y="6053328"/>
            <a:ext cx="4956048" cy="310896"/>
          </a:xfrm>
          <a:prstGeom prst="rect">
            <a:avLst/>
          </a:prstGeom>
          <a:noFill/>
          <a:ln/>
        </p:spPr>
        <p:txBody>
          <a:bodyPr wrap="square" lIns="0" tIns="0" rIns="0" bIns="0" rtlCol="0" anchor="ctr"/>
          <a:lstStyle/>
          <a:p>
            <a:pPr algn="l" indent="0" marL="0">
              <a:buNone/>
            </a:pPr>
            <a:r>
              <a:rPr lang="en-US" sz="850" dirty="0">
                <a:solidFill>
                  <a:srgbClr val="9A9A9A"/>
                </a:solidFill>
                <a:latin typeface="Calibri" pitchFamily="34" charset="0"/>
                <a:ea typeface="Calibri" pitchFamily="34" charset="-122"/>
                <a:cs typeface="Calibri" pitchFamily="34" charset="-120"/>
              </a:rPr>
              <a:t>September 2026 · Confidential · For the sole use of the recipient</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THE MARKET IN BRIEF</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A farming country that cannot yet feed itself</a:t>
            </a:r>
            <a:endParaRPr lang="en-US" sz="3000" dirty="0"/>
          </a:p>
        </p:txBody>
      </p:sp>
      <p:sp>
        <p:nvSpPr>
          <p:cNvPr id="4" name="Shape 2"/>
          <p:cNvSpPr/>
          <p:nvPr/>
        </p:nvSpPr>
        <p:spPr>
          <a:xfrm>
            <a:off x="594360" y="1874520"/>
            <a:ext cx="2545004" cy="2514600"/>
          </a:xfrm>
          <a:prstGeom prst="roundRect">
            <a:avLst>
              <a:gd name="adj" fmla="val 3636"/>
            </a:avLst>
          </a:prstGeom>
          <a:solidFill>
            <a:srgbClr val="EDF3F5"/>
          </a:solidFill>
          <a:ln w="9525">
            <a:solidFill>
              <a:srgbClr val="D6E2E7"/>
            </a:solidFill>
            <a:prstDash val="solid"/>
          </a:ln>
        </p:spPr>
      </p:sp>
      <p:sp>
        <p:nvSpPr>
          <p:cNvPr id="5" name="Text 3"/>
          <p:cNvSpPr txBox="1"/>
          <p:nvPr/>
        </p:nvSpPr>
        <p:spPr>
          <a:xfrm>
            <a:off x="777240" y="2148840"/>
            <a:ext cx="2179244" cy="960120"/>
          </a:xfrm>
          <a:prstGeom prst="rect">
            <a:avLst/>
          </a:prstGeom>
          <a:noFill/>
          <a:ln/>
        </p:spPr>
        <p:txBody>
          <a:bodyPr wrap="square" lIns="0" tIns="0" rIns="0" bIns="0" rtlCol="0" anchor="ctr"/>
          <a:lstStyle/>
          <a:p>
            <a:pPr algn="ctr" indent="0" marL="0">
              <a:buNone/>
            </a:pPr>
            <a:r>
              <a:rPr lang="en-US" sz="3800" b="1" dirty="0">
                <a:solidFill>
                  <a:srgbClr val="1C5A73"/>
                </a:solidFill>
                <a:latin typeface="Cambria" pitchFamily="34" charset="0"/>
                <a:ea typeface="Cambria" pitchFamily="34" charset="-122"/>
                <a:cs typeface="Cambria" pitchFamily="34" charset="-120"/>
              </a:rPr>
              <a:t>≈ 80 %</a:t>
            </a:r>
            <a:endParaRPr lang="en-US" sz="3800" dirty="0"/>
          </a:p>
        </p:txBody>
      </p:sp>
      <p:sp>
        <p:nvSpPr>
          <p:cNvPr id="6" name="Text 4"/>
          <p:cNvSpPr txBox="1"/>
          <p:nvPr/>
        </p:nvSpPr>
        <p:spPr>
          <a:xfrm>
            <a:off x="795528"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1424A"/>
                </a:solidFill>
                <a:latin typeface="Calibri" pitchFamily="34" charset="0"/>
                <a:ea typeface="Calibri" pitchFamily="34" charset="-122"/>
                <a:cs typeface="Calibri" pitchFamily="34" charset="-120"/>
              </a:rPr>
              <a:t>of households depend on crops or livestock</a:t>
            </a:r>
            <a:endParaRPr lang="en-US" sz="1250" dirty="0"/>
          </a:p>
        </p:txBody>
      </p:sp>
      <p:sp>
        <p:nvSpPr>
          <p:cNvPr id="7" name="Shape 5"/>
          <p:cNvSpPr/>
          <p:nvPr/>
        </p:nvSpPr>
        <p:spPr>
          <a:xfrm>
            <a:off x="3413684" y="1874520"/>
            <a:ext cx="2545004" cy="2514600"/>
          </a:xfrm>
          <a:prstGeom prst="roundRect">
            <a:avLst>
              <a:gd name="adj" fmla="val 3636"/>
            </a:avLst>
          </a:prstGeom>
          <a:solidFill>
            <a:srgbClr val="EDF3F5"/>
          </a:solidFill>
          <a:ln w="9525">
            <a:solidFill>
              <a:srgbClr val="D6E2E7"/>
            </a:solidFill>
            <a:prstDash val="solid"/>
          </a:ln>
        </p:spPr>
      </p:sp>
      <p:sp>
        <p:nvSpPr>
          <p:cNvPr id="8" name="Text 6"/>
          <p:cNvSpPr txBox="1"/>
          <p:nvPr/>
        </p:nvSpPr>
        <p:spPr>
          <a:xfrm>
            <a:off x="3596564" y="2148840"/>
            <a:ext cx="2179244" cy="960120"/>
          </a:xfrm>
          <a:prstGeom prst="rect">
            <a:avLst/>
          </a:prstGeom>
          <a:noFill/>
          <a:ln/>
        </p:spPr>
        <p:txBody>
          <a:bodyPr wrap="square" lIns="0" tIns="0" rIns="0" bIns="0" rtlCol="0" anchor="ctr"/>
          <a:lstStyle/>
          <a:p>
            <a:pPr algn="ctr" indent="0" marL="0">
              <a:buNone/>
            </a:pPr>
            <a:r>
              <a:rPr lang="en-US" sz="3800" b="1" dirty="0">
                <a:solidFill>
                  <a:srgbClr val="1C5A73"/>
                </a:solidFill>
                <a:latin typeface="Cambria" pitchFamily="34" charset="0"/>
                <a:ea typeface="Cambria" pitchFamily="34" charset="-122"/>
                <a:cs typeface="Cambria" pitchFamily="34" charset="-120"/>
              </a:rPr>
              <a:t>≈ 4 %</a:t>
            </a:r>
            <a:endParaRPr lang="en-US" sz="3800" dirty="0"/>
          </a:p>
        </p:txBody>
      </p:sp>
      <p:sp>
        <p:nvSpPr>
          <p:cNvPr id="9" name="Text 7"/>
          <p:cNvSpPr txBox="1"/>
          <p:nvPr/>
        </p:nvSpPr>
        <p:spPr>
          <a:xfrm>
            <a:off x="3614852"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1424A"/>
                </a:solidFill>
                <a:latin typeface="Calibri" pitchFamily="34" charset="0"/>
                <a:ea typeface="Calibri" pitchFamily="34" charset="-122"/>
                <a:cs typeface="Calibri" pitchFamily="34" charset="-120"/>
              </a:rPr>
              <a:t>of the land area is cultivated</a:t>
            </a:r>
            <a:endParaRPr lang="en-US" sz="1250" dirty="0"/>
          </a:p>
        </p:txBody>
      </p:sp>
      <p:sp>
        <p:nvSpPr>
          <p:cNvPr id="10" name="Shape 8"/>
          <p:cNvSpPr/>
          <p:nvPr/>
        </p:nvSpPr>
        <p:spPr>
          <a:xfrm>
            <a:off x="6233008" y="1874520"/>
            <a:ext cx="2545004" cy="2514600"/>
          </a:xfrm>
          <a:prstGeom prst="roundRect">
            <a:avLst>
              <a:gd name="adj" fmla="val 3636"/>
            </a:avLst>
          </a:prstGeom>
          <a:solidFill>
            <a:srgbClr val="EDF3F5"/>
          </a:solidFill>
          <a:ln w="9525">
            <a:solidFill>
              <a:srgbClr val="D6E2E7"/>
            </a:solidFill>
            <a:prstDash val="solid"/>
          </a:ln>
        </p:spPr>
      </p:sp>
      <p:sp>
        <p:nvSpPr>
          <p:cNvPr id="11" name="Text 9"/>
          <p:cNvSpPr txBox="1"/>
          <p:nvPr/>
        </p:nvSpPr>
        <p:spPr>
          <a:xfrm>
            <a:off x="6415888" y="2148840"/>
            <a:ext cx="2179244" cy="960120"/>
          </a:xfrm>
          <a:prstGeom prst="rect">
            <a:avLst/>
          </a:prstGeom>
          <a:noFill/>
          <a:ln/>
        </p:spPr>
        <p:txBody>
          <a:bodyPr wrap="square" lIns="0" tIns="0" rIns="0" bIns="0" rtlCol="0" anchor="ctr"/>
          <a:lstStyle/>
          <a:p>
            <a:pPr algn="ctr" indent="0" marL="0">
              <a:buNone/>
            </a:pPr>
            <a:r>
              <a:rPr lang="en-US" sz="3800" b="1" dirty="0">
                <a:solidFill>
                  <a:srgbClr val="1C5A73"/>
                </a:solidFill>
                <a:latin typeface="Cambria" pitchFamily="34" charset="0"/>
                <a:ea typeface="Cambria" pitchFamily="34" charset="-122"/>
                <a:cs typeface="Cambria" pitchFamily="34" charset="-120"/>
              </a:rPr>
              <a:t>≈ 25 %</a:t>
            </a:r>
            <a:endParaRPr lang="en-US" sz="3800" dirty="0"/>
          </a:p>
        </p:txBody>
      </p:sp>
      <p:sp>
        <p:nvSpPr>
          <p:cNvPr id="12" name="Text 10"/>
          <p:cNvSpPr txBox="1"/>
          <p:nvPr/>
        </p:nvSpPr>
        <p:spPr>
          <a:xfrm>
            <a:off x="6434176"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1424A"/>
                </a:solidFill>
                <a:latin typeface="Calibri" pitchFamily="34" charset="0"/>
                <a:ea typeface="Calibri" pitchFamily="34" charset="-122"/>
                <a:cs typeface="Calibri" pitchFamily="34" charset="-120"/>
              </a:rPr>
              <a:t>cereal deficit after the 2024 harvest</a:t>
            </a:r>
            <a:endParaRPr lang="en-US" sz="1250" dirty="0"/>
          </a:p>
        </p:txBody>
      </p:sp>
      <p:sp>
        <p:nvSpPr>
          <p:cNvPr id="13" name="Shape 11"/>
          <p:cNvSpPr/>
          <p:nvPr/>
        </p:nvSpPr>
        <p:spPr>
          <a:xfrm>
            <a:off x="9052331" y="1874520"/>
            <a:ext cx="2545004" cy="2514600"/>
          </a:xfrm>
          <a:prstGeom prst="roundRect">
            <a:avLst>
              <a:gd name="adj" fmla="val 3636"/>
            </a:avLst>
          </a:prstGeom>
          <a:solidFill>
            <a:srgbClr val="EDF3F5"/>
          </a:solidFill>
          <a:ln w="9525">
            <a:solidFill>
              <a:srgbClr val="D6E2E7"/>
            </a:solidFill>
            <a:prstDash val="solid"/>
          </a:ln>
        </p:spPr>
      </p:sp>
      <p:sp>
        <p:nvSpPr>
          <p:cNvPr id="14" name="Text 12"/>
          <p:cNvSpPr txBox="1"/>
          <p:nvPr/>
        </p:nvSpPr>
        <p:spPr>
          <a:xfrm>
            <a:off x="9235211" y="2148840"/>
            <a:ext cx="2179244" cy="960120"/>
          </a:xfrm>
          <a:prstGeom prst="rect">
            <a:avLst/>
          </a:prstGeom>
          <a:noFill/>
          <a:ln/>
        </p:spPr>
        <p:txBody>
          <a:bodyPr wrap="square" lIns="0" tIns="0" rIns="0" bIns="0" rtlCol="0" anchor="ctr"/>
          <a:lstStyle/>
          <a:p>
            <a:pPr algn="ctr" indent="0" marL="0">
              <a:buNone/>
            </a:pPr>
            <a:r>
              <a:rPr lang="en-US" sz="3800" b="1" dirty="0">
                <a:solidFill>
                  <a:srgbClr val="1C5A73"/>
                </a:solidFill>
                <a:latin typeface="Cambria" pitchFamily="34" charset="0"/>
                <a:ea typeface="Cambria" pitchFamily="34" charset="-122"/>
                <a:cs typeface="Cambria" pitchFamily="34" charset="-120"/>
              </a:rPr>
              <a:t>≈ 7.7 M</a:t>
            </a:r>
            <a:endParaRPr lang="en-US" sz="3800" dirty="0"/>
          </a:p>
        </p:txBody>
      </p:sp>
      <p:sp>
        <p:nvSpPr>
          <p:cNvPr id="15" name="Text 13"/>
          <p:cNvSpPr txBox="1"/>
          <p:nvPr/>
        </p:nvSpPr>
        <p:spPr>
          <a:xfrm>
            <a:off x="9253499"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1424A"/>
                </a:solidFill>
                <a:latin typeface="Calibri" pitchFamily="34" charset="0"/>
                <a:ea typeface="Calibri" pitchFamily="34" charset="-122"/>
                <a:cs typeface="Calibri" pitchFamily="34" charset="-120"/>
              </a:rPr>
              <a:t>people projected in acute food insecurity (IPC)</a:t>
            </a:r>
            <a:endParaRPr lang="en-US" sz="1250" dirty="0"/>
          </a:p>
        </p:txBody>
      </p:sp>
      <p:sp>
        <p:nvSpPr>
          <p:cNvPr id="16" name="Text 14"/>
          <p:cNvSpPr txBox="1"/>
          <p:nvPr/>
        </p:nvSpPr>
        <p:spPr>
          <a:xfrm>
            <a:off x="594360" y="4709160"/>
            <a:ext cx="11002975" cy="1097280"/>
          </a:xfrm>
          <a:prstGeom prst="rect">
            <a:avLst/>
          </a:prstGeom>
          <a:noFill/>
          <a:ln/>
        </p:spPr>
        <p:txBody>
          <a:bodyPr wrap="square" lIns="0" tIns="0" rIns="0" bIns="0" rtlCol="0" anchor="t"/>
          <a:lstStyle/>
          <a:p>
            <a:pPr algn="l" indent="0" marL="0">
              <a:lnSpc>
                <a:spcPct val="130000"/>
              </a:lnSpc>
              <a:buNone/>
            </a:pPr>
            <a:r>
              <a:rPr lang="en-US" sz="1350" dirty="0">
                <a:solidFill>
                  <a:srgbClr val="31424A"/>
                </a:solidFill>
                <a:latin typeface="Calibri" pitchFamily="34" charset="0"/>
                <a:ea typeface="Calibri" pitchFamily="34" charset="-122"/>
                <a:cs typeface="Calibri" pitchFamily="34" charset="-120"/>
              </a:rPr>
              <a:t>South Sudan combines vast arable land, large herds and the White Nile system, yet most production is rain-fed, small-scale and exposed to conflict, poor roads and repeated floods. Oil still provides the large majority of export earnings.</a:t>
            </a:r>
            <a:endParaRPr lang="en-US" sz="1350" dirty="0"/>
          </a:p>
        </p:txBody>
      </p:sp>
      <p:sp>
        <p:nvSpPr>
          <p:cNvPr id="17" name="Text 1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South Sudan market dossier</a:t>
            </a:r>
            <a:endParaRPr lang="en-US" sz="950" dirty="0"/>
          </a:p>
        </p:txBody>
      </p:sp>
      <p:sp>
        <p:nvSpPr>
          <p:cNvPr id="18" name="Text 1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1</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THE CONSTRAINT</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Too much water in some places, too little in others</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59436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The Greenbelt of Western and Central Equatoria has a long rainy season, while the east and north face shorter rains and dry spells.</a:t>
            </a:r>
            <a:endParaRPr lang="en-US" sz="1400" dirty="0"/>
          </a:p>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The Sudd wetland and the northern flood plains stay inundated for months: several years of major floods have displaced families and destroyed crops.</a:t>
            </a:r>
            <a:endParaRPr lang="en-US" sz="1400" dirty="0"/>
          </a:p>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Most farming is rain-fed on small plots worked by hand, with little access to seed, fertiliser or extension services.</a:t>
            </a:r>
            <a:endParaRPr lang="en-US" sz="1400" dirty="0"/>
          </a:p>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Poor roads cut markets off in the rainy season, and Juba relies heavily on food trucked in from neighbouring countries.</a:t>
            </a:r>
            <a:endParaRPr lang="en-US" sz="1400" dirty="0"/>
          </a:p>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Water retention only makes sense on well-drained, drought-exposed plots. On flood-prone land, drainage and raised planting come first.</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South Sudan market dossier</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2</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THE FOOD BALANCE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Local cereal output covers about three quarters of needs</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EDF3F5"/>
          </a:solidFill>
          <a:ln w="9525">
            <a:solidFill>
              <a:srgbClr val="D6E2E7"/>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1C5A73"/>
                </a:solidFill>
                <a:latin typeface="Cambria" pitchFamily="34" charset="0"/>
                <a:ea typeface="Cambria" pitchFamily="34" charset="-122"/>
                <a:cs typeface="Cambria" pitchFamily="34" charset="-120"/>
              </a:rPr>
              <a:t>What this implies</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1424A"/>
                </a:solidFill>
                <a:latin typeface="Calibri" pitchFamily="34" charset="0"/>
                <a:ea typeface="Calibri" pitchFamily="34" charset="-122"/>
                <a:cs typeface="Calibri" pitchFamily="34" charset="-120"/>
              </a:rPr>
              <a:t>The gap of roughly 25 % is filled by imports from neighbouring countries and by food assistance.</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1424A"/>
                </a:solidFill>
                <a:latin typeface="Calibri" pitchFamily="34" charset="0"/>
                <a:ea typeface="Calibri" pitchFamily="34" charset="-122"/>
                <a:cs typeface="Calibri" pitchFamily="34" charset="-120"/>
              </a:rPr>
              <a:t>Every tonne produced locally on a reliable basis replaces a trucked-in tonne whose price rises with fuel costs and insecurity.</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South Sudan market dossier</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3</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ECONOMY AND FOOD SECURITY</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An oil economy where most people live from the land</a:t>
            </a:r>
            <a:endParaRPr lang="en-US" sz="3000" dirty="0"/>
          </a:p>
        </p:txBody>
      </p:sp>
      <p:sp>
        <p:nvSpPr>
          <p:cNvPr id="4" name="Shape 2"/>
          <p:cNvSpPr/>
          <p:nvPr/>
        </p:nvSpPr>
        <p:spPr>
          <a:xfrm>
            <a:off x="594360" y="1874520"/>
            <a:ext cx="3484778" cy="2514600"/>
          </a:xfrm>
          <a:prstGeom prst="roundRect">
            <a:avLst>
              <a:gd name="adj" fmla="val 3636"/>
            </a:avLst>
          </a:prstGeom>
          <a:solidFill>
            <a:srgbClr val="EDF3F5"/>
          </a:solidFill>
          <a:ln w="9525">
            <a:solidFill>
              <a:srgbClr val="D6E2E7"/>
            </a:solidFill>
            <a:prstDash val="solid"/>
          </a:ln>
        </p:spPr>
      </p:sp>
      <p:sp>
        <p:nvSpPr>
          <p:cNvPr id="5" name="Text 3"/>
          <p:cNvSpPr txBox="1"/>
          <p:nvPr/>
        </p:nvSpPr>
        <p:spPr>
          <a:xfrm>
            <a:off x="777240" y="2148840"/>
            <a:ext cx="3119018" cy="960120"/>
          </a:xfrm>
          <a:prstGeom prst="rect">
            <a:avLst/>
          </a:prstGeom>
          <a:noFill/>
          <a:ln/>
        </p:spPr>
        <p:txBody>
          <a:bodyPr wrap="square" lIns="0" tIns="0" rIns="0" bIns="0" rtlCol="0" anchor="ctr"/>
          <a:lstStyle/>
          <a:p>
            <a:pPr algn="ctr" indent="0" marL="0">
              <a:buNone/>
            </a:pPr>
            <a:r>
              <a:rPr lang="en-US" sz="3800" b="1" dirty="0">
                <a:solidFill>
                  <a:srgbClr val="1C5A73"/>
                </a:solidFill>
                <a:latin typeface="Cambria" pitchFamily="34" charset="0"/>
                <a:ea typeface="Cambria" pitchFamily="34" charset="-122"/>
                <a:cs typeface="Cambria" pitchFamily="34" charset="-120"/>
              </a:rPr>
              <a:t>≈ 90 %</a:t>
            </a:r>
            <a:endParaRPr lang="en-US" sz="3800" dirty="0"/>
          </a:p>
        </p:txBody>
      </p:sp>
      <p:sp>
        <p:nvSpPr>
          <p:cNvPr id="6" name="Text 4"/>
          <p:cNvSpPr txBox="1"/>
          <p:nvPr/>
        </p:nvSpPr>
        <p:spPr>
          <a:xfrm>
            <a:off x="795528" y="3154680"/>
            <a:ext cx="3082442" cy="1051560"/>
          </a:xfrm>
          <a:prstGeom prst="rect">
            <a:avLst/>
          </a:prstGeom>
          <a:noFill/>
          <a:ln/>
        </p:spPr>
        <p:txBody>
          <a:bodyPr wrap="square" lIns="0" tIns="0" rIns="0" bIns="0" rtlCol="0" anchor="t"/>
          <a:lstStyle/>
          <a:p>
            <a:pPr algn="ctr" indent="0" marL="0">
              <a:lnSpc>
                <a:spcPct val="118000"/>
              </a:lnSpc>
              <a:buNone/>
            </a:pPr>
            <a:r>
              <a:rPr lang="en-US" sz="1250" dirty="0">
                <a:solidFill>
                  <a:srgbClr val="31424A"/>
                </a:solidFill>
                <a:latin typeface="Calibri" pitchFamily="34" charset="0"/>
                <a:ea typeface="Calibri" pitchFamily="34" charset="-122"/>
                <a:cs typeface="Calibri" pitchFamily="34" charset="-120"/>
              </a:rPr>
              <a:t>of export earnings come from oil</a:t>
            </a:r>
            <a:endParaRPr lang="en-US" sz="1250" dirty="0"/>
          </a:p>
        </p:txBody>
      </p:sp>
      <p:sp>
        <p:nvSpPr>
          <p:cNvPr id="7" name="Shape 5"/>
          <p:cNvSpPr/>
          <p:nvPr/>
        </p:nvSpPr>
        <p:spPr>
          <a:xfrm>
            <a:off x="4353458" y="1874520"/>
            <a:ext cx="3484778" cy="2514600"/>
          </a:xfrm>
          <a:prstGeom prst="roundRect">
            <a:avLst>
              <a:gd name="adj" fmla="val 3636"/>
            </a:avLst>
          </a:prstGeom>
          <a:solidFill>
            <a:srgbClr val="EDF3F5"/>
          </a:solidFill>
          <a:ln w="9525">
            <a:solidFill>
              <a:srgbClr val="D6E2E7"/>
            </a:solidFill>
            <a:prstDash val="solid"/>
          </a:ln>
        </p:spPr>
      </p:sp>
      <p:sp>
        <p:nvSpPr>
          <p:cNvPr id="8" name="Text 6"/>
          <p:cNvSpPr txBox="1"/>
          <p:nvPr/>
        </p:nvSpPr>
        <p:spPr>
          <a:xfrm>
            <a:off x="4536338" y="2148840"/>
            <a:ext cx="3119018" cy="960120"/>
          </a:xfrm>
          <a:prstGeom prst="rect">
            <a:avLst/>
          </a:prstGeom>
          <a:noFill/>
          <a:ln/>
        </p:spPr>
        <p:txBody>
          <a:bodyPr wrap="square" lIns="0" tIns="0" rIns="0" bIns="0" rtlCol="0" anchor="ctr"/>
          <a:lstStyle/>
          <a:p>
            <a:pPr algn="ctr" indent="0" marL="0">
              <a:buNone/>
            </a:pPr>
            <a:r>
              <a:rPr lang="en-US" sz="3800" b="1" dirty="0">
                <a:solidFill>
                  <a:srgbClr val="1C5A73"/>
                </a:solidFill>
                <a:latin typeface="Cambria" pitchFamily="34" charset="0"/>
                <a:ea typeface="Cambria" pitchFamily="34" charset="-122"/>
                <a:cs typeface="Cambria" pitchFamily="34" charset="-120"/>
              </a:rPr>
              <a:t>≈ 12 M</a:t>
            </a:r>
            <a:endParaRPr lang="en-US" sz="3800" dirty="0"/>
          </a:p>
        </p:txBody>
      </p:sp>
      <p:sp>
        <p:nvSpPr>
          <p:cNvPr id="9" name="Text 7"/>
          <p:cNvSpPr txBox="1"/>
          <p:nvPr/>
        </p:nvSpPr>
        <p:spPr>
          <a:xfrm>
            <a:off x="4554626" y="3154680"/>
            <a:ext cx="3082442" cy="1051560"/>
          </a:xfrm>
          <a:prstGeom prst="rect">
            <a:avLst/>
          </a:prstGeom>
          <a:noFill/>
          <a:ln/>
        </p:spPr>
        <p:txBody>
          <a:bodyPr wrap="square" lIns="0" tIns="0" rIns="0" bIns="0" rtlCol="0" anchor="t"/>
          <a:lstStyle/>
          <a:p>
            <a:pPr algn="ctr" indent="0" marL="0">
              <a:lnSpc>
                <a:spcPct val="118000"/>
              </a:lnSpc>
              <a:buNone/>
            </a:pPr>
            <a:r>
              <a:rPr lang="en-US" sz="1250" dirty="0">
                <a:solidFill>
                  <a:srgbClr val="31424A"/>
                </a:solidFill>
                <a:latin typeface="Calibri" pitchFamily="34" charset="0"/>
                <a:ea typeface="Calibri" pitchFamily="34" charset="-122"/>
                <a:cs typeface="Calibri" pitchFamily="34" charset="-120"/>
              </a:rPr>
              <a:t>inhabitants, most of them in rural areas</a:t>
            </a:r>
            <a:endParaRPr lang="en-US" sz="1250" dirty="0"/>
          </a:p>
        </p:txBody>
      </p:sp>
      <p:sp>
        <p:nvSpPr>
          <p:cNvPr id="10" name="Shape 8"/>
          <p:cNvSpPr/>
          <p:nvPr/>
        </p:nvSpPr>
        <p:spPr>
          <a:xfrm>
            <a:off x="8112557" y="1874520"/>
            <a:ext cx="3484778" cy="2514600"/>
          </a:xfrm>
          <a:prstGeom prst="roundRect">
            <a:avLst>
              <a:gd name="adj" fmla="val 3636"/>
            </a:avLst>
          </a:prstGeom>
          <a:solidFill>
            <a:srgbClr val="EDF3F5"/>
          </a:solidFill>
          <a:ln w="9525">
            <a:solidFill>
              <a:srgbClr val="D6E2E7"/>
            </a:solidFill>
            <a:prstDash val="solid"/>
          </a:ln>
        </p:spPr>
      </p:sp>
      <p:sp>
        <p:nvSpPr>
          <p:cNvPr id="11" name="Text 9"/>
          <p:cNvSpPr txBox="1"/>
          <p:nvPr/>
        </p:nvSpPr>
        <p:spPr>
          <a:xfrm>
            <a:off x="8295437" y="2148840"/>
            <a:ext cx="3119018" cy="960120"/>
          </a:xfrm>
          <a:prstGeom prst="rect">
            <a:avLst/>
          </a:prstGeom>
          <a:noFill/>
          <a:ln/>
        </p:spPr>
        <p:txBody>
          <a:bodyPr wrap="square" lIns="0" tIns="0" rIns="0" bIns="0" rtlCol="0" anchor="ctr"/>
          <a:lstStyle/>
          <a:p>
            <a:pPr algn="ctr" indent="0" marL="0">
              <a:buNone/>
            </a:pPr>
            <a:r>
              <a:rPr lang="en-US" sz="3800" b="1" dirty="0">
                <a:solidFill>
                  <a:srgbClr val="1C5A73"/>
                </a:solidFill>
                <a:latin typeface="Cambria" pitchFamily="34" charset="0"/>
                <a:ea typeface="Cambria" pitchFamily="34" charset="-122"/>
                <a:cs typeface="Cambria" pitchFamily="34" charset="-120"/>
              </a:rPr>
              <a:t>2011</a:t>
            </a:r>
            <a:endParaRPr lang="en-US" sz="3800" dirty="0"/>
          </a:p>
        </p:txBody>
      </p:sp>
      <p:sp>
        <p:nvSpPr>
          <p:cNvPr id="12" name="Text 10"/>
          <p:cNvSpPr txBox="1"/>
          <p:nvPr/>
        </p:nvSpPr>
        <p:spPr>
          <a:xfrm>
            <a:off x="8313725" y="3154680"/>
            <a:ext cx="3082442" cy="1051560"/>
          </a:xfrm>
          <a:prstGeom prst="rect">
            <a:avLst/>
          </a:prstGeom>
          <a:noFill/>
          <a:ln/>
        </p:spPr>
        <p:txBody>
          <a:bodyPr wrap="square" lIns="0" tIns="0" rIns="0" bIns="0" rtlCol="0" anchor="t"/>
          <a:lstStyle/>
          <a:p>
            <a:pPr algn="ctr" indent="0" marL="0">
              <a:lnSpc>
                <a:spcPct val="118000"/>
              </a:lnSpc>
              <a:buNone/>
            </a:pPr>
            <a:r>
              <a:rPr lang="en-US" sz="1250" dirty="0">
                <a:solidFill>
                  <a:srgbClr val="31424A"/>
                </a:solidFill>
                <a:latin typeface="Calibri" pitchFamily="34" charset="0"/>
                <a:ea typeface="Calibri" pitchFamily="34" charset="-122"/>
                <a:cs typeface="Calibri" pitchFamily="34" charset="-120"/>
              </a:rPr>
              <a:t>independence, with agriculture named a priority for diversification</a:t>
            </a:r>
            <a:endParaRPr lang="en-US" sz="1250" dirty="0"/>
          </a:p>
        </p:txBody>
      </p:sp>
      <p:sp>
        <p:nvSpPr>
          <p:cNvPr id="13" name="Text 11"/>
          <p:cNvSpPr txBox="1"/>
          <p:nvPr/>
        </p:nvSpPr>
        <p:spPr>
          <a:xfrm>
            <a:off x="594360" y="4709160"/>
            <a:ext cx="11002975" cy="1097280"/>
          </a:xfrm>
          <a:prstGeom prst="rect">
            <a:avLst/>
          </a:prstGeom>
          <a:noFill/>
          <a:ln/>
        </p:spPr>
        <p:txBody>
          <a:bodyPr wrap="square" lIns="0" tIns="0" rIns="0" bIns="0" rtlCol="0" anchor="t"/>
          <a:lstStyle/>
          <a:p>
            <a:pPr algn="l" indent="0" marL="0">
              <a:lnSpc>
                <a:spcPct val="130000"/>
              </a:lnSpc>
              <a:buNone/>
            </a:pPr>
            <a:r>
              <a:rPr lang="en-US" sz="1350" dirty="0">
                <a:solidFill>
                  <a:srgbClr val="31424A"/>
                </a:solidFill>
                <a:latin typeface="Calibri" pitchFamily="34" charset="0"/>
                <a:ea typeface="Calibri" pitchFamily="34" charset="-122"/>
                <a:cs typeface="Calibri" pitchFamily="34" charset="-120"/>
              </a:rPr>
              <a:t>Imports, humanitarian assistance and trade with Uganda, Kenya and Sudan fill much of the gap between local output and needs. Every stable gain in local production, storage and transport reduces exposure to price shocks and supply interruptions.</a:t>
            </a:r>
            <a:endParaRPr lang="en-US" sz="1350" dirty="0"/>
          </a:p>
        </p:txBody>
      </p:sp>
      <p:sp>
        <p:nvSpPr>
          <p:cNvPr id="14" name="Text 12"/>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South Sudan market dossier</a:t>
            </a:r>
            <a:endParaRPr lang="en-US" sz="950" dirty="0"/>
          </a:p>
        </p:txBody>
      </p:sp>
      <p:sp>
        <p:nvSpPr>
          <p:cNvPr id="15" name="Text 13"/>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4</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THE MAIN CROPS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Sorghum dominates the cereal area</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EDF3F5"/>
          </a:solidFill>
          <a:ln w="9525">
            <a:solidFill>
              <a:srgbClr val="D6E2E7"/>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1C5A73"/>
                </a:solidFill>
                <a:latin typeface="Cambria" pitchFamily="34" charset="0"/>
                <a:ea typeface="Cambria" pitchFamily="34" charset="-122"/>
                <a:cs typeface="Cambria" pitchFamily="34" charset="-120"/>
              </a:rPr>
              <a:t>Reading</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1424A"/>
                </a:solidFill>
                <a:latin typeface="Calibri" pitchFamily="34" charset="0"/>
                <a:ea typeface="Calibri" pitchFamily="34" charset="-122"/>
                <a:cs typeface="Calibri" pitchFamily="34" charset="-120"/>
              </a:rPr>
              <a:t>Sorghum is grown almost everywhere and underpins household food security.</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1424A"/>
                </a:solidFill>
                <a:latin typeface="Calibri" pitchFamily="34" charset="0"/>
                <a:ea typeface="Calibri" pitchFamily="34" charset="-122"/>
                <a:cs typeface="Calibri" pitchFamily="34" charset="-120"/>
              </a:rPr>
              <a:t>Maize and cassava lead in the Greenbelt of Western Equatoria, where rainfall and soils respond best to improved practices. Shares are rounded orders of magnitude.</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South Sudan market dossier</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5</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LEADING SECTOR</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Maize and cassava: the Greenbelt opportunity</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59436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Western Equatoria has the rainfall, soils and season length to supply Juba and regional markets.</a:t>
            </a:r>
            <a:endParaRPr lang="en-US" sz="1400" dirty="0"/>
          </a:p>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Controlled trials near Yambio and Nzara reached 4.7 t/ha of maize with nitrogen and phosphorus, against 2.9 t/ha on control plots.</a:t>
            </a:r>
            <a:endParaRPr lang="en-US" sz="1400" dirty="0"/>
          </a:p>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Cassava is the resilience crop: it stays in the ground through bad years and feeds households between harvests.</a:t>
            </a:r>
            <a:endParaRPr lang="en-US" sz="1400" dirty="0"/>
          </a:p>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Roads, storage and processing, more than rainfall, decide whether a surplus reaches a market.</a:t>
            </a:r>
            <a:endParaRPr lang="en-US" sz="1400" dirty="0"/>
          </a:p>
          <a:p>
            <a:pPr algn="l" marL="342900" indent="-342900">
              <a:lnSpc>
                <a:spcPct val="122000"/>
              </a:lnSpc>
              <a:spcAft>
                <a:spcPts val="1100"/>
              </a:spcAft>
              <a:buSzPct val="100000"/>
              <a:buChar char="•"/>
            </a:pPr>
            <a:r>
              <a:rPr lang="en-US" sz="1400" dirty="0">
                <a:solidFill>
                  <a:srgbClr val="31424A"/>
                </a:solidFill>
                <a:latin typeface="Calibri" pitchFamily="34" charset="0"/>
                <a:ea typeface="Calibri" pitchFamily="34" charset="-122"/>
                <a:cs typeface="Calibri" pitchFamily="34" charset="-120"/>
              </a:rPr>
              <a:t>EVERGREEN® and ECOFERT® are to be trialled on drained plots exposed to dry spells, against an untreated control.</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South Sudan market dossier</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6</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OUR RESPONSE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Two technologies, for drained land under dry spells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1C5A73"/>
                </a:solidFill>
                <a:latin typeface="Cambria" pitchFamily="34" charset="0"/>
                <a:ea typeface="Cambria" pitchFamily="34" charset="-122"/>
                <a:cs typeface="Cambria" pitchFamily="34" charset="-120"/>
              </a:rPr>
              <a:t>EVERGREEN® — holding the water</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A potassium-based hydro-retainer placed in the root zone of drained, drought-exposed plots.</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It captures rain and releases it back to the plant gradually, bridging dry spells at emergence and flowering.</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Absorbs on the order of 300 times its own weight; useful effect of 3 to 4 years in the soil.</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Breaks down by 20 to 25 % a year, with no build-up and no risk of overdosing.</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1C5A73"/>
                </a:solidFill>
                <a:latin typeface="Cambria" pitchFamily="34" charset="0"/>
                <a:ea typeface="Cambria" pitchFamily="34" charset="-122"/>
                <a:cs typeface="Cambria" pitchFamily="34" charset="-120"/>
              </a:rPr>
              <a:t>ECOFERT® — feeding without depleting</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A micro-dose fertiliser of amino acids, nitrogen, phosphorus and potassium, made from renewable resources.</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Non-chelating: it does not strip the clay-humus complex of soils that are often low in organic matter.</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Certified SOHISCERT and EU Bio, in use in 60 countries.</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1 to 4 bottles of 140 ml per hectare, applied with a knapsack sprayer.</a:t>
            </a:r>
            <a:endParaRPr lang="en-US" sz="1350" dirty="0"/>
          </a:p>
        </p:txBody>
      </p:sp>
      <p:sp>
        <p:nvSpPr>
          <p:cNvPr id="8" name="Shape 6"/>
          <p:cNvSpPr/>
          <p:nvPr/>
        </p:nvSpPr>
        <p:spPr>
          <a:xfrm>
            <a:off x="594360" y="4846320"/>
            <a:ext cx="11002975" cy="960120"/>
          </a:xfrm>
          <a:prstGeom prst="roundRect">
            <a:avLst>
              <a:gd name="adj" fmla="val 7619"/>
            </a:avLst>
          </a:prstGeom>
          <a:solidFill>
            <a:srgbClr val="EDF3F5"/>
          </a:solidFill>
          <a:ln w="9525">
            <a:solidFill>
              <a:srgbClr val="D6E2E7"/>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6C8089"/>
                </a:solidFill>
                <a:latin typeface="Calibri" pitchFamily="34" charset="0"/>
                <a:ea typeface="Calibri" pitchFamily="34" charset="-122"/>
                <a:cs typeface="Calibri" pitchFamily="34" charset="-120"/>
              </a:rPr>
              <a:t>Neither product replaces drainage, good seed or safe storage. They are trialled where water shortage, not waterlogging, limits the crop.</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South Sudan market dossier</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7</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The rest of the range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Protecting crops, holding soils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1C5A73"/>
                </a:solidFill>
                <a:latin typeface="Cambria" pitchFamily="34" charset="0"/>
                <a:ea typeface="Cambria" pitchFamily="34" charset="-122"/>
                <a:cs typeface="Cambria" pitchFamily="34" charset="-120"/>
              </a:rPr>
              <a:t>NAPEMA® — protection without residue</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Controls diseases, parasites, fungi and pests, with no synthetic molecule.</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Foliar and root spraying, working both preventively and curatively.</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No residue in soil, plant or air: pollinators and beneficial insects are spared.</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Formulated for one precise problem: mealybug, citrus greening (HLB), nematodes.</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1C5A73"/>
                </a:solidFill>
                <a:latin typeface="Cambria" pitchFamily="34" charset="0"/>
                <a:ea typeface="Cambria" pitchFamily="34" charset="-122"/>
                <a:cs typeface="Cambria" pitchFamily="34" charset="-120"/>
              </a:rPr>
              <a:t>Paulownia ALTIFOLIA® — the tree for hot regions</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13 to 15 m in six to eight years, with a wide trunk.</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Combined with 100 g of EVERGREEN® per plant, irrigation needs drop by 50%.</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Withstands −25 °C to +45 °C; the wood only ignites above 426 °C.</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Windbreak, protection against soil erosion, 400 to 700 kg of honey per hectare.</a:t>
            </a:r>
            <a:endParaRPr lang="en-US" sz="1350" dirty="0"/>
          </a:p>
        </p:txBody>
      </p:sp>
      <p:sp>
        <p:nvSpPr>
          <p:cNvPr id="8" name="Shape 6"/>
          <p:cNvSpPr/>
          <p:nvPr/>
        </p:nvSpPr>
        <p:spPr>
          <a:xfrm>
            <a:off x="594360" y="4846320"/>
            <a:ext cx="11002975" cy="960120"/>
          </a:xfrm>
          <a:prstGeom prst="roundRect">
            <a:avLst>
              <a:gd name="adj" fmla="val 7619"/>
            </a:avLst>
          </a:prstGeom>
          <a:solidFill>
            <a:srgbClr val="EDF3F5"/>
          </a:solidFill>
          <a:ln w="9525">
            <a:solidFill>
              <a:srgbClr val="D6E2E7"/>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6C8089"/>
                </a:solidFill>
                <a:latin typeface="Calibri" pitchFamily="34" charset="0"/>
                <a:ea typeface="Calibri" pitchFamily="34" charset="-122"/>
                <a:cs typeface="Calibri" pitchFamily="34" charset="-120"/>
              </a:rPr>
              <a:t>Plants delivered potted (25 to 30 cm), certified disease-free and replaced under warranty in case of loss. First harvest at the end of year six, with wood valued at around €400 to €450 per m³.</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South Sudan market dossier</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8</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ORDERS OF MAGNITUDE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Expected water saving by irrigation method</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EDF3F5"/>
          </a:solidFill>
          <a:ln w="9525">
            <a:solidFill>
              <a:srgbClr val="D6E2E7"/>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1C5A73"/>
                </a:solidFill>
                <a:latin typeface="Cambria" pitchFamily="34" charset="0"/>
                <a:ea typeface="Cambria" pitchFamily="34" charset="-122"/>
                <a:cs typeface="Cambria" pitchFamily="34" charset="-120"/>
              </a:rPr>
              <a:t>Read with caution</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1424A"/>
                </a:solidFill>
                <a:latin typeface="Calibri" pitchFamily="34" charset="0"/>
                <a:ea typeface="Calibri" pitchFamily="34" charset="-122"/>
                <a:cs typeface="Calibri" pitchFamily="34" charset="-120"/>
              </a:rPr>
              <a:t>These ranges are indicative and based on the savings documented for our hydro-retainers.</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1424A"/>
                </a:solidFill>
                <a:latin typeface="Calibri" pitchFamily="34" charset="0"/>
                <a:ea typeface="Calibri" pitchFamily="34" charset="-122"/>
                <a:cs typeface="Calibri" pitchFamily="34" charset="-120"/>
              </a:rPr>
              <a:t>The actual result depends on the soil, the climate and the crop. They give an order of magnitude and are in no case a guaranteed, contractual or absolute value.</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South Sudan market dossier</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9</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THREE PRIORITY AREAS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Where to run the first trials</a:t>
            </a:r>
            <a:endParaRPr lang="en-US" sz="3000" dirty="0"/>
          </a:p>
        </p:txBody>
      </p:sp>
      <p:sp>
        <p:nvSpPr>
          <p:cNvPr id="4" name="Shape 2"/>
          <p:cNvSpPr/>
          <p:nvPr/>
        </p:nvSpPr>
        <p:spPr>
          <a:xfrm>
            <a:off x="594360" y="1783080"/>
            <a:ext cx="3472586" cy="4069080"/>
          </a:xfrm>
          <a:prstGeom prst="roundRect">
            <a:avLst>
              <a:gd name="adj" fmla="val 2633"/>
            </a:avLst>
          </a:prstGeom>
          <a:solidFill>
            <a:srgbClr val="EDF3F5"/>
          </a:solidFill>
          <a:ln w="9525">
            <a:solidFill>
              <a:srgbClr val="D6E2E7"/>
            </a:solidFill>
            <a:prstDash val="solid"/>
          </a:ln>
        </p:spPr>
      </p:sp>
      <p:pic>
        <p:nvPicPr>
          <p:cNvPr id="5" name="Image 0" descr="preencoded.png">    </p:cNvPr>
          <p:cNvPicPr>
            <a:picLocks noChangeAspect="1"/>
          </p:cNvPicPr>
          <p:nvPr/>
        </p:nvPicPr>
        <p:blipFill>
          <a:blip r:embed="rId1"/>
          <a:stretch>
            <a:fillRect/>
          </a:stretch>
        </p:blipFill>
        <p:spPr>
          <a:xfrm>
            <a:off x="594360" y="1783080"/>
            <a:ext cx="3472586" cy="1691640"/>
          </a:xfrm>
          <a:prstGeom prst="rect">
            <a:avLst/>
          </a:prstGeom>
        </p:spPr>
      </p:pic>
      <p:sp>
        <p:nvSpPr>
          <p:cNvPr id="6" name="Text 3"/>
          <p:cNvSpPr txBox="1"/>
          <p:nvPr/>
        </p:nvSpPr>
        <p:spPr>
          <a:xfrm>
            <a:off x="795528" y="3639312"/>
            <a:ext cx="3070250" cy="384048"/>
          </a:xfrm>
          <a:prstGeom prst="rect">
            <a:avLst/>
          </a:prstGeom>
          <a:noFill/>
          <a:ln/>
        </p:spPr>
        <p:txBody>
          <a:bodyPr wrap="square" lIns="0" tIns="0" rIns="0" bIns="0" rtlCol="0" anchor="ctr"/>
          <a:lstStyle/>
          <a:p>
            <a:pPr algn="l" indent="0" marL="0">
              <a:buNone/>
            </a:pPr>
            <a:r>
              <a:rPr lang="en-US" sz="1500" b="1" dirty="0">
                <a:solidFill>
                  <a:srgbClr val="1C5A73"/>
                </a:solidFill>
                <a:latin typeface="Cambria" pitchFamily="34" charset="0"/>
                <a:ea typeface="Cambria" pitchFamily="34" charset="-122"/>
                <a:cs typeface="Cambria" pitchFamily="34" charset="-120"/>
              </a:rPr>
              <a:t>Western Equatoria</a:t>
            </a:r>
            <a:endParaRPr lang="en-US" sz="1500" dirty="0"/>
          </a:p>
        </p:txBody>
      </p:sp>
      <p:sp>
        <p:nvSpPr>
          <p:cNvPr id="7" name="Text 4"/>
          <p:cNvSpPr txBox="1"/>
          <p:nvPr/>
        </p:nvSpPr>
        <p:spPr>
          <a:xfrm>
            <a:off x="795528" y="4041648"/>
            <a:ext cx="3070250" cy="329184"/>
          </a:xfrm>
          <a:prstGeom prst="rect">
            <a:avLst/>
          </a:prstGeom>
          <a:noFill/>
          <a:ln/>
        </p:spPr>
        <p:txBody>
          <a:bodyPr wrap="square" lIns="0" tIns="0" rIns="0" bIns="0" rtlCol="0" anchor="ctr"/>
          <a:lstStyle/>
          <a:p>
            <a:pPr algn="l" indent="0" marL="0">
              <a:buNone/>
            </a:pPr>
            <a:r>
              <a:rPr lang="en-US" sz="1250" b="1" dirty="0">
                <a:solidFill>
                  <a:srgbClr val="A3701A"/>
                </a:solidFill>
                <a:latin typeface="Calibri" pitchFamily="34" charset="0"/>
                <a:ea typeface="Calibri" pitchFamily="34" charset="-122"/>
                <a:cs typeface="Calibri" pitchFamily="34" charset="-120"/>
              </a:rPr>
              <a:t>The Greenbelt</a:t>
            </a:r>
            <a:endParaRPr lang="en-US" sz="1250" dirty="0"/>
          </a:p>
        </p:txBody>
      </p:sp>
      <p:sp>
        <p:nvSpPr>
          <p:cNvPr id="8" name="Text 5"/>
          <p:cNvSpPr txBox="1"/>
          <p:nvPr/>
        </p:nvSpPr>
        <p:spPr>
          <a:xfrm>
            <a:off x="795528"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1424A"/>
                </a:solidFill>
                <a:latin typeface="Calibri" pitchFamily="34" charset="0"/>
                <a:ea typeface="Calibri" pitchFamily="34" charset="-122"/>
                <a:cs typeface="Calibri" pitchFamily="34" charset="-120"/>
              </a:rPr>
              <a:t>Maize, cassava, groundnut and vegetables under a long rainy season.</a:t>
            </a:r>
            <a:endParaRPr lang="en-US" sz="1150" dirty="0"/>
          </a:p>
          <a:p>
            <a:pPr algn="l" marL="342900" indent="-342900">
              <a:lnSpc>
                <a:spcPct val="116000"/>
              </a:lnSpc>
              <a:spcAft>
                <a:spcPts val="700"/>
              </a:spcAft>
              <a:buSzPct val="100000"/>
              <a:buChar char="•"/>
            </a:pPr>
            <a:r>
              <a:rPr lang="en-US" sz="1150" dirty="0">
                <a:solidFill>
                  <a:srgbClr val="31424A"/>
                </a:solidFill>
                <a:latin typeface="Calibri" pitchFamily="34" charset="0"/>
                <a:ea typeface="Calibri" pitchFamily="34" charset="-122"/>
                <a:cs typeface="Calibri" pitchFamily="34" charset="-120"/>
              </a:rPr>
              <a:t>Trials near Yambio and Nzara reached 4.7 t/ha of maize with fertiliser, against 2.9 t/ha on control plots.</a:t>
            </a:r>
            <a:endParaRPr lang="en-US" sz="1150" dirty="0"/>
          </a:p>
          <a:p>
            <a:pPr algn="l" marL="342900" indent="-342900">
              <a:lnSpc>
                <a:spcPct val="116000"/>
              </a:lnSpc>
              <a:spcAft>
                <a:spcPts val="700"/>
              </a:spcAft>
              <a:buSzPct val="100000"/>
              <a:buChar char="•"/>
            </a:pPr>
            <a:r>
              <a:rPr lang="en-US" sz="1150" dirty="0">
                <a:solidFill>
                  <a:srgbClr val="31424A"/>
                </a:solidFill>
                <a:latin typeface="Calibri" pitchFamily="34" charset="0"/>
                <a:ea typeface="Calibri" pitchFamily="34" charset="-122"/>
                <a:cs typeface="Calibri" pitchFamily="34" charset="-120"/>
              </a:rPr>
              <a:t>Better access and security than most regions for a monitored pilot.</a:t>
            </a:r>
            <a:endParaRPr lang="en-US" sz="1150" dirty="0"/>
          </a:p>
        </p:txBody>
      </p:sp>
      <p:sp>
        <p:nvSpPr>
          <p:cNvPr id="9" name="Shape 6"/>
          <p:cNvSpPr/>
          <p:nvPr/>
        </p:nvSpPr>
        <p:spPr>
          <a:xfrm>
            <a:off x="4359554" y="1783080"/>
            <a:ext cx="3472586" cy="4069080"/>
          </a:xfrm>
          <a:prstGeom prst="roundRect">
            <a:avLst>
              <a:gd name="adj" fmla="val 2633"/>
            </a:avLst>
          </a:prstGeom>
          <a:solidFill>
            <a:srgbClr val="EDF3F5"/>
          </a:solidFill>
          <a:ln w="9525">
            <a:solidFill>
              <a:srgbClr val="D6E2E7"/>
            </a:solidFill>
            <a:prstDash val="solid"/>
          </a:ln>
        </p:spPr>
      </p:sp>
      <p:pic>
        <p:nvPicPr>
          <p:cNvPr id="10" name="Image 1" descr="preencoded.png">    </p:cNvPr>
          <p:cNvPicPr>
            <a:picLocks noChangeAspect="1"/>
          </p:cNvPicPr>
          <p:nvPr/>
        </p:nvPicPr>
        <p:blipFill>
          <a:blip r:embed="rId2"/>
          <a:stretch>
            <a:fillRect/>
          </a:stretch>
        </p:blipFill>
        <p:spPr>
          <a:xfrm>
            <a:off x="4359554" y="1783080"/>
            <a:ext cx="3472586" cy="1691640"/>
          </a:xfrm>
          <a:prstGeom prst="rect">
            <a:avLst/>
          </a:prstGeom>
        </p:spPr>
      </p:pic>
      <p:sp>
        <p:nvSpPr>
          <p:cNvPr id="11" name="Text 7"/>
          <p:cNvSpPr txBox="1"/>
          <p:nvPr/>
        </p:nvSpPr>
        <p:spPr>
          <a:xfrm>
            <a:off x="4560722" y="3639312"/>
            <a:ext cx="3070250" cy="384048"/>
          </a:xfrm>
          <a:prstGeom prst="rect">
            <a:avLst/>
          </a:prstGeom>
          <a:noFill/>
          <a:ln/>
        </p:spPr>
        <p:txBody>
          <a:bodyPr wrap="square" lIns="0" tIns="0" rIns="0" bIns="0" rtlCol="0" anchor="ctr"/>
          <a:lstStyle/>
          <a:p>
            <a:pPr algn="l" indent="0" marL="0">
              <a:buNone/>
            </a:pPr>
            <a:r>
              <a:rPr lang="en-US" sz="1500" b="1" dirty="0">
                <a:solidFill>
                  <a:srgbClr val="1C5A73"/>
                </a:solidFill>
                <a:latin typeface="Cambria" pitchFamily="34" charset="0"/>
                <a:ea typeface="Cambria" pitchFamily="34" charset="-122"/>
                <a:cs typeface="Cambria" pitchFamily="34" charset="-120"/>
              </a:rPr>
              <a:t>Central Equatoria — Juba</a:t>
            </a:r>
            <a:endParaRPr lang="en-US" sz="1500" dirty="0"/>
          </a:p>
        </p:txBody>
      </p:sp>
      <p:sp>
        <p:nvSpPr>
          <p:cNvPr id="12" name="Text 8"/>
          <p:cNvSpPr txBox="1"/>
          <p:nvPr/>
        </p:nvSpPr>
        <p:spPr>
          <a:xfrm>
            <a:off x="4560722" y="4041648"/>
            <a:ext cx="3070250" cy="329184"/>
          </a:xfrm>
          <a:prstGeom prst="rect">
            <a:avLst/>
          </a:prstGeom>
          <a:noFill/>
          <a:ln/>
        </p:spPr>
        <p:txBody>
          <a:bodyPr wrap="square" lIns="0" tIns="0" rIns="0" bIns="0" rtlCol="0" anchor="ctr"/>
          <a:lstStyle/>
          <a:p>
            <a:pPr algn="l" indent="0" marL="0">
              <a:buNone/>
            </a:pPr>
            <a:r>
              <a:rPr lang="en-US" sz="1250" b="1" dirty="0">
                <a:solidFill>
                  <a:srgbClr val="A3701A"/>
                </a:solidFill>
                <a:latin typeface="Calibri" pitchFamily="34" charset="0"/>
                <a:ea typeface="Calibri" pitchFamily="34" charset="-122"/>
                <a:cs typeface="Calibri" pitchFamily="34" charset="-120"/>
              </a:rPr>
              <a:t>Peri-urban vegetables</a:t>
            </a:r>
            <a:endParaRPr lang="en-US" sz="1250" dirty="0"/>
          </a:p>
        </p:txBody>
      </p:sp>
      <p:sp>
        <p:nvSpPr>
          <p:cNvPr id="13" name="Text 9"/>
          <p:cNvSpPr txBox="1"/>
          <p:nvPr/>
        </p:nvSpPr>
        <p:spPr>
          <a:xfrm>
            <a:off x="4560722"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1424A"/>
                </a:solidFill>
                <a:latin typeface="Calibri" pitchFamily="34" charset="0"/>
                <a:ea typeface="Calibri" pitchFamily="34" charset="-122"/>
                <a:cs typeface="Calibri" pitchFamily="34" charset="-120"/>
              </a:rPr>
              <a:t>Tomato, onion, okra and leafy vegetables for a city that imports much of its food.</a:t>
            </a:r>
            <a:endParaRPr lang="en-US" sz="1150" dirty="0"/>
          </a:p>
          <a:p>
            <a:pPr algn="l" marL="342900" indent="-342900">
              <a:lnSpc>
                <a:spcPct val="116000"/>
              </a:lnSpc>
              <a:spcAft>
                <a:spcPts val="700"/>
              </a:spcAft>
              <a:buSzPct val="100000"/>
              <a:buChar char="•"/>
            </a:pPr>
            <a:r>
              <a:rPr lang="en-US" sz="1150" dirty="0">
                <a:solidFill>
                  <a:srgbClr val="31424A"/>
                </a:solidFill>
                <a:latin typeface="Calibri" pitchFamily="34" charset="0"/>
                <a:ea typeface="Calibri" pitchFamily="34" charset="-122"/>
                <a:cs typeface="Calibri" pitchFamily="34" charset="-120"/>
              </a:rPr>
              <a:t>Hand watering and dry-season irrigation from wells and the Nile.</a:t>
            </a:r>
            <a:endParaRPr lang="en-US" sz="1150" dirty="0"/>
          </a:p>
          <a:p>
            <a:pPr algn="l" marL="342900" indent="-342900">
              <a:lnSpc>
                <a:spcPct val="116000"/>
              </a:lnSpc>
              <a:spcAft>
                <a:spcPts val="700"/>
              </a:spcAft>
              <a:buSzPct val="100000"/>
              <a:buChar char="•"/>
            </a:pPr>
            <a:r>
              <a:rPr lang="en-US" sz="1150" dirty="0">
                <a:solidFill>
                  <a:srgbClr val="31424A"/>
                </a:solidFill>
                <a:latin typeface="Calibri" pitchFamily="34" charset="0"/>
                <a:ea typeface="Calibri" pitchFamily="34" charset="-122"/>
                <a:cs typeface="Calibri" pitchFamily="34" charset="-120"/>
              </a:rPr>
              <a:t>Short cycles and a cash market: a trial shows results in one season.</a:t>
            </a:r>
            <a:endParaRPr lang="en-US" sz="1150" dirty="0"/>
          </a:p>
        </p:txBody>
      </p:sp>
      <p:sp>
        <p:nvSpPr>
          <p:cNvPr id="14" name="Shape 10"/>
          <p:cNvSpPr/>
          <p:nvPr/>
        </p:nvSpPr>
        <p:spPr>
          <a:xfrm>
            <a:off x="8124749" y="1783080"/>
            <a:ext cx="3472586" cy="4069080"/>
          </a:xfrm>
          <a:prstGeom prst="roundRect">
            <a:avLst>
              <a:gd name="adj" fmla="val 2633"/>
            </a:avLst>
          </a:prstGeom>
          <a:solidFill>
            <a:srgbClr val="EDF3F5"/>
          </a:solidFill>
          <a:ln w="9525">
            <a:solidFill>
              <a:srgbClr val="D6E2E7"/>
            </a:solidFill>
            <a:prstDash val="solid"/>
          </a:ln>
        </p:spPr>
      </p:sp>
      <p:pic>
        <p:nvPicPr>
          <p:cNvPr id="15" name="Image 2" descr="preencoded.png">    </p:cNvPr>
          <p:cNvPicPr>
            <a:picLocks noChangeAspect="1"/>
          </p:cNvPicPr>
          <p:nvPr/>
        </p:nvPicPr>
        <p:blipFill>
          <a:blip r:embed="rId3"/>
          <a:stretch>
            <a:fillRect/>
          </a:stretch>
        </p:blipFill>
        <p:spPr>
          <a:xfrm>
            <a:off x="8124749" y="1783080"/>
            <a:ext cx="3472586" cy="1691640"/>
          </a:xfrm>
          <a:prstGeom prst="rect">
            <a:avLst/>
          </a:prstGeom>
        </p:spPr>
      </p:pic>
      <p:sp>
        <p:nvSpPr>
          <p:cNvPr id="16" name="Text 11"/>
          <p:cNvSpPr txBox="1"/>
          <p:nvPr/>
        </p:nvSpPr>
        <p:spPr>
          <a:xfrm>
            <a:off x="8325917" y="3639312"/>
            <a:ext cx="3070250" cy="384048"/>
          </a:xfrm>
          <a:prstGeom prst="rect">
            <a:avLst/>
          </a:prstGeom>
          <a:noFill/>
          <a:ln/>
        </p:spPr>
        <p:txBody>
          <a:bodyPr wrap="square" lIns="0" tIns="0" rIns="0" bIns="0" rtlCol="0" anchor="ctr"/>
          <a:lstStyle/>
          <a:p>
            <a:pPr algn="l" indent="0" marL="0">
              <a:buNone/>
            </a:pPr>
            <a:r>
              <a:rPr lang="en-US" sz="1500" b="1" dirty="0">
                <a:solidFill>
                  <a:srgbClr val="1C5A73"/>
                </a:solidFill>
                <a:latin typeface="Cambria" pitchFamily="34" charset="0"/>
                <a:ea typeface="Cambria" pitchFamily="34" charset="-122"/>
                <a:cs typeface="Cambria" pitchFamily="34" charset="-120"/>
              </a:rPr>
              <a:t>Northern Bahr el Ghazal</a:t>
            </a:r>
            <a:endParaRPr lang="en-US" sz="1500" dirty="0"/>
          </a:p>
        </p:txBody>
      </p:sp>
      <p:sp>
        <p:nvSpPr>
          <p:cNvPr id="17" name="Text 12"/>
          <p:cNvSpPr txBox="1"/>
          <p:nvPr/>
        </p:nvSpPr>
        <p:spPr>
          <a:xfrm>
            <a:off x="8325917" y="4041648"/>
            <a:ext cx="3070250" cy="329184"/>
          </a:xfrm>
          <a:prstGeom prst="rect">
            <a:avLst/>
          </a:prstGeom>
          <a:noFill/>
          <a:ln/>
        </p:spPr>
        <p:txBody>
          <a:bodyPr wrap="square" lIns="0" tIns="0" rIns="0" bIns="0" rtlCol="0" anchor="ctr"/>
          <a:lstStyle/>
          <a:p>
            <a:pPr algn="l" indent="0" marL="0">
              <a:buNone/>
            </a:pPr>
            <a:r>
              <a:rPr lang="en-US" sz="1250" b="1" dirty="0">
                <a:solidFill>
                  <a:srgbClr val="A3701A"/>
                </a:solidFill>
                <a:latin typeface="Calibri" pitchFamily="34" charset="0"/>
                <a:ea typeface="Calibri" pitchFamily="34" charset="-122"/>
                <a:cs typeface="Calibri" pitchFamily="34" charset="-120"/>
              </a:rPr>
              <a:t>Sorghum and rice</a:t>
            </a:r>
            <a:endParaRPr lang="en-US" sz="1250" dirty="0"/>
          </a:p>
        </p:txBody>
      </p:sp>
      <p:sp>
        <p:nvSpPr>
          <p:cNvPr id="18" name="Text 13"/>
          <p:cNvSpPr txBox="1"/>
          <p:nvPr/>
        </p:nvSpPr>
        <p:spPr>
          <a:xfrm>
            <a:off x="8325917"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1424A"/>
                </a:solidFill>
                <a:latin typeface="Calibri" pitchFamily="34" charset="0"/>
                <a:ea typeface="Calibri" pitchFamily="34" charset="-122"/>
                <a:cs typeface="Calibri" pitchFamily="34" charset="-120"/>
              </a:rPr>
              <a:t>Rain-fed sorghum, and irrigated rice on the Aweil scheme.</a:t>
            </a:r>
            <a:endParaRPr lang="en-US" sz="1150" dirty="0"/>
          </a:p>
          <a:p>
            <a:pPr algn="l" marL="342900" indent="-342900">
              <a:lnSpc>
                <a:spcPct val="116000"/>
              </a:lnSpc>
              <a:spcAft>
                <a:spcPts val="700"/>
              </a:spcAft>
              <a:buSzPct val="100000"/>
              <a:buChar char="•"/>
            </a:pPr>
            <a:r>
              <a:rPr lang="en-US" sz="1150" dirty="0">
                <a:solidFill>
                  <a:srgbClr val="31424A"/>
                </a:solidFill>
                <a:latin typeface="Calibri" pitchFamily="34" charset="0"/>
                <a:ea typeface="Calibri" pitchFamily="34" charset="-122"/>
                <a:cs typeface="Calibri" pitchFamily="34" charset="-120"/>
              </a:rPr>
              <a:t>Dry spells early in the season, floods late: plots must be selected with care.</a:t>
            </a:r>
            <a:endParaRPr lang="en-US" sz="1150" dirty="0"/>
          </a:p>
          <a:p>
            <a:pPr algn="l" marL="342900" indent="-342900">
              <a:lnSpc>
                <a:spcPct val="116000"/>
              </a:lnSpc>
              <a:spcAft>
                <a:spcPts val="700"/>
              </a:spcAft>
              <a:buSzPct val="100000"/>
              <a:buChar char="•"/>
            </a:pPr>
            <a:r>
              <a:rPr lang="en-US" sz="1150" dirty="0">
                <a:solidFill>
                  <a:srgbClr val="31424A"/>
                </a:solidFill>
                <a:latin typeface="Calibri" pitchFamily="34" charset="0"/>
                <a:ea typeface="Calibri" pitchFamily="34" charset="-122"/>
                <a:cs typeface="Calibri" pitchFamily="34" charset="-120"/>
              </a:rPr>
              <a:t>Farmer groups already supported by FAO and NGO programmes.</a:t>
            </a:r>
            <a:endParaRPr lang="en-US" sz="1150" dirty="0"/>
          </a:p>
        </p:txBody>
      </p:sp>
      <p:sp>
        <p:nvSpPr>
          <p:cNvPr id="19" name="Text 14"/>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South Sudan market dossier</a:t>
            </a:r>
            <a:endParaRPr lang="en-US" sz="950" dirty="0"/>
          </a:p>
        </p:txBody>
      </p:sp>
      <p:sp>
        <p:nvSpPr>
          <p:cNvPr id="20" name="Text 15"/>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10</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HOW WE WORK</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A staged rollout, measured at every step</a:t>
            </a:r>
            <a:endParaRPr lang="en-US" sz="3000" dirty="0"/>
          </a:p>
        </p:txBody>
      </p:sp>
      <p:sp>
        <p:nvSpPr>
          <p:cNvPr id="4" name="Shape 2"/>
          <p:cNvSpPr/>
          <p:nvPr/>
        </p:nvSpPr>
        <p:spPr>
          <a:xfrm>
            <a:off x="594360" y="1874520"/>
            <a:ext cx="2545004" cy="2834640"/>
          </a:xfrm>
          <a:prstGeom prst="roundRect">
            <a:avLst>
              <a:gd name="adj" fmla="val 3593"/>
            </a:avLst>
          </a:prstGeom>
          <a:solidFill>
            <a:srgbClr val="EDF3F5"/>
          </a:solidFill>
          <a:ln w="9525">
            <a:solidFill>
              <a:srgbClr val="D6E2E7"/>
            </a:solidFill>
            <a:prstDash val="solid"/>
          </a:ln>
        </p:spPr>
      </p:sp>
      <p:sp>
        <p:nvSpPr>
          <p:cNvPr id="5" name="Shape 3"/>
          <p:cNvSpPr/>
          <p:nvPr/>
        </p:nvSpPr>
        <p:spPr>
          <a:xfrm>
            <a:off x="822960" y="2103120"/>
            <a:ext cx="566928" cy="566928"/>
          </a:xfrm>
          <a:prstGeom prst="ellipse">
            <a:avLst/>
          </a:prstGeom>
          <a:solidFill>
            <a:srgbClr val="1C5A73"/>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algn="l" indent="0" marL="0">
              <a:buNone/>
            </a:pPr>
            <a:r>
              <a:rPr lang="en-US" sz="1400" b="1" dirty="0">
                <a:solidFill>
                  <a:srgbClr val="1C5A73"/>
                </a:solidFill>
                <a:latin typeface="Cambria" pitchFamily="34" charset="0"/>
                <a:ea typeface="Cambria" pitchFamily="34" charset="-122"/>
                <a:cs typeface="Cambria" pitchFamily="34" charset="-120"/>
              </a:rPr>
              <a:t>Site assessment</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1424A"/>
                </a:solidFill>
                <a:latin typeface="Calibri" pitchFamily="34" charset="0"/>
                <a:ea typeface="Calibri" pitchFamily="34" charset="-122"/>
                <a:cs typeface="Calibri" pitchFamily="34" charset="-120"/>
              </a:rPr>
              <a:t>Drainage, soil, crop and access are reviewed. No commitment at this stage.</a:t>
            </a:r>
            <a:endParaRPr lang="en-US" sz="1200" dirty="0"/>
          </a:p>
        </p:txBody>
      </p:sp>
      <p:sp>
        <p:nvSpPr>
          <p:cNvPr id="9" name="Shape 7"/>
          <p:cNvSpPr/>
          <p:nvPr/>
        </p:nvSpPr>
        <p:spPr>
          <a:xfrm>
            <a:off x="3413684" y="1874520"/>
            <a:ext cx="2545004" cy="2834640"/>
          </a:xfrm>
          <a:prstGeom prst="roundRect">
            <a:avLst>
              <a:gd name="adj" fmla="val 3593"/>
            </a:avLst>
          </a:prstGeom>
          <a:solidFill>
            <a:srgbClr val="EDF3F5"/>
          </a:solidFill>
          <a:ln w="9525">
            <a:solidFill>
              <a:srgbClr val="D6E2E7"/>
            </a:solidFill>
            <a:prstDash val="solid"/>
          </a:ln>
        </p:spPr>
      </p:sp>
      <p:sp>
        <p:nvSpPr>
          <p:cNvPr id="10" name="Shape 8"/>
          <p:cNvSpPr/>
          <p:nvPr/>
        </p:nvSpPr>
        <p:spPr>
          <a:xfrm>
            <a:off x="3642284" y="2103120"/>
            <a:ext cx="566928" cy="566928"/>
          </a:xfrm>
          <a:prstGeom prst="ellipse">
            <a:avLst/>
          </a:prstGeom>
          <a:solidFill>
            <a:srgbClr val="1C5A73"/>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algn="l" indent="0" marL="0">
              <a:buNone/>
            </a:pPr>
            <a:r>
              <a:rPr lang="en-US" sz="1400" b="1" dirty="0">
                <a:solidFill>
                  <a:srgbClr val="1C5A73"/>
                </a:solidFill>
                <a:latin typeface="Cambria" pitchFamily="34" charset="0"/>
                <a:ea typeface="Cambria" pitchFamily="34" charset="-122"/>
                <a:cs typeface="Cambria" pitchFamily="34" charset="-120"/>
              </a:rPr>
              <a:t>Trial plot</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1424A"/>
                </a:solidFill>
                <a:latin typeface="Calibri" pitchFamily="34" charset="0"/>
                <a:ea typeface="Calibri" pitchFamily="34" charset="-122"/>
                <a:cs typeface="Calibri" pitchFamily="34" charset="-120"/>
              </a:rPr>
              <a:t>One comparative plot on drained land, against a control plot managed identically.</a:t>
            </a:r>
            <a:endParaRPr lang="en-US" sz="1200" dirty="0"/>
          </a:p>
        </p:txBody>
      </p:sp>
      <p:sp>
        <p:nvSpPr>
          <p:cNvPr id="14" name="Shape 12"/>
          <p:cNvSpPr/>
          <p:nvPr/>
        </p:nvSpPr>
        <p:spPr>
          <a:xfrm>
            <a:off x="6233008" y="1874520"/>
            <a:ext cx="2545004" cy="2834640"/>
          </a:xfrm>
          <a:prstGeom prst="roundRect">
            <a:avLst>
              <a:gd name="adj" fmla="val 3593"/>
            </a:avLst>
          </a:prstGeom>
          <a:solidFill>
            <a:srgbClr val="EDF3F5"/>
          </a:solidFill>
          <a:ln w="9525">
            <a:solidFill>
              <a:srgbClr val="D6E2E7"/>
            </a:solidFill>
            <a:prstDash val="solid"/>
          </a:ln>
        </p:spPr>
      </p:sp>
      <p:sp>
        <p:nvSpPr>
          <p:cNvPr id="15" name="Shape 13"/>
          <p:cNvSpPr/>
          <p:nvPr/>
        </p:nvSpPr>
        <p:spPr>
          <a:xfrm>
            <a:off x="6461608" y="2103120"/>
            <a:ext cx="566928" cy="566928"/>
          </a:xfrm>
          <a:prstGeom prst="ellipse">
            <a:avLst/>
          </a:prstGeom>
          <a:solidFill>
            <a:srgbClr val="1C5A73"/>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algn="l" indent="0" marL="0">
              <a:buNone/>
            </a:pPr>
            <a:r>
              <a:rPr lang="en-US" sz="1400" b="1" dirty="0">
                <a:solidFill>
                  <a:srgbClr val="1C5A73"/>
                </a:solidFill>
                <a:latin typeface="Cambria" pitchFamily="34" charset="0"/>
                <a:ea typeface="Cambria" pitchFamily="34" charset="-122"/>
                <a:cs typeface="Cambria" pitchFamily="34" charset="-120"/>
              </a:rPr>
              <a:t>Measurement</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1424A"/>
                </a:solidFill>
                <a:latin typeface="Calibri" pitchFamily="34" charset="0"/>
                <a:ea typeface="Calibri" pitchFamily="34" charset="-122"/>
                <a:cs typeface="Calibri" pitchFamily="34" charset="-120"/>
              </a:rPr>
              <a:t>Emergence, water use and yield recorded over a full season.</a:t>
            </a:r>
            <a:endParaRPr lang="en-US" sz="1200" dirty="0"/>
          </a:p>
        </p:txBody>
      </p:sp>
      <p:sp>
        <p:nvSpPr>
          <p:cNvPr id="19" name="Shape 17"/>
          <p:cNvSpPr/>
          <p:nvPr/>
        </p:nvSpPr>
        <p:spPr>
          <a:xfrm>
            <a:off x="9052331" y="1874520"/>
            <a:ext cx="2545004" cy="2834640"/>
          </a:xfrm>
          <a:prstGeom prst="roundRect">
            <a:avLst>
              <a:gd name="adj" fmla="val 3593"/>
            </a:avLst>
          </a:prstGeom>
          <a:solidFill>
            <a:srgbClr val="EDF3F5"/>
          </a:solidFill>
          <a:ln w="9525">
            <a:solidFill>
              <a:srgbClr val="D6E2E7"/>
            </a:solidFill>
            <a:prstDash val="solid"/>
          </a:ln>
        </p:spPr>
      </p:sp>
      <p:sp>
        <p:nvSpPr>
          <p:cNvPr id="20" name="Shape 18"/>
          <p:cNvSpPr/>
          <p:nvPr/>
        </p:nvSpPr>
        <p:spPr>
          <a:xfrm>
            <a:off x="9280931" y="2103120"/>
            <a:ext cx="566928" cy="566928"/>
          </a:xfrm>
          <a:prstGeom prst="ellipse">
            <a:avLst/>
          </a:prstGeom>
          <a:solidFill>
            <a:srgbClr val="1C5A73"/>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algn="l" indent="0" marL="0">
              <a:buNone/>
            </a:pPr>
            <a:r>
              <a:rPr lang="en-US" sz="1400" b="1" dirty="0">
                <a:solidFill>
                  <a:srgbClr val="1C5A73"/>
                </a:solidFill>
                <a:latin typeface="Cambria" pitchFamily="34" charset="0"/>
                <a:ea typeface="Cambria" pitchFamily="34" charset="-122"/>
                <a:cs typeface="Cambria" pitchFamily="34" charset="-120"/>
              </a:rPr>
              <a:t>Extension</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1424A"/>
                </a:solidFill>
                <a:latin typeface="Calibri" pitchFamily="34" charset="0"/>
                <a:ea typeface="Calibri" pitchFamily="34" charset="-122"/>
                <a:cs typeface="Calibri" pitchFamily="34" charset="-120"/>
              </a:rPr>
              <a:t>Gradual rollout to other plots and sites, on the basis of what was measured.</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algn="l" indent="0" marL="0">
              <a:lnSpc>
                <a:spcPct val="125000"/>
              </a:lnSpc>
              <a:buNone/>
            </a:pPr>
            <a:r>
              <a:rPr lang="en-US" sz="1250" i="1" dirty="0">
                <a:solidFill>
                  <a:srgbClr val="6C8089"/>
                </a:solidFill>
                <a:latin typeface="Calibri" pitchFamily="34" charset="0"/>
                <a:ea typeface="Calibri" pitchFamily="34" charset="-122"/>
                <a:cs typeface="Calibri" pitchFamily="34" charset="-120"/>
              </a:rPr>
              <a:t>The dosing rule is the same everywhere: 3 grams per litre of useful soil. What changes from one site to the next is the volume of soil the roots actually explore.</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South Sudan market dossier</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11</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0A33E"/>
                </a:solidFill>
                <a:latin typeface="Calibri" pitchFamily="34" charset="0"/>
                <a:ea typeface="Calibri" pitchFamily="34" charset="-122"/>
                <a:cs typeface="Calibri" pitchFamily="34" charset="-120"/>
              </a:rPr>
              <a:t>WHAT TO ANTICIPATE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E3546"/>
                </a:solidFill>
                <a:latin typeface="Cambria" pitchFamily="34" charset="0"/>
                <a:ea typeface="Cambria" pitchFamily="34" charset="-122"/>
                <a:cs typeface="Cambria" pitchFamily="34" charset="-120"/>
              </a:rPr>
              <a:t>Identified risks and our answers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1C5A73"/>
                </a:solidFill>
                <a:latin typeface="Cambria" pitchFamily="34" charset="0"/>
                <a:ea typeface="Cambria" pitchFamily="34" charset="-122"/>
                <a:cs typeface="Cambria" pitchFamily="34" charset="-120"/>
              </a:rPr>
              <a:t>Risks</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Insecurity and poor roads, which limit access to trial sites and raise transport costs.</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Flooding: waterlogged land gains nothing from water retention.</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Very little cash among smallholders, and dependence on donor-funded programmes.</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Import logistics through Uganda or Kenya, with long lead times.</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1C5A73"/>
                </a:solidFill>
                <a:latin typeface="Cambria" pitchFamily="34" charset="0"/>
                <a:ea typeface="Cambria" pitchFamily="34" charset="-122"/>
                <a:cs typeface="Cambria" pitchFamily="34" charset="-120"/>
              </a:rPr>
              <a:t>Our answers</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Start with accessible, secure pilot sites around Juba and in Western Equatoria.</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Select only drained, drought-exposed plots, after a site assessment.</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Work through FAO, NGOs and donor programmes that already supply inputs to farmers.</a:t>
            </a:r>
            <a:endParaRPr lang="en-US" sz="1350" dirty="0"/>
          </a:p>
          <a:p>
            <a:pPr algn="l" marL="342900" indent="-342900">
              <a:lnSpc>
                <a:spcPct val="122000"/>
              </a:lnSpc>
              <a:spcAft>
                <a:spcPts val="1000"/>
              </a:spcAft>
              <a:buSzPct val="100000"/>
              <a:buChar char="•"/>
            </a:pPr>
            <a:r>
              <a:rPr lang="en-US" sz="1350" dirty="0">
                <a:solidFill>
                  <a:srgbClr val="31424A"/>
                </a:solidFill>
                <a:latin typeface="Calibri" pitchFamily="34" charset="0"/>
                <a:ea typeface="Calibri" pitchFamily="34" charset="-122"/>
                <a:cs typeface="Calibri" pitchFamily="34" charset="-120"/>
              </a:rPr>
              <a:t>Group orders and hold a buffer stock in Juba before the planting season.</a:t>
            </a:r>
            <a:endParaRPr lang="en-US" sz="1350" dirty="0"/>
          </a:p>
        </p:txBody>
      </p:sp>
      <p:sp>
        <p:nvSpPr>
          <p:cNvPr id="8" name="Shape 6"/>
          <p:cNvSpPr/>
          <p:nvPr/>
        </p:nvSpPr>
        <p:spPr>
          <a:xfrm>
            <a:off x="594360" y="4846320"/>
            <a:ext cx="11002975" cy="960120"/>
          </a:xfrm>
          <a:prstGeom prst="roundRect">
            <a:avLst>
              <a:gd name="adj" fmla="val 7619"/>
            </a:avLst>
          </a:prstGeom>
          <a:solidFill>
            <a:srgbClr val="EDF3F5"/>
          </a:solidFill>
          <a:ln w="9525">
            <a:solidFill>
              <a:srgbClr val="D6E2E7"/>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6C8089"/>
                </a:solidFill>
                <a:latin typeface="Calibri" pitchFamily="34" charset="0"/>
                <a:ea typeface="Calibri" pitchFamily="34" charset="-122"/>
                <a:cs typeface="Calibri" pitchFamily="34" charset="-120"/>
              </a:rPr>
              <a:t>Acrylamide analysis (Polymex laboratory, ISO 9001, content below 3.0 µg/g) and REACH / SVHC screening (SGS) are available on request, together with the SOHISCERT certificate valid until 4 September 2027.</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C8089">
                    <a:alpha val="80000"/>
                  </a:srgbClr>
                </a:solidFill>
                <a:latin typeface="Calibri" pitchFamily="34" charset="0"/>
                <a:ea typeface="Calibri" pitchFamily="34" charset="-122"/>
                <a:cs typeface="Calibri" pitchFamily="34" charset="-120"/>
              </a:rPr>
              <a:t>Green Solutions · South Sudan market dossier</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C8089">
                    <a:alpha val="80000"/>
                  </a:srgbClr>
                </a:solidFill>
                <a:latin typeface="Calibri" pitchFamily="34" charset="0"/>
                <a:ea typeface="Calibri" pitchFamily="34" charset="-122"/>
                <a:cs typeface="Calibri" pitchFamily="34" charset="-120"/>
              </a:rPr>
              <a:t>12</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822960" y="2103120"/>
            <a:ext cx="10058400" cy="1005840"/>
          </a:xfrm>
          <a:prstGeom prst="rect">
            <a:avLst/>
          </a:prstGeom>
          <a:noFill/>
          <a:ln/>
        </p:spPr>
        <p:txBody>
          <a:bodyPr wrap="square" lIns="0" tIns="0" rIns="0" bIns="0" rtlCol="0" anchor="ctr"/>
          <a:lstStyle/>
          <a:p>
            <a:pPr algn="l" indent="0" marL="0">
              <a:buNone/>
            </a:pPr>
            <a:r>
              <a:rPr lang="en-US" sz="3400" b="1" dirty="0">
                <a:solidFill>
                  <a:srgbClr val="FFFFFF"/>
                </a:solidFill>
                <a:latin typeface="Cambria" pitchFamily="34" charset="0"/>
                <a:ea typeface="Cambria" pitchFamily="34" charset="-122"/>
                <a:cs typeface="Cambria" pitchFamily="34" charset="-120"/>
              </a:rPr>
              <a:t>Tell us about your plot</a:t>
            </a:r>
            <a:endParaRPr lang="en-US" sz="3400" dirty="0"/>
          </a:p>
        </p:txBody>
      </p:sp>
      <p:sp>
        <p:nvSpPr>
          <p:cNvPr id="4" name="Text 1"/>
          <p:cNvSpPr txBox="1"/>
          <p:nvPr/>
        </p:nvSpPr>
        <p:spPr>
          <a:xfrm>
            <a:off x="822960" y="3200400"/>
            <a:ext cx="8961120" cy="1463040"/>
          </a:xfrm>
          <a:prstGeom prst="rect">
            <a:avLst/>
          </a:prstGeom>
          <a:noFill/>
          <a:ln/>
        </p:spPr>
        <p:txBody>
          <a:bodyPr wrap="square" lIns="0" tIns="0" rIns="0" bIns="0" rtlCol="0" anchor="ctr"/>
          <a:lstStyle/>
          <a:p>
            <a:pPr algn="l" indent="0" marL="0">
              <a:lnSpc>
                <a:spcPct val="130000"/>
              </a:lnSpc>
              <a:buNone/>
            </a:pPr>
            <a:r>
              <a:rPr lang="en-US" sz="1500" dirty="0">
                <a:solidFill>
                  <a:srgbClr val="FFFFFF">
                    <a:alpha val="88000"/>
                  </a:srgbClr>
                </a:solidFill>
                <a:latin typeface="Calibri" pitchFamily="34" charset="0"/>
                <a:ea typeface="Calibri" pitchFamily="34" charset="-122"/>
                <a:cs typeface="Calibri" pitchFamily="34" charset="-120"/>
              </a:rPr>
              <a:t>Crop, drainage, soil type and how you water today. We come back with the matching combination of technologies, the dosing, and the trials already run in comparable situations.</a:t>
            </a:r>
            <a:endParaRPr lang="en-US" sz="1500" dirty="0"/>
          </a:p>
          <a:p>
            <a:pPr algn="l" indent="0" marL="0">
              <a:lnSpc>
                <a:spcPct val="130000"/>
              </a:lnSpc>
              <a:buNone/>
            </a:pPr>
            <a:endParaRPr lang="en-US" sz="1500" dirty="0"/>
          </a:p>
          <a:p>
            <a:pPr algn="l" indent="0" marL="0">
              <a:lnSpc>
                <a:spcPct val="130000"/>
              </a:lnSpc>
              <a:buNone/>
            </a:pPr>
            <a:r>
              <a:rPr lang="en-US" sz="1500" dirty="0">
                <a:solidFill>
                  <a:srgbClr val="FFFFFF">
                    <a:alpha val="88000"/>
                  </a:srgbClr>
                </a:solidFill>
                <a:latin typeface="Calibri" pitchFamily="34" charset="0"/>
                <a:ea typeface="Calibri" pitchFamily="34" charset="-122"/>
                <a:cs typeface="Calibri" pitchFamily="34" charset="-120"/>
              </a:rPr>
              <a:t>A first conversation commits you to nothing.</a:t>
            </a:r>
            <a:endParaRPr lang="en-US" sz="1500" dirty="0"/>
          </a:p>
        </p:txBody>
      </p:sp>
      <p:sp>
        <p:nvSpPr>
          <p:cNvPr id="5" name="Text 2"/>
          <p:cNvSpPr txBox="1"/>
          <p:nvPr/>
        </p:nvSpPr>
        <p:spPr>
          <a:xfrm>
            <a:off x="822960" y="4846320"/>
            <a:ext cx="10058400" cy="457200"/>
          </a:xfrm>
          <a:prstGeom prst="rect">
            <a:avLst/>
          </a:prstGeom>
          <a:noFill/>
          <a:ln/>
        </p:spPr>
        <p:txBody>
          <a:bodyPr wrap="square" lIns="0" tIns="0" rIns="0" bIns="0" rtlCol="0" anchor="ctr"/>
          <a:lstStyle/>
          <a:p>
            <a:pPr algn="l" indent="0" marL="0">
              <a:buNone/>
            </a:pPr>
            <a:r>
              <a:rPr lang="en-US" sz="1400" b="1" dirty="0">
                <a:solidFill>
                  <a:srgbClr val="E0A33E"/>
                </a:solidFill>
                <a:latin typeface="Calibri" pitchFamily="34" charset="0"/>
                <a:ea typeface="Calibri" pitchFamily="34" charset="-122"/>
                <a:cs typeface="Calibri" pitchFamily="34" charset="-120"/>
              </a:rPr>
              <a:t>contact@evergreen-ecosorb.com · Green Solutions Groupe AIM SA, 46, route de la Condémine, 1475 Forel, Switzerland</a:t>
            </a:r>
            <a:endParaRPr lang="en-US" sz="1400" dirty="0"/>
          </a:p>
        </p:txBody>
      </p:sp>
      <p:pic>
        <p:nvPicPr>
          <p:cNvPr id="6" name="Image 1" descr="C:\Users\Utilisateur\dev\gsw-dossiers\scripts\dossiers\sceau-aim-clair.png">    </p:cNvPr>
          <p:cNvPicPr>
            <a:picLocks noChangeAspect="1"/>
          </p:cNvPicPr>
          <p:nvPr/>
        </p:nvPicPr>
        <p:blipFill>
          <a:blip r:embed="rId2">
            <a:alphaModFix amt="85000"/>
          </a:blip>
          <a:stretch>
            <a:fillRect/>
          </a:stretch>
        </p:blipFill>
        <p:spPr>
          <a:xfrm>
            <a:off x="10637215" y="5193792"/>
            <a:ext cx="1051560" cy="1051560"/>
          </a:xfrm>
          <a:prstGeom prst="rect">
            <a:avLst/>
          </a:prstGeom>
        </p:spPr>
      </p:pic>
      <p:sp>
        <p:nvSpPr>
          <p:cNvPr id="7"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FFFFFF">
                    <a:alpha val="55000"/>
                  </a:srgbClr>
                </a:solidFill>
                <a:latin typeface="Calibri" pitchFamily="34" charset="0"/>
                <a:ea typeface="Calibri" pitchFamily="34" charset="-122"/>
                <a:cs typeface="Calibri" pitchFamily="34" charset="-120"/>
              </a:rPr>
              <a:t>Green Solutions · South Sudan market dossier</a:t>
            </a:r>
            <a:endParaRPr lang="en-US" sz="950" dirty="0"/>
          </a:p>
        </p:txBody>
      </p:sp>
      <p:sp>
        <p:nvSpPr>
          <p:cNvPr id="8"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FFFFFF">
                    <a:alpha val="55000"/>
                  </a:srgbClr>
                </a:solidFill>
                <a:latin typeface="Calibri" pitchFamily="34" charset="0"/>
                <a:ea typeface="Calibri" pitchFamily="34" charset="-122"/>
                <a:cs typeface="Calibri" pitchFamily="34" charset="-120"/>
              </a:rPr>
              <a:t>13</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2026-09-15T23:39:56Z</dcterms:created>
  <dcterms:modified xsi:type="dcterms:W3CDTF">2026-09-15T23:39:56Z</dcterms:modified>
</cp:coreProperties>
</file>