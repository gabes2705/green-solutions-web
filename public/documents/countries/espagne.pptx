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Índice mundial del número y duración de las sequías</c:v>
                </c:pt>
              </c:strCache>
            </c:strRef>
          </c:tx>
          <c:spPr>
            <a:solidFill>
              <a:srgbClr val="6B2A44"/>
            </a:solidFill>
            <a:effectLst/>
          </c:spPr>
          <c:invertIfNegative val="0"/>
          <c:dLbls>
            <c:numFmt formatCode="[$-C0A]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cat>
            <c:multiLvlStrRef>
              <c:f>Sheet1!$A$2:$A$3</c:f>
              <c:multiLvlStrCache>
                <c:ptCount val="2"/>
                <c:lvl>
                  <c:pt idx="0">
                    <c:v>1980–1999</c:v>
                  </c:pt>
                  <c:pt idx="1">
                    <c:v>Desde 2000</c:v>
                  </c:pt>
                </c:lvl>
              </c:multiLvlStrCache>
            </c:multiLvlStrRef>
          </c:cat>
          <c:val>
            <c:numRef>
              <c:f>Sheet1!$B$2:$B$3</c:f>
              <c:numCache>
                <c:formatCode>General</c:formatCode>
                <c:ptCount val="2"/>
                <c:pt idx="0">
                  <c:v>100</c:v>
                </c:pt>
                <c:pt idx="1">
                  <c:v>129</c:v>
                </c:pt>
              </c:numCache>
            </c:numRef>
          </c:val>
        </c:ser>
        <c:dLbls>
          <c:numFmt formatCode="[$-C0A]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Extracción de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Abastecimiento urbano</c:v>
                </c:pt>
                <c:pt idx="2">
                  <c:v>Industria</c:v>
                </c:pt>
              </c:strCache>
            </c:strRef>
          </c:cat>
          <c:val>
            <c:numRef>
              <c:f>Sheet1!$B$2:$B$4</c:f>
              <c:numCache>
                <c:ptCount val="3"/>
                <c:pt idx="0">
                  <c:v>80</c:v>
                </c:pt>
                <c:pt idx="1">
                  <c:v>13</c:v>
                </c:pt>
                <c:pt idx="2">
                  <c:v>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Cereales*</c:v>
                  </c:pt>
                  <c:pt idx="1">
                    <c:v>Hortalizas</c:v>
                  </c:pt>
                  <c:pt idx="2">
                    <c:v>Aceituna*</c:v>
                  </c:pt>
                  <c:pt idx="3">
                    <c:v>Cítricos</c:v>
                  </c:pt>
                  <c:pt idx="4">
                    <c:v>Uva</c:v>
                  </c:pt>
                </c:lvl>
              </c:multiLvlStrCache>
            </c:multiLvlStrRef>
          </c:cat>
          <c:val>
            <c:numRef>
              <c:f>Sheet1!$B$2:$B$6</c:f>
              <c:numCache>
                <c:formatCode>General</c:formatCode>
                <c:ptCount val="5"/>
                <c:pt idx="0">
                  <c:v>20</c:v>
                </c:pt>
                <c:pt idx="1">
                  <c:v>14</c:v>
                </c:pt>
                <c:pt idx="2">
                  <c:v>6.5</c:v>
                </c:pt>
                <c:pt idx="3">
                  <c:v>6.5</c:v>
                </c:pt>
                <c:pt idx="4">
                  <c:v>6</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Mínimo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Pimientos</c:v>
                  </c:pt>
                  <c:pt idx="2">
                    <c:v>Aceitunas</c:v>
                  </c:pt>
                  <c:pt idx="3">
                    <c:v>Cítricos</c:v>
                  </c:pt>
                  <c:pt idx="4">
                    <c:v>Lechugas</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Máximo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Pimientos</c:v>
                  </c:pt>
                  <c:pt idx="2">
                    <c:v>Aceitunas</c:v>
                  </c:pt>
                  <c:pt idx="3">
                    <c:v>Cítricos</c:v>
                  </c:pt>
                  <c:pt idx="4">
                    <c:v>Lechugas</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espagne.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REINO DE ESPAÑA</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Madrid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Olivar, hortícola bajo plástico y cítricos con el mayor regadío de Europa.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donde el método de riego ya no deja margen.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huerta de Europa, sobre un recurso que se agota</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23,7 M ha</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agrícola utilizada</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3,9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regadío, el parque más extenso de la Unión Europea</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aceite de oliva del mundo sale de España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60 %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valor de la producción vegetal procede del regadío</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El regadío ocupa alrededor del 16 % de la superficie cultivada y genera cerca del 60 % del valor de la producción vegetal: la agricultura española que exporta es, casi en su totalidad, agricultura de riego. Esa concentración de valor sobre una fracción de la superficie es exactamente lo que vuelve crítico cada metro cúbico.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método de riego ya está optimizado; el suelo no</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Olivar en la campiña andaluza</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España riega por goteo más de la mitad de su superficie regada, la proporción más alta de Europa: la vía de la eficiencia en la aplicación está prácticamente agotada.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en torno al 80 % de la extracción de agua: cualquier tensión sobre el recurso se traduce primero en recortes de dotación.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más de 1 500 mm al año en la cornisa cantábrica, por debajo de 250 mm en el sureste peninsular.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Entre 2022 y 2024, embalses de las cuencas del Guadalquivir y del interior de Cataluña operaron temporadas enteras por debajo de una cuarta parte de su capacidad, con dotaciones de riego recortadas o suspendidas.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—desalación, regeneración, modernización de regadíos, trasvases— actúa sobre la oferta. La hidrorretención actúa sobre la demanda, dentro de la parcela.</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SEQUÍA Y ESTRÉS HÍDRICO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presión aumenta, pero el riesgo sigue siendo local</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Dos indicadores, no un atajo</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A escala mundial, el número y la duración de las sequías han aumentado un 29 % desde 2000 frente a las dos décadas anteriores.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estrés hídrico mide otra cosa: las extracciones respecto a los recursos renovables disponibles tras las necesidades ambientales. Esta señal mundial no es una previsión nacional; debe leerse con la lluvia, los acuíferos, las estaciones y los usos locales.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regadío concentra cuatro quintas partes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Bajar un 10 % el consumo agrícola libera más volumen que suprimir por completo el uso industrial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la parcela,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ECONOMÍA Y SEGURIDAD ALIMENTARIA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sector exportador que sostiene el medio rural</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70 000 M€</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exportaciones agroalimentarias en 2023</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N.º 1</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exportador mundial de aceite de oliva y de cítricos frescos</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0,75 M</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personas ocupadas en la agricultura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2,5 %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procede de la agricultura, la ganadería y la pesca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sequía de 2022–2024 redujo a la mitad la cosecha de aceite en dos campañas seguidas y obligó a recortar las dotaciones de riego en cuencas como la del Guadalquivir y la del Segura. Los fondos europeos financian la modernización de regadíos, pero el agua disponible por hectárea sigue bajando.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CULTIVOS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Cereal y aceituna son los dos rubros que más oscilan de una campaña a otra, porque dependen de la lluvia: la cosecha de aceituna de 2022/23 cayó a menos de la mitad de una campaña normal.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Hortalizas y cítricos se riegan en su práctica totalidad y se destinan a la exportación.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PRIMER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Olivar andaluz: la sequía se nota en la almazara</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Andalucía reúne la mayor parte del olivar español; Jaén y Córdoba son el corazón del aceite de oliva.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mayor parte del olivar tradicional es de secano: sin lluvia en primavera, la floración y el cuajado fallan.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Las campañas 2022/23 y 2023/24 dejaron cosechas muy por debajo de la media y precios récord.</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olivar intensivo y superintensivo depende del goteo, con dotaciones que se recortan en sequía.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EVERGREEN® en la plantación o en la línea de goteo mantiene el agua en la zona radicular entre riegos.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SEGUNDO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Hortalizas de Almería y Murcia: cada metro cúbico cuenta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Campo de Dalías y el Campo de Cartagena abastecen a Europa de tomate, pimiento, pepino y lechuga casi todo el año.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acuíferos están sobreexplotados y el trasvase Tajo-Segura se reduce: crece el uso de agua desalada y regenerada.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agua desalada es más cara: ahorrar agua por hectárea mejora directamente la cuenta del agricultor.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crisis del Mar Menor ha traído normas estrictas sobre fertilizantes y lixiviados en su entorno.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NAPEMA® controla plagas sin residuos, en cultivos donde la lucha biológica ya es la norma.</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Potencial de rendimiento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Aumento de rendimiento esperado por cultivo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Rangos que usa nuestra calculadora de dosis, para un cultivo manejado con normalidad y EVERGREEN® aplicado en la plantación.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el clima y el manejo. En cereales no se anuncia ningún aumento sin ensayo de campo.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por SOHISCERT, entidad andaluza, y conforme a la normativa europea de producción ecológica.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 En zona vulnerable a nitratos, el carácter no quelante y la microdosis del segundo importan tanto como el ahorro de agua del primero.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resto de la gama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Proteger los cultivos, sujetar los suelos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proteger sin residuos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Controla enfermedades, parásitos, hongos y plagas, sin moléculas de síntesis.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Pulverización foliar y radicular, con efecto preventivo y curativo.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Ningún residuo en el suelo, la planta ni el aire: polinizadores y auxiliares a salvo.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Formulado a medida para un problema concreto: cochinilla, HLB de los cítricos, nematodos.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árbol de clima cálido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13 a 15 m en seis a ocho años, con un tronco de gran diámetro.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 100 g de EVERGREEN® por planta, el riego necesario disminuye un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Resiste de −25 °C a +45 °C; su madera solo se inflama a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Cortavientos, protección del suelo contra la erosión, de 400 a 700 kg de miel por hectárea.</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Plantas entregadas en maceta (25 a 30 cm), certificadas libres de enfermedades y repuestas en garantía en caso de pérdida. Primera corta al final del sexto año, con la madera valorada en torno a 400-450 € el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Jaén y Córdoba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1,6 M ha de olivar en Andalucía</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Mayor concentración de olivar del mundo, con buena parte aún en secano: el hidrorretenedor actúa donde no hay riego.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Las campañas 2022/23 y 2023/24 mostraron lo que cuesta una floración sin agua.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Tejido cooperativo denso: el ensayo se decide en grupo, no finca por finca.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Murcia — Campo de Cartagena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Hortícola de exportación</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huerta de exportación por excelencia, con dotaciones dependientes del trasvase Tajo-Segura y sometidas a recortes reiterados.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El Mar Menor ha impuesto el marco regulatorio más estricto del país en materia de nitratos: reducir aportes sin perder rendimiento es la exigencia central.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Riego localizado generalizado: el margen de ahorro ya no está en el método, sino en lo que el suelo es capaz de retener.</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Almería — Campo de Dalías</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33 000 ha de invernadero</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mayor superficie de cultivo bajo plástico del mundo, sobre acuíferos sobreexplotados y con intrusión salina en la franja costera.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Ciclos cortos y rotaciones rápidas: el ensayo da resultado en una campaña, no en cuatro años.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Compradores del norte de Europa que auditan la huella hídrica de sus proveedores y piden trazabilidad documental.</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una finca a otra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Trabajar juntos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socio local para España</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Distribución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Exclusividad territorial y stock de lanzamiento para la primera campaña comercial.</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Formación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Formación técnica de los equipos, protocolos de dosis y actualización cada campaña.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Ensayos conjuntos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Parcelas de demostración con testigo y resultados compartidos con los productores.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Instituciones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Diálogo con el Ministerio de Agricultura y los programas de seguridad alimentaria.</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El marco se adapta al territorio: un importador, un distribuidor de insumos o una agrupación de productores puede liderar la alianza.</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campañas: un año lluvioso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encima del goteo que ya tiene instalado.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Marco europeo sobre microplásticos añadidos intencionadamente: cualquier polímero agrícola queda bajo escrutinio.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ya salinizados.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Aportar la documentación de degradación —entre 20 y 25 % al año, sin acumulación— y el screening REACH / SVHC.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 y con suelos salinos.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 SOHISCERT tiene su sede en Sevilla: el organismo que nos certifica es el mismo que audita a buena parte de sus vecinos.</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Fuentes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Fuentes e hipótesis de trabajo</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Fuentes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INE: Contabilidad Nacional y Encuesta de Población Activa.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Ministerio de Agricultura, Pesca y Alimentación: ESYRCE, anuario de estadística, comercio exterior agroalimentario.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Confederaciones Hidrográficas del Guadalquivir y del Segura: dotaciones de riego.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y Banco Mundial (WDI).</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UNCCD, Drought in Numbers 2022: número y duración de las sequías, +29 % desde 2000 frente a 1980–1999.</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ONU-Agua / FAO AQUASTAT, indicador ODS 6.4.2: definición y umbrales del estrés hídrico.</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Hipótesis de trabajo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Las cifras son órdenes de magnitud redondeados, tomados de los últimos datos públicos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Los ahorros de agua y los aumentos de rendimiento son indicativos y varían según suelo, clima y cultivo.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Documento comercial de trabajo: cifras a actualizar antes de cualquier presentación oficial.</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Informes de ensayo, certificados (SOHISCERT, análisis Polymex y SGS) y fichas técnicas: disponibles a pedido.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finca</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Suiza</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2026-09-20T00:13:44Z</dcterms:created>
  <dcterms:modified xsi:type="dcterms:W3CDTF">2026-09-20T00:13:44Z</dcterms:modified>
</cp:coreProperties>
</file>