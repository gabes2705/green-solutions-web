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52</c:v>
                </c:pt>
                <c:pt idx="1">
                  <c:v>27</c:v>
                </c:pt>
                <c:pt idx="2">
                  <c:v>21</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6B2A44"/>
            </a:solidFill>
            <a:effectLst/>
          </c:spPr>
          <c:invertIfNegative val="0"/>
          <c:dLbls>
            <c:numFmt formatCode="[$-40C]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Manioc</c:v>
                  </c:pt>
                  <c:pt idx="1">
                    <c:v>Igname</c:v>
                  </c:pt>
                  <c:pt idx="2">
                    <c:v>Banane plantain</c:v>
                  </c:pt>
                  <c:pt idx="3">
                    <c:v>Cacao</c:v>
                  </c:pt>
                  <c:pt idx="4">
                    <c:v>Hévéa</c:v>
                  </c:pt>
                </c:lvl>
              </c:multiLvlStrCache>
            </c:multiLvlStrRef>
          </c:cat>
          <c:val>
            <c:numRef>
              <c:f>Sheet1!$B$2:$B$6</c:f>
              <c:numCache>
                <c:formatCode>General</c:formatCode>
                <c:ptCount val="5"/>
                <c:pt idx="0">
                  <c:v>7.4</c:v>
                </c:pt>
                <c:pt idx="1">
                  <c:v>7</c:v>
                </c:pt>
                <c:pt idx="2">
                  <c:v>2.3</c:v>
                </c:pt>
                <c:pt idx="3">
                  <c:v>2</c:v>
                </c:pt>
                <c:pt idx="4">
                  <c:v>1.8</c:v>
                </c:pt>
              </c:numCache>
            </c:numRef>
          </c:val>
        </c:ser>
        <c:dLbls>
          <c:numFmt formatCode="[$-40C]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6B2A44"/>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Cacao</c:v>
                  </c:pt>
                  <c:pt idx="1">
                    <c:v>Manioc</c:v>
                  </c:pt>
                  <c:pt idx="2">
                    <c:v>Bananes</c:v>
                  </c:pt>
                  <c:pt idx="3">
                    <c:v>Café</c:v>
                  </c:pt>
                  <c:pt idx="4">
                    <c:v>Mangues</c:v>
                  </c:pt>
                </c:lvl>
              </c:multiLvlStrCache>
            </c:multiLvlStrRef>
          </c:cat>
          <c:val>
            <c:numRef>
              <c:f>Sheet1!$B$2:$B$6</c:f>
              <c:numCache>
                <c:formatCode>General</c:formatCode>
                <c:ptCount val="5"/>
                <c:pt idx="0">
                  <c:v>20</c:v>
                </c:pt>
                <c:pt idx="1">
                  <c:v>20</c:v>
                </c:pt>
                <c:pt idx="2">
                  <c:v>15</c:v>
                </c:pt>
                <c:pt idx="3">
                  <c:v>20</c:v>
                </c:pt>
                <c:pt idx="4">
                  <c:v>20</c:v>
                </c:pt>
              </c:numCache>
            </c:numRef>
          </c:val>
        </c:ser>
        <c:ser>
          <c:idx val="1"/>
          <c:order val="1"/>
          <c:tx>
            <c:strRef>
              <c:f>Sheet1!$C$1</c:f>
              <c:strCache>
                <c:ptCount val="1"/>
                <c:pt idx="0">
                  <c:v>Haut de fourchette (%)</c:v>
                </c:pt>
              </c:strCache>
            </c:strRef>
          </c:tx>
          <c:spPr>
            <a:solidFill>
              <a:srgbClr val="C9A227"/>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Cacao</c:v>
                  </c:pt>
                  <c:pt idx="1">
                    <c:v>Manioc</c:v>
                  </c:pt>
                  <c:pt idx="2">
                    <c:v>Bananes</c:v>
                  </c:pt>
                  <c:pt idx="3">
                    <c:v>Café</c:v>
                  </c:pt>
                  <c:pt idx="4">
                    <c:v>Mangues</c:v>
                  </c:pt>
                </c:lvl>
              </c:multiLvlStrCache>
            </c:multiLvlStrRef>
          </c:cat>
          <c:val>
            <c:numRef>
              <c:f>Sheet1!$C$2:$C$6</c:f>
              <c:numCache>
                <c:formatCode>General</c:formatCode>
                <c:ptCount val="5"/>
                <c:pt idx="0">
                  <c:v>40</c:v>
                </c:pt>
                <c:pt idx="1">
                  <c:v>40</c:v>
                </c:pt>
                <c:pt idx="2">
                  <c:v>30</c:v>
                </c:pt>
                <c:pt idx="3">
                  <c:v>40</c:v>
                </c:pt>
                <c:pt idx="4">
                  <c:v>40</c:v>
                </c:pt>
              </c:numCache>
            </c:numRef>
          </c:val>
        </c:ser>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6B2A44"/>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C9A227"/>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cote-divoir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RÉPUBLIQUE DE CÔTE D'IVOIRE</a:t>
            </a:r>
            <a:endParaRPr lang="en-US" sz="24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Abidjan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Premier producteur mondial de cacao et de noix de cajou, sur des vergers âgés et des pluies devenues irrégulières.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au moment de replanter.</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première agriculture d'exportation d'Afrique de l'Ouest</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 population active vit du secteur</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du cacao mondial vient de Côte d'Ivoire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 Mt</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fèves de cacao récoltées en 2024/25</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Le pays compte environ 33 millions d'habitants et reste la première économie de l'UEMOA. Cacao, anacarde, hévéa, palmier et café sont produits pour l'essentiel par des exploitations familiales de quelques hectares, encadrées par des filières structurées et des coopératives nombreuses.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Beaucoup de pluie, des vergers qui n'en profitent plus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Cacaoyère du sud forestier</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cacaoyer demande une pluie régulière sur neuf mois. Les saisons se décalent, et les épisodes secs tombent désormais pendant la formation des cabosses.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couvert forestier a fortement reculé depuis l'indépendance : les parcelles perdent l'ombrage et l'humidité que la forêt leur apportait.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Une grande partie du verger a dépassé son pic de production. Replanter est devenu le principal chantier des filières cacao et café.</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Au centre et au nord, la pluie tombe sur cinq à six mois : chaque poche de sécheresse au semis coûte des semaines de croissance.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Presque toute la production est pluviale. L'enjeu n'est pas de pomper davantage, mais de garder l'eau de pluie dans la zone racinaire au moment où la plante en a besoin.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L'agriculture prélève la moitié de l'eau utilisée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Avec environ 84 milliards de m³ de ressources renouvelables, le pays n'est pas en pénurie d'eau à l'échelle nationale.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contrainte est saisonnière et locale : la saison sèche, le nord, et surtout les jeunes plants mis en terre. C'est là que l'hydro-rétention se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Premier exportateur de cacao, importateur de riz</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1er</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producteur mondial de cacao et de noix de cajou</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3e</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producteur mondial de caoutchouc naturel</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1,6 Mt</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riz importées chaque année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33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d'habitants, dont plus de la moitié en ville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Les recettes d'exportation reposent largement sur le cacao, ce qui expose le pays aux cours mondiaux. En face, le riz reste massivement importé : les programmes publics de relance rizicole visent à réduire cette facture, et cherchent des gains de rendement sur des périmètres largement pluviaux.</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Le vivrier en volume, les cultures pérennes en valeur</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Manioc, igname et banane plantain nourrissent le pays et pèsent le plus en tonnes.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Cacao, hévéa, anacarde et palmier rapportent les devises. Ces filières sont encadrées et suivies : c'est là qu'un essai mesuré se transforme le plus vite en décision d'achat.</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FILIÈRE PHARE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Cacao : le rendement, pas le volume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Environ 40 % du cacao mondial sort de Côte d'Ivoire, produit par des centaines de milliers d'exploitations familiales.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rendement moyen tourne autour de 500 kg par hectare, très en dessous de ce que le cacaoyer peut donner sur un verger jeune et bien conduit.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L'écart s'explique par l'âge des arbres, la pression du swollen shoot et des pluies devenues irrégulières — pas par un manque de surface.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Les acheteurs européens exigent traçabilité, zéro déforestation et limites strictes de résidus : NAPEMA® protège sans laisser de résidu sur la fève.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À la replantation, EVERGREEN® dans le trou de plantation sécurise la reprise pendant la première saison sèche, quand la perte de jeunes plants coûte une année entière.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Anacarde et cultures du Nord : la saison courte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594360" y="5687568"/>
            <a:ext cx="5074920" cy="457200"/>
          </a:xfrm>
          <a:prstGeom prst="rect">
            <a:avLst/>
          </a:prstGeom>
          <a:noFill/>
          <a:ln/>
        </p:spPr>
        <p:txBody>
          <a:bodyPr wrap="square" lIns="0" tIns="0" rIns="0" bIns="0" rtlCol="0" anchor="ctr"/>
          <a:lstStyle/>
          <a:p>
            <a:pPr algn="l" indent="0" marL="0">
              <a:buNone/>
            </a:pPr>
            <a:r>
              <a:rPr lang="en-US" sz="1000" i="1" dirty="0">
                <a:solidFill>
                  <a:srgbClr val="7C6B73"/>
                </a:solidFill>
                <a:latin typeface="Calibri" pitchFamily="34" charset="0"/>
                <a:ea typeface="Calibri" pitchFamily="34" charset="-122"/>
                <a:cs typeface="Calibri" pitchFamily="34" charset="-120"/>
              </a:rPr>
              <a:t>Plantation de maïs, Côte d'Ivoire</a:t>
            </a:r>
            <a:endParaRPr lang="en-US" sz="1000" dirty="0"/>
          </a:p>
        </p:txBody>
      </p:sp>
      <p:sp>
        <p:nvSpPr>
          <p:cNvPr id="6" name="Text 3"/>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pays est devenu en quinze ans le premier producteur mondial de noix de cajou brutes, avec près d'un million de tonnes récoltées.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filière se concentre au centre et au nord, où la pluie tombe sur cinq à six mois seulement.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Les rendements par hectare restent faibles et l'essentiel de la noix part encore brute : le pays développe sa transformation locale.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Igname, maïs et coton partagent les mêmes parcelles et la même contrainte : une poche de sécheresse au semis se paie à la récolte.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Retenir l'eau de pluie dans la zone racinaire est ici le levier le plus direct, sur des sols sableux qui la laissent filer.</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Retenir l'eau, nourrir sans épuiser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Hydro-rétenteur à base de potassium, placé dans la zone racinaire à la plantation ou à la replantation.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Capte l'eau de pluie ou d'irrigation et la restitue progressivement, ce qui protège les jeunes plants pendant la saison sèche.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Non chélatant : il n'appauvrit pas le complexe argilo-humique de sols cultivés depuis des générations.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Certifié SOHISCERT et EU Bio, utilisé dans 60 pays — argument direct face aux exigences des acheteurs européens de cacao.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Sud-Ouest — cacao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Premier bassin cacaoyer</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San-Pédro, Soubré, Gagnoa : la plus forte concentration de cacaoyères du pays.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Verger âgé et programmes de replantation en cours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Coopératives certifiées et exportateurs déjà organisés pour suivre des parcelles.</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Centre et Nord — anacarde, coton, vivrier</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 Mt de noix brutes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Bouaké, Korhogo, Bondoukou : anacarde, coton, igname et maïs sur cinq à six mois de pluie.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Poches de sécheresse au semis et sols sableux qui retiennent peu l'eau.</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Producteurs encadrés par les structures de filière : un essai peut être coordonné sur plusieurs sites.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Sud-Est et lagunes — hévéa, palmier</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1,8 Mt de caoutchouc</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Aboisso, Dabou, Bonoua : plantations industrielles et villageoises suivies bloc par bloc.</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Mortalité des jeunes plants en saison sèche, sur des sols lessivés par les fortes pluies.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partenaire local pour la Côte d'Ivoire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Trésorerie limitée des planteurs, qui achètent leurs intrants à crédit.</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Filières cacao et anacarde encadrées : rien ne se déploie sans l'accord des organismes de filière.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 swollen shoot ne se corrige pas par l'eau : l'hydro-rétenteur accompagne la replantation.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Produit peu connu, parfois confondu avec les polymères à base de sodium.</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Passer par les coopératives et les exportateurs pour grouper les achats.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Présenter les essais aux structures de filière dès la première parcelle.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Positionner EVERGREEN® sur la reprise des jeunes plants, mesurée en une saison.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Documenter la formulation potassique, sans sodium, compatible avec l'alimentaire.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Conseil du Café-Cacao et Conseil Coton-Anacarde : production, campagnes, prix garantis.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Ministère de l'Agriculture, ANADER et FIRCA : statistiques agricoles et programmes de filière.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et Banque mondiale (WDI) : PIB agricole, emploi, prélèvements d'eau.</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USDA GAIN et ICCO : cacao, café, riz et échanges mondiaux.</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Photographies : GillesJer (CC BY-SA 4.0), Hanay (CC BY-SA 4.0), KokoDZ (CC BY-SA 4.0), Metchyves (CC BY-SA 4.0), Pedro Radio Brandoni (CC BY-SA 4.0), Abdallahbigboy (CC BY-SA 4.0)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2026-09-17T08:00:10Z</dcterms:created>
  <dcterms:modified xsi:type="dcterms:W3CDTF">2026-09-17T08:00:10Z</dcterms:modified>
</cp:coreProperties>
</file>