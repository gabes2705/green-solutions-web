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7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7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71.xml.rels><?xml version="1.0" encoding="UTF-8" standalone="yes"?><Relationships xmlns="http://schemas.openxmlformats.org/package/2006/relationships"><Relationship Id="rId1" Type="http://schemas.openxmlformats.org/officeDocument/2006/relationships/package" Target="../embeddings/Microsoft_Excel_Worksheet71.xlsx"/></Relationships>
</file>

<file path=ppt/charts/_rels/chart72.xml.rels><?xml version="1.0" encoding="UTF-8" standalone="yes"?><Relationships xmlns="http://schemas.openxmlformats.org/package/2006/relationships"><Relationship Id="rId1" Type="http://schemas.openxmlformats.org/officeDocument/2006/relationships/package" Target="../embeddings/Microsoft_Excel_Worksheet72.xlsx"/></Relationships>
</file>

<file path=ppt/charts/chart7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Indice mondial du nombre et de la durée des sécheresses</c:v>
                </c:pt>
              </c:strCache>
            </c:strRef>
          </c:tx>
          <c:spPr>
            <a:solidFill>
              <a:srgbClr val="1F5C3A"/>
            </a:solidFill>
            <a:effectLst/>
          </c:spPr>
          <c:invertIfNegative val="0"/>
          <c:dLbls>
            <c:numFmt formatCode="[$-40C]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5C3A"/>
              </a:solidFill>
              <a:effectLst/>
            </c:spPr>
          </c:dPt>
          <c:dPt>
            <c:idx val="1"/>
            <c:invertIfNegative val="0"/>
            <c:bubble3D val="0"/>
            <c:spPr>
              <a:solidFill>
                <a:srgbClr val="E3B23C"/>
              </a:solidFill>
              <a:effectLst/>
            </c:spPr>
          </c:dPt>
          <c:cat>
            <c:multiLvlStrRef>
              <c:f>Sheet1!$A$2:$A$3</c:f>
              <c:multiLvlStrCache>
                <c:ptCount val="2"/>
                <c:lvl>
                  <c:pt idx="0">
                    <c:v>1980–1999</c:v>
                  </c:pt>
                  <c:pt idx="1">
                    <c:v>Depuis 2000</c:v>
                  </c:pt>
                </c:lvl>
              </c:multiLvlStrCache>
            </c:multiLvlStrRef>
          </c:cat>
          <c:val>
            <c:numRef>
              <c:f>Sheet1!$B$2:$B$3</c:f>
              <c:numCache>
                <c:formatCode>General</c:formatCode>
                <c:ptCount val="2"/>
                <c:pt idx="0">
                  <c:v>100</c:v>
                </c:pt>
                <c:pt idx="1">
                  <c:v>129</c:v>
                </c:pt>
              </c:numCache>
            </c:numRef>
          </c:val>
        </c:ser>
        <c:dLbls>
          <c:numFmt formatCode="[$-40C]0"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des ressources renouvelables prélevée (%)</c:v>
                </c:pt>
              </c:strCache>
            </c:strRef>
          </c:tx>
          <c:spPr>
            <a:solidFill>
              <a:srgbClr val="1F5C3A"/>
            </a:solidFill>
            <a:effectLst/>
          </c:spPr>
          <c:invertIfNegative val="0"/>
          <c:dLbls>
            <c:numFmt formatCode="[$-40C]0.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5C3A"/>
              </a:solidFill>
              <a:effectLst/>
            </c:spPr>
          </c:dPt>
          <c:dPt>
            <c:idx val="1"/>
            <c:invertIfNegative val="0"/>
            <c:bubble3D val="0"/>
            <c:spPr>
              <a:solidFill>
                <a:srgbClr val="E3B23C"/>
              </a:solidFill>
              <a:effectLst/>
            </c:spPr>
          </c:dPt>
          <c:dPt>
            <c:idx val="2"/>
            <c:invertIfNegative val="0"/>
            <c:bubble3D val="0"/>
            <c:spPr>
              <a:solidFill>
                <a:srgbClr val="76A489"/>
              </a:solidFill>
              <a:effectLst/>
            </c:spPr>
          </c:dPt>
          <c:cat>
            <c:multiLvlStrRef>
              <c:f>Sheet1!$A$2:$A$4</c:f>
              <c:multiLvlStrCache>
                <c:ptCount val="3"/>
                <c:lvl>
                  <c:pt idx="0">
                    <c:v>Madagascar, 2022</c:v>
                  </c:pt>
                  <c:pt idx="1">
                    <c:v>Seuil de stress faible</c:v>
                  </c:pt>
                  <c:pt idx="2">
                    <c:v>Seuil de stress élevé</c:v>
                  </c:pt>
                </c:lvl>
              </c:multiLvlStrCache>
            </c:multiLvlStrRef>
          </c:cat>
          <c:val>
            <c:numRef>
              <c:f>Sheet1!$B$2:$B$4</c:f>
              <c:numCache>
                <c:formatCode>General</c:formatCode>
                <c:ptCount val="3"/>
                <c:pt idx="0">
                  <c:v>11.3</c:v>
                </c:pt>
                <c:pt idx="1">
                  <c:v>25</c:v>
                </c:pt>
                <c:pt idx="2">
                  <c:v>75</c:v>
                </c:pt>
              </c:numCache>
            </c:numRef>
          </c:val>
        </c:ser>
        <c:dLbls>
          <c:numFmt formatCode="[$-40C]0.0&quot;%&quot;" sourceLinked="0"/>
          <c:txPr>
            <a:bodyPr/>
            <a:lstStyle/>
            <a:p>
              <a:pPr>
                <a:defRPr b="0" i="0" strike="noStrike" sz="1100" u="none">
                  <a:solidFill>
                    <a:srgbClr val="12332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4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C72"/>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7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7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madagascar.png">    </p:cNvPr>
          <p:cNvPicPr>
            <a:picLocks noChangeAspect="1"/>
          </p:cNvPicPr>
          <p:nvPr/>
        </p:nvPicPr>
        <p:blipFill>
          <a:blip r:embed="rId3"/>
          <a:stretch>
            <a:fillRect/>
          </a:stretch>
        </p:blipFill>
        <p:spPr>
          <a:xfrm>
            <a:off x="3648456" y="1389888"/>
            <a:ext cx="1965960" cy="1310640"/>
          </a:xfrm>
          <a:prstGeom prst="rect">
            <a:avLst/>
          </a:prstGeom>
        </p:spPr>
      </p:pic>
      <p:sp>
        <p:nvSpPr>
          <p:cNvPr id="7" name="Shape 2"/>
          <p:cNvSpPr/>
          <p:nvPr/>
        </p:nvSpPr>
        <p:spPr>
          <a:xfrm>
            <a:off x="3648456" y="1389888"/>
            <a:ext cx="1965960"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400" b="1" dirty="0">
                <a:solidFill>
                  <a:srgbClr val="FFFFFF"/>
                </a:solidFill>
                <a:latin typeface="Cambria" pitchFamily="34" charset="0"/>
                <a:ea typeface="Cambria" pitchFamily="34" charset="-122"/>
                <a:cs typeface="Cambria" pitchFamily="34" charset="-120"/>
              </a:rPr>
              <a:t>RÉPUBLIQUE DE MADAGASCAR</a:t>
            </a:r>
            <a:endParaRPr lang="en-US" sz="2400" dirty="0"/>
          </a:p>
        </p:txBody>
      </p:sp>
      <p:sp>
        <p:nvSpPr>
          <p:cNvPr id="9" name="Shape 4"/>
          <p:cNvSpPr/>
          <p:nvPr/>
        </p:nvSpPr>
        <p:spPr>
          <a:xfrm>
            <a:off x="658368" y="2889504"/>
            <a:ext cx="2788920" cy="45720"/>
          </a:xfrm>
          <a:prstGeom prst="rect">
            <a:avLst/>
          </a:prstGeom>
          <a:solidFill>
            <a:srgbClr val="E3B23C"/>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E3B23C"/>
                </a:solidFill>
                <a:latin typeface="Cambria" pitchFamily="34" charset="0"/>
                <a:ea typeface="Cambria" pitchFamily="34" charset="-122"/>
                <a:cs typeface="Cambria" pitchFamily="34" charset="-120"/>
              </a:rPr>
              <a:t>Antananarivo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Riz des Hautes Terres, cultures vivrières du Grand Sud et filières de valeur exposées à des chocs climatiques très contrastés.</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Ce que la rétention d’eau change quand la moyenne nationale masque les crises locales.</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EVERGREEN® · ECOSORB® · WATER VITAL® · ECOFERT® · NAPEMA®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Septembre 2026 · Document confidentiel · À l'usage exclusif du destinataire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LE PAYS EN BREF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Une agriculture pluviale, vitale et très exposée</a:t>
            </a:r>
            <a:endParaRPr lang="en-US" sz="3000" dirty="0"/>
          </a:p>
        </p:txBody>
      </p:sp>
      <p:sp>
        <p:nvSpPr>
          <p:cNvPr id="4" name="Shape 2"/>
          <p:cNvSpPr/>
          <p:nvPr/>
        </p:nvSpPr>
        <p:spPr>
          <a:xfrm>
            <a:off x="594360" y="1874520"/>
            <a:ext cx="2545004" cy="2514600"/>
          </a:xfrm>
          <a:prstGeom prst="roundRect">
            <a:avLst>
              <a:gd name="adj" fmla="val 3636"/>
            </a:avLst>
          </a:prstGeom>
          <a:solidFill>
            <a:srgbClr val="F1F4EF"/>
          </a:solidFill>
          <a:ln w="9525">
            <a:solidFill>
              <a:srgbClr val="DCE4DA"/>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31,2 M</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d’habitants</a:t>
            </a:r>
            <a:endParaRPr lang="en-US" sz="1250" dirty="0"/>
          </a:p>
        </p:txBody>
      </p:sp>
      <p:sp>
        <p:nvSpPr>
          <p:cNvPr id="7" name="Shape 5"/>
          <p:cNvSpPr/>
          <p:nvPr/>
        </p:nvSpPr>
        <p:spPr>
          <a:xfrm>
            <a:off x="3413684" y="1874520"/>
            <a:ext cx="2545004" cy="2514600"/>
          </a:xfrm>
          <a:prstGeom prst="roundRect">
            <a:avLst>
              <a:gd name="adj" fmla="val 3636"/>
            </a:avLst>
          </a:prstGeom>
          <a:solidFill>
            <a:srgbClr val="F1F4EF"/>
          </a:solidFill>
          <a:ln w="9525">
            <a:solidFill>
              <a:srgbClr val="DCE4DA"/>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1,7 M</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 personnes en forte insécurité alimentaire aiguë</a:t>
            </a:r>
            <a:endParaRPr lang="en-US" sz="1250" dirty="0"/>
          </a:p>
        </p:txBody>
      </p:sp>
      <p:sp>
        <p:nvSpPr>
          <p:cNvPr id="10" name="Shape 8"/>
          <p:cNvSpPr/>
          <p:nvPr/>
        </p:nvSpPr>
        <p:spPr>
          <a:xfrm>
            <a:off x="6233008" y="1874520"/>
            <a:ext cx="2545004" cy="2514600"/>
          </a:xfrm>
          <a:prstGeom prst="roundRect">
            <a:avLst>
              <a:gd name="adj" fmla="val 3636"/>
            </a:avLst>
          </a:prstGeom>
          <a:solidFill>
            <a:srgbClr val="F1F4EF"/>
          </a:solidFill>
          <a:ln w="9525">
            <a:solidFill>
              <a:srgbClr val="DCE4DA"/>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11,3 %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 stress hydrique national en 2022</a:t>
            </a:r>
            <a:endParaRPr lang="en-US" sz="1250" dirty="0"/>
          </a:p>
        </p:txBody>
      </p:sp>
      <p:sp>
        <p:nvSpPr>
          <p:cNvPr id="13" name="Shape 11"/>
          <p:cNvSpPr/>
          <p:nvPr/>
        </p:nvSpPr>
        <p:spPr>
          <a:xfrm>
            <a:off x="9052331" y="1874520"/>
            <a:ext cx="2545004" cy="2514600"/>
          </a:xfrm>
          <a:prstGeom prst="roundRect">
            <a:avLst>
              <a:gd name="adj" fmla="val 3636"/>
            </a:avLst>
          </a:prstGeom>
          <a:solidFill>
            <a:srgbClr val="F1F4EF"/>
          </a:solidFill>
          <a:ln w="9525">
            <a:solidFill>
              <a:srgbClr val="DCE4DA"/>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 40 %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des enfants touchés par la malnutrition chronique</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3423A"/>
                </a:solidFill>
                <a:latin typeface="Calibri" pitchFamily="34" charset="0"/>
                <a:ea typeface="Calibri" pitchFamily="34" charset="-122"/>
                <a:cs typeface="Calibri" pitchFamily="34" charset="-120"/>
              </a:rPr>
              <a:t>Le stress hydrique national reste inférieur aux seuils élevés, mais cette moyenne ne décrit ni les sécheresses récurrentes du Sud, ni les déficits saisonniers, ni la dépendance d’une grande partie des exploitations aux pluies. Les chiffres alimentaires sont ceux du Programme alimentaire mondial ; l’indicateur d’eau vient de la Banque mondiale et de FAO AQUASTAT.</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LA CONTRAINTE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Trop peu d’eau au Sud, parfois trop d’eau à l’Est</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6B7C72"/>
                </a:solidFill>
                <a:latin typeface="Calibri" pitchFamily="34" charset="0"/>
                <a:ea typeface="Calibri" pitchFamily="34" charset="-122"/>
                <a:cs typeface="Calibri" pitchFamily="34" charset="-120"/>
              </a:rPr>
              <a:t>Travail du sol dans une exploitation malgache</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Sud est régulièrement touché par la sécheresse, tandis que le Sud-Est subit cyclones et inondations récurrents : le même pays doit gérer le manque et l’excès d’eau.</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Une grande part de la production dépend directement de la pluie ; une rupture au semis ou à la floraison devient rapidement une perte de récolte.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Sur les Hautes Terres, les rizières retiennent l’eau mais les cultures de contre-saison et les pépinières restent exposées aux tours d’eau irréguliers.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Dans le Grand Sud, sols pauvres, vent et évaporation réduisent la réserve utile autour des racines.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L’enjeu n’est pas de remplacer l’irrigation : il est de sécuriser la zone racinaire et de mesurer l’effet sur une parcelle témoin conduite à l’identique.</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SÉCHERESSE ET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La pression augmente, mais le risque se lit localement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Deux indicateurs, pas un raccourci</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À l’échelle mondiale, le nombre et la durée des sécheresses ont augmenté de 29 % depuis 2000 par rapport aux deux décennies précédentes.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Le stress hydrique mesure autre chose : les prélèvements rapportés aux ressources renouvelables disponibles après les besoins environnementaux. Ce signal mondial n’est donc pas une prévision nationale ; il doit être confronté aux pluies, aux nappes, aux saisons et aux usages locaux.</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LIRE LE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Une moyenne nationale basse peut cacher un risque local fort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F1F4EF"/>
          </a:solidFill>
          <a:ln w="9525">
            <a:solidFill>
              <a:srgbClr val="DCE4DA"/>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F5C3A"/>
                </a:solidFill>
                <a:latin typeface="Cambria" pitchFamily="34" charset="0"/>
                <a:ea typeface="Cambria" pitchFamily="34" charset="-122"/>
                <a:cs typeface="Cambria" pitchFamily="34" charset="-120"/>
              </a:rPr>
              <a:t>Ce que cela implique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L’indicateur ODD 6.4.2 place Madagascar sous 25 % au niveau national. Il ne mesure toutefois ni la répartition géographique, ni la saison, ni une sécheresse météorologique.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3423A"/>
                </a:solidFill>
                <a:latin typeface="Calibri" pitchFamily="34" charset="0"/>
                <a:ea typeface="Calibri" pitchFamily="34" charset="-122"/>
                <a:cs typeface="Calibri" pitchFamily="34" charset="-120"/>
              </a:rPr>
              <a:t>Les essais doivent donc être ciblés par bassin, culture et calendrier, en priorité là où les racines manquent réellement d’eau.</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SÉCURITÉ ALIMENTAIRE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La résilience agricole est un enjeu économique immédiat</a:t>
            </a:r>
            <a:endParaRPr lang="en-US" sz="3000" dirty="0"/>
          </a:p>
        </p:txBody>
      </p:sp>
      <p:sp>
        <p:nvSpPr>
          <p:cNvPr id="4" name="Shape 2"/>
          <p:cNvSpPr/>
          <p:nvPr/>
        </p:nvSpPr>
        <p:spPr>
          <a:xfrm>
            <a:off x="594360" y="1874520"/>
            <a:ext cx="2545004" cy="2514600"/>
          </a:xfrm>
          <a:prstGeom prst="roundRect">
            <a:avLst>
              <a:gd name="adj" fmla="val 3636"/>
            </a:avLst>
          </a:prstGeom>
          <a:solidFill>
            <a:srgbClr val="F1F4EF"/>
          </a:solidFill>
          <a:ln w="9525">
            <a:solidFill>
              <a:srgbClr val="DCE4DA"/>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31,2 M</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d’habitants</a:t>
            </a:r>
            <a:endParaRPr lang="en-US" sz="1250" dirty="0"/>
          </a:p>
        </p:txBody>
      </p:sp>
      <p:sp>
        <p:nvSpPr>
          <p:cNvPr id="7" name="Shape 5"/>
          <p:cNvSpPr/>
          <p:nvPr/>
        </p:nvSpPr>
        <p:spPr>
          <a:xfrm>
            <a:off x="3413684" y="1874520"/>
            <a:ext cx="2545004" cy="2514600"/>
          </a:xfrm>
          <a:prstGeom prst="roundRect">
            <a:avLst>
              <a:gd name="adj" fmla="val 3636"/>
            </a:avLst>
          </a:prstGeom>
          <a:solidFill>
            <a:srgbClr val="F1F4EF"/>
          </a:solidFill>
          <a:ln w="9525">
            <a:solidFill>
              <a:srgbClr val="DCE4DA"/>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1,7 M</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de personnes en forte insécurité alimentaire aiguë</a:t>
            </a:r>
            <a:endParaRPr lang="en-US" sz="1250" dirty="0"/>
          </a:p>
        </p:txBody>
      </p:sp>
      <p:sp>
        <p:nvSpPr>
          <p:cNvPr id="10" name="Shape 8"/>
          <p:cNvSpPr/>
          <p:nvPr/>
        </p:nvSpPr>
        <p:spPr>
          <a:xfrm>
            <a:off x="6233008" y="1874520"/>
            <a:ext cx="2545004" cy="2514600"/>
          </a:xfrm>
          <a:prstGeom prst="roundRect">
            <a:avLst>
              <a:gd name="adj" fmla="val 3636"/>
            </a:avLst>
          </a:prstGeom>
          <a:solidFill>
            <a:srgbClr val="F1F4EF"/>
          </a:solidFill>
          <a:ln w="9525">
            <a:solidFill>
              <a:srgbClr val="DCE4DA"/>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102 000</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petits producteurs accompagnés par le PAM</a:t>
            </a:r>
            <a:endParaRPr lang="en-US" sz="1250" dirty="0"/>
          </a:p>
        </p:txBody>
      </p:sp>
      <p:sp>
        <p:nvSpPr>
          <p:cNvPr id="13" name="Shape 11"/>
          <p:cNvSpPr/>
          <p:nvPr/>
        </p:nvSpPr>
        <p:spPr>
          <a:xfrm>
            <a:off x="9052331" y="1874520"/>
            <a:ext cx="2545004" cy="2514600"/>
          </a:xfrm>
          <a:prstGeom prst="roundRect">
            <a:avLst>
              <a:gd name="adj" fmla="val 3636"/>
            </a:avLst>
          </a:prstGeom>
          <a:solidFill>
            <a:srgbClr val="F1F4EF"/>
          </a:solidFill>
          <a:ln w="9525">
            <a:solidFill>
              <a:srgbClr val="DCE4DA"/>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F5C3A"/>
                </a:solidFill>
                <a:latin typeface="Cambria" pitchFamily="34" charset="0"/>
                <a:ea typeface="Cambria" pitchFamily="34" charset="-122"/>
                <a:cs typeface="Cambria" pitchFamily="34" charset="-120"/>
              </a:rPr>
              <a:t>57</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3423A"/>
                </a:solidFill>
                <a:latin typeface="Calibri" pitchFamily="34" charset="0"/>
                <a:ea typeface="Calibri" pitchFamily="34" charset="-122"/>
                <a:cs typeface="Calibri" pitchFamily="34" charset="-120"/>
              </a:rPr>
              <a:t>sites communautaires nutritionnels soutenus par le PAM</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3423A"/>
                </a:solidFill>
                <a:latin typeface="Calibri" pitchFamily="34" charset="0"/>
                <a:ea typeface="Calibri" pitchFamily="34" charset="-122"/>
                <a:cs typeface="Calibri" pitchFamily="34" charset="-120"/>
              </a:rPr>
              <a:t>Le Programme alimentaire mondial relie l’insécurité alimentaire à la dépendance aux pluies, à la faible diversification et à l’intensification des chocs climatiques. L’opportunité commerciale doit donc être construite avec un protocole abordable et une preuve économique locale.</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FILIÈRE PRIORITAIRE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Riz : sécuriser les stades sensibles, pas promettre l’impossible</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riz structure les paysages, l’alimentation et le revenu de nombreuses exploitations des Hautes Terres.</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L’hydro-rétention n’a pas vocation à remplacer la submersion d’une rizière correctement alimentée.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Les cibles pertinentes sont les pépinières, le repiquage, les bordures drainantes et les cultures de contre-saison.</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protocole doit séparer survie des plants, fréquence d’arrosage, rendement et coût de main-d’œuvre.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Une belle parcelle ne suffit pas : seule la comparaison avec un témoin permet de conclure.</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FILIÈRE RÉSILIENCE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Grand Sud : protéger la levée et la réserve racinaire</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Maïs, manioc et légumineuses subissent les pauses de pluie et des sols à faible réserve utile.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premier objectif d’essai est la régularité de levée et la survie jusqu’à l’enracinement.</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EVERGREEN® ou ECOSORB® sont évalués avec WATER VITAL®, ECOFERT® et NAPEMA® seulement si le diagnostic le justifie.</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La synergie attendue doit être décomposée : eau, nutrition, protection sanitaire et coût total.</a:t>
            </a:r>
            <a:endParaRPr lang="en-US" sz="1400" dirty="0"/>
          </a:p>
          <a:p>
            <a:pPr algn="l" marL="342900" indent="-342900">
              <a:lnSpc>
                <a:spcPct val="122000"/>
              </a:lnSpc>
              <a:spcAft>
                <a:spcPts val="1100"/>
              </a:spcAft>
              <a:buSzPct val="100000"/>
              <a:buChar char="•"/>
            </a:pPr>
            <a:r>
              <a:rPr lang="en-US" sz="1400" dirty="0">
                <a:solidFill>
                  <a:srgbClr val="33423A"/>
                </a:solidFill>
                <a:latin typeface="Calibri" pitchFamily="34" charset="0"/>
                <a:ea typeface="Calibri" pitchFamily="34" charset="-122"/>
                <a:cs typeface="Calibri" pitchFamily="34" charset="-120"/>
              </a:rPr>
              <a:t>Le prix et la rentabilité restent des champs ouverts, à compléter avec les équipes et les producteurs.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NOTRE RÉPONSE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Une combinaison à tester, pas une promesse isolée</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EVERGREEN® / ECOSORB® — retenir près des racines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Hydro-rétenteur à base de potassium placé dans la zone racinaire au semis, à la plantation ou au repiquage.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Capte une partie de la pluie ou de l’irrigation et la restitue progressivement pendant les intervalles secs.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WATER VITAL® intervient sur la qualité et la disponibilité de l’eau lorsque l’analyse du site le justifie.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 protocole compare toujours une parcelle traitée et une parcelle témoin conduites avec la même eau et le même calendrier.</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ECOFERT® / NAPEMA® — nourrir et protéger</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ECOFERT® apporte une nutrition en microdose, sans présenter l’effet de l’hydro-rétenteur comme un substitut à la fertilité.</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NAPEMA® complète le dispositif lorsque ravageurs ou maladies limitent le potentiel de la culture.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L’intérêt recherché est synergique : eau disponible, nutrition adaptée et protection cohérente au même stade cultural.</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 rendement, la consommation d’eau et la marge sont mesurés séparément avant toute généralisation.</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Le choix des produits et leur dosage restent conditionnés par l’analyse de sol, la qualité de l’eau, la culture et un essai local. Aucun gain de rendement ou d’économie n’est garanti avant mesure sur le terrain.</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Le reste de la gamme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Protéger les cultures, fixer les sols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NAPEMA® — protéger sans résidu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Lutte contre maladies, parasites, champignons et ravageurs, sans molécule de synthèse.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Pulvérisation foliaire et racinaire, à effet préventif comme curatif.</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Aucun résidu dans le sol, la plante ou l'air : pollinisateurs et auxiliaires préservés.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Formulé sur mesure pour un problème précis : cochenille, HLB des agrumes, nématodes.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Paulownia ALTIFOLIA® — l'arbre des régions chaudes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13 à 15 m en six à huit ans, avec un tronc de gros diamètre.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Associé à 100 g d'EVERGREEN® par plant, l'irrigation nécessaire diminue de 50 %.</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Résiste de −25 °C à +45 °C ; son bois ne s'enflamme qu'à partir de 426 °C.</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Brise-vent, protection des sols contre l'érosion, 400 à 700 kg de miel par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Plants livrés en pot (25 à 30 cm), certifiés indemnes de maladies et remplacés sous garantie en cas de perte. Première coupe à la fin de la sixième année, bois valorisé autour de 400 à 450 € le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TROIS TERRAINS PRIORITAIRES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Où engager les premiers essais comparatifs</a:t>
            </a:r>
            <a:endParaRPr lang="en-US" sz="3000" dirty="0"/>
          </a:p>
        </p:txBody>
      </p:sp>
      <p:sp>
        <p:nvSpPr>
          <p:cNvPr id="4" name="Shape 2"/>
          <p:cNvSpPr/>
          <p:nvPr/>
        </p:nvSpPr>
        <p:spPr>
          <a:xfrm>
            <a:off x="594360" y="1783080"/>
            <a:ext cx="3472586" cy="4069080"/>
          </a:xfrm>
          <a:prstGeom prst="roundRect">
            <a:avLst>
              <a:gd name="adj" fmla="val 2633"/>
            </a:avLst>
          </a:prstGeom>
          <a:solidFill>
            <a:srgbClr val="F1F4EF"/>
          </a:solidFill>
          <a:ln w="9525">
            <a:solidFill>
              <a:srgbClr val="DCE4DA"/>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Hautes Terres</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Riz et contre-saison</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Rizières en terrasses autour d’Antananarivo et d’Antsirabe.</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Cibler pépinières, repiquage et cultures de contre-saison plutôt que promettre un gain sur riz submergé.</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Mesurer reprise, fréquence des tours d’eau et rendement marchand.</a:t>
            </a:r>
            <a:endParaRPr lang="en-US" sz="1150" dirty="0"/>
          </a:p>
        </p:txBody>
      </p:sp>
      <p:sp>
        <p:nvSpPr>
          <p:cNvPr id="9" name="Shape 6"/>
          <p:cNvSpPr/>
          <p:nvPr/>
        </p:nvSpPr>
        <p:spPr>
          <a:xfrm>
            <a:off x="4359554" y="1783080"/>
            <a:ext cx="3472586" cy="4069080"/>
          </a:xfrm>
          <a:prstGeom prst="roundRect">
            <a:avLst>
              <a:gd name="adj" fmla="val 2633"/>
            </a:avLst>
          </a:prstGeom>
          <a:solidFill>
            <a:srgbClr val="F1F4EF"/>
          </a:solidFill>
          <a:ln w="9525">
            <a:solidFill>
              <a:srgbClr val="DCE4DA"/>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Grand Sud</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Maïs, manioc, légumineuses</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Sécheresses récurrentes et forte dépendance à une saison des pluies courte.</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Priorité à la levée et à l’enracinement, avec témoin et suivi de l’humidité du sol.</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Associer l’essai à une conduite réaliste pour les petits producteurs.</a:t>
            </a:r>
            <a:endParaRPr lang="en-US" sz="1150" dirty="0"/>
          </a:p>
        </p:txBody>
      </p:sp>
      <p:sp>
        <p:nvSpPr>
          <p:cNvPr id="14" name="Shape 10"/>
          <p:cNvSpPr/>
          <p:nvPr/>
        </p:nvSpPr>
        <p:spPr>
          <a:xfrm>
            <a:off x="8124749" y="1783080"/>
            <a:ext cx="3472586" cy="4069080"/>
          </a:xfrm>
          <a:prstGeom prst="roundRect">
            <a:avLst>
              <a:gd name="adj" fmla="val 2633"/>
            </a:avLst>
          </a:prstGeom>
          <a:solidFill>
            <a:srgbClr val="F1F4EF"/>
          </a:solidFill>
          <a:ln w="9525">
            <a:solidFill>
              <a:srgbClr val="DCE4DA"/>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F5C3A"/>
                </a:solidFill>
                <a:latin typeface="Cambria" pitchFamily="34" charset="0"/>
                <a:ea typeface="Cambria" pitchFamily="34" charset="-122"/>
                <a:cs typeface="Cambria" pitchFamily="34" charset="-120"/>
              </a:rPr>
              <a:t>Nord-Est et SAVA</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A97C12"/>
                </a:solidFill>
                <a:latin typeface="Calibri" pitchFamily="34" charset="0"/>
                <a:ea typeface="Calibri" pitchFamily="34" charset="-122"/>
                <a:cs typeface="Calibri" pitchFamily="34" charset="-120"/>
              </a:rPr>
              <a:t>Vanille et cultures de valeur</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Forte valeur à l’hectare, mais alternance d’excès d’eau, d’érosion et de périodes sèches.</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Tester sur jeunes plants et pépinières, là où une perte de plant coûte le plus.</a:t>
            </a:r>
            <a:endParaRPr lang="en-US" sz="1150" dirty="0"/>
          </a:p>
          <a:p>
            <a:pPr algn="l" marL="342900" indent="-342900">
              <a:lnSpc>
                <a:spcPct val="116000"/>
              </a:lnSpc>
              <a:spcAft>
                <a:spcPts val="700"/>
              </a:spcAft>
              <a:buSzPct val="100000"/>
              <a:buChar char="•"/>
            </a:pPr>
            <a:r>
              <a:rPr lang="en-US" sz="1150" dirty="0">
                <a:solidFill>
                  <a:srgbClr val="33423A"/>
                </a:solidFill>
                <a:latin typeface="Calibri" pitchFamily="34" charset="0"/>
                <a:ea typeface="Calibri" pitchFamily="34" charset="-122"/>
                <a:cs typeface="Calibri" pitchFamily="34" charset="-120"/>
              </a:rPr>
              <a:t>Intégrer drainage, ombrage et protection sanitaire au protocole.</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COMMENT NOUS PROCÉDONS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 essai local, mesuré avant toute extension</a:t>
            </a:r>
            <a:endParaRPr lang="en-US" sz="3000" dirty="0"/>
          </a:p>
        </p:txBody>
      </p:sp>
      <p:sp>
        <p:nvSpPr>
          <p:cNvPr id="4" name="Shape 2"/>
          <p:cNvSpPr/>
          <p:nvPr/>
        </p:nvSpPr>
        <p:spPr>
          <a:xfrm>
            <a:off x="594360" y="1874520"/>
            <a:ext cx="2545004" cy="2834640"/>
          </a:xfrm>
          <a:prstGeom prst="roundRect">
            <a:avLst>
              <a:gd name="adj" fmla="val 3593"/>
            </a:avLst>
          </a:prstGeom>
          <a:solidFill>
            <a:srgbClr val="F1F4EF"/>
          </a:solidFill>
          <a:ln w="9525">
            <a:solidFill>
              <a:srgbClr val="DCE4DA"/>
            </a:solidFill>
            <a:prstDash val="solid"/>
          </a:ln>
        </p:spPr>
      </p:sp>
      <p:sp>
        <p:nvSpPr>
          <p:cNvPr id="5" name="Shape 3"/>
          <p:cNvSpPr/>
          <p:nvPr/>
        </p:nvSpPr>
        <p:spPr>
          <a:xfrm>
            <a:off x="822960" y="2103120"/>
            <a:ext cx="566928" cy="566928"/>
          </a:xfrm>
          <a:prstGeom prst="ellipse">
            <a:avLst/>
          </a:prstGeom>
          <a:solidFill>
            <a:srgbClr val="1F5C3A"/>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Diagnostic</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Sol, eau, pluie, culture et pratiques de la parcelle sont documentés.</a:t>
            </a:r>
            <a:endParaRPr lang="en-US" sz="1200" dirty="0"/>
          </a:p>
        </p:txBody>
      </p:sp>
      <p:sp>
        <p:nvSpPr>
          <p:cNvPr id="9" name="Shape 7"/>
          <p:cNvSpPr/>
          <p:nvPr/>
        </p:nvSpPr>
        <p:spPr>
          <a:xfrm>
            <a:off x="3413684" y="1874520"/>
            <a:ext cx="2545004" cy="2834640"/>
          </a:xfrm>
          <a:prstGeom prst="roundRect">
            <a:avLst>
              <a:gd name="adj" fmla="val 3593"/>
            </a:avLst>
          </a:prstGeom>
          <a:solidFill>
            <a:srgbClr val="F1F4EF"/>
          </a:solidFill>
          <a:ln w="9525">
            <a:solidFill>
              <a:srgbClr val="DCE4DA"/>
            </a:solidFill>
            <a:prstDash val="solid"/>
          </a:ln>
        </p:spPr>
      </p:sp>
      <p:sp>
        <p:nvSpPr>
          <p:cNvPr id="10" name="Shape 8"/>
          <p:cNvSpPr/>
          <p:nvPr/>
        </p:nvSpPr>
        <p:spPr>
          <a:xfrm>
            <a:off x="3642284" y="2103120"/>
            <a:ext cx="566928" cy="566928"/>
          </a:xfrm>
          <a:prstGeom prst="ellipse">
            <a:avLst/>
          </a:prstGeom>
          <a:solidFill>
            <a:srgbClr val="1F5C3A"/>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Témoin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Une parcelle traitée et une parcelle témoin sont conduites à l’identique.</a:t>
            </a:r>
            <a:endParaRPr lang="en-US" sz="1200" dirty="0"/>
          </a:p>
        </p:txBody>
      </p:sp>
      <p:sp>
        <p:nvSpPr>
          <p:cNvPr id="14" name="Shape 12"/>
          <p:cNvSpPr/>
          <p:nvPr/>
        </p:nvSpPr>
        <p:spPr>
          <a:xfrm>
            <a:off x="6233008" y="1874520"/>
            <a:ext cx="2545004" cy="2834640"/>
          </a:xfrm>
          <a:prstGeom prst="roundRect">
            <a:avLst>
              <a:gd name="adj" fmla="val 3593"/>
            </a:avLst>
          </a:prstGeom>
          <a:solidFill>
            <a:srgbClr val="F1F4EF"/>
          </a:solidFill>
          <a:ln w="9525">
            <a:solidFill>
              <a:srgbClr val="DCE4DA"/>
            </a:solidFill>
            <a:prstDash val="solid"/>
          </a:ln>
        </p:spPr>
      </p:sp>
      <p:sp>
        <p:nvSpPr>
          <p:cNvPr id="15" name="Shape 13"/>
          <p:cNvSpPr/>
          <p:nvPr/>
        </p:nvSpPr>
        <p:spPr>
          <a:xfrm>
            <a:off x="6461608" y="2103120"/>
            <a:ext cx="566928" cy="566928"/>
          </a:xfrm>
          <a:prstGeom prst="ellipse">
            <a:avLst/>
          </a:prstGeom>
          <a:solidFill>
            <a:srgbClr val="1F5C3A"/>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Mesure</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Humidité, reprise, eau apportée, rendement marchand et coûts sont relevés.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1F4EF"/>
          </a:solidFill>
          <a:ln w="9525">
            <a:solidFill>
              <a:srgbClr val="DCE4DA"/>
            </a:solidFill>
            <a:prstDash val="solid"/>
          </a:ln>
        </p:spPr>
      </p:sp>
      <p:sp>
        <p:nvSpPr>
          <p:cNvPr id="20" name="Shape 18"/>
          <p:cNvSpPr/>
          <p:nvPr/>
        </p:nvSpPr>
        <p:spPr>
          <a:xfrm>
            <a:off x="9280931" y="2103120"/>
            <a:ext cx="566928" cy="566928"/>
          </a:xfrm>
          <a:prstGeom prst="ellipse">
            <a:avLst/>
          </a:prstGeom>
          <a:solidFill>
            <a:srgbClr val="1F5C3A"/>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Décision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La solution n’est étendue que si l’écart technique et économique est net.</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C72"/>
                </a:solidFill>
                <a:latin typeface="Calibri" pitchFamily="34" charset="0"/>
                <a:ea typeface="Calibri" pitchFamily="34" charset="-122"/>
                <a:cs typeface="Calibri" pitchFamily="34" charset="-120"/>
              </a:rPr>
              <a:t>Le prix produit, la main-d’œuvre, l’eau et la valeur de la récolte restent des champs de calcul ouverts jusqu’à validation par les équipes locales.</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Travailler ensemble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Un partenaire local pour Madagascar</a:t>
            </a:r>
            <a:endParaRPr lang="en-US" sz="3000" dirty="0"/>
          </a:p>
        </p:txBody>
      </p:sp>
      <p:sp>
        <p:nvSpPr>
          <p:cNvPr id="4" name="Shape 2"/>
          <p:cNvSpPr/>
          <p:nvPr/>
        </p:nvSpPr>
        <p:spPr>
          <a:xfrm>
            <a:off x="594360" y="1874520"/>
            <a:ext cx="2545004" cy="2834640"/>
          </a:xfrm>
          <a:prstGeom prst="roundRect">
            <a:avLst>
              <a:gd name="adj" fmla="val 3593"/>
            </a:avLst>
          </a:prstGeom>
          <a:solidFill>
            <a:srgbClr val="F1F4EF"/>
          </a:solidFill>
          <a:ln w="9525">
            <a:solidFill>
              <a:srgbClr val="DCE4DA"/>
            </a:solidFill>
            <a:prstDash val="solid"/>
          </a:ln>
        </p:spPr>
      </p:sp>
      <p:sp>
        <p:nvSpPr>
          <p:cNvPr id="5" name="Shape 3"/>
          <p:cNvSpPr/>
          <p:nvPr/>
        </p:nvSpPr>
        <p:spPr>
          <a:xfrm>
            <a:off x="822960" y="2103120"/>
            <a:ext cx="566928" cy="566928"/>
          </a:xfrm>
          <a:prstGeom prst="ellipse">
            <a:avLst/>
          </a:prstGeom>
          <a:solidFill>
            <a:srgbClr val="1F5C3A"/>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Distribution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Exclusivité territoriale et stock de lancement pour la première saison commerciale.</a:t>
            </a:r>
            <a:endParaRPr lang="en-US" sz="1200" dirty="0"/>
          </a:p>
        </p:txBody>
      </p:sp>
      <p:sp>
        <p:nvSpPr>
          <p:cNvPr id="9" name="Shape 7"/>
          <p:cNvSpPr/>
          <p:nvPr/>
        </p:nvSpPr>
        <p:spPr>
          <a:xfrm>
            <a:off x="3413684" y="1874520"/>
            <a:ext cx="2545004" cy="2834640"/>
          </a:xfrm>
          <a:prstGeom prst="roundRect">
            <a:avLst>
              <a:gd name="adj" fmla="val 3593"/>
            </a:avLst>
          </a:prstGeom>
          <a:solidFill>
            <a:srgbClr val="F1F4EF"/>
          </a:solidFill>
          <a:ln w="9525">
            <a:solidFill>
              <a:srgbClr val="DCE4DA"/>
            </a:solidFill>
            <a:prstDash val="solid"/>
          </a:ln>
        </p:spPr>
      </p:sp>
      <p:sp>
        <p:nvSpPr>
          <p:cNvPr id="10" name="Shape 8"/>
          <p:cNvSpPr/>
          <p:nvPr/>
        </p:nvSpPr>
        <p:spPr>
          <a:xfrm>
            <a:off x="3642284" y="2103120"/>
            <a:ext cx="566928" cy="566928"/>
          </a:xfrm>
          <a:prstGeom prst="ellipse">
            <a:avLst/>
          </a:prstGeom>
          <a:solidFill>
            <a:srgbClr val="1F5C3A"/>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Formation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Formation technique des équipes, protocoles de dosage et mises à jour à chaque saison.</a:t>
            </a:r>
            <a:endParaRPr lang="en-US" sz="1200" dirty="0"/>
          </a:p>
        </p:txBody>
      </p:sp>
      <p:sp>
        <p:nvSpPr>
          <p:cNvPr id="14" name="Shape 12"/>
          <p:cNvSpPr/>
          <p:nvPr/>
        </p:nvSpPr>
        <p:spPr>
          <a:xfrm>
            <a:off x="6233008" y="1874520"/>
            <a:ext cx="2545004" cy="2834640"/>
          </a:xfrm>
          <a:prstGeom prst="roundRect">
            <a:avLst>
              <a:gd name="adj" fmla="val 3593"/>
            </a:avLst>
          </a:prstGeom>
          <a:solidFill>
            <a:srgbClr val="F1F4EF"/>
          </a:solidFill>
          <a:ln w="9525">
            <a:solidFill>
              <a:srgbClr val="DCE4DA"/>
            </a:solidFill>
            <a:prstDash val="solid"/>
          </a:ln>
        </p:spPr>
      </p:sp>
      <p:sp>
        <p:nvSpPr>
          <p:cNvPr id="15" name="Shape 13"/>
          <p:cNvSpPr/>
          <p:nvPr/>
        </p:nvSpPr>
        <p:spPr>
          <a:xfrm>
            <a:off x="6461608" y="2103120"/>
            <a:ext cx="566928" cy="566928"/>
          </a:xfrm>
          <a:prstGeom prst="ellipse">
            <a:avLst/>
          </a:prstGeom>
          <a:solidFill>
            <a:srgbClr val="1F5C3A"/>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Essais conjoints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Parcelles de démonstration avec témoin, résultats partagés avec les producteurs.</a:t>
            </a:r>
            <a:endParaRPr lang="en-US" sz="1200" dirty="0"/>
          </a:p>
        </p:txBody>
      </p:sp>
      <p:sp>
        <p:nvSpPr>
          <p:cNvPr id="19" name="Shape 17"/>
          <p:cNvSpPr/>
          <p:nvPr/>
        </p:nvSpPr>
        <p:spPr>
          <a:xfrm>
            <a:off x="9052331" y="1874520"/>
            <a:ext cx="2545004" cy="2834640"/>
          </a:xfrm>
          <a:prstGeom prst="roundRect">
            <a:avLst>
              <a:gd name="adj" fmla="val 3593"/>
            </a:avLst>
          </a:prstGeom>
          <a:solidFill>
            <a:srgbClr val="F1F4EF"/>
          </a:solidFill>
          <a:ln w="9525">
            <a:solidFill>
              <a:srgbClr val="DCE4DA"/>
            </a:solidFill>
            <a:prstDash val="solid"/>
          </a:ln>
        </p:spPr>
      </p:sp>
      <p:sp>
        <p:nvSpPr>
          <p:cNvPr id="20" name="Shape 18"/>
          <p:cNvSpPr/>
          <p:nvPr/>
        </p:nvSpPr>
        <p:spPr>
          <a:xfrm>
            <a:off x="9280931" y="2103120"/>
            <a:ext cx="566928" cy="566928"/>
          </a:xfrm>
          <a:prstGeom prst="ellipse">
            <a:avLst/>
          </a:prstGeom>
          <a:solidFill>
            <a:srgbClr val="1F5C3A"/>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F5C3A"/>
                </a:solidFill>
                <a:latin typeface="Cambria" pitchFamily="34" charset="0"/>
                <a:ea typeface="Cambria" pitchFamily="34" charset="-122"/>
                <a:cs typeface="Cambria" pitchFamily="34" charset="-120"/>
              </a:rPr>
              <a:t>Institutions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3423A"/>
                </a:solidFill>
                <a:latin typeface="Calibri" pitchFamily="34" charset="0"/>
                <a:ea typeface="Calibri" pitchFamily="34" charset="-122"/>
                <a:cs typeface="Calibri" pitchFamily="34" charset="-120"/>
              </a:rPr>
              <a:t>Dialogue avec le ministère de l'Agriculture et les programmes de sécurité alimentaire.</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C72"/>
                </a:solidFill>
                <a:latin typeface="Calibri" pitchFamily="34" charset="0"/>
                <a:ea typeface="Calibri" pitchFamily="34" charset="-122"/>
                <a:cs typeface="Calibri" pitchFamily="34" charset="-120"/>
              </a:rPr>
              <a:t>Le cadre s'adapte au territoire : un importateur, un distributeur d'intrants ou un groupement de producteurs peut porter le partenariat.</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CE QU’IL FAUT ANTICIPER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Risques identifiés et réponses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Risques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Résultats très variables entre Hautes Terres, côte humide et Grand Sud.</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Confusion possible entre sécheresse, manque d’irrigation et stress hydrique national.</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Coût d’accès aux parcelles, petites superficies et suivi de mesure irrégulier.</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Pression cyclonique et excès d’eau dans l’Est, où la rétention n’est pas toujours la priorité.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Nos réponses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Segmenter les essais par bassin, sol et culture, sans extrapoler une moyenne nationale.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Mesurer l’humidité, l’eau réellement apportée et la récolte commercialisable.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Travailler avec une organisation locale capable de tenir le protocole jusqu’à la récolte.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Exclure les parcelles mal drainées et adapter la combinaison de solutions au diagnostic.</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Les éléments réglementaires, certificats et fiches techniques doivent être revus avec l’importateur et les autorités malgaches avant commercialisation.</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6"/>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3B23C"/>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123324"/>
                </a:solidFill>
                <a:latin typeface="Cambria" pitchFamily="34" charset="0"/>
                <a:ea typeface="Cambria" pitchFamily="34" charset="-122"/>
                <a:cs typeface="Cambria" pitchFamily="34" charset="-120"/>
              </a:rPr>
              <a:t>Sources et hypothèses de travail</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Sources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Programme alimentaire mondial, page pays Madagascar : population, insécurité alimentaire, chocs climatiques et actions de résilience.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Banque mondiale, World Development Indicators, ER.H2O.FWST.ZS : stress hydrique à Madagascar, 2022.</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FAO AQUASTAT et ONU-Eau : indicateur ODD 6.4.2 et limites d’interprétation à l’échelle nationale.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UNCCD, Drought in Numbers 2022 : nombre et durée des sécheresses, +29 % depuis 2000 par rapport à 1980–1999.</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ONU-Eau / FAO AQUASTAT, indicateur ODD 6.4.2 : définition et seuils du stress hydrique.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Photographies : Luc Legay (CC BY-SA 2.0), Smegrandria (CC BY-SA 4.0), Zigomar (CC BY-SA 3.0), Cactus0625 (CC BY-SA 4.0), Rod Waddington (CC BY-SA 2.0) — via Wikimedia Commons.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F5C3A"/>
                </a:solidFill>
                <a:latin typeface="Cambria" pitchFamily="34" charset="0"/>
                <a:ea typeface="Cambria" pitchFamily="34" charset="-122"/>
                <a:cs typeface="Cambria" pitchFamily="34" charset="-120"/>
              </a:rPr>
              <a:t>Hypothèses de travail</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Les chiffres sont des ordres de grandeur arrondis, tirés des dernières données publiques disponibles.</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Les gains d'eau et de rendement sont indicatifs et varient selon le sol, le climat et la culture.</a:t>
            </a:r>
            <a:endParaRPr lang="en-US" sz="1350" dirty="0"/>
          </a:p>
          <a:p>
            <a:pPr algn="l" marL="342900" indent="-342900">
              <a:lnSpc>
                <a:spcPct val="122000"/>
              </a:lnSpc>
              <a:spcAft>
                <a:spcPts val="1000"/>
              </a:spcAft>
              <a:buSzPct val="100000"/>
              <a:buChar char="•"/>
            </a:pPr>
            <a:r>
              <a:rPr lang="en-US" sz="1350" dirty="0">
                <a:solidFill>
                  <a:srgbClr val="33423A"/>
                </a:solidFill>
                <a:latin typeface="Calibri" pitchFamily="34" charset="0"/>
                <a:ea typeface="Calibri" pitchFamily="34" charset="-122"/>
                <a:cs typeface="Calibri" pitchFamily="34" charset="-120"/>
              </a:rPr>
              <a:t>Document de travail commercial : chiffres à actualiser avant toute soumission officielle.</a:t>
            </a:r>
            <a:endParaRPr lang="en-US" sz="1350" dirty="0"/>
          </a:p>
        </p:txBody>
      </p:sp>
      <p:sp>
        <p:nvSpPr>
          <p:cNvPr id="8" name="Shape 6"/>
          <p:cNvSpPr/>
          <p:nvPr/>
        </p:nvSpPr>
        <p:spPr>
          <a:xfrm>
            <a:off x="594360" y="4846320"/>
            <a:ext cx="11002975" cy="960120"/>
          </a:xfrm>
          <a:prstGeom prst="roundRect">
            <a:avLst>
              <a:gd name="adj" fmla="val 7619"/>
            </a:avLst>
          </a:prstGeom>
          <a:solidFill>
            <a:srgbClr val="F1F4EF"/>
          </a:solidFill>
          <a:ln w="9525">
            <a:solidFill>
              <a:srgbClr val="DCE4DA"/>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C72"/>
                </a:solidFill>
                <a:latin typeface="Calibri" pitchFamily="34" charset="0"/>
                <a:ea typeface="Calibri" pitchFamily="34" charset="-122"/>
                <a:cs typeface="Calibri" pitchFamily="34" charset="-120"/>
              </a:rPr>
              <a:t>Rapports d'essais, certificats (SOHISCERT, analyses Polymex et SGS) et fiches techniques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C72">
                    <a:alpha val="80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C72">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Choisissons une parcelle pilote</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Culture, type de sol, calendrier des pluies, accès à l’eau, coût de l’irrigation et prix de vente. À partir de ces données, nous préparons un protocole simple avec témoin, critères de réussite et budget à compléter par l’équipe locale.</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Une première étude n’engage pas à un déploiement.</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E3B23C"/>
                </a:solidFill>
                <a:latin typeface="Calibri" pitchFamily="34" charset="0"/>
                <a:ea typeface="Calibri" pitchFamily="34" charset="-122"/>
                <a:cs typeface="Calibri" pitchFamily="34" charset="-120"/>
              </a:rPr>
              <a:t>contact@green-solutions-group.com · Green Solutions Groupe AIM SA, 46, route de la Condémine, 1475 Forel, Suisse</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Dossier marché Madagascar</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2026-10-07T08:26:04Z</dcterms:created>
  <dcterms:modified xsi:type="dcterms:W3CDTF">2026-10-07T08:26:04Z</dcterms:modified>
</cp:coreProperties>
</file>