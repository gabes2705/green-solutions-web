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27.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8.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9.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0.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3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27.xml.rels><?xml version="1.0" encoding="UTF-8" standalone="yes"?><Relationships xmlns="http://schemas.openxmlformats.org/package/2006/relationships"><Relationship Id="rId1" Type="http://schemas.openxmlformats.org/officeDocument/2006/relationships/package" Target="../embeddings/Microsoft_Excel_Worksheet27.xlsx"/></Relationships>
</file>

<file path=ppt/charts/_rels/chart28.xml.rels><?xml version="1.0" encoding="UTF-8" standalone="yes"?><Relationships xmlns="http://schemas.openxmlformats.org/package/2006/relationships"><Relationship Id="rId1" Type="http://schemas.openxmlformats.org/officeDocument/2006/relationships/package" Target="../embeddings/Microsoft_Excel_Worksheet28.xlsx"/></Relationships>
</file>

<file path=ppt/charts/_rels/chart29.xml.rels><?xml version="1.0" encoding="UTF-8" standalone="yes"?><Relationships xmlns="http://schemas.openxmlformats.org/package/2006/relationships"><Relationship Id="rId1" Type="http://schemas.openxmlformats.org/officeDocument/2006/relationships/package" Target="../embeddings/Microsoft_Excel_Worksheet29.xlsx"/></Relationships>
</file>

<file path=ppt/charts/_rels/chart30.xml.rels><?xml version="1.0" encoding="UTF-8" standalone="yes"?><Relationships xmlns="http://schemas.openxmlformats.org/package/2006/relationships"><Relationship Id="rId1" Type="http://schemas.openxmlformats.org/officeDocument/2006/relationships/package" Target="../embeddings/Microsoft_Excel_Worksheet30.xlsx"/></Relationships>
</file>

<file path=ppt/charts/_rels/chart31.xml.rels><?xml version="1.0" encoding="UTF-8" standalone="yes"?><Relationships xmlns="http://schemas.openxmlformats.org/package/2006/relationships"><Relationship Id="rId1" Type="http://schemas.openxmlformats.org/officeDocument/2006/relationships/package" Target="../embeddings/Microsoft_Excel_Worksheet31.xlsx"/></Relationships>
</file>

<file path=ppt/charts/chart2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Índice mundial del número y duración de las sequías</c:v>
                </c:pt>
              </c:strCache>
            </c:strRef>
          </c:tx>
          <c:spPr>
            <a:solidFill>
              <a:srgbClr val="6B2A44"/>
            </a:solidFill>
            <a:effectLst/>
          </c:spPr>
          <c:invertIfNegative val="0"/>
          <c:dLbls>
            <c:numFmt formatCode="[$-C0A]0" sourceLinked="0"/>
            <c:txPr>
              <a:bodyPr/>
              <a:lstStyle/>
              <a:p>
                <a:pPr>
                  <a:defRPr b="0" i="0" strike="noStrike" sz="1100" u="none">
                    <a:solidFill>
                      <a:srgbClr val="3F162A"/>
                    </a:solidFill>
                    <a:latin typeface="Calibri"/>
                  </a:defRPr>
                </a:pPr>
              </a:p>
            </c:txPr>
            <c:showLegendKey val="0"/>
            <c:showVal val="1"/>
            <c:showCatName val="0"/>
            <c:showSerName val="0"/>
            <c:showPercent val="0"/>
            <c:showBubbleSize val="0"/>
            <c:showLeaderLines val="0"/>
          </c:dLbls>
          <c:dPt>
            <c:idx val="0"/>
            <c:invertIfNegative val="0"/>
            <c:bubble3D val="0"/>
            <c:spPr>
              <a:solidFill>
                <a:srgbClr val="6B2A44"/>
              </a:solidFill>
              <a:effectLst/>
            </c:spPr>
          </c:dPt>
          <c:dPt>
            <c:idx val="1"/>
            <c:invertIfNegative val="0"/>
            <c:bubble3D val="0"/>
            <c:spPr>
              <a:solidFill>
                <a:srgbClr val="C9A227"/>
              </a:solidFill>
              <a:effectLst/>
            </c:spPr>
          </c:dPt>
          <c:cat>
            <c:multiLvlStrRef>
              <c:f>Sheet1!$A$2:$A$3</c:f>
              <c:multiLvlStrCache>
                <c:ptCount val="2"/>
                <c:lvl>
                  <c:pt idx="0">
                    <c:v>1980–1999</c:v>
                  </c:pt>
                  <c:pt idx="1">
                    <c:v>Desde 2000</c:v>
                  </c:pt>
                </c:lvl>
              </c:multiLvlStrCache>
            </c:multiLvlStrRef>
          </c:cat>
          <c:val>
            <c:numRef>
              <c:f>Sheet1!$B$2:$B$3</c:f>
              <c:numCache>
                <c:formatCode>General</c:formatCode>
                <c:ptCount val="2"/>
                <c:pt idx="0">
                  <c:v>100</c:v>
                </c:pt>
                <c:pt idx="1">
                  <c:v>129</c:v>
                </c:pt>
              </c:numCache>
            </c:numRef>
          </c:val>
        </c:ser>
        <c:dLbls>
          <c:numFmt formatCode="[$-C0A]0" sourceLinked="0"/>
          <c:txPr>
            <a:bodyPr/>
            <a:lstStyle/>
            <a:p>
              <a:pPr>
                <a:defRPr b="0" i="0" strike="noStrike" sz="1100" u="none">
                  <a:solidFill>
                    <a:srgbClr val="3F162A"/>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7C6B73"/>
                </a:solidFill>
                <a:latin typeface="Calibri"/>
              </a:defRPr>
            </a:pPr>
            <a:endParaRPr lang="en-US"/>
          </a:p>
        </c:txPr>
        <c:crossAx val="2094734552"/>
        <c:crosses val="autoZero"/>
        <c:auto val="1"/>
        <c:lblAlgn val="ctr"/>
        <c:noMultiLvlLbl val="1"/>
      </c:catAx>
      <c:valAx>
        <c:axId val="2094734552"/>
        <c:scaling>
          <c:orientation val="minMax"/>
          <c:max val="140"/>
          <c:min val="0"/>
        </c:scaling>
        <c:delete val="0"/>
        <c:axPos val="l"/>
        <c:majorGridlines>
          <c:spPr>
            <a:ln w="9525" cap="flat">
              <a:solidFill>
                <a:srgbClr val="E5D9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C6B73"/>
                </a:solidFill>
                <a:latin typeface="Calibri"/>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Uso consuntivo del agua</c:v>
                </c:pt>
              </c:strCache>
            </c:strRef>
          </c:tx>
          <c:spPr>
            <a:solidFill>
              <a:schemeClr val="accent1"/>
            </a:solidFill>
            <a:ln w="9525" cap="flat">
              <a:solidFill>
                <a:srgbClr val="F9F9F9"/>
              </a:solidFill>
              <a:prstDash val="solid"/>
              <a:round/>
            </a:ln>
            <a:effectLst/>
          </c:spPr>
          <c:dPt>
            <c:idx val="0"/>
            <c:bubble3D val="0"/>
            <c:spPr>
              <a:solidFill>
                <a:srgbClr val="6B2A44"/>
              </a:solidFill>
              <a:effectLst/>
            </c:spPr>
          </c:dPt>
          <c:dPt>
            <c:idx val="1"/>
            <c:bubble3D val="0"/>
            <c:spPr>
              <a:solidFill>
                <a:srgbClr val="C9A227"/>
              </a:solidFill>
              <a:effectLst/>
            </c:spPr>
          </c:dPt>
          <c:dPt>
            <c:idx val="2"/>
            <c:bubble3D val="0"/>
            <c:spPr>
              <a:solidFill>
                <a:srgbClr val="9E6079"/>
              </a:solidFill>
              <a:effectLst/>
            </c:spPr>
          </c:dPt>
          <c:dLbls>
            <c:dLbl>
              <c:idx val="0"/>
              <c:numFmt formatCode="[$-C0A]0&quot;%&quot;" sourceLinked="0"/>
              <c:spPr/>
              <c:txPr>
                <a:bodyPr/>
                <a:lstStyle/>
                <a:p>
                  <a:pPr>
                    <a:defRPr sz="1100" b="0" i="0" u="none" strike="noStrike">
                      <a:solidFill>
                        <a:srgbClr val="FFFFFF"/>
                      </a:solidFill>
                      <a:latin typeface="Calibri"/>
                    </a:defRPr>
                  </a:pPr>
                </a:p>
              </c:txPr>
              <c:showLegendKey val="0"/>
              <c:showVal val="1"/>
              <c:showCatName val="0"/>
              <c:showSerName val="0"/>
              <c:showPercent val="0"/>
              <c:showBubbleSize val="0"/>
            </c:dLbl>
            <c:dLbl>
              <c:idx val="1"/>
              <c:numFmt formatCode="[$-C0A]0&quot;%&quot;" sourceLinked="0"/>
              <c:spPr/>
              <c:txPr>
                <a:bodyPr/>
                <a:lstStyle/>
                <a:p>
                  <a:pPr>
                    <a:defRPr sz="1100" b="0" i="0" u="none" strike="noStrike">
                      <a:solidFill>
                        <a:srgbClr val="FFFFFF"/>
                      </a:solidFill>
                      <a:latin typeface="Calibri"/>
                    </a:defRPr>
                  </a:pPr>
                </a:p>
              </c:txPr>
              <c:showLegendKey val="0"/>
              <c:showVal val="1"/>
              <c:showCatName val="0"/>
              <c:showSerName val="0"/>
              <c:showPercent val="0"/>
              <c:showBubbleSize val="0"/>
            </c:dLbl>
            <c:dLbl>
              <c:idx val="2"/>
              <c:numFmt formatCode="[$-C0A]0&quot;%&quot;" sourceLinked="0"/>
              <c:spPr/>
              <c:txPr>
                <a:bodyPr/>
                <a:lstStyle/>
                <a:p>
                  <a:pPr>
                    <a:defRPr sz="1100" b="0" i="0" u="none" strike="noStrike">
                      <a:solidFill>
                        <a:srgbClr val="FFFFFF"/>
                      </a:solidFill>
                      <a:latin typeface="Calibri"/>
                    </a:defRPr>
                  </a:pPr>
                </a:p>
              </c:txPr>
              <c:showLegendKey val="0"/>
              <c:showVal val="1"/>
              <c:showCatName val="0"/>
              <c:showSerName val="0"/>
              <c:showPercent val="0"/>
              <c:showBubbleSize val="0"/>
            </c:dLbl>
            <c:numFmt formatCode="[$-C0A]0&quot;%&quot;"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Agricultura</c:v>
                </c:pt>
                <c:pt idx="1">
                  <c:v>Agua potable</c:v>
                </c:pt>
                <c:pt idx="2">
                  <c:v>Industria y minería</c:v>
                </c:pt>
              </c:strCache>
            </c:strRef>
          </c:cat>
          <c:val>
            <c:numRef>
              <c:f>Sheet1!$B$2:$B$4</c:f>
              <c:numCache>
                <c:ptCount val="3"/>
                <c:pt idx="0">
                  <c:v>72</c:v>
                </c:pt>
                <c:pt idx="1">
                  <c:v>11</c:v>
                </c:pt>
                <c:pt idx="2">
                  <c:v>17</c:v>
                </c:pt>
              </c:numCache>
            </c:numRef>
          </c:val>
        </c:ser>
        <c:firstSliceAng val="0"/>
        <c:holeSize val="55"/>
      </c:doughnutChart>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Producción anual (millones de toneladas)</c:v>
                </c:pt>
              </c:strCache>
            </c:strRef>
          </c:tx>
          <c:spPr>
            <a:solidFill>
              <a:srgbClr val="6B2A44"/>
            </a:solidFill>
            <a:effectLst/>
          </c:spPr>
          <c:invertIfNegative val="0"/>
          <c:dLbls>
            <c:numFmt formatCode="[$-C0A]0.0" sourceLinked="0"/>
            <c:txPr>
              <a:bodyPr/>
              <a:lstStyle/>
              <a:p>
                <a:pPr>
                  <a:defRPr b="0" i="0" strike="noStrike" sz="1100" u="none">
                    <a:solidFill>
                      <a:srgbClr val="3F162A"/>
                    </a:solidFill>
                    <a:latin typeface="Calibri"/>
                  </a:defRPr>
                </a:pPr>
              </a:p>
            </c:txPr>
            <c:showLegendKey val="0"/>
            <c:showVal val="1"/>
            <c:showCatName val="0"/>
            <c:showSerName val="0"/>
            <c:showPercent val="0"/>
            <c:showBubbleSize val="0"/>
            <c:showLeaderLines val="0"/>
          </c:dLbls>
          <c:dPt>
            <c:idx val="0"/>
            <c:invertIfNegative val="0"/>
            <c:bubble3D val="0"/>
            <c:spPr>
              <a:solidFill>
                <a:srgbClr val="6B2A44"/>
              </a:solidFill>
              <a:effectLst/>
            </c:spPr>
          </c:dPt>
          <c:dPt>
            <c:idx val="1"/>
            <c:invertIfNegative val="0"/>
            <c:bubble3D val="0"/>
            <c:spPr>
              <a:solidFill>
                <a:srgbClr val="C9A227"/>
              </a:solidFill>
              <a:effectLst/>
            </c:spPr>
          </c:dPt>
          <c:dPt>
            <c:idx val="2"/>
            <c:invertIfNegative val="0"/>
            <c:bubble3D val="0"/>
            <c:spPr>
              <a:solidFill>
                <a:srgbClr val="9E6079"/>
              </a:solidFill>
              <a:effectLst/>
            </c:spPr>
          </c:dPt>
          <c:dPt>
            <c:idx val="3"/>
            <c:invertIfNegative val="0"/>
            <c:bubble3D val="0"/>
            <c:spPr>
              <a:solidFill>
                <a:srgbClr val="5C7D5A"/>
              </a:solidFill>
              <a:effectLst/>
            </c:spPr>
          </c:dPt>
          <c:dPt>
            <c:idx val="4"/>
            <c:invertIfNegative val="0"/>
            <c:bubble3D val="0"/>
            <c:spPr>
              <a:solidFill>
                <a:srgbClr val="A8724C"/>
              </a:solidFill>
              <a:effectLst/>
            </c:spPr>
          </c:dPt>
          <c:cat>
            <c:multiLvlStrRef>
              <c:f>Sheet1!$A$2:$A$6</c:f>
              <c:multiLvlStrCache>
                <c:ptCount val="5"/>
                <c:lvl>
                  <c:pt idx="0">
                    <c:v>Uva*</c:v>
                  </c:pt>
                  <c:pt idx="1">
                    <c:v>Trigo</c:v>
                  </c:pt>
                  <c:pt idx="2">
                    <c:v>Manzana</c:v>
                  </c:pt>
                  <c:pt idx="3">
                    <c:v>Papa</c:v>
                  </c:pt>
                  <c:pt idx="4">
                    <c:v>Maíz</c:v>
                  </c:pt>
                </c:lvl>
              </c:multiLvlStrCache>
            </c:multiLvlStrRef>
          </c:cat>
          <c:val>
            <c:numRef>
              <c:f>Sheet1!$B$2:$B$6</c:f>
              <c:numCache>
                <c:formatCode>General</c:formatCode>
                <c:ptCount val="5"/>
                <c:pt idx="0">
                  <c:v>2.6</c:v>
                </c:pt>
                <c:pt idx="1">
                  <c:v>1.3</c:v>
                </c:pt>
                <c:pt idx="2">
                  <c:v>1.2</c:v>
                </c:pt>
                <c:pt idx="3">
                  <c:v>1.1</c:v>
                </c:pt>
                <c:pt idx="4">
                  <c:v>1</c:v>
                </c:pt>
              </c:numCache>
            </c:numRef>
          </c:val>
        </c:ser>
        <c:dLbls>
          <c:numFmt formatCode="[$-C0A]0.0" sourceLinked="0"/>
          <c:txPr>
            <a:bodyPr/>
            <a:lstStyle/>
            <a:p>
              <a:pPr>
                <a:defRPr b="0" i="0" strike="noStrike" sz="1100" u="none">
                  <a:solidFill>
                    <a:srgbClr val="3F162A"/>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7C6B73"/>
                </a:solidFill>
                <a:latin typeface="Calibri"/>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5D9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C6B73"/>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Mínimo (%)</c:v>
                </c:pt>
              </c:strCache>
            </c:strRef>
          </c:tx>
          <c:spPr>
            <a:solidFill>
              <a:srgbClr val="6B2A44"/>
            </a:solidFill>
            <a:effectLst/>
          </c:spPr>
          <c:invertIfNegative val="0"/>
          <c:dLbls>
            <c:numFmt formatCode="[$-C0A]0&quot;%&quot;" sourceLinked="0"/>
            <c:txPr>
              <a:bodyPr/>
              <a:lstStyle/>
              <a:p>
                <a:pPr>
                  <a:defRPr b="0" i="0" strike="noStrike" sz="1100" u="none">
                    <a:solidFill>
                      <a:srgbClr val="3F162A"/>
                    </a:solidFill>
                    <a:latin typeface="Calibri"/>
                  </a:defRPr>
                </a:pPr>
              </a:p>
            </c:txPr>
            <c:showLegendKey val="0"/>
            <c:showVal val="1"/>
            <c:showCatName val="0"/>
            <c:showSerName val="0"/>
            <c:showPercent val="0"/>
            <c:showBubbleSize val="0"/>
            <c:showLeaderLines val="0"/>
          </c:dLbls>
          <c:cat>
            <c:multiLvlStrRef>
              <c:f>Sheet1!$A$2:$A$6</c:f>
              <c:multiLvlStrCache>
                <c:ptCount val="5"/>
                <c:lvl>
                  <c:pt idx="0">
                    <c:v>Paltas</c:v>
                  </c:pt>
                  <c:pt idx="1">
                    <c:v>Uva</c:v>
                  </c:pt>
                  <c:pt idx="2">
                    <c:v>Manzanas</c:v>
                  </c:pt>
                  <c:pt idx="3">
                    <c:v>Arándanos</c:v>
                  </c:pt>
                  <c:pt idx="4">
                    <c:v>Tomates</c:v>
                  </c:pt>
                </c:lvl>
              </c:multiLvlStrCache>
            </c:multiLvlStrRef>
          </c:cat>
          <c:val>
            <c:numRef>
              <c:f>Sheet1!$B$2:$B$6</c:f>
              <c:numCache>
                <c:formatCode>General</c:formatCode>
                <c:ptCount val="5"/>
                <c:pt idx="0">
                  <c:v>15</c:v>
                </c:pt>
                <c:pt idx="1">
                  <c:v>20</c:v>
                </c:pt>
                <c:pt idx="2">
                  <c:v>20</c:v>
                </c:pt>
                <c:pt idx="3">
                  <c:v>20</c:v>
                </c:pt>
                <c:pt idx="4">
                  <c:v>30</c:v>
                </c:pt>
              </c:numCache>
            </c:numRef>
          </c:val>
        </c:ser>
        <c:ser>
          <c:idx val="1"/>
          <c:order val="1"/>
          <c:tx>
            <c:strRef>
              <c:f>Sheet1!$C$1</c:f>
              <c:strCache>
                <c:ptCount val="1"/>
                <c:pt idx="0">
                  <c:v>Máximo (%)</c:v>
                </c:pt>
              </c:strCache>
            </c:strRef>
          </c:tx>
          <c:spPr>
            <a:solidFill>
              <a:srgbClr val="C9A227"/>
            </a:solidFill>
            <a:effectLst/>
          </c:spPr>
          <c:invertIfNegative val="0"/>
          <c:dLbls>
            <c:numFmt formatCode="[$-C0A]0&quot;%&quot;" sourceLinked="0"/>
            <c:txPr>
              <a:bodyPr/>
              <a:lstStyle/>
              <a:p>
                <a:pPr>
                  <a:defRPr b="0" i="0" strike="noStrike" sz="1100" u="none">
                    <a:solidFill>
                      <a:srgbClr val="3F162A"/>
                    </a:solidFill>
                    <a:latin typeface="Calibri"/>
                  </a:defRPr>
                </a:pPr>
              </a:p>
            </c:txPr>
            <c:showLegendKey val="0"/>
            <c:showVal val="1"/>
            <c:showCatName val="0"/>
            <c:showSerName val="0"/>
            <c:showPercent val="0"/>
            <c:showBubbleSize val="0"/>
            <c:showLeaderLines val="0"/>
          </c:dLbls>
          <c:cat>
            <c:multiLvlStrRef>
              <c:f>Sheet1!$A$2:$A$6</c:f>
              <c:multiLvlStrCache>
                <c:ptCount val="5"/>
                <c:lvl>
                  <c:pt idx="0">
                    <c:v>Paltas</c:v>
                  </c:pt>
                  <c:pt idx="1">
                    <c:v>Uva</c:v>
                  </c:pt>
                  <c:pt idx="2">
                    <c:v>Manzanas</c:v>
                  </c:pt>
                  <c:pt idx="3">
                    <c:v>Arándanos</c:v>
                  </c:pt>
                  <c:pt idx="4">
                    <c:v>Tomates</c:v>
                  </c:pt>
                </c:lvl>
              </c:multiLvlStrCache>
            </c:multiLvlStrRef>
          </c:cat>
          <c:val>
            <c:numRef>
              <c:f>Sheet1!$C$2:$C$6</c:f>
              <c:numCache>
                <c:formatCode>General</c:formatCode>
                <c:ptCount val="5"/>
                <c:pt idx="0">
                  <c:v>25</c:v>
                </c:pt>
                <c:pt idx="1">
                  <c:v>40</c:v>
                </c:pt>
                <c:pt idx="2">
                  <c:v>40</c:v>
                </c:pt>
                <c:pt idx="3">
                  <c:v>40</c:v>
                </c:pt>
                <c:pt idx="4">
                  <c:v>50</c:v>
                </c:pt>
              </c:numCache>
            </c:numRef>
          </c:val>
        </c:ser>
        <c:dLbls>
          <c:numFmt formatCode="[$-C0A]0&quot;%&quot;" sourceLinked="0"/>
          <c:txPr>
            <a:bodyPr/>
            <a:lstStyle/>
            <a:p>
              <a:pPr>
                <a:defRPr b="0" i="0" strike="noStrike" sz="1100" u="none">
                  <a:solidFill>
                    <a:srgbClr val="3F162A"/>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7C6B73"/>
                </a:solidFill>
                <a:latin typeface="Calibri"/>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5D9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C6B73"/>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Rango bajo (%)</c:v>
                </c:pt>
              </c:strCache>
            </c:strRef>
          </c:tx>
          <c:spPr>
            <a:solidFill>
              <a:srgbClr val="6B2A44"/>
            </a:solidFill>
            <a:effectLst/>
          </c:spPr>
          <c:invertIfNegative val="0"/>
          <c:dLbls>
            <c:numFmt formatCode="[$-C0A]0&quot;%&quot;" sourceLinked="0"/>
            <c:txPr>
              <a:bodyPr/>
              <a:lstStyle/>
              <a:p>
                <a:pPr>
                  <a:defRPr b="0" i="0" strike="noStrike" sz="1100" u="none">
                    <a:solidFill>
                      <a:srgbClr val="3F162A"/>
                    </a:solidFill>
                    <a:latin typeface="Calibri"/>
                  </a:defRPr>
                </a:pPr>
              </a:p>
            </c:txPr>
            <c:showLegendKey val="0"/>
            <c:showVal val="1"/>
            <c:showCatName val="0"/>
            <c:showSerName val="0"/>
            <c:showPercent val="0"/>
            <c:showBubbleSize val="0"/>
            <c:showLeaderLines val="0"/>
          </c:dLbls>
          <c:cat>
            <c:multiLvlStrRef>
              <c:f>Sheet1!$A$2:$A$5</c:f>
              <c:multiLvlStrCache>
                <c:ptCount val="4"/>
                <c:lvl>
                  <c:pt idx="0">
                    <c:v>Goteo</c:v>
                  </c:pt>
                  <c:pt idx="1">
                    <c:v>Microaspersión</c:v>
                  </c:pt>
                  <c:pt idx="2">
                    <c:v>Pivote</c:v>
                  </c:pt>
                  <c:pt idx="3">
                    <c:v>Surco</c:v>
                  </c:pt>
                </c:lvl>
              </c:multiLvlStrCache>
            </c:multiLvlStrRef>
          </c:cat>
          <c:val>
            <c:numRef>
              <c:f>Sheet1!$B$2:$B$5</c:f>
              <c:numCache>
                <c:formatCode>General</c:formatCode>
                <c:ptCount val="4"/>
                <c:pt idx="0">
                  <c:v>40</c:v>
                </c:pt>
                <c:pt idx="1">
                  <c:v>45</c:v>
                </c:pt>
                <c:pt idx="2">
                  <c:v>50</c:v>
                </c:pt>
                <c:pt idx="3">
                  <c:v>55</c:v>
                </c:pt>
              </c:numCache>
            </c:numRef>
          </c:val>
        </c:ser>
        <c:ser>
          <c:idx val="1"/>
          <c:order val="1"/>
          <c:tx>
            <c:strRef>
              <c:f>Sheet1!$C$1</c:f>
              <c:strCache>
                <c:ptCount val="1"/>
                <c:pt idx="0">
                  <c:v>Rango alto (%)</c:v>
                </c:pt>
              </c:strCache>
            </c:strRef>
          </c:tx>
          <c:spPr>
            <a:solidFill>
              <a:srgbClr val="C9A227"/>
            </a:solidFill>
            <a:effectLst/>
          </c:spPr>
          <c:invertIfNegative val="0"/>
          <c:dLbls>
            <c:numFmt formatCode="[$-C0A]0&quot;%&quot;" sourceLinked="0"/>
            <c:txPr>
              <a:bodyPr/>
              <a:lstStyle/>
              <a:p>
                <a:pPr>
                  <a:defRPr b="0" i="0" strike="noStrike" sz="1100" u="none">
                    <a:solidFill>
                      <a:srgbClr val="3F162A"/>
                    </a:solidFill>
                    <a:latin typeface="Calibri"/>
                  </a:defRPr>
                </a:pPr>
              </a:p>
            </c:txPr>
            <c:showLegendKey val="0"/>
            <c:showVal val="1"/>
            <c:showCatName val="0"/>
            <c:showSerName val="0"/>
            <c:showPercent val="0"/>
            <c:showBubbleSize val="0"/>
            <c:showLeaderLines val="0"/>
          </c:dLbls>
          <c:cat>
            <c:multiLvlStrRef>
              <c:f>Sheet1!$A$2:$A$5</c:f>
              <c:multiLvlStrCache>
                <c:ptCount val="4"/>
                <c:lvl>
                  <c:pt idx="0">
                    <c:v>Goteo</c:v>
                  </c:pt>
                  <c:pt idx="1">
                    <c:v>Microaspersión</c:v>
                  </c:pt>
                  <c:pt idx="2">
                    <c:v>Pivote</c:v>
                  </c:pt>
                  <c:pt idx="3">
                    <c:v>Surco</c:v>
                  </c:pt>
                </c:lvl>
              </c:multiLvlStrCache>
            </c:multiLvlStrRef>
          </c:cat>
          <c:val>
            <c:numRef>
              <c:f>Sheet1!$C$2:$C$5</c:f>
              <c:numCache>
                <c:formatCode>General</c:formatCode>
                <c:ptCount val="4"/>
                <c:pt idx="0">
                  <c:v>55</c:v>
                </c:pt>
                <c:pt idx="1">
                  <c:v>60</c:v>
                </c:pt>
                <c:pt idx="2">
                  <c:v>65</c:v>
                </c:pt>
                <c:pt idx="3">
                  <c:v>70</c:v>
                </c:pt>
              </c:numCache>
            </c:numRef>
          </c:val>
        </c:ser>
        <c:dLbls>
          <c:numFmt formatCode="[$-C0A]0&quot;%&quot;" sourceLinked="0"/>
          <c:txPr>
            <a:bodyPr/>
            <a:lstStyle/>
            <a:p>
              <a:pPr>
                <a:defRPr b="0" i="0" strike="noStrike" sz="1100" u="none">
                  <a:solidFill>
                    <a:srgbClr val="3F162A"/>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7C6B73"/>
                </a:solidFill>
                <a:latin typeface="Calibri"/>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5D9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C6B73"/>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7.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8.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9.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0.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31.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image" Target="../media/image-14-2.jpeg"/><Relationship Id="rId3" Type="http://schemas.openxmlformats.org/officeDocument/2006/relationships/image" Target="../media/image-14-3.jpe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e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D0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272784" y="0"/>
            <a:ext cx="5918911" cy="6858000"/>
          </a:xfrm>
          <a:prstGeom prst="rect">
            <a:avLst/>
          </a:prstGeom>
        </p:spPr>
      </p:pic>
      <p:sp>
        <p:nvSpPr>
          <p:cNvPr id="3" name="Shape 0"/>
          <p:cNvSpPr/>
          <p:nvPr/>
        </p:nvSpPr>
        <p:spPr>
          <a:xfrm>
            <a:off x="0" y="0"/>
            <a:ext cx="6272784" cy="6858000"/>
          </a:xfrm>
          <a:prstGeom prst="rect">
            <a:avLst/>
          </a:prstGeom>
          <a:solidFill>
            <a:srgbClr val="0D0D0D"/>
          </a:solidFill>
          <a:ln/>
        </p:spPr>
      </p:sp>
      <p:sp>
        <p:nvSpPr>
          <p:cNvPr id="4" name="Text 1"/>
          <p:cNvSpPr txBox="1"/>
          <p:nvPr/>
        </p:nvSpPr>
        <p:spPr>
          <a:xfrm>
            <a:off x="658368" y="566928"/>
            <a:ext cx="4041648" cy="292608"/>
          </a:xfrm>
          <a:prstGeom prst="rect">
            <a:avLst/>
          </a:prstGeom>
          <a:noFill/>
          <a:ln/>
        </p:spPr>
        <p:txBody>
          <a:bodyPr wrap="square" lIns="0" tIns="0" rIns="0" bIns="0" rtlCol="0" anchor="ctr"/>
          <a:lstStyle/>
          <a:p>
            <a:pPr algn="l" indent="0" marL="0">
              <a:buNone/>
            </a:pPr>
            <a:r>
              <a:rPr lang="en-US" sz="1100" b="1" spc="80" kern="0" dirty="0">
                <a:solidFill>
                  <a:srgbClr val="8BC34A"/>
                </a:solidFill>
                <a:latin typeface="Calibri" pitchFamily="34" charset="0"/>
                <a:ea typeface="Calibri" pitchFamily="34" charset="-122"/>
                <a:cs typeface="Calibri" pitchFamily="34" charset="-120"/>
              </a:rPr>
              <a:t>GREEN SOLUTIONS GROUP</a:t>
            </a:r>
            <a:endParaRPr lang="en-US" sz="1100" dirty="0"/>
          </a:p>
        </p:txBody>
      </p:sp>
      <p:pic>
        <p:nvPicPr>
          <p:cNvPr id="5" name="Image 1" descr="/home/claude/green-solutions-web/public/images/logo-icon.png">    </p:cNvPr>
          <p:cNvPicPr>
            <a:picLocks noChangeAspect="1"/>
          </p:cNvPicPr>
          <p:nvPr/>
        </p:nvPicPr>
        <p:blipFill>
          <a:blip r:embed="rId2"/>
          <a:stretch>
            <a:fillRect/>
          </a:stretch>
        </p:blipFill>
        <p:spPr>
          <a:xfrm>
            <a:off x="5010912" y="457200"/>
            <a:ext cx="603504" cy="603504"/>
          </a:xfrm>
          <a:prstGeom prst="rect">
            <a:avLst/>
          </a:prstGeom>
        </p:spPr>
      </p:pic>
      <p:pic>
        <p:nvPicPr>
          <p:cNvPr id="6" name="Image 2" descr="/home/claude/green-solutions-web/scripts/dossiers/drapeaux/chili.png">    </p:cNvPr>
          <p:cNvPicPr>
            <a:picLocks noChangeAspect="1"/>
          </p:cNvPicPr>
          <p:nvPr/>
        </p:nvPicPr>
        <p:blipFill>
          <a:blip r:embed="rId3"/>
          <a:stretch>
            <a:fillRect/>
          </a:stretch>
        </p:blipFill>
        <p:spPr>
          <a:xfrm>
            <a:off x="3649991" y="1389888"/>
            <a:ext cx="1964425" cy="1310640"/>
          </a:xfrm>
          <a:prstGeom prst="rect">
            <a:avLst/>
          </a:prstGeom>
        </p:spPr>
      </p:pic>
      <p:sp>
        <p:nvSpPr>
          <p:cNvPr id="7" name="Shape 2"/>
          <p:cNvSpPr/>
          <p:nvPr/>
        </p:nvSpPr>
        <p:spPr>
          <a:xfrm>
            <a:off x="3649991" y="1389888"/>
            <a:ext cx="1964425" cy="1310640"/>
          </a:xfrm>
          <a:prstGeom prst="rect">
            <a:avLst/>
          </a:prstGeom>
          <a:ln w="9525">
            <a:solidFill>
              <a:srgbClr val="3A3A3A"/>
            </a:solidFill>
            <a:prstDash val="solid"/>
          </a:ln>
        </p:spPr>
      </p:sp>
      <p:sp>
        <p:nvSpPr>
          <p:cNvPr id="8" name="Text 3"/>
          <p:cNvSpPr txBox="1"/>
          <p:nvPr/>
        </p:nvSpPr>
        <p:spPr>
          <a:xfrm>
            <a:off x="658368" y="1298448"/>
            <a:ext cx="2761488" cy="1234440"/>
          </a:xfrm>
          <a:prstGeom prst="rect">
            <a:avLst/>
          </a:prstGeom>
          <a:noFill/>
          <a:ln/>
        </p:spPr>
        <p:txBody>
          <a:bodyPr wrap="square" lIns="0" tIns="0" rIns="0" bIns="0" rtlCol="0" anchor="t"/>
          <a:lstStyle/>
          <a:p>
            <a:pPr algn="l" indent="0" marL="0">
              <a:lnSpc>
                <a:spcPct val="110000"/>
              </a:lnSpc>
              <a:buNone/>
            </a:pPr>
            <a:r>
              <a:rPr lang="en-US" sz="2800" b="1" dirty="0">
                <a:solidFill>
                  <a:srgbClr val="FFFFFF"/>
                </a:solidFill>
                <a:latin typeface="Cambria" pitchFamily="34" charset="0"/>
                <a:ea typeface="Cambria" pitchFamily="34" charset="-122"/>
                <a:cs typeface="Cambria" pitchFamily="34" charset="-120"/>
              </a:rPr>
              <a:t>REPÚBLICA DE CHILE</a:t>
            </a:r>
            <a:endParaRPr lang="en-US" sz="2800" dirty="0"/>
          </a:p>
        </p:txBody>
      </p:sp>
      <p:sp>
        <p:nvSpPr>
          <p:cNvPr id="9" name="Shape 4"/>
          <p:cNvSpPr/>
          <p:nvPr/>
        </p:nvSpPr>
        <p:spPr>
          <a:xfrm>
            <a:off x="658368" y="2889504"/>
            <a:ext cx="2788920" cy="45720"/>
          </a:xfrm>
          <a:prstGeom prst="rect">
            <a:avLst/>
          </a:prstGeom>
          <a:solidFill>
            <a:srgbClr val="C9A227"/>
          </a:solidFill>
          <a:ln/>
        </p:spPr>
      </p:sp>
      <p:sp>
        <p:nvSpPr>
          <p:cNvPr id="10" name="Text 5"/>
          <p:cNvSpPr txBox="1"/>
          <p:nvPr/>
        </p:nvSpPr>
        <p:spPr>
          <a:xfrm>
            <a:off x="658368" y="3163824"/>
            <a:ext cx="4956048" cy="384048"/>
          </a:xfrm>
          <a:prstGeom prst="rect">
            <a:avLst/>
          </a:prstGeom>
          <a:noFill/>
          <a:ln/>
        </p:spPr>
        <p:txBody>
          <a:bodyPr wrap="square" lIns="0" tIns="0" rIns="0" bIns="0" rtlCol="0" anchor="ctr"/>
          <a:lstStyle/>
          <a:p>
            <a:pPr algn="l" indent="0" marL="0">
              <a:buNone/>
            </a:pPr>
            <a:r>
              <a:rPr lang="en-US" sz="1600" b="1" dirty="0">
                <a:solidFill>
                  <a:srgbClr val="C9A227"/>
                </a:solidFill>
                <a:latin typeface="Cambria" pitchFamily="34" charset="0"/>
                <a:ea typeface="Cambria" pitchFamily="34" charset="-122"/>
                <a:cs typeface="Cambria" pitchFamily="34" charset="-120"/>
              </a:rPr>
              <a:t>Santiago · 2026</a:t>
            </a:r>
            <a:endParaRPr lang="en-US" sz="1600" dirty="0"/>
          </a:p>
        </p:txBody>
      </p:sp>
      <p:sp>
        <p:nvSpPr>
          <p:cNvPr id="11" name="Text 6"/>
          <p:cNvSpPr txBox="1"/>
          <p:nvPr/>
        </p:nvSpPr>
        <p:spPr>
          <a:xfrm>
            <a:off x="658368" y="3767328"/>
            <a:ext cx="4956048" cy="914400"/>
          </a:xfrm>
          <a:prstGeom prst="rect">
            <a:avLst/>
          </a:prstGeom>
          <a:noFill/>
          <a:ln/>
        </p:spPr>
        <p:txBody>
          <a:bodyPr wrap="square" lIns="0" tIns="0" rIns="0" bIns="0" rtlCol="0" anchor="t"/>
          <a:lstStyle/>
          <a:p>
            <a:pPr algn="l" indent="0" marL="0">
              <a:lnSpc>
                <a:spcPct val="128000"/>
              </a:lnSpc>
              <a:buNone/>
            </a:pPr>
            <a:r>
              <a:rPr lang="en-US" sz="1450" dirty="0">
                <a:solidFill>
                  <a:srgbClr val="FFFFFF"/>
                </a:solidFill>
                <a:latin typeface="Calibri" pitchFamily="34" charset="0"/>
                <a:ea typeface="Calibri" pitchFamily="34" charset="-122"/>
                <a:cs typeface="Calibri" pitchFamily="34" charset="-120"/>
              </a:rPr>
              <a:t>Fruta de exportación, viñedos y hortalizas bajo una sequía de más de una década.</a:t>
            </a:r>
            <a:endParaRPr lang="en-US" sz="1450" dirty="0"/>
          </a:p>
          <a:p>
            <a:pPr algn="l" indent="0" marL="0">
              <a:lnSpc>
                <a:spcPct val="128000"/>
              </a:lnSpc>
              <a:buNone/>
            </a:pPr>
            <a:r>
              <a:rPr lang="en-US" sz="1450" dirty="0">
                <a:solidFill>
                  <a:srgbClr val="FFFFFF"/>
                </a:solidFill>
                <a:latin typeface="Calibri" pitchFamily="34" charset="0"/>
                <a:ea typeface="Calibri" pitchFamily="34" charset="-122"/>
                <a:cs typeface="Calibri" pitchFamily="34" charset="-120"/>
              </a:rPr>
              <a:t>Lo que cambia la hidrorretención en una agricultura de contraestación.</a:t>
            </a:r>
            <a:endParaRPr lang="en-US" sz="1450" dirty="0"/>
          </a:p>
        </p:txBody>
      </p:sp>
      <p:sp>
        <p:nvSpPr>
          <p:cNvPr id="12" name="Text 7"/>
          <p:cNvSpPr txBox="1"/>
          <p:nvPr/>
        </p:nvSpPr>
        <p:spPr>
          <a:xfrm>
            <a:off x="658368" y="4892040"/>
            <a:ext cx="4956048" cy="347472"/>
          </a:xfrm>
          <a:prstGeom prst="rect">
            <a:avLst/>
          </a:prstGeom>
          <a:noFill/>
          <a:ln/>
        </p:spPr>
        <p:txBody>
          <a:bodyPr wrap="square" lIns="0" tIns="0" rIns="0" bIns="0" rtlCol="0" anchor="ctr"/>
          <a:lstStyle/>
          <a:p>
            <a:pPr algn="l" indent="0" marL="0">
              <a:buNone/>
            </a:pPr>
            <a:r>
              <a:rPr lang="en-US" sz="1100" b="1" dirty="0">
                <a:solidFill>
                  <a:srgbClr val="8BC34A"/>
                </a:solidFill>
                <a:latin typeface="Calibri" pitchFamily="34" charset="0"/>
                <a:ea typeface="Calibri" pitchFamily="34" charset="-122"/>
                <a:cs typeface="Calibri" pitchFamily="34" charset="-120"/>
              </a:rPr>
              <a:t>ECOSORB® · ECOFERT® · NAPEMA® · PAULOWNIA</a:t>
            </a:r>
            <a:endParaRPr lang="en-US" sz="1100" dirty="0"/>
          </a:p>
        </p:txBody>
      </p:sp>
      <p:sp>
        <p:nvSpPr>
          <p:cNvPr id="13" name="Text 8"/>
          <p:cNvSpPr txBox="1"/>
          <p:nvPr/>
        </p:nvSpPr>
        <p:spPr>
          <a:xfrm>
            <a:off x="658368" y="6053328"/>
            <a:ext cx="4956048" cy="310896"/>
          </a:xfrm>
          <a:prstGeom prst="rect">
            <a:avLst/>
          </a:prstGeom>
          <a:noFill/>
          <a:ln/>
        </p:spPr>
        <p:txBody>
          <a:bodyPr wrap="square" lIns="0" tIns="0" rIns="0" bIns="0" rtlCol="0" anchor="ctr"/>
          <a:lstStyle/>
          <a:p>
            <a:pPr algn="l" indent="0" marL="0">
              <a:buNone/>
            </a:pPr>
            <a:r>
              <a:rPr lang="en-US" sz="850" dirty="0">
                <a:solidFill>
                  <a:srgbClr val="9A9A9A"/>
                </a:solidFill>
                <a:latin typeface="Calibri" pitchFamily="34" charset="0"/>
                <a:ea typeface="Calibri" pitchFamily="34" charset="-122"/>
                <a:cs typeface="Calibri" pitchFamily="34" charset="-120"/>
              </a:rPr>
              <a:t>Septiembre de 2026 · Documento confidencial · Para uso exclusivo del destinatario</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EL MERCADO EN RESUMEN</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Una agricultura exportadora en un país largo y seco</a:t>
            </a:r>
            <a:endParaRPr lang="en-US" sz="3000" dirty="0"/>
          </a:p>
        </p:txBody>
      </p:sp>
      <p:sp>
        <p:nvSpPr>
          <p:cNvPr id="4" name="Shape 2"/>
          <p:cNvSpPr/>
          <p:nvPr/>
        </p:nvSpPr>
        <p:spPr>
          <a:xfrm>
            <a:off x="594360" y="1874520"/>
            <a:ext cx="2545004" cy="2514600"/>
          </a:xfrm>
          <a:prstGeom prst="roundRect">
            <a:avLst>
              <a:gd name="adj" fmla="val 3636"/>
            </a:avLst>
          </a:prstGeom>
          <a:solidFill>
            <a:srgbClr val="F5EFF1"/>
          </a:solidFill>
          <a:ln w="9525">
            <a:solidFill>
              <a:srgbClr val="E5D9DE"/>
            </a:solidFill>
            <a:prstDash val="solid"/>
          </a:ln>
        </p:spPr>
      </p:sp>
      <p:sp>
        <p:nvSpPr>
          <p:cNvPr id="5" name="Text 3"/>
          <p:cNvSpPr txBox="1"/>
          <p:nvPr/>
        </p:nvSpPr>
        <p:spPr>
          <a:xfrm>
            <a:off x="777240" y="2148840"/>
            <a:ext cx="2179244" cy="960120"/>
          </a:xfrm>
          <a:prstGeom prst="rect">
            <a:avLst/>
          </a:prstGeom>
          <a:noFill/>
          <a:ln/>
        </p:spPr>
        <p:txBody>
          <a:bodyPr wrap="square" lIns="0" tIns="0" rIns="0" bIns="0" rtlCol="0" anchor="ctr"/>
          <a:lstStyle/>
          <a:p>
            <a:pPr algn="ctr" indent="0" marL="0">
              <a:buNone/>
            </a:pPr>
            <a:r>
              <a:rPr lang="en-US" sz="3800" b="1" dirty="0">
                <a:solidFill>
                  <a:srgbClr val="6B2A44"/>
                </a:solidFill>
                <a:latin typeface="Cambria" pitchFamily="34" charset="0"/>
                <a:ea typeface="Cambria" pitchFamily="34" charset="-122"/>
                <a:cs typeface="Cambria" pitchFamily="34" charset="-120"/>
              </a:rPr>
              <a:t>≈ 3 %</a:t>
            </a:r>
            <a:endParaRPr lang="en-US" sz="3800" dirty="0"/>
          </a:p>
        </p:txBody>
      </p:sp>
      <p:sp>
        <p:nvSpPr>
          <p:cNvPr id="6" name="Text 4"/>
          <p:cNvSpPr txBox="1"/>
          <p:nvPr/>
        </p:nvSpPr>
        <p:spPr>
          <a:xfrm>
            <a:off x="795528"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3F3138"/>
                </a:solidFill>
                <a:latin typeface="Calibri" pitchFamily="34" charset="0"/>
                <a:ea typeface="Calibri" pitchFamily="34" charset="-122"/>
                <a:cs typeface="Calibri" pitchFamily="34" charset="-120"/>
              </a:rPr>
              <a:t>del PIB lo aporta el sector silvoagropecuario</a:t>
            </a:r>
            <a:endParaRPr lang="en-US" sz="1250" dirty="0"/>
          </a:p>
        </p:txBody>
      </p:sp>
      <p:sp>
        <p:nvSpPr>
          <p:cNvPr id="7" name="Shape 5"/>
          <p:cNvSpPr/>
          <p:nvPr/>
        </p:nvSpPr>
        <p:spPr>
          <a:xfrm>
            <a:off x="3413684" y="1874520"/>
            <a:ext cx="2545004" cy="2514600"/>
          </a:xfrm>
          <a:prstGeom prst="roundRect">
            <a:avLst>
              <a:gd name="adj" fmla="val 3636"/>
            </a:avLst>
          </a:prstGeom>
          <a:solidFill>
            <a:srgbClr val="F5EFF1"/>
          </a:solidFill>
          <a:ln w="9525">
            <a:solidFill>
              <a:srgbClr val="E5D9DE"/>
            </a:solidFill>
            <a:prstDash val="solid"/>
          </a:ln>
        </p:spPr>
      </p:sp>
      <p:sp>
        <p:nvSpPr>
          <p:cNvPr id="8" name="Text 6"/>
          <p:cNvSpPr txBox="1"/>
          <p:nvPr/>
        </p:nvSpPr>
        <p:spPr>
          <a:xfrm>
            <a:off x="3596564" y="2148840"/>
            <a:ext cx="2179244" cy="960120"/>
          </a:xfrm>
          <a:prstGeom prst="rect">
            <a:avLst/>
          </a:prstGeom>
          <a:noFill/>
          <a:ln/>
        </p:spPr>
        <p:txBody>
          <a:bodyPr wrap="square" lIns="0" tIns="0" rIns="0" bIns="0" rtlCol="0" anchor="ctr"/>
          <a:lstStyle/>
          <a:p>
            <a:pPr algn="ctr" indent="0" marL="0">
              <a:buNone/>
            </a:pPr>
            <a:r>
              <a:rPr lang="en-US" sz="3000" b="1" dirty="0">
                <a:solidFill>
                  <a:srgbClr val="6B2A44"/>
                </a:solidFill>
                <a:latin typeface="Cambria" pitchFamily="34" charset="0"/>
                <a:ea typeface="Cambria" pitchFamily="34" charset="-122"/>
                <a:cs typeface="Cambria" pitchFamily="34" charset="-120"/>
              </a:rPr>
              <a:t>≈ 1,1 M ha</a:t>
            </a:r>
            <a:endParaRPr lang="en-US" sz="3000" dirty="0"/>
          </a:p>
        </p:txBody>
      </p:sp>
      <p:sp>
        <p:nvSpPr>
          <p:cNvPr id="9" name="Text 7"/>
          <p:cNvSpPr txBox="1"/>
          <p:nvPr/>
        </p:nvSpPr>
        <p:spPr>
          <a:xfrm>
            <a:off x="3614852"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3F3138"/>
                </a:solidFill>
                <a:latin typeface="Calibri" pitchFamily="34" charset="0"/>
                <a:ea typeface="Calibri" pitchFamily="34" charset="-122"/>
                <a:cs typeface="Calibri" pitchFamily="34" charset="-120"/>
              </a:rPr>
              <a:t>de superficie bajo riego, sobre todo en el centro</a:t>
            </a:r>
            <a:endParaRPr lang="en-US" sz="1250" dirty="0"/>
          </a:p>
        </p:txBody>
      </p:sp>
      <p:sp>
        <p:nvSpPr>
          <p:cNvPr id="10" name="Shape 8"/>
          <p:cNvSpPr/>
          <p:nvPr/>
        </p:nvSpPr>
        <p:spPr>
          <a:xfrm>
            <a:off x="6233008" y="1874520"/>
            <a:ext cx="2545004" cy="2514600"/>
          </a:xfrm>
          <a:prstGeom prst="roundRect">
            <a:avLst>
              <a:gd name="adj" fmla="val 3636"/>
            </a:avLst>
          </a:prstGeom>
          <a:solidFill>
            <a:srgbClr val="F5EFF1"/>
          </a:solidFill>
          <a:ln w="9525">
            <a:solidFill>
              <a:srgbClr val="E5D9DE"/>
            </a:solidFill>
            <a:prstDash val="solid"/>
          </a:ln>
        </p:spPr>
      </p:sp>
      <p:sp>
        <p:nvSpPr>
          <p:cNvPr id="11" name="Text 9"/>
          <p:cNvSpPr txBox="1"/>
          <p:nvPr/>
        </p:nvSpPr>
        <p:spPr>
          <a:xfrm>
            <a:off x="6415888" y="2148840"/>
            <a:ext cx="2179244" cy="960120"/>
          </a:xfrm>
          <a:prstGeom prst="rect">
            <a:avLst/>
          </a:prstGeom>
          <a:noFill/>
          <a:ln/>
        </p:spPr>
        <p:txBody>
          <a:bodyPr wrap="square" lIns="0" tIns="0" rIns="0" bIns="0" rtlCol="0" anchor="ctr"/>
          <a:lstStyle/>
          <a:p>
            <a:pPr algn="ctr" indent="0" marL="0">
              <a:buNone/>
            </a:pPr>
            <a:r>
              <a:rPr lang="en-US" sz="3000" b="1" dirty="0">
                <a:solidFill>
                  <a:srgbClr val="6B2A44"/>
                </a:solidFill>
                <a:latin typeface="Cambria" pitchFamily="34" charset="0"/>
                <a:ea typeface="Cambria" pitchFamily="34" charset="-122"/>
                <a:cs typeface="Cambria" pitchFamily="34" charset="-120"/>
              </a:rPr>
              <a:t>≈ 20 000 M</a:t>
            </a:r>
            <a:endParaRPr lang="en-US" sz="3000" dirty="0"/>
          </a:p>
        </p:txBody>
      </p:sp>
      <p:sp>
        <p:nvSpPr>
          <p:cNvPr id="12" name="Text 10"/>
          <p:cNvSpPr txBox="1"/>
          <p:nvPr/>
        </p:nvSpPr>
        <p:spPr>
          <a:xfrm>
            <a:off x="6434176"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3F3138"/>
                </a:solidFill>
                <a:latin typeface="Calibri" pitchFamily="34" charset="0"/>
                <a:ea typeface="Calibri" pitchFamily="34" charset="-122"/>
                <a:cs typeface="Calibri" pitchFamily="34" charset="-120"/>
              </a:rPr>
              <a:t>de dólares en exportaciones silvoagropecuarias al año</a:t>
            </a:r>
            <a:endParaRPr lang="en-US" sz="1250" dirty="0"/>
          </a:p>
        </p:txBody>
      </p:sp>
      <p:sp>
        <p:nvSpPr>
          <p:cNvPr id="13" name="Shape 11"/>
          <p:cNvSpPr/>
          <p:nvPr/>
        </p:nvSpPr>
        <p:spPr>
          <a:xfrm>
            <a:off x="9052331" y="1874520"/>
            <a:ext cx="2545004" cy="2514600"/>
          </a:xfrm>
          <a:prstGeom prst="roundRect">
            <a:avLst>
              <a:gd name="adj" fmla="val 3636"/>
            </a:avLst>
          </a:prstGeom>
          <a:solidFill>
            <a:srgbClr val="F5EFF1"/>
          </a:solidFill>
          <a:ln w="9525">
            <a:solidFill>
              <a:srgbClr val="E5D9DE"/>
            </a:solidFill>
            <a:prstDash val="solid"/>
          </a:ln>
        </p:spPr>
      </p:sp>
      <p:sp>
        <p:nvSpPr>
          <p:cNvPr id="14" name="Text 12"/>
          <p:cNvSpPr txBox="1"/>
          <p:nvPr/>
        </p:nvSpPr>
        <p:spPr>
          <a:xfrm>
            <a:off x="9235211" y="2148840"/>
            <a:ext cx="2179244" cy="960120"/>
          </a:xfrm>
          <a:prstGeom prst="rect">
            <a:avLst/>
          </a:prstGeom>
          <a:noFill/>
          <a:ln/>
        </p:spPr>
        <p:txBody>
          <a:bodyPr wrap="square" lIns="0" tIns="0" rIns="0" bIns="0" rtlCol="0" anchor="ctr"/>
          <a:lstStyle/>
          <a:p>
            <a:pPr algn="ctr" indent="0" marL="0">
              <a:buNone/>
            </a:pPr>
            <a:r>
              <a:rPr lang="en-US" sz="3800" b="1" dirty="0">
                <a:solidFill>
                  <a:srgbClr val="6B2A44"/>
                </a:solidFill>
                <a:latin typeface="Cambria" pitchFamily="34" charset="0"/>
                <a:ea typeface="Cambria" pitchFamily="34" charset="-122"/>
                <a:cs typeface="Cambria" pitchFamily="34" charset="-120"/>
              </a:rPr>
              <a:t>≈ 9 %</a:t>
            </a:r>
            <a:endParaRPr lang="en-US" sz="3800" dirty="0"/>
          </a:p>
        </p:txBody>
      </p:sp>
      <p:sp>
        <p:nvSpPr>
          <p:cNvPr id="15" name="Text 13"/>
          <p:cNvSpPr txBox="1"/>
          <p:nvPr/>
        </p:nvSpPr>
        <p:spPr>
          <a:xfrm>
            <a:off x="9253499"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3F3138"/>
                </a:solidFill>
                <a:latin typeface="Calibri" pitchFamily="34" charset="0"/>
                <a:ea typeface="Calibri" pitchFamily="34" charset="-122"/>
                <a:cs typeface="Calibri" pitchFamily="34" charset="-120"/>
              </a:rPr>
              <a:t>del empleo nacional depende del sector</a:t>
            </a:r>
            <a:endParaRPr lang="en-US" sz="1250" dirty="0"/>
          </a:p>
        </p:txBody>
      </p:sp>
      <p:sp>
        <p:nvSpPr>
          <p:cNvPr id="16" name="Text 14"/>
          <p:cNvSpPr txBox="1"/>
          <p:nvPr/>
        </p:nvSpPr>
        <p:spPr>
          <a:xfrm>
            <a:off x="594360" y="4709160"/>
            <a:ext cx="11002975" cy="1097280"/>
          </a:xfrm>
          <a:prstGeom prst="rect">
            <a:avLst/>
          </a:prstGeom>
          <a:noFill/>
          <a:ln/>
        </p:spPr>
        <p:txBody>
          <a:bodyPr wrap="square" lIns="0" tIns="0" rIns="0" bIns="0" rtlCol="0" anchor="t"/>
          <a:lstStyle/>
          <a:p>
            <a:pPr algn="l" indent="0" marL="0">
              <a:lnSpc>
                <a:spcPct val="130000"/>
              </a:lnSpc>
              <a:buNone/>
            </a:pPr>
            <a:r>
              <a:rPr lang="en-US" sz="1350" dirty="0">
                <a:solidFill>
                  <a:srgbClr val="3F3138"/>
                </a:solidFill>
                <a:latin typeface="Calibri" pitchFamily="34" charset="0"/>
                <a:ea typeface="Calibri" pitchFamily="34" charset="-122"/>
                <a:cs typeface="Calibri" pitchFamily="34" charset="-120"/>
              </a:rPr>
              <a:t>La agricultura chilena vive de la contraestación: exporta fruta al hemisferio norte cuando allá es invierno, con más de 25 acuerdos comerciales vigentes. Esa ventaja comercial descansa sobre un recurso hídrico que lleva más de una década por debajo de lo normal en la zona central.</a:t>
            </a:r>
            <a:endParaRPr lang="en-US" sz="1350" dirty="0"/>
          </a:p>
        </p:txBody>
      </p:sp>
      <p:sp>
        <p:nvSpPr>
          <p:cNvPr id="17" name="Text 15"/>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Estudio de mercado Chile</a:t>
            </a:r>
            <a:endParaRPr lang="en-US" sz="950" dirty="0"/>
          </a:p>
        </p:txBody>
      </p:sp>
      <p:sp>
        <p:nvSpPr>
          <p:cNvPr id="18" name="Text 16"/>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1</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LA RESTRICCIÓN</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Más de una década de megasequía en la zona central</a:t>
            </a:r>
            <a:endParaRPr lang="en-US" sz="3000" dirty="0"/>
          </a:p>
        </p:txBody>
      </p:sp>
      <p:pic>
        <p:nvPicPr>
          <p:cNvPr id="4" name="Image 0" descr="preencoded.png">    </p:cNvPr>
          <p:cNvPicPr>
            <a:picLocks noChangeAspect="1"/>
          </p:cNvPicPr>
          <p:nvPr/>
        </p:nvPicPr>
        <p:blipFill>
          <a:blip r:embed="rId1"/>
          <a:stretch>
            <a:fillRect/>
          </a:stretch>
        </p:blipFill>
        <p:spPr>
          <a:xfrm>
            <a:off x="6522415" y="1783080"/>
            <a:ext cx="5074920" cy="3794760"/>
          </a:xfrm>
          <a:prstGeom prst="rect">
            <a:avLst/>
          </a:prstGeom>
        </p:spPr>
      </p:pic>
      <p:sp>
        <p:nvSpPr>
          <p:cNvPr id="5" name="Text 2"/>
          <p:cNvSpPr txBox="1"/>
          <p:nvPr/>
        </p:nvSpPr>
        <p:spPr>
          <a:xfrm>
            <a:off x="6522415" y="5687568"/>
            <a:ext cx="5074920" cy="457200"/>
          </a:xfrm>
          <a:prstGeom prst="rect">
            <a:avLst/>
          </a:prstGeom>
          <a:noFill/>
          <a:ln/>
        </p:spPr>
        <p:txBody>
          <a:bodyPr wrap="square" lIns="0" tIns="0" rIns="0" bIns="0" rtlCol="0" anchor="ctr"/>
          <a:lstStyle/>
          <a:p>
            <a:pPr algn="r" indent="0" marL="0">
              <a:buNone/>
            </a:pPr>
            <a:r>
              <a:rPr lang="en-US" sz="1000" i="1" dirty="0">
                <a:solidFill>
                  <a:srgbClr val="7C6B73"/>
                </a:solidFill>
                <a:latin typeface="Calibri" pitchFamily="34" charset="0"/>
                <a:ea typeface="Calibri" pitchFamily="34" charset="-122"/>
                <a:cs typeface="Calibri" pitchFamily="34" charset="-120"/>
              </a:rPr>
              <a:t>Parronal bajo riego, valle central</a:t>
            </a:r>
            <a:endParaRPr lang="en-US" sz="1000" dirty="0"/>
          </a:p>
        </p:txBody>
      </p:sp>
      <p:sp>
        <p:nvSpPr>
          <p:cNvPr id="6" name="Text 3"/>
          <p:cNvSpPr txBox="1"/>
          <p:nvPr/>
        </p:nvSpPr>
        <p:spPr>
          <a:xfrm>
            <a:off x="594360" y="1783080"/>
            <a:ext cx="5379415" cy="4251960"/>
          </a:xfrm>
          <a:prstGeom prst="rect">
            <a:avLst/>
          </a:prstGeom>
          <a:noFill/>
          <a:ln/>
        </p:spPr>
        <p:txBody>
          <a:bodyPr wrap="square" lIns="0" tIns="0" rIns="0" bIns="0" rtlCol="0" anchor="t"/>
          <a:lstStyle/>
          <a:p>
            <a:pPr algn="l" marL="342900" indent="-342900">
              <a:lnSpc>
                <a:spcPct val="122000"/>
              </a:lnSpc>
              <a:spcAft>
                <a:spcPts val="1100"/>
              </a:spcAft>
              <a:buSzPct val="100000"/>
              <a:buChar char="•"/>
            </a:pPr>
            <a:r>
              <a:rPr lang="en-US" sz="1400" dirty="0">
                <a:solidFill>
                  <a:srgbClr val="3F3138"/>
                </a:solidFill>
                <a:latin typeface="Calibri" pitchFamily="34" charset="0"/>
                <a:ea typeface="Calibri" pitchFamily="34" charset="-122"/>
                <a:cs typeface="Calibri" pitchFamily="34" charset="-120"/>
              </a:rPr>
              <a:t>Desde 2010 la zona central acumula déficits de precipitación del orden de 20 a 40 % año tras año: es el episodio seco más prolongado del que se tenga registro en el país.</a:t>
            </a:r>
            <a:endParaRPr lang="en-US" sz="1400" dirty="0"/>
          </a:p>
          <a:p>
            <a:pPr algn="l" marL="342900" indent="-342900">
              <a:lnSpc>
                <a:spcPct val="122000"/>
              </a:lnSpc>
              <a:spcAft>
                <a:spcPts val="1100"/>
              </a:spcAft>
              <a:buSzPct val="100000"/>
              <a:buChar char="•"/>
            </a:pPr>
            <a:r>
              <a:rPr lang="en-US" sz="1400" dirty="0">
                <a:solidFill>
                  <a:srgbClr val="3F3138"/>
                </a:solidFill>
                <a:latin typeface="Calibri" pitchFamily="34" charset="0"/>
                <a:ea typeface="Calibri" pitchFamily="34" charset="-122"/>
                <a:cs typeface="Calibri" pitchFamily="34" charset="-120"/>
              </a:rPr>
              <a:t>La agricultura concentra cerca del 72 % del agua de uso consuntivo: cualquier tensión sobre el recurso se traduce primero en restricciones de riego.</a:t>
            </a:r>
            <a:endParaRPr lang="en-US" sz="1400" dirty="0"/>
          </a:p>
          <a:p>
            <a:pPr algn="l" marL="342900" indent="-342900">
              <a:lnSpc>
                <a:spcPct val="122000"/>
              </a:lnSpc>
              <a:spcAft>
                <a:spcPts val="1100"/>
              </a:spcAft>
              <a:buSzPct val="100000"/>
              <a:buChar char="•"/>
            </a:pPr>
            <a:r>
              <a:rPr lang="en-US" sz="1400" dirty="0">
                <a:solidFill>
                  <a:srgbClr val="3F3138"/>
                </a:solidFill>
                <a:latin typeface="Calibri" pitchFamily="34" charset="0"/>
                <a:ea typeface="Calibri" pitchFamily="34" charset="-122"/>
                <a:cs typeface="Calibri" pitchFamily="34" charset="-120"/>
              </a:rPr>
              <a:t>El gradiente de lluvia es extremo: menos de 10 mm al año en el desierto de Atacama, del orden de 300 mm en Santiago y más de 1 500 mm en la zona lluviosa del sur.</a:t>
            </a:r>
            <a:endParaRPr lang="en-US" sz="1400" dirty="0"/>
          </a:p>
          <a:p>
            <a:pPr algn="l" marL="342900" indent="-342900">
              <a:lnSpc>
                <a:spcPct val="122000"/>
              </a:lnSpc>
              <a:spcAft>
                <a:spcPts val="1100"/>
              </a:spcAft>
              <a:buSzPct val="100000"/>
              <a:buChar char="•"/>
            </a:pPr>
            <a:r>
              <a:rPr lang="en-US" sz="1400" dirty="0">
                <a:solidFill>
                  <a:srgbClr val="3F3138"/>
                </a:solidFill>
                <a:latin typeface="Calibri" pitchFamily="34" charset="0"/>
                <a:ea typeface="Calibri" pitchFamily="34" charset="-122"/>
                <a:cs typeface="Calibri" pitchFamily="34" charset="-120"/>
              </a:rPr>
              <a:t>Los embalses de Coquimbo y del valle central han operado varias temporadas muy por debajo de su capacidad, y decenas de comunas siguen bajo decreto de escasez hídrica.</a:t>
            </a:r>
            <a:endParaRPr lang="en-US" sz="1400" dirty="0"/>
          </a:p>
          <a:p>
            <a:pPr algn="l" marL="342900" indent="-342900">
              <a:lnSpc>
                <a:spcPct val="122000"/>
              </a:lnSpc>
              <a:spcAft>
                <a:spcPts val="1100"/>
              </a:spcAft>
              <a:buSzPct val="100000"/>
              <a:buChar char="•"/>
            </a:pPr>
            <a:r>
              <a:rPr lang="en-US" sz="1400" dirty="0">
                <a:solidFill>
                  <a:srgbClr val="3F3138"/>
                </a:solidFill>
                <a:latin typeface="Calibri" pitchFamily="34" charset="0"/>
                <a:ea typeface="Calibri" pitchFamily="34" charset="-122"/>
                <a:cs typeface="Calibri" pitchFamily="34" charset="-120"/>
              </a:rPr>
              <a:t>La respuesta pública —embalses, revestimiento de canales, desalación en el norte— actúa sobre la oferta. La hidrorretención actúa sobre la demanda, dentro del predio.</a:t>
            </a:r>
            <a:endParaRPr lang="en-US" sz="1400" dirty="0"/>
          </a:p>
        </p:txBody>
      </p:sp>
      <p:sp>
        <p:nvSpPr>
          <p:cNvPr id="7" name="Text 4"/>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Estudio de mercado Chile</a:t>
            </a:r>
            <a:endParaRPr lang="en-US" sz="950" dirty="0"/>
          </a:p>
        </p:txBody>
      </p:sp>
      <p:sp>
        <p:nvSpPr>
          <p:cNvPr id="8" name="Text 5"/>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SEQUÍA Y ESTRÉS HÍDRICO</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La presión aumenta, pero el riesgo sigue siendo local</a:t>
            </a:r>
            <a:endParaRPr lang="en-US" sz="3000" dirty="0"/>
          </a:p>
        </p:txBody>
      </p:sp>
      <p:graphicFrame>
        <p:nvGraphicFramePr>
          <p:cNvPr id="4" name="Chart 0" descr=""/>
          <p:cNvGraphicFramePr/>
          <p:nvPr/>
        </p:nvGraphicFramePr>
        <p:xfrm>
          <a:off x="594360" y="1783080"/>
          <a:ext cx="73609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83080"/>
            <a:ext cx="3291840" cy="3977640"/>
          </a:xfrm>
          <a:prstGeom prst="roundRect">
            <a:avLst>
              <a:gd name="adj" fmla="val 2778"/>
            </a:avLst>
          </a:prstGeom>
          <a:solidFill>
            <a:srgbClr val="F5EFF1"/>
          </a:solidFill>
          <a:ln w="9525">
            <a:solidFill>
              <a:srgbClr val="E5D9DE"/>
            </a:solidFill>
            <a:prstDash val="solid"/>
          </a:ln>
        </p:spPr>
      </p:sp>
      <p:sp>
        <p:nvSpPr>
          <p:cNvPr id="6" name="Text 3"/>
          <p:cNvSpPr txBox="1"/>
          <p:nvPr/>
        </p:nvSpPr>
        <p:spPr>
          <a:xfrm>
            <a:off x="8503920" y="2011680"/>
            <a:ext cx="2834640" cy="457200"/>
          </a:xfrm>
          <a:prstGeom prst="rect">
            <a:avLst/>
          </a:prstGeom>
          <a:noFill/>
          <a:ln/>
        </p:spPr>
        <p:txBody>
          <a:bodyPr wrap="square" lIns="0" tIns="0" rIns="0" bIns="0" rtlCol="0" anchor="ctr"/>
          <a:lstStyle/>
          <a:p>
            <a:pPr algn="l" indent="0" marL="0">
              <a:buNone/>
            </a:pPr>
            <a:r>
              <a:rPr lang="en-US" sz="1300" b="1" dirty="0">
                <a:solidFill>
                  <a:srgbClr val="6B2A44"/>
                </a:solidFill>
                <a:latin typeface="Cambria" pitchFamily="34" charset="0"/>
                <a:ea typeface="Cambria" pitchFamily="34" charset="-122"/>
                <a:cs typeface="Cambria" pitchFamily="34" charset="-120"/>
              </a:rPr>
              <a:t>Dos indicadores, no un atajo</a:t>
            </a:r>
            <a:endParaRPr lang="en-US" sz="1300" dirty="0"/>
          </a:p>
        </p:txBody>
      </p:sp>
      <p:sp>
        <p:nvSpPr>
          <p:cNvPr id="7" name="Text 4"/>
          <p:cNvSpPr txBox="1"/>
          <p:nvPr/>
        </p:nvSpPr>
        <p:spPr>
          <a:xfrm>
            <a:off x="8503920" y="2560320"/>
            <a:ext cx="2834640" cy="3017520"/>
          </a:xfrm>
          <a:prstGeom prst="rect">
            <a:avLst/>
          </a:prstGeom>
          <a:noFill/>
          <a:ln/>
        </p:spPr>
        <p:txBody>
          <a:bodyPr wrap="square" lIns="0" tIns="0" rIns="0" bIns="0" rtlCol="0" anchor="t"/>
          <a:lstStyle/>
          <a:p>
            <a:pPr algn="l" indent="0" marL="0">
              <a:lnSpc>
                <a:spcPct val="125000"/>
              </a:lnSpc>
              <a:buNone/>
            </a:pPr>
            <a:r>
              <a:rPr lang="en-US" sz="1200" dirty="0">
                <a:solidFill>
                  <a:srgbClr val="3F3138"/>
                </a:solidFill>
                <a:latin typeface="Calibri" pitchFamily="34" charset="0"/>
                <a:ea typeface="Calibri" pitchFamily="34" charset="-122"/>
                <a:cs typeface="Calibri" pitchFamily="34" charset="-120"/>
              </a:rPr>
              <a:t>A escala mundial, el número y la duración de las sequías han aumentado un 29 % desde 2000 frente a las dos décadas anteriores.</a:t>
            </a:r>
            <a:endParaRPr lang="en-US" sz="1200" dirty="0"/>
          </a:p>
          <a:p>
            <a:pPr algn="l" indent="0" marL="0">
              <a:lnSpc>
                <a:spcPct val="125000"/>
              </a:lnSpc>
              <a:buNone/>
            </a:pPr>
            <a:endParaRPr lang="en-US" sz="1200" dirty="0"/>
          </a:p>
          <a:p>
            <a:pPr algn="l" indent="0" marL="0">
              <a:lnSpc>
                <a:spcPct val="125000"/>
              </a:lnSpc>
              <a:buNone/>
            </a:pPr>
            <a:r>
              <a:rPr lang="en-US" sz="1200" dirty="0">
                <a:solidFill>
                  <a:srgbClr val="3F3138"/>
                </a:solidFill>
                <a:latin typeface="Calibri" pitchFamily="34" charset="0"/>
                <a:ea typeface="Calibri" pitchFamily="34" charset="-122"/>
                <a:cs typeface="Calibri" pitchFamily="34" charset="-120"/>
              </a:rPr>
              <a:t>El estrés hídrico mide otra cosa: las extracciones respecto a los recursos renovables disponibles tras las necesidades ambientales. Esta señal mundial no es una previsión nacional; debe leerse con la lluvia, los acuíferos, las estaciones y los usos locales.</a:t>
            </a:r>
            <a:endParaRPr lang="en-US" sz="1200" dirty="0"/>
          </a:p>
        </p:txBody>
      </p:sp>
      <p:sp>
        <p:nvSpPr>
          <p:cNvPr id="8" name="Text 5"/>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Estudio de mercado Chile</a:t>
            </a:r>
            <a:endParaRPr lang="en-US" sz="950" dirty="0"/>
          </a:p>
        </p:txBody>
      </p:sp>
      <p:sp>
        <p:nvSpPr>
          <p:cNvPr id="9" name="Text 6"/>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ADÓNDE VA EL AGUA</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El riego concentra casi tres cuartos de la extracción</a:t>
            </a:r>
            <a:endParaRPr lang="en-US" sz="3000" dirty="0"/>
          </a:p>
        </p:txBody>
      </p:sp>
      <p:graphicFrame>
        <p:nvGraphicFramePr>
          <p:cNvPr id="4" name="Chart 0" descr=""/>
          <p:cNvGraphicFramePr/>
          <p:nvPr/>
        </p:nvGraphicFramePr>
        <p:xfrm>
          <a:off x="594360" y="1783080"/>
          <a:ext cx="73609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83080"/>
            <a:ext cx="3291840" cy="3977640"/>
          </a:xfrm>
          <a:prstGeom prst="roundRect">
            <a:avLst>
              <a:gd name="adj" fmla="val 2778"/>
            </a:avLst>
          </a:prstGeom>
          <a:solidFill>
            <a:srgbClr val="F5EFF1"/>
          </a:solidFill>
          <a:ln w="9525">
            <a:solidFill>
              <a:srgbClr val="E5D9DE"/>
            </a:solidFill>
            <a:prstDash val="solid"/>
          </a:ln>
        </p:spPr>
      </p:sp>
      <p:sp>
        <p:nvSpPr>
          <p:cNvPr id="6" name="Text 3"/>
          <p:cNvSpPr txBox="1"/>
          <p:nvPr/>
        </p:nvSpPr>
        <p:spPr>
          <a:xfrm>
            <a:off x="8503920" y="2011680"/>
            <a:ext cx="2834640" cy="457200"/>
          </a:xfrm>
          <a:prstGeom prst="rect">
            <a:avLst/>
          </a:prstGeom>
          <a:noFill/>
          <a:ln/>
        </p:spPr>
        <p:txBody>
          <a:bodyPr wrap="square" lIns="0" tIns="0" rIns="0" bIns="0" rtlCol="0" anchor="ctr"/>
          <a:lstStyle/>
          <a:p>
            <a:pPr algn="l" indent="0" marL="0">
              <a:buNone/>
            </a:pPr>
            <a:r>
              <a:rPr lang="en-US" sz="1300" b="1" dirty="0">
                <a:solidFill>
                  <a:srgbClr val="6B2A44"/>
                </a:solidFill>
                <a:latin typeface="Cambria" pitchFamily="34" charset="0"/>
                <a:ea typeface="Cambria" pitchFamily="34" charset="-122"/>
                <a:cs typeface="Cambria" pitchFamily="34" charset="-120"/>
              </a:rPr>
              <a:t>Lo que implica</a:t>
            </a:r>
            <a:endParaRPr lang="en-US" sz="1300" dirty="0"/>
          </a:p>
        </p:txBody>
      </p:sp>
      <p:sp>
        <p:nvSpPr>
          <p:cNvPr id="7" name="Text 4"/>
          <p:cNvSpPr txBox="1"/>
          <p:nvPr/>
        </p:nvSpPr>
        <p:spPr>
          <a:xfrm>
            <a:off x="8503920" y="2560320"/>
            <a:ext cx="2834640" cy="3017520"/>
          </a:xfrm>
          <a:prstGeom prst="rect">
            <a:avLst/>
          </a:prstGeom>
          <a:noFill/>
          <a:ln/>
        </p:spPr>
        <p:txBody>
          <a:bodyPr wrap="square" lIns="0" tIns="0" rIns="0" bIns="0" rtlCol="0" anchor="t"/>
          <a:lstStyle/>
          <a:p>
            <a:pPr algn="l" indent="0" marL="0">
              <a:lnSpc>
                <a:spcPct val="125000"/>
              </a:lnSpc>
              <a:buNone/>
            </a:pPr>
            <a:r>
              <a:rPr lang="en-US" sz="1200" dirty="0">
                <a:solidFill>
                  <a:srgbClr val="3F3138"/>
                </a:solidFill>
                <a:latin typeface="Calibri" pitchFamily="34" charset="0"/>
                <a:ea typeface="Calibri" pitchFamily="34" charset="-122"/>
                <a:cs typeface="Calibri" pitchFamily="34" charset="-120"/>
              </a:rPr>
              <a:t>Con casi tres cuartos del uso consuntivo, el riego es el único frente donde un ahorro moderado mueve volúmenes grandes: bajar un 10 % el consumo agrícola equivale a cerca de dos tercios de toda el agua potable del país.</a:t>
            </a:r>
            <a:endParaRPr lang="en-US" sz="1200" dirty="0"/>
          </a:p>
          <a:p>
            <a:pPr algn="l" indent="0" marL="0">
              <a:lnSpc>
                <a:spcPct val="125000"/>
              </a:lnSpc>
              <a:buNone/>
            </a:pPr>
            <a:endParaRPr lang="en-US" sz="1200" dirty="0"/>
          </a:p>
          <a:p>
            <a:pPr algn="l" indent="0" marL="0">
              <a:lnSpc>
                <a:spcPct val="125000"/>
              </a:lnSpc>
              <a:buNone/>
            </a:pPr>
            <a:r>
              <a:rPr lang="en-US" sz="1200" dirty="0">
                <a:solidFill>
                  <a:srgbClr val="3F3138"/>
                </a:solidFill>
                <a:latin typeface="Calibri" pitchFamily="34" charset="0"/>
                <a:ea typeface="Calibri" pitchFamily="34" charset="-122"/>
                <a:cs typeface="Calibri" pitchFamily="34" charset="-120"/>
              </a:rPr>
              <a:t>Por eso el esfuerzo se concentra en el predio, y no en los demás usos.</a:t>
            </a:r>
            <a:endParaRPr lang="en-US" sz="1200" dirty="0"/>
          </a:p>
        </p:txBody>
      </p:sp>
      <p:sp>
        <p:nvSpPr>
          <p:cNvPr id="8" name="Text 5"/>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Estudio de mercado Chile</a:t>
            </a:r>
            <a:endParaRPr lang="en-US" sz="950" dirty="0"/>
          </a:p>
        </p:txBody>
      </p:sp>
      <p:sp>
        <p:nvSpPr>
          <p:cNvPr id="9" name="Text 6"/>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ECONOMÍA Y SEGURIDAD ALIMENTARIA</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Un exportador de fruta fresca hacia el mundo entero</a:t>
            </a:r>
            <a:endParaRPr lang="en-US" sz="3000" dirty="0"/>
          </a:p>
        </p:txBody>
      </p:sp>
      <p:sp>
        <p:nvSpPr>
          <p:cNvPr id="4" name="Shape 2"/>
          <p:cNvSpPr/>
          <p:nvPr/>
        </p:nvSpPr>
        <p:spPr>
          <a:xfrm>
            <a:off x="594360" y="1874520"/>
            <a:ext cx="3484778" cy="2514600"/>
          </a:xfrm>
          <a:prstGeom prst="roundRect">
            <a:avLst>
              <a:gd name="adj" fmla="val 3636"/>
            </a:avLst>
          </a:prstGeom>
          <a:solidFill>
            <a:srgbClr val="F5EFF1"/>
          </a:solidFill>
          <a:ln w="9525">
            <a:solidFill>
              <a:srgbClr val="E5D9DE"/>
            </a:solidFill>
            <a:prstDash val="solid"/>
          </a:ln>
        </p:spPr>
      </p:sp>
      <p:sp>
        <p:nvSpPr>
          <p:cNvPr id="5" name="Text 3"/>
          <p:cNvSpPr txBox="1"/>
          <p:nvPr/>
        </p:nvSpPr>
        <p:spPr>
          <a:xfrm>
            <a:off x="777240" y="2148840"/>
            <a:ext cx="3119018" cy="960120"/>
          </a:xfrm>
          <a:prstGeom prst="rect">
            <a:avLst/>
          </a:prstGeom>
          <a:noFill/>
          <a:ln/>
        </p:spPr>
        <p:txBody>
          <a:bodyPr wrap="square" lIns="0" tIns="0" rIns="0" bIns="0" rtlCol="0" anchor="ctr"/>
          <a:lstStyle/>
          <a:p>
            <a:pPr algn="ctr" indent="0" marL="0">
              <a:buNone/>
            </a:pPr>
            <a:r>
              <a:rPr lang="en-US" sz="3800" b="1" dirty="0">
                <a:solidFill>
                  <a:srgbClr val="6B2A44"/>
                </a:solidFill>
                <a:latin typeface="Cambria" pitchFamily="34" charset="0"/>
                <a:ea typeface="Cambria" pitchFamily="34" charset="-122"/>
                <a:cs typeface="Cambria" pitchFamily="34" charset="-120"/>
              </a:rPr>
              <a:t>N.º 1</a:t>
            </a:r>
            <a:endParaRPr lang="en-US" sz="3800" dirty="0"/>
          </a:p>
        </p:txBody>
      </p:sp>
      <p:sp>
        <p:nvSpPr>
          <p:cNvPr id="6" name="Text 4"/>
          <p:cNvSpPr txBox="1"/>
          <p:nvPr/>
        </p:nvSpPr>
        <p:spPr>
          <a:xfrm>
            <a:off x="795528" y="3154680"/>
            <a:ext cx="3082442" cy="1051560"/>
          </a:xfrm>
          <a:prstGeom prst="rect">
            <a:avLst/>
          </a:prstGeom>
          <a:noFill/>
          <a:ln/>
        </p:spPr>
        <p:txBody>
          <a:bodyPr wrap="square" lIns="0" tIns="0" rIns="0" bIns="0" rtlCol="0" anchor="t"/>
          <a:lstStyle/>
          <a:p>
            <a:pPr algn="ctr" indent="0" marL="0">
              <a:lnSpc>
                <a:spcPct val="118000"/>
              </a:lnSpc>
              <a:buNone/>
            </a:pPr>
            <a:r>
              <a:rPr lang="en-US" sz="1250" dirty="0">
                <a:solidFill>
                  <a:srgbClr val="3F3138"/>
                </a:solidFill>
                <a:latin typeface="Calibri" pitchFamily="34" charset="0"/>
                <a:ea typeface="Calibri" pitchFamily="34" charset="-122"/>
                <a:cs typeface="Calibri" pitchFamily="34" charset="-120"/>
              </a:rPr>
              <a:t>exportador mundial de cerezas frescas</a:t>
            </a:r>
            <a:endParaRPr lang="en-US" sz="1250" dirty="0"/>
          </a:p>
        </p:txBody>
      </p:sp>
      <p:sp>
        <p:nvSpPr>
          <p:cNvPr id="7" name="Shape 5"/>
          <p:cNvSpPr/>
          <p:nvPr/>
        </p:nvSpPr>
        <p:spPr>
          <a:xfrm>
            <a:off x="4353458" y="1874520"/>
            <a:ext cx="3484778" cy="2514600"/>
          </a:xfrm>
          <a:prstGeom prst="roundRect">
            <a:avLst>
              <a:gd name="adj" fmla="val 3636"/>
            </a:avLst>
          </a:prstGeom>
          <a:solidFill>
            <a:srgbClr val="F5EFF1"/>
          </a:solidFill>
          <a:ln w="9525">
            <a:solidFill>
              <a:srgbClr val="E5D9DE"/>
            </a:solidFill>
            <a:prstDash val="solid"/>
          </a:ln>
        </p:spPr>
      </p:sp>
      <p:sp>
        <p:nvSpPr>
          <p:cNvPr id="8" name="Text 6"/>
          <p:cNvSpPr txBox="1"/>
          <p:nvPr/>
        </p:nvSpPr>
        <p:spPr>
          <a:xfrm>
            <a:off x="4536338" y="2148840"/>
            <a:ext cx="3119018" cy="960120"/>
          </a:xfrm>
          <a:prstGeom prst="rect">
            <a:avLst/>
          </a:prstGeom>
          <a:noFill/>
          <a:ln/>
        </p:spPr>
        <p:txBody>
          <a:bodyPr wrap="square" lIns="0" tIns="0" rIns="0" bIns="0" rtlCol="0" anchor="ctr"/>
          <a:lstStyle/>
          <a:p>
            <a:pPr algn="ctr" indent="0" marL="0">
              <a:buNone/>
            </a:pPr>
            <a:r>
              <a:rPr lang="en-US" sz="3800" b="1" dirty="0">
                <a:solidFill>
                  <a:srgbClr val="6B2A44"/>
                </a:solidFill>
                <a:latin typeface="Cambria" pitchFamily="34" charset="0"/>
                <a:ea typeface="Cambria" pitchFamily="34" charset="-122"/>
                <a:cs typeface="Cambria" pitchFamily="34" charset="-120"/>
              </a:rPr>
              <a:t>≈ 90 %</a:t>
            </a:r>
            <a:endParaRPr lang="en-US" sz="3800" dirty="0"/>
          </a:p>
        </p:txBody>
      </p:sp>
      <p:sp>
        <p:nvSpPr>
          <p:cNvPr id="9" name="Text 7"/>
          <p:cNvSpPr txBox="1"/>
          <p:nvPr/>
        </p:nvSpPr>
        <p:spPr>
          <a:xfrm>
            <a:off x="4554626" y="3154680"/>
            <a:ext cx="3082442" cy="1051560"/>
          </a:xfrm>
          <a:prstGeom prst="rect">
            <a:avLst/>
          </a:prstGeom>
          <a:noFill/>
          <a:ln/>
        </p:spPr>
        <p:txBody>
          <a:bodyPr wrap="square" lIns="0" tIns="0" rIns="0" bIns="0" rtlCol="0" anchor="t"/>
          <a:lstStyle/>
          <a:p>
            <a:pPr algn="ctr" indent="0" marL="0">
              <a:lnSpc>
                <a:spcPct val="118000"/>
              </a:lnSpc>
              <a:buNone/>
            </a:pPr>
            <a:r>
              <a:rPr lang="en-US" sz="1250" dirty="0">
                <a:solidFill>
                  <a:srgbClr val="3F3138"/>
                </a:solidFill>
                <a:latin typeface="Calibri" pitchFamily="34" charset="0"/>
                <a:ea typeface="Calibri" pitchFamily="34" charset="-122"/>
                <a:cs typeface="Calibri" pitchFamily="34" charset="-120"/>
              </a:rPr>
              <a:t>de las cerezas chilenas exportadas se venden en China</a:t>
            </a:r>
            <a:endParaRPr lang="en-US" sz="1250" dirty="0"/>
          </a:p>
        </p:txBody>
      </p:sp>
      <p:sp>
        <p:nvSpPr>
          <p:cNvPr id="10" name="Shape 8"/>
          <p:cNvSpPr/>
          <p:nvPr/>
        </p:nvSpPr>
        <p:spPr>
          <a:xfrm>
            <a:off x="8112557" y="1874520"/>
            <a:ext cx="3484778" cy="2514600"/>
          </a:xfrm>
          <a:prstGeom prst="roundRect">
            <a:avLst>
              <a:gd name="adj" fmla="val 3636"/>
            </a:avLst>
          </a:prstGeom>
          <a:solidFill>
            <a:srgbClr val="F5EFF1"/>
          </a:solidFill>
          <a:ln w="9525">
            <a:solidFill>
              <a:srgbClr val="E5D9DE"/>
            </a:solidFill>
            <a:prstDash val="solid"/>
          </a:ln>
        </p:spPr>
      </p:sp>
      <p:sp>
        <p:nvSpPr>
          <p:cNvPr id="11" name="Text 9"/>
          <p:cNvSpPr txBox="1"/>
          <p:nvPr/>
        </p:nvSpPr>
        <p:spPr>
          <a:xfrm>
            <a:off x="8295437" y="2148840"/>
            <a:ext cx="3119018" cy="960120"/>
          </a:xfrm>
          <a:prstGeom prst="rect">
            <a:avLst/>
          </a:prstGeom>
          <a:noFill/>
          <a:ln/>
        </p:spPr>
        <p:txBody>
          <a:bodyPr wrap="square" lIns="0" tIns="0" rIns="0" bIns="0" rtlCol="0" anchor="ctr"/>
          <a:lstStyle/>
          <a:p>
            <a:pPr algn="ctr" indent="0" marL="0">
              <a:buNone/>
            </a:pPr>
            <a:r>
              <a:rPr lang="en-US" sz="3800" b="1" dirty="0">
                <a:solidFill>
                  <a:srgbClr val="6B2A44"/>
                </a:solidFill>
                <a:latin typeface="Cambria" pitchFamily="34" charset="0"/>
                <a:ea typeface="Cambria" pitchFamily="34" charset="-122"/>
                <a:cs typeface="Cambria" pitchFamily="34" charset="-120"/>
              </a:rPr>
              <a:t>&gt; 60</a:t>
            </a:r>
            <a:endParaRPr lang="en-US" sz="3800" dirty="0"/>
          </a:p>
        </p:txBody>
      </p:sp>
      <p:sp>
        <p:nvSpPr>
          <p:cNvPr id="12" name="Text 10"/>
          <p:cNvSpPr txBox="1"/>
          <p:nvPr/>
        </p:nvSpPr>
        <p:spPr>
          <a:xfrm>
            <a:off x="8313725" y="3154680"/>
            <a:ext cx="3082442" cy="1051560"/>
          </a:xfrm>
          <a:prstGeom prst="rect">
            <a:avLst/>
          </a:prstGeom>
          <a:noFill/>
          <a:ln/>
        </p:spPr>
        <p:txBody>
          <a:bodyPr wrap="square" lIns="0" tIns="0" rIns="0" bIns="0" rtlCol="0" anchor="t"/>
          <a:lstStyle/>
          <a:p>
            <a:pPr algn="ctr" indent="0" marL="0">
              <a:lnSpc>
                <a:spcPct val="118000"/>
              </a:lnSpc>
              <a:buNone/>
            </a:pPr>
            <a:r>
              <a:rPr lang="en-US" sz="1250" dirty="0">
                <a:solidFill>
                  <a:srgbClr val="3F3138"/>
                </a:solidFill>
                <a:latin typeface="Calibri" pitchFamily="34" charset="0"/>
                <a:ea typeface="Calibri" pitchFamily="34" charset="-122"/>
                <a:cs typeface="Calibri" pitchFamily="34" charset="-120"/>
              </a:rPr>
              <a:t>economías con un acuerdo comercial vigente con Chile</a:t>
            </a:r>
            <a:endParaRPr lang="en-US" sz="1250" dirty="0"/>
          </a:p>
        </p:txBody>
      </p:sp>
      <p:sp>
        <p:nvSpPr>
          <p:cNvPr id="13" name="Text 11"/>
          <p:cNvSpPr txBox="1"/>
          <p:nvPr/>
        </p:nvSpPr>
        <p:spPr>
          <a:xfrm>
            <a:off x="594360" y="4709160"/>
            <a:ext cx="11002975" cy="1097280"/>
          </a:xfrm>
          <a:prstGeom prst="rect">
            <a:avLst/>
          </a:prstGeom>
          <a:noFill/>
          <a:ln/>
        </p:spPr>
        <p:txBody>
          <a:bodyPr wrap="square" lIns="0" tIns="0" rIns="0" bIns="0" rtlCol="0" anchor="t"/>
          <a:lstStyle/>
          <a:p>
            <a:pPr algn="l" indent="0" marL="0">
              <a:lnSpc>
                <a:spcPct val="130000"/>
              </a:lnSpc>
              <a:buNone/>
            </a:pPr>
            <a:r>
              <a:rPr lang="en-US" sz="1350" dirty="0">
                <a:solidFill>
                  <a:srgbClr val="3F3138"/>
                </a:solidFill>
                <a:latin typeface="Calibri" pitchFamily="34" charset="0"/>
                <a:ea typeface="Calibri" pitchFamily="34" charset="-122"/>
                <a:cs typeface="Calibri" pitchFamily="34" charset="-120"/>
              </a:rPr>
              <a:t>La fruta fresca —cerezas, uva de mesa, arándanos, manzanas y paltas— sostiene las exportaciones agrícolas junto al vino. Ese modelo depende del riego en valles donde el Código de Aguas, reformado en 2022, prioriza el consumo humano y limita los nuevos derechos.</a:t>
            </a:r>
            <a:endParaRPr lang="en-US" sz="1350" dirty="0"/>
          </a:p>
        </p:txBody>
      </p:sp>
      <p:sp>
        <p:nvSpPr>
          <p:cNvPr id="14" name="Text 12"/>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Estudio de mercado Chile</a:t>
            </a:r>
            <a:endParaRPr lang="en-US" sz="950" dirty="0"/>
          </a:p>
        </p:txBody>
      </p:sp>
      <p:sp>
        <p:nvSpPr>
          <p:cNvPr id="15" name="Text 13"/>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5</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LOS RUBROS</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Cinco producciones concentran el volumen agrícola</a:t>
            </a:r>
            <a:endParaRPr lang="en-US" sz="3000" dirty="0"/>
          </a:p>
        </p:txBody>
      </p:sp>
      <p:graphicFrame>
        <p:nvGraphicFramePr>
          <p:cNvPr id="4" name="Chart 0" descr=""/>
          <p:cNvGraphicFramePr/>
          <p:nvPr/>
        </p:nvGraphicFramePr>
        <p:xfrm>
          <a:off x="594360" y="1783080"/>
          <a:ext cx="73609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83080"/>
            <a:ext cx="3291840" cy="3977640"/>
          </a:xfrm>
          <a:prstGeom prst="roundRect">
            <a:avLst>
              <a:gd name="adj" fmla="val 2778"/>
            </a:avLst>
          </a:prstGeom>
          <a:solidFill>
            <a:srgbClr val="F5EFF1"/>
          </a:solidFill>
          <a:ln w="9525">
            <a:solidFill>
              <a:srgbClr val="E5D9DE"/>
            </a:solidFill>
            <a:prstDash val="solid"/>
          </a:ln>
        </p:spPr>
      </p:sp>
      <p:sp>
        <p:nvSpPr>
          <p:cNvPr id="6" name="Text 3"/>
          <p:cNvSpPr txBox="1"/>
          <p:nvPr/>
        </p:nvSpPr>
        <p:spPr>
          <a:xfrm>
            <a:off x="8503920" y="2011680"/>
            <a:ext cx="2834640" cy="457200"/>
          </a:xfrm>
          <a:prstGeom prst="rect">
            <a:avLst/>
          </a:prstGeom>
          <a:noFill/>
          <a:ln/>
        </p:spPr>
        <p:txBody>
          <a:bodyPr wrap="square" lIns="0" tIns="0" rIns="0" bIns="0" rtlCol="0" anchor="ctr"/>
          <a:lstStyle/>
          <a:p>
            <a:pPr algn="l" indent="0" marL="0">
              <a:buNone/>
            </a:pPr>
            <a:r>
              <a:rPr lang="en-US" sz="1300" b="1" dirty="0">
                <a:solidFill>
                  <a:srgbClr val="6B2A44"/>
                </a:solidFill>
                <a:latin typeface="Cambria" pitchFamily="34" charset="0"/>
                <a:ea typeface="Cambria" pitchFamily="34" charset="-122"/>
                <a:cs typeface="Cambria" pitchFamily="34" charset="-120"/>
              </a:rPr>
              <a:t>Lectura</a:t>
            </a:r>
            <a:endParaRPr lang="en-US" sz="1300" dirty="0"/>
          </a:p>
        </p:txBody>
      </p:sp>
      <p:sp>
        <p:nvSpPr>
          <p:cNvPr id="7" name="Text 4"/>
          <p:cNvSpPr txBox="1"/>
          <p:nvPr/>
        </p:nvSpPr>
        <p:spPr>
          <a:xfrm>
            <a:off x="8503920" y="2560320"/>
            <a:ext cx="2834640" cy="3017520"/>
          </a:xfrm>
          <a:prstGeom prst="rect">
            <a:avLst/>
          </a:prstGeom>
          <a:noFill/>
          <a:ln/>
        </p:spPr>
        <p:txBody>
          <a:bodyPr wrap="square" lIns="0" tIns="0" rIns="0" bIns="0" rtlCol="0" anchor="t"/>
          <a:lstStyle/>
          <a:p>
            <a:pPr algn="l" indent="0" marL="0">
              <a:lnSpc>
                <a:spcPct val="125000"/>
              </a:lnSpc>
              <a:buNone/>
            </a:pPr>
            <a:r>
              <a:rPr lang="en-US" sz="1200" dirty="0">
                <a:solidFill>
                  <a:srgbClr val="3F3138"/>
                </a:solidFill>
                <a:latin typeface="Calibri" pitchFamily="34" charset="0"/>
                <a:ea typeface="Calibri" pitchFamily="34" charset="-122"/>
                <a:cs typeface="Calibri" pitchFamily="34" charset="-120"/>
              </a:rPr>
              <a:t>* Uva vinífera y de mesa en conjunto: la vinífera aporta la mayor parte del volumen, la de mesa el mayor valor por hectárea.</a:t>
            </a:r>
            <a:endParaRPr lang="en-US" sz="1200" dirty="0"/>
          </a:p>
          <a:p>
            <a:pPr algn="l" indent="0" marL="0">
              <a:lnSpc>
                <a:spcPct val="125000"/>
              </a:lnSpc>
              <a:buNone/>
            </a:pPr>
            <a:endParaRPr lang="en-US" sz="1200" dirty="0"/>
          </a:p>
          <a:p>
            <a:pPr algn="l" indent="0" marL="0">
              <a:lnSpc>
                <a:spcPct val="125000"/>
              </a:lnSpc>
              <a:buNone/>
            </a:pPr>
            <a:r>
              <a:rPr lang="en-US" sz="1200" dirty="0">
                <a:solidFill>
                  <a:srgbClr val="3F3138"/>
                </a:solidFill>
                <a:latin typeface="Calibri" pitchFamily="34" charset="0"/>
                <a:ea typeface="Calibri" pitchFamily="34" charset="-122"/>
                <a:cs typeface="Calibri" pitchFamily="34" charset="-120"/>
              </a:rPr>
              <a:t>La fruta de exportación —cerezas, uva de mesa, manzanas, paltas— se riega prácticamente en su totalidad. Ahí el ahorro de agua se convierte directamente en margen.</a:t>
            </a:r>
            <a:endParaRPr lang="en-US" sz="1200" dirty="0"/>
          </a:p>
        </p:txBody>
      </p:sp>
      <p:sp>
        <p:nvSpPr>
          <p:cNvPr id="8" name="Text 5"/>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Estudio de mercado Chile</a:t>
            </a:r>
            <a:endParaRPr lang="en-US" sz="950" dirty="0"/>
          </a:p>
        </p:txBody>
      </p:sp>
      <p:sp>
        <p:nvSpPr>
          <p:cNvPr id="9" name="Text 6"/>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6</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PRIMER SECTOR</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Palta en laderas: árboles caros de mantener sin agua</a:t>
            </a:r>
            <a:endParaRPr lang="en-US" sz="3000" dirty="0"/>
          </a:p>
        </p:txBody>
      </p:sp>
      <p:pic>
        <p:nvPicPr>
          <p:cNvPr id="4" name="Image 0" descr="preencoded.png">    </p:cNvPr>
          <p:cNvPicPr>
            <a:picLocks noChangeAspect="1"/>
          </p:cNvPicPr>
          <p:nvPr/>
        </p:nvPicPr>
        <p:blipFill>
          <a:blip r:embed="rId1"/>
          <a:stretch>
            <a:fillRect/>
          </a:stretch>
        </p:blipFill>
        <p:spPr>
          <a:xfrm>
            <a:off x="6522415" y="1783080"/>
            <a:ext cx="5074920" cy="3794760"/>
          </a:xfrm>
          <a:prstGeom prst="rect">
            <a:avLst/>
          </a:prstGeom>
        </p:spPr>
      </p:pic>
      <p:sp>
        <p:nvSpPr>
          <p:cNvPr id="5" name="Text 2"/>
          <p:cNvSpPr txBox="1"/>
          <p:nvPr/>
        </p:nvSpPr>
        <p:spPr>
          <a:xfrm>
            <a:off x="594360" y="1783080"/>
            <a:ext cx="5379415" cy="4251960"/>
          </a:xfrm>
          <a:prstGeom prst="rect">
            <a:avLst/>
          </a:prstGeom>
          <a:noFill/>
          <a:ln/>
        </p:spPr>
        <p:txBody>
          <a:bodyPr wrap="square" lIns="0" tIns="0" rIns="0" bIns="0" rtlCol="0" anchor="t"/>
          <a:lstStyle/>
          <a:p>
            <a:pPr algn="l" marL="342900" indent="-342900">
              <a:lnSpc>
                <a:spcPct val="122000"/>
              </a:lnSpc>
              <a:spcAft>
                <a:spcPts val="1100"/>
              </a:spcAft>
              <a:buSzPct val="100000"/>
              <a:buChar char="•"/>
            </a:pPr>
            <a:r>
              <a:rPr lang="en-US" sz="1400" dirty="0">
                <a:solidFill>
                  <a:srgbClr val="3F3138"/>
                </a:solidFill>
                <a:latin typeface="Calibri" pitchFamily="34" charset="0"/>
                <a:ea typeface="Calibri" pitchFamily="34" charset="-122"/>
                <a:cs typeface="Calibri" pitchFamily="34" charset="-120"/>
              </a:rPr>
              <a:t>La palta Hass se planta en laderas de Valparaíso, Coquimbo y la Región Metropolitana, regadas por goteo.</a:t>
            </a:r>
            <a:endParaRPr lang="en-US" sz="1400" dirty="0"/>
          </a:p>
          <a:p>
            <a:pPr algn="l" marL="342900" indent="-342900">
              <a:lnSpc>
                <a:spcPct val="122000"/>
              </a:lnSpc>
              <a:spcAft>
                <a:spcPts val="1100"/>
              </a:spcAft>
              <a:buSzPct val="100000"/>
              <a:buChar char="•"/>
            </a:pPr>
            <a:r>
              <a:rPr lang="en-US" sz="1400" dirty="0">
                <a:solidFill>
                  <a:srgbClr val="3F3138"/>
                </a:solidFill>
                <a:latin typeface="Calibri" pitchFamily="34" charset="0"/>
                <a:ea typeface="Calibri" pitchFamily="34" charset="-122"/>
                <a:cs typeface="Calibri" pitchFamily="34" charset="-120"/>
              </a:rPr>
              <a:t>En Petorca y La Ligua la escasez de agua obligó a abandonar huertos y abrió un debate nacional sobre su uso.</a:t>
            </a:r>
            <a:endParaRPr lang="en-US" sz="1400" dirty="0"/>
          </a:p>
          <a:p>
            <a:pPr algn="l" marL="342900" indent="-342900">
              <a:lnSpc>
                <a:spcPct val="122000"/>
              </a:lnSpc>
              <a:spcAft>
                <a:spcPts val="1100"/>
              </a:spcAft>
              <a:buSzPct val="100000"/>
              <a:buChar char="•"/>
            </a:pPr>
            <a:r>
              <a:rPr lang="en-US" sz="1400" dirty="0">
                <a:solidFill>
                  <a:srgbClr val="3F3138"/>
                </a:solidFill>
                <a:latin typeface="Calibri" pitchFamily="34" charset="0"/>
                <a:ea typeface="Calibri" pitchFamily="34" charset="-122"/>
                <a:cs typeface="Calibri" pitchFamily="34" charset="-120"/>
              </a:rPr>
              <a:t>Un palto adulto no tolera cortes largos de riego: el estrés hídrico hace caer la fruta y compromete la temporada siguiente.</a:t>
            </a:r>
            <a:endParaRPr lang="en-US" sz="1400" dirty="0"/>
          </a:p>
          <a:p>
            <a:pPr algn="l" marL="342900" indent="-342900">
              <a:lnSpc>
                <a:spcPct val="122000"/>
              </a:lnSpc>
              <a:spcAft>
                <a:spcPts val="1100"/>
              </a:spcAft>
              <a:buSzPct val="100000"/>
              <a:buChar char="•"/>
            </a:pPr>
            <a:r>
              <a:rPr lang="en-US" sz="1400" dirty="0">
                <a:solidFill>
                  <a:srgbClr val="3F3138"/>
                </a:solidFill>
                <a:latin typeface="Calibri" pitchFamily="34" charset="0"/>
                <a:ea typeface="Calibri" pitchFamily="34" charset="-122"/>
                <a:cs typeface="Calibri" pitchFamily="34" charset="-120"/>
              </a:rPr>
              <a:t>Los suelos de ladera, delgados y con pendiente, retienen poca agua entre dos riegos.</a:t>
            </a:r>
            <a:endParaRPr lang="en-US" sz="1400" dirty="0"/>
          </a:p>
          <a:p>
            <a:pPr algn="l" marL="342900" indent="-342900">
              <a:lnSpc>
                <a:spcPct val="122000"/>
              </a:lnSpc>
              <a:spcAft>
                <a:spcPts val="1100"/>
              </a:spcAft>
              <a:buSzPct val="100000"/>
              <a:buChar char="•"/>
            </a:pPr>
            <a:r>
              <a:rPr lang="en-US" sz="1400" dirty="0">
                <a:solidFill>
                  <a:srgbClr val="3F3138"/>
                </a:solidFill>
                <a:latin typeface="Calibri" pitchFamily="34" charset="0"/>
                <a:ea typeface="Calibri" pitchFamily="34" charset="-122"/>
                <a:cs typeface="Calibri" pitchFamily="34" charset="-120"/>
              </a:rPr>
              <a:t>EVERGREEN® en la plantación o en la línea de goteo mantiene el agua en la zona de raíces.</a:t>
            </a:r>
            <a:endParaRPr lang="en-US" sz="1400" dirty="0"/>
          </a:p>
        </p:txBody>
      </p:sp>
      <p:sp>
        <p:nvSpPr>
          <p:cNvPr id="6" name="Text 3"/>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Estudio de mercado Chile</a:t>
            </a:r>
            <a:endParaRPr lang="en-US" sz="950" dirty="0"/>
          </a:p>
        </p:txBody>
      </p:sp>
      <p:sp>
        <p:nvSpPr>
          <p:cNvPr id="7" name="Text 4"/>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7</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SEGUNDO SECTOR</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Uva de mesa y cerezas: exportar con menos agua</a:t>
            </a:r>
            <a:endParaRPr lang="en-US" sz="3000" dirty="0"/>
          </a:p>
        </p:txBody>
      </p:sp>
      <p:pic>
        <p:nvPicPr>
          <p:cNvPr id="4" name="Image 0" descr="preencoded.png">    </p:cNvPr>
          <p:cNvPicPr>
            <a:picLocks noChangeAspect="1"/>
          </p:cNvPicPr>
          <p:nvPr/>
        </p:nvPicPr>
        <p:blipFill>
          <a:blip r:embed="rId1"/>
          <a:stretch>
            <a:fillRect/>
          </a:stretch>
        </p:blipFill>
        <p:spPr>
          <a:xfrm>
            <a:off x="594360" y="1783080"/>
            <a:ext cx="5074920" cy="3794760"/>
          </a:xfrm>
          <a:prstGeom prst="rect">
            <a:avLst/>
          </a:prstGeom>
        </p:spPr>
      </p:pic>
      <p:sp>
        <p:nvSpPr>
          <p:cNvPr id="5" name="Text 2"/>
          <p:cNvSpPr txBox="1"/>
          <p:nvPr/>
        </p:nvSpPr>
        <p:spPr>
          <a:xfrm>
            <a:off x="6217920" y="1783080"/>
            <a:ext cx="5379415" cy="4251960"/>
          </a:xfrm>
          <a:prstGeom prst="rect">
            <a:avLst/>
          </a:prstGeom>
          <a:noFill/>
          <a:ln/>
        </p:spPr>
        <p:txBody>
          <a:bodyPr wrap="square" lIns="0" tIns="0" rIns="0" bIns="0" rtlCol="0" anchor="t"/>
          <a:lstStyle/>
          <a:p>
            <a:pPr algn="l" marL="342900" indent="-342900">
              <a:lnSpc>
                <a:spcPct val="122000"/>
              </a:lnSpc>
              <a:spcAft>
                <a:spcPts val="1100"/>
              </a:spcAft>
              <a:buSzPct val="100000"/>
              <a:buChar char="•"/>
            </a:pPr>
            <a:r>
              <a:rPr lang="en-US" sz="1400" dirty="0">
                <a:solidFill>
                  <a:srgbClr val="3F3138"/>
                </a:solidFill>
                <a:latin typeface="Calibri" pitchFamily="34" charset="0"/>
                <a:ea typeface="Calibri" pitchFamily="34" charset="-122"/>
                <a:cs typeface="Calibri" pitchFamily="34" charset="-120"/>
              </a:rPr>
              <a:t>La uva de mesa se concentra de Atacama a O'Higgins; la cereza avanza de O'Higgins hacia el Maule y más al sur.</a:t>
            </a:r>
            <a:endParaRPr lang="en-US" sz="1400" dirty="0"/>
          </a:p>
          <a:p>
            <a:pPr algn="l" marL="342900" indent="-342900">
              <a:lnSpc>
                <a:spcPct val="122000"/>
              </a:lnSpc>
              <a:spcAft>
                <a:spcPts val="1100"/>
              </a:spcAft>
              <a:buSzPct val="100000"/>
              <a:buChar char="•"/>
            </a:pPr>
            <a:r>
              <a:rPr lang="en-US" sz="1400" dirty="0">
                <a:solidFill>
                  <a:srgbClr val="3F3138"/>
                </a:solidFill>
                <a:latin typeface="Calibri" pitchFamily="34" charset="0"/>
                <a:ea typeface="Calibri" pitchFamily="34" charset="-122"/>
                <a:cs typeface="Calibri" pitchFamily="34" charset="-120"/>
              </a:rPr>
              <a:t>Los compradores de Asia, Estados Unidos y Europa pagan calibre, firmeza y condición tras semanas de viaje.</a:t>
            </a:r>
            <a:endParaRPr lang="en-US" sz="1400" dirty="0"/>
          </a:p>
          <a:p>
            <a:pPr algn="l" marL="342900" indent="-342900">
              <a:lnSpc>
                <a:spcPct val="122000"/>
              </a:lnSpc>
              <a:spcAft>
                <a:spcPts val="1100"/>
              </a:spcAft>
              <a:buSzPct val="100000"/>
              <a:buChar char="•"/>
            </a:pPr>
            <a:r>
              <a:rPr lang="en-US" sz="1400" dirty="0">
                <a:solidFill>
                  <a:srgbClr val="3F3138"/>
                </a:solidFill>
                <a:latin typeface="Calibri" pitchFamily="34" charset="0"/>
                <a:ea typeface="Calibri" pitchFamily="34" charset="-122"/>
                <a:cs typeface="Calibri" pitchFamily="34" charset="-120"/>
              </a:rPr>
              <a:t>Las dotaciones de los canalistas bajan en años secos y la extracción subterránea está cada vez más limitada.</a:t>
            </a:r>
            <a:endParaRPr lang="en-US" sz="1400" dirty="0"/>
          </a:p>
          <a:p>
            <a:pPr algn="l" marL="342900" indent="-342900">
              <a:lnSpc>
                <a:spcPct val="122000"/>
              </a:lnSpc>
              <a:spcAft>
                <a:spcPts val="1100"/>
              </a:spcAft>
              <a:buSzPct val="100000"/>
              <a:buChar char="•"/>
            </a:pPr>
            <a:r>
              <a:rPr lang="en-US" sz="1400" dirty="0">
                <a:solidFill>
                  <a:srgbClr val="3F3138"/>
                </a:solidFill>
                <a:latin typeface="Calibri" pitchFamily="34" charset="0"/>
                <a:ea typeface="Calibri" pitchFamily="34" charset="-122"/>
                <a:cs typeface="Calibri" pitchFamily="34" charset="-120"/>
              </a:rPr>
              <a:t>Un riego regular durante el crecimiento del fruto evita partiduras y problemas de calibre.</a:t>
            </a:r>
            <a:endParaRPr lang="en-US" sz="1400" dirty="0"/>
          </a:p>
          <a:p>
            <a:pPr algn="l" marL="342900" indent="-342900">
              <a:lnSpc>
                <a:spcPct val="122000"/>
              </a:lnSpc>
              <a:spcAft>
                <a:spcPts val="1100"/>
              </a:spcAft>
              <a:buSzPct val="100000"/>
              <a:buChar char="•"/>
            </a:pPr>
            <a:r>
              <a:rPr lang="en-US" sz="1400" dirty="0">
                <a:solidFill>
                  <a:srgbClr val="3F3138"/>
                </a:solidFill>
                <a:latin typeface="Calibri" pitchFamily="34" charset="0"/>
                <a:ea typeface="Calibri" pitchFamily="34" charset="-122"/>
                <a:cs typeface="Calibri" pitchFamily="34" charset="-120"/>
              </a:rPr>
              <a:t>NAPEMA® controla plagas sin residuos, un requisito de los protocolos fitosanitarios de exportación.</a:t>
            </a:r>
            <a:endParaRPr lang="en-US" sz="1400" dirty="0"/>
          </a:p>
        </p:txBody>
      </p:sp>
      <p:sp>
        <p:nvSpPr>
          <p:cNvPr id="6" name="Text 3"/>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Estudio de mercado Chile</a:t>
            </a:r>
            <a:endParaRPr lang="en-US" sz="950" dirty="0"/>
          </a:p>
        </p:txBody>
      </p:sp>
      <p:sp>
        <p:nvSpPr>
          <p:cNvPr id="7" name="Text 4"/>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8</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Potencial de rendimiento</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Aumento de rendimiento esperado por cultivo</a:t>
            </a:r>
            <a:endParaRPr lang="en-US" sz="3000" dirty="0"/>
          </a:p>
        </p:txBody>
      </p:sp>
      <p:graphicFrame>
        <p:nvGraphicFramePr>
          <p:cNvPr id="4" name="Chart 0" descr=""/>
          <p:cNvGraphicFramePr/>
          <p:nvPr/>
        </p:nvGraphicFramePr>
        <p:xfrm>
          <a:off x="594360" y="1783080"/>
          <a:ext cx="73609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83080"/>
            <a:ext cx="3291840" cy="3977640"/>
          </a:xfrm>
          <a:prstGeom prst="roundRect">
            <a:avLst>
              <a:gd name="adj" fmla="val 2778"/>
            </a:avLst>
          </a:prstGeom>
          <a:solidFill>
            <a:srgbClr val="F5EFF1"/>
          </a:solidFill>
          <a:ln w="9525">
            <a:solidFill>
              <a:srgbClr val="E5D9DE"/>
            </a:solidFill>
            <a:prstDash val="solid"/>
          </a:ln>
        </p:spPr>
      </p:sp>
      <p:sp>
        <p:nvSpPr>
          <p:cNvPr id="6" name="Text 3"/>
          <p:cNvSpPr txBox="1"/>
          <p:nvPr/>
        </p:nvSpPr>
        <p:spPr>
          <a:xfrm>
            <a:off x="8503920" y="2011680"/>
            <a:ext cx="2834640" cy="457200"/>
          </a:xfrm>
          <a:prstGeom prst="rect">
            <a:avLst/>
          </a:prstGeom>
          <a:noFill/>
          <a:ln/>
        </p:spPr>
        <p:txBody>
          <a:bodyPr wrap="square" lIns="0" tIns="0" rIns="0" bIns="0" rtlCol="0" anchor="ctr"/>
          <a:lstStyle/>
          <a:p>
            <a:pPr algn="l" indent="0" marL="0">
              <a:buNone/>
            </a:pPr>
            <a:r>
              <a:rPr lang="en-US" sz="1300" b="1" dirty="0">
                <a:solidFill>
                  <a:srgbClr val="6B2A44"/>
                </a:solidFill>
                <a:latin typeface="Cambria" pitchFamily="34" charset="0"/>
                <a:ea typeface="Cambria" pitchFamily="34" charset="-122"/>
                <a:cs typeface="Cambria" pitchFamily="34" charset="-120"/>
              </a:rPr>
              <a:t>Leer con prudencia</a:t>
            </a:r>
            <a:endParaRPr lang="en-US" sz="1300" dirty="0"/>
          </a:p>
        </p:txBody>
      </p:sp>
      <p:sp>
        <p:nvSpPr>
          <p:cNvPr id="7" name="Text 4"/>
          <p:cNvSpPr txBox="1"/>
          <p:nvPr/>
        </p:nvSpPr>
        <p:spPr>
          <a:xfrm>
            <a:off x="8503920" y="2560320"/>
            <a:ext cx="2834640" cy="3017520"/>
          </a:xfrm>
          <a:prstGeom prst="rect">
            <a:avLst/>
          </a:prstGeom>
          <a:noFill/>
          <a:ln/>
        </p:spPr>
        <p:txBody>
          <a:bodyPr wrap="square" lIns="0" tIns="0" rIns="0" bIns="0" rtlCol="0" anchor="t"/>
          <a:lstStyle/>
          <a:p>
            <a:pPr algn="l" indent="0" marL="0">
              <a:lnSpc>
                <a:spcPct val="125000"/>
              </a:lnSpc>
              <a:buNone/>
            </a:pPr>
            <a:r>
              <a:rPr lang="en-US" sz="1200" dirty="0">
                <a:solidFill>
                  <a:srgbClr val="3F3138"/>
                </a:solidFill>
                <a:latin typeface="Calibri" pitchFamily="34" charset="0"/>
                <a:ea typeface="Calibri" pitchFamily="34" charset="-122"/>
                <a:cs typeface="Calibri" pitchFamily="34" charset="-120"/>
              </a:rPr>
              <a:t>Rangos que usa nuestra calculadora de dosis, para un cultivo manejado con normalidad y EVERGREEN® aplicado en la plantación.</a:t>
            </a:r>
            <a:endParaRPr lang="en-US" sz="1200" dirty="0"/>
          </a:p>
          <a:p>
            <a:pPr algn="l" indent="0" marL="0">
              <a:lnSpc>
                <a:spcPct val="125000"/>
              </a:lnSpc>
              <a:buNone/>
            </a:pPr>
            <a:endParaRPr lang="en-US" sz="1200" dirty="0"/>
          </a:p>
          <a:p>
            <a:pPr algn="l" indent="0" marL="0">
              <a:lnSpc>
                <a:spcPct val="125000"/>
              </a:lnSpc>
              <a:buNone/>
            </a:pPr>
            <a:r>
              <a:rPr lang="en-US" sz="1200" dirty="0">
                <a:solidFill>
                  <a:srgbClr val="3F3138"/>
                </a:solidFill>
                <a:latin typeface="Calibri" pitchFamily="34" charset="0"/>
                <a:ea typeface="Calibri" pitchFamily="34" charset="-122"/>
                <a:cs typeface="Calibri" pitchFamily="34" charset="-120"/>
              </a:rPr>
              <a:t>El resultado real depende del suelo, el clima y el manejo. En cereales no se anuncia ningún aumento sin ensayo de campo.</a:t>
            </a:r>
            <a:endParaRPr lang="en-US" sz="1200" dirty="0"/>
          </a:p>
        </p:txBody>
      </p:sp>
      <p:sp>
        <p:nvSpPr>
          <p:cNvPr id="8" name="Text 5"/>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Estudio de mercado Chile</a:t>
            </a:r>
            <a:endParaRPr lang="en-US" sz="950" dirty="0"/>
          </a:p>
        </p:txBody>
      </p:sp>
      <p:sp>
        <p:nvSpPr>
          <p:cNvPr id="9" name="Text 6"/>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9</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NUESTRA RESPUESTA</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Dos tecnologías para dos restricciones distintas</a:t>
            </a:r>
            <a:endParaRPr lang="en-US" sz="3000" dirty="0"/>
          </a:p>
        </p:txBody>
      </p:sp>
      <p:sp>
        <p:nvSpPr>
          <p:cNvPr id="4" name="Text 2"/>
          <p:cNvSpPr txBox="1"/>
          <p:nvPr/>
        </p:nvSpPr>
        <p:spPr>
          <a:xfrm>
            <a:off x="594360" y="1783080"/>
            <a:ext cx="5227168" cy="411480"/>
          </a:xfrm>
          <a:prstGeom prst="rect">
            <a:avLst/>
          </a:prstGeom>
          <a:noFill/>
          <a:ln/>
        </p:spPr>
        <p:txBody>
          <a:bodyPr wrap="square" lIns="0" tIns="0" rIns="0" bIns="0" rtlCol="0" anchor="ctr"/>
          <a:lstStyle/>
          <a:p>
            <a:pPr algn="l" indent="0" marL="0">
              <a:buNone/>
            </a:pPr>
            <a:r>
              <a:rPr lang="en-US" sz="1600" b="1" dirty="0">
                <a:solidFill>
                  <a:srgbClr val="6B2A44"/>
                </a:solidFill>
                <a:latin typeface="Cambria" pitchFamily="34" charset="0"/>
                <a:ea typeface="Cambria" pitchFamily="34" charset="-122"/>
                <a:cs typeface="Cambria" pitchFamily="34" charset="-120"/>
              </a:rPr>
              <a:t>EVERGREEN® — retener el agua</a:t>
            </a:r>
            <a:endParaRPr lang="en-US" sz="1600" dirty="0"/>
          </a:p>
        </p:txBody>
      </p:sp>
      <p:sp>
        <p:nvSpPr>
          <p:cNvPr id="5" name="Text 3"/>
          <p:cNvSpPr txBox="1"/>
          <p:nvPr/>
        </p:nvSpPr>
        <p:spPr>
          <a:xfrm>
            <a:off x="594360"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Hidrorretenedor a base de potasio, incorporado en la zona radicular a la plantación o en la reposición de plantas.</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Capta el agua de lluvia o de riego y la devuelve a la planta de forma gradual, suprimiendo el estrés hídrico en las etapas críticas.</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Capacidad de absorción del orden de 300 veces su peso; efecto útil de 3 a 4 años en el suelo.</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Se degrada entre 20 y 25 % al año, sin acumulación ni riesgo de sobredosis.</a:t>
            </a:r>
            <a:endParaRPr lang="en-US" sz="1350" dirty="0"/>
          </a:p>
        </p:txBody>
      </p:sp>
      <p:sp>
        <p:nvSpPr>
          <p:cNvPr id="6" name="Text 4"/>
          <p:cNvSpPr txBox="1"/>
          <p:nvPr/>
        </p:nvSpPr>
        <p:spPr>
          <a:xfrm>
            <a:off x="6370168" y="1783080"/>
            <a:ext cx="5227168" cy="411480"/>
          </a:xfrm>
          <a:prstGeom prst="rect">
            <a:avLst/>
          </a:prstGeom>
          <a:noFill/>
          <a:ln/>
        </p:spPr>
        <p:txBody>
          <a:bodyPr wrap="square" lIns="0" tIns="0" rIns="0" bIns="0" rtlCol="0" anchor="ctr"/>
          <a:lstStyle/>
          <a:p>
            <a:pPr algn="l" indent="0" marL="0">
              <a:buNone/>
            </a:pPr>
            <a:r>
              <a:rPr lang="en-US" sz="1600" b="1" dirty="0">
                <a:solidFill>
                  <a:srgbClr val="6B2A44"/>
                </a:solidFill>
                <a:latin typeface="Cambria" pitchFamily="34" charset="0"/>
                <a:ea typeface="Cambria" pitchFamily="34" charset="-122"/>
                <a:cs typeface="Cambria" pitchFamily="34" charset="-120"/>
              </a:rPr>
              <a:t>ECOFERT® — nutrir sin agotar el suelo</a:t>
            </a:r>
            <a:endParaRPr lang="en-US" sz="1600" dirty="0"/>
          </a:p>
        </p:txBody>
      </p:sp>
      <p:sp>
        <p:nvSpPr>
          <p:cNvPr id="7" name="Text 5"/>
          <p:cNvSpPr txBox="1"/>
          <p:nvPr/>
        </p:nvSpPr>
        <p:spPr>
          <a:xfrm>
            <a:off x="6370168"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Fertilizante en microdosis de aminoácidos, nitrógeno, fósforo y potasio, obtenido de recursos renovables.</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No quelante: no empobrece el complejo arcillo-húmico y no incrementa la salinidad ni el contenido de nitratos.</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Certificado SOHISCERT y EU Bio, condición de acceso a los pliegos de los compradores europeos.</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De 1 a 4 frascos de 140 ml por hectárea, compatible con los equipos de fertirriego ya instalados.</a:t>
            </a:r>
            <a:endParaRPr lang="en-US" sz="1350" dirty="0"/>
          </a:p>
        </p:txBody>
      </p:sp>
      <p:sp>
        <p:nvSpPr>
          <p:cNvPr id="8" name="Shape 6"/>
          <p:cNvSpPr/>
          <p:nvPr/>
        </p:nvSpPr>
        <p:spPr>
          <a:xfrm>
            <a:off x="594360" y="4846320"/>
            <a:ext cx="11002975" cy="960120"/>
          </a:xfrm>
          <a:prstGeom prst="roundRect">
            <a:avLst>
              <a:gd name="adj" fmla="val 7619"/>
            </a:avLst>
          </a:prstGeom>
          <a:solidFill>
            <a:srgbClr val="F5EFF1"/>
          </a:solidFill>
          <a:ln w="9525">
            <a:solidFill>
              <a:srgbClr val="E5D9DE"/>
            </a:solidFill>
            <a:prstDash val="solid"/>
          </a:ln>
        </p:spPr>
      </p:sp>
      <p:sp>
        <p:nvSpPr>
          <p:cNvPr id="9" name="Text 7"/>
          <p:cNvSpPr txBox="1"/>
          <p:nvPr/>
        </p:nvSpPr>
        <p:spPr>
          <a:xfrm>
            <a:off x="822960" y="4983480"/>
            <a:ext cx="10545775" cy="713232"/>
          </a:xfrm>
          <a:prstGeom prst="rect">
            <a:avLst/>
          </a:prstGeom>
          <a:noFill/>
          <a:ln/>
        </p:spPr>
        <p:txBody>
          <a:bodyPr wrap="square" lIns="0" tIns="0" rIns="0" bIns="0" rtlCol="0" anchor="t"/>
          <a:lstStyle/>
          <a:p>
            <a:pPr algn="l" indent="0" marL="0">
              <a:lnSpc>
                <a:spcPct val="118000"/>
              </a:lnSpc>
              <a:buNone/>
            </a:pPr>
            <a:r>
              <a:rPr lang="en-US" sz="1100" dirty="0">
                <a:solidFill>
                  <a:srgbClr val="7C6B73"/>
                </a:solidFill>
                <a:latin typeface="Calibri" pitchFamily="34" charset="0"/>
                <a:ea typeface="Calibri" pitchFamily="34" charset="-122"/>
                <a:cs typeface="Calibri" pitchFamily="34" charset="-120"/>
              </a:rPr>
              <a:t>Los dos productos se venden por separado, pero fueron concebidos para reforzarse: el hidrorretenedor prolonga la disponibilidad del agua y el fertilizante valoriza esa agua disponible sin degradar el suelo.</a:t>
            </a:r>
            <a:endParaRPr lang="en-US" sz="1100" dirty="0"/>
          </a:p>
        </p:txBody>
      </p:sp>
      <p:sp>
        <p:nvSpPr>
          <p:cNvPr id="10" name="Text 8"/>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Estudio de mercado Chile</a:t>
            </a:r>
            <a:endParaRPr lang="en-US" sz="950" dirty="0"/>
          </a:p>
        </p:txBody>
      </p:sp>
      <p:sp>
        <p:nvSpPr>
          <p:cNvPr id="11" name="Text 9"/>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El resto de la gama</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Proteger los cultivos, sujetar los suelos</a:t>
            </a:r>
            <a:endParaRPr lang="en-US" sz="3000" dirty="0"/>
          </a:p>
        </p:txBody>
      </p:sp>
      <p:sp>
        <p:nvSpPr>
          <p:cNvPr id="4" name="Text 2"/>
          <p:cNvSpPr txBox="1"/>
          <p:nvPr/>
        </p:nvSpPr>
        <p:spPr>
          <a:xfrm>
            <a:off x="594360" y="1783080"/>
            <a:ext cx="5227168" cy="411480"/>
          </a:xfrm>
          <a:prstGeom prst="rect">
            <a:avLst/>
          </a:prstGeom>
          <a:noFill/>
          <a:ln/>
        </p:spPr>
        <p:txBody>
          <a:bodyPr wrap="square" lIns="0" tIns="0" rIns="0" bIns="0" rtlCol="0" anchor="ctr"/>
          <a:lstStyle/>
          <a:p>
            <a:pPr algn="l" indent="0" marL="0">
              <a:buNone/>
            </a:pPr>
            <a:r>
              <a:rPr lang="en-US" sz="1600" b="1" dirty="0">
                <a:solidFill>
                  <a:srgbClr val="6B2A44"/>
                </a:solidFill>
                <a:latin typeface="Cambria" pitchFamily="34" charset="0"/>
                <a:ea typeface="Cambria" pitchFamily="34" charset="-122"/>
                <a:cs typeface="Cambria" pitchFamily="34" charset="-120"/>
              </a:rPr>
              <a:t>NAPEMA® — proteger sin residuos</a:t>
            </a:r>
            <a:endParaRPr lang="en-US" sz="1600" dirty="0"/>
          </a:p>
        </p:txBody>
      </p:sp>
      <p:sp>
        <p:nvSpPr>
          <p:cNvPr id="5" name="Text 3"/>
          <p:cNvSpPr txBox="1"/>
          <p:nvPr/>
        </p:nvSpPr>
        <p:spPr>
          <a:xfrm>
            <a:off x="594360"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Controla enfermedades, parásitos, hongos y plagas, sin moléculas de síntesis.</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Pulverización foliar y radicular, con efecto preventivo y curativo.</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Ningún residuo en el suelo, la planta ni el aire: polinizadores y auxiliares a salvo.</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Formulado a medida para un problema concreto: cochinilla, HLB de los cítricos, nematodos.</a:t>
            </a:r>
            <a:endParaRPr lang="en-US" sz="1350" dirty="0"/>
          </a:p>
        </p:txBody>
      </p:sp>
      <p:sp>
        <p:nvSpPr>
          <p:cNvPr id="6" name="Text 4"/>
          <p:cNvSpPr txBox="1"/>
          <p:nvPr/>
        </p:nvSpPr>
        <p:spPr>
          <a:xfrm>
            <a:off x="6370168" y="1783080"/>
            <a:ext cx="5227168" cy="411480"/>
          </a:xfrm>
          <a:prstGeom prst="rect">
            <a:avLst/>
          </a:prstGeom>
          <a:noFill/>
          <a:ln/>
        </p:spPr>
        <p:txBody>
          <a:bodyPr wrap="square" lIns="0" tIns="0" rIns="0" bIns="0" rtlCol="0" anchor="ctr"/>
          <a:lstStyle/>
          <a:p>
            <a:pPr algn="l" indent="0" marL="0">
              <a:buNone/>
            </a:pPr>
            <a:r>
              <a:rPr lang="en-US" sz="1600" b="1" dirty="0">
                <a:solidFill>
                  <a:srgbClr val="6B2A44"/>
                </a:solidFill>
                <a:latin typeface="Cambria" pitchFamily="34" charset="0"/>
                <a:ea typeface="Cambria" pitchFamily="34" charset="-122"/>
                <a:cs typeface="Cambria" pitchFamily="34" charset="-120"/>
              </a:rPr>
              <a:t>Paulownia ALTIFOLIA® — árbol de clima cálido</a:t>
            </a:r>
            <a:endParaRPr lang="en-US" sz="1600" dirty="0"/>
          </a:p>
        </p:txBody>
      </p:sp>
      <p:sp>
        <p:nvSpPr>
          <p:cNvPr id="7" name="Text 5"/>
          <p:cNvSpPr txBox="1"/>
          <p:nvPr/>
        </p:nvSpPr>
        <p:spPr>
          <a:xfrm>
            <a:off x="6370168"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De 13 a 15 m en seis a ocho años, con un tronco de gran diámetro.</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Con 100 g de EVERGREEN® por planta, el riego necesario disminuye un 50 %.</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Resiste de −25 °C a +45 °C; su madera solo se inflama a partir de 426 °C.</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Cortavientos, protección del suelo contra la erosión, de 400 a 700 kg de miel por hectárea.</a:t>
            </a:r>
            <a:endParaRPr lang="en-US" sz="1350" dirty="0"/>
          </a:p>
        </p:txBody>
      </p:sp>
      <p:sp>
        <p:nvSpPr>
          <p:cNvPr id="8" name="Shape 6"/>
          <p:cNvSpPr/>
          <p:nvPr/>
        </p:nvSpPr>
        <p:spPr>
          <a:xfrm>
            <a:off x="594360" y="4846320"/>
            <a:ext cx="11002975" cy="960120"/>
          </a:xfrm>
          <a:prstGeom prst="roundRect">
            <a:avLst>
              <a:gd name="adj" fmla="val 7619"/>
            </a:avLst>
          </a:prstGeom>
          <a:solidFill>
            <a:srgbClr val="F5EFF1"/>
          </a:solidFill>
          <a:ln w="9525">
            <a:solidFill>
              <a:srgbClr val="E5D9DE"/>
            </a:solidFill>
            <a:prstDash val="solid"/>
          </a:ln>
        </p:spPr>
      </p:sp>
      <p:sp>
        <p:nvSpPr>
          <p:cNvPr id="9" name="Text 7"/>
          <p:cNvSpPr txBox="1"/>
          <p:nvPr/>
        </p:nvSpPr>
        <p:spPr>
          <a:xfrm>
            <a:off x="822960" y="4983480"/>
            <a:ext cx="10545775" cy="713232"/>
          </a:xfrm>
          <a:prstGeom prst="rect">
            <a:avLst/>
          </a:prstGeom>
          <a:noFill/>
          <a:ln/>
        </p:spPr>
        <p:txBody>
          <a:bodyPr wrap="square" lIns="0" tIns="0" rIns="0" bIns="0" rtlCol="0" anchor="t"/>
          <a:lstStyle/>
          <a:p>
            <a:pPr algn="l" indent="0" marL="0">
              <a:lnSpc>
                <a:spcPct val="118000"/>
              </a:lnSpc>
              <a:buNone/>
            </a:pPr>
            <a:r>
              <a:rPr lang="en-US" sz="1100" dirty="0">
                <a:solidFill>
                  <a:srgbClr val="7C6B73"/>
                </a:solidFill>
                <a:latin typeface="Calibri" pitchFamily="34" charset="0"/>
                <a:ea typeface="Calibri" pitchFamily="34" charset="-122"/>
                <a:cs typeface="Calibri" pitchFamily="34" charset="-120"/>
              </a:rPr>
              <a:t>Plantas entregadas en maceta (25 a 30 cm), certificadas libres de enfermedades y repuestas en garantía en caso de pérdida. Primera corta al final del sexto año, con la madera valorada en torno a 400-450 € el m³.</a:t>
            </a:r>
            <a:endParaRPr lang="en-US" sz="1100" dirty="0"/>
          </a:p>
        </p:txBody>
      </p:sp>
      <p:sp>
        <p:nvSpPr>
          <p:cNvPr id="10" name="Text 8"/>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Estudio de mercado Chile</a:t>
            </a:r>
            <a:endParaRPr lang="en-US" sz="950" dirty="0"/>
          </a:p>
        </p:txBody>
      </p:sp>
      <p:sp>
        <p:nvSpPr>
          <p:cNvPr id="11" name="Text 9"/>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11</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ÓRDENES DE MAGNITUD</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Ahorro de agua esperado según el método de riego</a:t>
            </a:r>
            <a:endParaRPr lang="en-US" sz="3000" dirty="0"/>
          </a:p>
        </p:txBody>
      </p:sp>
      <p:graphicFrame>
        <p:nvGraphicFramePr>
          <p:cNvPr id="4" name="Chart 0" descr=""/>
          <p:cNvGraphicFramePr/>
          <p:nvPr/>
        </p:nvGraphicFramePr>
        <p:xfrm>
          <a:off x="594360" y="1783080"/>
          <a:ext cx="73609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83080"/>
            <a:ext cx="3291840" cy="3977640"/>
          </a:xfrm>
          <a:prstGeom prst="roundRect">
            <a:avLst>
              <a:gd name="adj" fmla="val 2778"/>
            </a:avLst>
          </a:prstGeom>
          <a:solidFill>
            <a:srgbClr val="F5EFF1"/>
          </a:solidFill>
          <a:ln w="9525">
            <a:solidFill>
              <a:srgbClr val="E5D9DE"/>
            </a:solidFill>
            <a:prstDash val="solid"/>
          </a:ln>
        </p:spPr>
      </p:sp>
      <p:sp>
        <p:nvSpPr>
          <p:cNvPr id="6" name="Text 3"/>
          <p:cNvSpPr txBox="1"/>
          <p:nvPr/>
        </p:nvSpPr>
        <p:spPr>
          <a:xfrm>
            <a:off x="8503920" y="2011680"/>
            <a:ext cx="2834640" cy="457200"/>
          </a:xfrm>
          <a:prstGeom prst="rect">
            <a:avLst/>
          </a:prstGeom>
          <a:noFill/>
          <a:ln/>
        </p:spPr>
        <p:txBody>
          <a:bodyPr wrap="square" lIns="0" tIns="0" rIns="0" bIns="0" rtlCol="0" anchor="ctr"/>
          <a:lstStyle/>
          <a:p>
            <a:pPr algn="l" indent="0" marL="0">
              <a:buNone/>
            </a:pPr>
            <a:r>
              <a:rPr lang="en-US" sz="1300" b="1" dirty="0">
                <a:solidFill>
                  <a:srgbClr val="6B2A44"/>
                </a:solidFill>
                <a:latin typeface="Cambria" pitchFamily="34" charset="0"/>
                <a:ea typeface="Cambria" pitchFamily="34" charset="-122"/>
                <a:cs typeface="Cambria" pitchFamily="34" charset="-120"/>
              </a:rPr>
              <a:t>Leer con prudencia</a:t>
            </a:r>
            <a:endParaRPr lang="en-US" sz="1300" dirty="0"/>
          </a:p>
        </p:txBody>
      </p:sp>
      <p:sp>
        <p:nvSpPr>
          <p:cNvPr id="7" name="Text 4"/>
          <p:cNvSpPr txBox="1"/>
          <p:nvPr/>
        </p:nvSpPr>
        <p:spPr>
          <a:xfrm>
            <a:off x="8503920" y="2560320"/>
            <a:ext cx="2834640" cy="3017520"/>
          </a:xfrm>
          <a:prstGeom prst="rect">
            <a:avLst/>
          </a:prstGeom>
          <a:noFill/>
          <a:ln/>
        </p:spPr>
        <p:txBody>
          <a:bodyPr wrap="square" lIns="0" tIns="0" rIns="0" bIns="0" rtlCol="0" anchor="t"/>
          <a:lstStyle/>
          <a:p>
            <a:pPr algn="l" indent="0" marL="0">
              <a:lnSpc>
                <a:spcPct val="125000"/>
              </a:lnSpc>
              <a:buNone/>
            </a:pPr>
            <a:r>
              <a:rPr lang="en-US" sz="1200" dirty="0">
                <a:solidFill>
                  <a:srgbClr val="3F3138"/>
                </a:solidFill>
                <a:latin typeface="Calibri" pitchFamily="34" charset="0"/>
                <a:ea typeface="Calibri" pitchFamily="34" charset="-122"/>
                <a:cs typeface="Calibri" pitchFamily="34" charset="-120"/>
              </a:rPr>
              <a:t>Estos rangos son indicativos y se apoyan en las ganancias documentadas de nuestros hidrorretenedores.</a:t>
            </a:r>
            <a:endParaRPr lang="en-US" sz="1200" dirty="0"/>
          </a:p>
          <a:p>
            <a:pPr algn="l" indent="0" marL="0">
              <a:lnSpc>
                <a:spcPct val="125000"/>
              </a:lnSpc>
              <a:buNone/>
            </a:pPr>
            <a:endParaRPr lang="en-US" sz="1200" dirty="0"/>
          </a:p>
          <a:p>
            <a:pPr algn="l" indent="0" marL="0">
              <a:lnSpc>
                <a:spcPct val="125000"/>
              </a:lnSpc>
              <a:buNone/>
            </a:pPr>
            <a:r>
              <a:rPr lang="en-US" sz="1200" dirty="0">
                <a:solidFill>
                  <a:srgbClr val="3F3138"/>
                </a:solidFill>
                <a:latin typeface="Calibri" pitchFamily="34" charset="0"/>
                <a:ea typeface="Calibri" pitchFamily="34" charset="-122"/>
                <a:cs typeface="Calibri" pitchFamily="34" charset="-120"/>
              </a:rPr>
              <a:t>El resultado real depende del suelo, del clima y del cultivo. Estas cifras dan un orden de magnitud: en ningún caso constituyen un valor garantizado, contractual ni absoluto.</a:t>
            </a:r>
            <a:endParaRPr lang="en-US" sz="1200" dirty="0"/>
          </a:p>
        </p:txBody>
      </p:sp>
      <p:sp>
        <p:nvSpPr>
          <p:cNvPr id="8" name="Text 5"/>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Estudio de mercado Chile</a:t>
            </a:r>
            <a:endParaRPr lang="en-US" sz="950" dirty="0"/>
          </a:p>
        </p:txBody>
      </p:sp>
      <p:sp>
        <p:nvSpPr>
          <p:cNvPr id="9" name="Text 6"/>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12</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TRES ZONAS PRIORITARIAS</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Dónde iniciar los primeros ensayos</a:t>
            </a:r>
            <a:endParaRPr lang="en-US" sz="3000" dirty="0"/>
          </a:p>
        </p:txBody>
      </p:sp>
      <p:sp>
        <p:nvSpPr>
          <p:cNvPr id="4" name="Shape 2"/>
          <p:cNvSpPr/>
          <p:nvPr/>
        </p:nvSpPr>
        <p:spPr>
          <a:xfrm>
            <a:off x="594360" y="1783080"/>
            <a:ext cx="3472586" cy="4069080"/>
          </a:xfrm>
          <a:prstGeom prst="roundRect">
            <a:avLst>
              <a:gd name="adj" fmla="val 2633"/>
            </a:avLst>
          </a:prstGeom>
          <a:solidFill>
            <a:srgbClr val="F5EFF1"/>
          </a:solidFill>
          <a:ln w="9525">
            <a:solidFill>
              <a:srgbClr val="E5D9DE"/>
            </a:solidFill>
            <a:prstDash val="solid"/>
          </a:ln>
        </p:spPr>
      </p:sp>
      <p:pic>
        <p:nvPicPr>
          <p:cNvPr id="5" name="Image 0" descr="preencoded.png">    </p:cNvPr>
          <p:cNvPicPr>
            <a:picLocks noChangeAspect="1"/>
          </p:cNvPicPr>
          <p:nvPr/>
        </p:nvPicPr>
        <p:blipFill>
          <a:blip r:embed="rId1"/>
          <a:stretch>
            <a:fillRect/>
          </a:stretch>
        </p:blipFill>
        <p:spPr>
          <a:xfrm>
            <a:off x="594360" y="1783080"/>
            <a:ext cx="3472586" cy="1691640"/>
          </a:xfrm>
          <a:prstGeom prst="rect">
            <a:avLst/>
          </a:prstGeom>
        </p:spPr>
      </p:pic>
      <p:sp>
        <p:nvSpPr>
          <p:cNvPr id="6" name="Text 3"/>
          <p:cNvSpPr txBox="1"/>
          <p:nvPr/>
        </p:nvSpPr>
        <p:spPr>
          <a:xfrm>
            <a:off x="795528" y="3639312"/>
            <a:ext cx="3070250" cy="384048"/>
          </a:xfrm>
          <a:prstGeom prst="rect">
            <a:avLst/>
          </a:prstGeom>
          <a:noFill/>
          <a:ln/>
        </p:spPr>
        <p:txBody>
          <a:bodyPr wrap="square" lIns="0" tIns="0" rIns="0" bIns="0" rtlCol="0" anchor="ctr"/>
          <a:lstStyle/>
          <a:p>
            <a:pPr algn="l" indent="0" marL="0">
              <a:buNone/>
            </a:pPr>
            <a:r>
              <a:rPr lang="en-US" sz="1500" b="1" dirty="0">
                <a:solidFill>
                  <a:srgbClr val="6B2A44"/>
                </a:solidFill>
                <a:latin typeface="Cambria" pitchFamily="34" charset="0"/>
                <a:ea typeface="Cambria" pitchFamily="34" charset="-122"/>
                <a:cs typeface="Cambria" pitchFamily="34" charset="-120"/>
              </a:rPr>
              <a:t>Coquimbo</a:t>
            </a:r>
            <a:endParaRPr lang="en-US" sz="1500" dirty="0"/>
          </a:p>
        </p:txBody>
      </p:sp>
      <p:sp>
        <p:nvSpPr>
          <p:cNvPr id="7" name="Text 4"/>
          <p:cNvSpPr txBox="1"/>
          <p:nvPr/>
        </p:nvSpPr>
        <p:spPr>
          <a:xfrm>
            <a:off x="795528" y="4041648"/>
            <a:ext cx="3070250" cy="329184"/>
          </a:xfrm>
          <a:prstGeom prst="rect">
            <a:avLst/>
          </a:prstGeom>
          <a:noFill/>
          <a:ln/>
        </p:spPr>
        <p:txBody>
          <a:bodyPr wrap="square" lIns="0" tIns="0" rIns="0" bIns="0" rtlCol="0" anchor="ctr"/>
          <a:lstStyle/>
          <a:p>
            <a:pPr algn="l" indent="0" marL="0">
              <a:buNone/>
            </a:pPr>
            <a:r>
              <a:rPr lang="en-US" sz="1250" b="1" dirty="0">
                <a:solidFill>
                  <a:srgbClr val="8F6D0F"/>
                </a:solidFill>
                <a:latin typeface="Calibri" pitchFamily="34" charset="0"/>
                <a:ea typeface="Calibri" pitchFamily="34" charset="-122"/>
                <a:cs typeface="Calibri" pitchFamily="34" charset="-120"/>
              </a:rPr>
              <a:t>Del orden de 100 mm de lluvia al año</a:t>
            </a:r>
            <a:endParaRPr lang="en-US" sz="1250" dirty="0"/>
          </a:p>
        </p:txBody>
      </p:sp>
      <p:sp>
        <p:nvSpPr>
          <p:cNvPr id="8" name="Text 5"/>
          <p:cNvSpPr txBox="1"/>
          <p:nvPr/>
        </p:nvSpPr>
        <p:spPr>
          <a:xfrm>
            <a:off x="795528" y="4407408"/>
            <a:ext cx="3070250" cy="1280160"/>
          </a:xfrm>
          <a:prstGeom prst="rect">
            <a:avLst/>
          </a:prstGeom>
          <a:noFill/>
          <a:ln/>
        </p:spPr>
        <p:txBody>
          <a:bodyPr wrap="square" lIns="0" tIns="0" rIns="0" bIns="0" rtlCol="0" anchor="t"/>
          <a:lstStyle/>
          <a:p>
            <a:pPr algn="l" marL="342900" indent="-342900">
              <a:lnSpc>
                <a:spcPct val="116000"/>
              </a:lnSpc>
              <a:spcAft>
                <a:spcPts val="700"/>
              </a:spcAft>
              <a:buSzPct val="100000"/>
              <a:buChar char="•"/>
            </a:pPr>
            <a:r>
              <a:rPr lang="en-US" sz="1150" dirty="0">
                <a:solidFill>
                  <a:srgbClr val="3F3138"/>
                </a:solidFill>
                <a:latin typeface="Calibri" pitchFamily="34" charset="0"/>
                <a:ea typeface="Calibri" pitchFamily="34" charset="-122"/>
                <a:cs typeface="Calibri" pitchFamily="34" charset="-120"/>
              </a:rPr>
              <a:t>Uva de mesa, uva pisquera, cítricos y palta: casi toda la superficie ya se riega por goteo y no queda margen de ahorro en el método mismo.</a:t>
            </a:r>
            <a:endParaRPr lang="en-US" sz="1150" dirty="0"/>
          </a:p>
          <a:p>
            <a:pPr algn="l" marL="342900" indent="-342900">
              <a:lnSpc>
                <a:spcPct val="116000"/>
              </a:lnSpc>
              <a:spcAft>
                <a:spcPts val="700"/>
              </a:spcAft>
              <a:buSzPct val="100000"/>
              <a:buChar char="•"/>
            </a:pPr>
            <a:r>
              <a:rPr lang="en-US" sz="1150" dirty="0">
                <a:solidFill>
                  <a:srgbClr val="3F3138"/>
                </a:solidFill>
                <a:latin typeface="Calibri" pitchFamily="34" charset="0"/>
                <a:ea typeface="Calibri" pitchFamily="34" charset="-122"/>
                <a:cs typeface="Calibri" pitchFamily="34" charset="-120"/>
              </a:rPr>
              <a:t>Los embalses del Limarí y del Elqui han operado temporadas enteras a una fracción de su capacidad, con turnos de agua y superficie arrancada.</a:t>
            </a:r>
            <a:endParaRPr lang="en-US" sz="1150" dirty="0"/>
          </a:p>
          <a:p>
            <a:pPr algn="l" marL="342900" indent="-342900">
              <a:lnSpc>
                <a:spcPct val="116000"/>
              </a:lnSpc>
              <a:spcAft>
                <a:spcPts val="700"/>
              </a:spcAft>
              <a:buSzPct val="100000"/>
              <a:buChar char="•"/>
            </a:pPr>
            <a:r>
              <a:rPr lang="en-US" sz="1150" dirty="0">
                <a:solidFill>
                  <a:srgbClr val="3F3138"/>
                </a:solidFill>
                <a:latin typeface="Calibri" pitchFamily="34" charset="0"/>
                <a:ea typeface="Calibri" pitchFamily="34" charset="-122"/>
                <a:cs typeface="Calibri" pitchFamily="34" charset="-120"/>
              </a:rPr>
              <a:t>Suelos delgados y pedregosos, de baja retención: el agua aplicada percola antes de que la raíz alcance a aprovecharla.</a:t>
            </a:r>
            <a:endParaRPr lang="en-US" sz="1150" dirty="0"/>
          </a:p>
        </p:txBody>
      </p:sp>
      <p:sp>
        <p:nvSpPr>
          <p:cNvPr id="9" name="Shape 6"/>
          <p:cNvSpPr/>
          <p:nvPr/>
        </p:nvSpPr>
        <p:spPr>
          <a:xfrm>
            <a:off x="4359554" y="1783080"/>
            <a:ext cx="3472586" cy="4069080"/>
          </a:xfrm>
          <a:prstGeom prst="roundRect">
            <a:avLst>
              <a:gd name="adj" fmla="val 2633"/>
            </a:avLst>
          </a:prstGeom>
          <a:solidFill>
            <a:srgbClr val="F5EFF1"/>
          </a:solidFill>
          <a:ln w="9525">
            <a:solidFill>
              <a:srgbClr val="E5D9DE"/>
            </a:solidFill>
            <a:prstDash val="solid"/>
          </a:ln>
        </p:spPr>
      </p:sp>
      <p:pic>
        <p:nvPicPr>
          <p:cNvPr id="10" name="Image 1" descr="preencoded.png">    </p:cNvPr>
          <p:cNvPicPr>
            <a:picLocks noChangeAspect="1"/>
          </p:cNvPicPr>
          <p:nvPr/>
        </p:nvPicPr>
        <p:blipFill>
          <a:blip r:embed="rId2"/>
          <a:stretch>
            <a:fillRect/>
          </a:stretch>
        </p:blipFill>
        <p:spPr>
          <a:xfrm>
            <a:off x="4359554" y="1783080"/>
            <a:ext cx="3472586" cy="1691640"/>
          </a:xfrm>
          <a:prstGeom prst="rect">
            <a:avLst/>
          </a:prstGeom>
        </p:spPr>
      </p:pic>
      <p:sp>
        <p:nvSpPr>
          <p:cNvPr id="11" name="Text 7"/>
          <p:cNvSpPr txBox="1"/>
          <p:nvPr/>
        </p:nvSpPr>
        <p:spPr>
          <a:xfrm>
            <a:off x="4560722" y="3639312"/>
            <a:ext cx="3070250" cy="384048"/>
          </a:xfrm>
          <a:prstGeom prst="rect">
            <a:avLst/>
          </a:prstGeom>
          <a:noFill/>
          <a:ln/>
        </p:spPr>
        <p:txBody>
          <a:bodyPr wrap="square" lIns="0" tIns="0" rIns="0" bIns="0" rtlCol="0" anchor="ctr"/>
          <a:lstStyle/>
          <a:p>
            <a:pPr algn="l" indent="0" marL="0">
              <a:buNone/>
            </a:pPr>
            <a:r>
              <a:rPr lang="en-US" sz="1500" b="1" dirty="0">
                <a:solidFill>
                  <a:srgbClr val="6B2A44"/>
                </a:solidFill>
                <a:latin typeface="Cambria" pitchFamily="34" charset="0"/>
                <a:ea typeface="Cambria" pitchFamily="34" charset="-122"/>
                <a:cs typeface="Cambria" pitchFamily="34" charset="-120"/>
              </a:rPr>
              <a:t>Valparaíso — Aconcagua</a:t>
            </a:r>
            <a:endParaRPr lang="en-US" sz="1500" dirty="0"/>
          </a:p>
        </p:txBody>
      </p:sp>
      <p:sp>
        <p:nvSpPr>
          <p:cNvPr id="12" name="Text 8"/>
          <p:cNvSpPr txBox="1"/>
          <p:nvPr/>
        </p:nvSpPr>
        <p:spPr>
          <a:xfrm>
            <a:off x="4560722" y="4041648"/>
            <a:ext cx="3070250" cy="329184"/>
          </a:xfrm>
          <a:prstGeom prst="rect">
            <a:avLst/>
          </a:prstGeom>
          <a:noFill/>
          <a:ln/>
        </p:spPr>
        <p:txBody>
          <a:bodyPr wrap="square" lIns="0" tIns="0" rIns="0" bIns="0" rtlCol="0" anchor="ctr"/>
          <a:lstStyle/>
          <a:p>
            <a:pPr algn="l" indent="0" marL="0">
              <a:buNone/>
            </a:pPr>
            <a:r>
              <a:rPr lang="en-US" sz="1250" b="1" dirty="0">
                <a:solidFill>
                  <a:srgbClr val="8F6D0F"/>
                </a:solidFill>
                <a:latin typeface="Calibri" pitchFamily="34" charset="0"/>
                <a:ea typeface="Calibri" pitchFamily="34" charset="-122"/>
                <a:cs typeface="Calibri" pitchFamily="34" charset="-120"/>
              </a:rPr>
              <a:t>≈ 60 % de la palta nacional</a:t>
            </a:r>
            <a:endParaRPr lang="en-US" sz="1250" dirty="0"/>
          </a:p>
        </p:txBody>
      </p:sp>
      <p:sp>
        <p:nvSpPr>
          <p:cNvPr id="13" name="Text 9"/>
          <p:cNvSpPr txBox="1"/>
          <p:nvPr/>
        </p:nvSpPr>
        <p:spPr>
          <a:xfrm>
            <a:off x="4560722" y="4407408"/>
            <a:ext cx="3070250" cy="1280160"/>
          </a:xfrm>
          <a:prstGeom prst="rect">
            <a:avLst/>
          </a:prstGeom>
          <a:noFill/>
          <a:ln/>
        </p:spPr>
        <p:txBody>
          <a:bodyPr wrap="square" lIns="0" tIns="0" rIns="0" bIns="0" rtlCol="0" anchor="t"/>
          <a:lstStyle/>
          <a:p>
            <a:pPr algn="l" marL="342900" indent="-342900">
              <a:lnSpc>
                <a:spcPct val="116000"/>
              </a:lnSpc>
              <a:spcAft>
                <a:spcPts val="700"/>
              </a:spcAft>
              <a:buSzPct val="100000"/>
              <a:buChar char="•"/>
            </a:pPr>
            <a:r>
              <a:rPr lang="en-US" sz="1150" dirty="0">
                <a:solidFill>
                  <a:srgbClr val="3F3138"/>
                </a:solidFill>
                <a:latin typeface="Calibri" pitchFamily="34" charset="0"/>
                <a:ea typeface="Calibri" pitchFamily="34" charset="-122"/>
                <a:cs typeface="Calibri" pitchFamily="34" charset="-120"/>
              </a:rPr>
              <a:t>Concentra la mayor parte del palto del país, cultivo de alta exigencia hídrica y plantado con frecuencia en laderas de cerro.</a:t>
            </a:r>
            <a:endParaRPr lang="en-US" sz="1150" dirty="0"/>
          </a:p>
          <a:p>
            <a:pPr algn="l" marL="342900" indent="-342900">
              <a:lnSpc>
                <a:spcPct val="116000"/>
              </a:lnSpc>
              <a:spcAft>
                <a:spcPts val="700"/>
              </a:spcAft>
              <a:buSzPct val="100000"/>
              <a:buChar char="•"/>
            </a:pPr>
            <a:r>
              <a:rPr lang="en-US" sz="1150" dirty="0">
                <a:solidFill>
                  <a:srgbClr val="3F3138"/>
                </a:solidFill>
                <a:latin typeface="Calibri" pitchFamily="34" charset="0"/>
                <a:ea typeface="Calibri" pitchFamily="34" charset="-122"/>
                <a:cs typeface="Calibri" pitchFamily="34" charset="-120"/>
              </a:rPr>
              <a:t>La cuenca del Petorca es el caso emblemático del conflicto por el agua: la presión regulatoria y reputacional es máxima.</a:t>
            </a:r>
            <a:endParaRPr lang="en-US" sz="1150" dirty="0"/>
          </a:p>
          <a:p>
            <a:pPr algn="l" marL="342900" indent="-342900">
              <a:lnSpc>
                <a:spcPct val="116000"/>
              </a:lnSpc>
              <a:spcAft>
                <a:spcPts val="700"/>
              </a:spcAft>
              <a:buSzPct val="100000"/>
              <a:buChar char="•"/>
            </a:pPr>
            <a:r>
              <a:rPr lang="en-US" sz="1150" dirty="0">
                <a:solidFill>
                  <a:srgbClr val="3F3138"/>
                </a:solidFill>
                <a:latin typeface="Calibri" pitchFamily="34" charset="0"/>
                <a:ea typeface="Calibri" pitchFamily="34" charset="-122"/>
                <a:cs typeface="Calibri" pitchFamily="34" charset="-120"/>
              </a:rPr>
              <a:t>Exportadores expuestos a las auditorías hídricas de los compradores europeos y norteamericanos.</a:t>
            </a:r>
            <a:endParaRPr lang="en-US" sz="1150" dirty="0"/>
          </a:p>
        </p:txBody>
      </p:sp>
      <p:sp>
        <p:nvSpPr>
          <p:cNvPr id="14" name="Shape 10"/>
          <p:cNvSpPr/>
          <p:nvPr/>
        </p:nvSpPr>
        <p:spPr>
          <a:xfrm>
            <a:off x="8124749" y="1783080"/>
            <a:ext cx="3472586" cy="4069080"/>
          </a:xfrm>
          <a:prstGeom prst="roundRect">
            <a:avLst>
              <a:gd name="adj" fmla="val 2633"/>
            </a:avLst>
          </a:prstGeom>
          <a:solidFill>
            <a:srgbClr val="F5EFF1"/>
          </a:solidFill>
          <a:ln w="9525">
            <a:solidFill>
              <a:srgbClr val="E5D9DE"/>
            </a:solidFill>
            <a:prstDash val="solid"/>
          </a:ln>
        </p:spPr>
      </p:sp>
      <p:pic>
        <p:nvPicPr>
          <p:cNvPr id="15" name="Image 2" descr="preencoded.png">    </p:cNvPr>
          <p:cNvPicPr>
            <a:picLocks noChangeAspect="1"/>
          </p:cNvPicPr>
          <p:nvPr/>
        </p:nvPicPr>
        <p:blipFill>
          <a:blip r:embed="rId3"/>
          <a:stretch>
            <a:fillRect/>
          </a:stretch>
        </p:blipFill>
        <p:spPr>
          <a:xfrm>
            <a:off x="8124749" y="1783080"/>
            <a:ext cx="3472586" cy="1691640"/>
          </a:xfrm>
          <a:prstGeom prst="rect">
            <a:avLst/>
          </a:prstGeom>
        </p:spPr>
      </p:pic>
      <p:sp>
        <p:nvSpPr>
          <p:cNvPr id="16" name="Text 11"/>
          <p:cNvSpPr txBox="1"/>
          <p:nvPr/>
        </p:nvSpPr>
        <p:spPr>
          <a:xfrm>
            <a:off x="8325917" y="3639312"/>
            <a:ext cx="3070250" cy="384048"/>
          </a:xfrm>
          <a:prstGeom prst="rect">
            <a:avLst/>
          </a:prstGeom>
          <a:noFill/>
          <a:ln/>
        </p:spPr>
        <p:txBody>
          <a:bodyPr wrap="square" lIns="0" tIns="0" rIns="0" bIns="0" rtlCol="0" anchor="ctr"/>
          <a:lstStyle/>
          <a:p>
            <a:pPr algn="l" indent="0" marL="0">
              <a:buNone/>
            </a:pPr>
            <a:r>
              <a:rPr lang="en-US" sz="1500" b="1" dirty="0">
                <a:solidFill>
                  <a:srgbClr val="6B2A44"/>
                </a:solidFill>
                <a:latin typeface="Cambria" pitchFamily="34" charset="0"/>
                <a:ea typeface="Cambria" pitchFamily="34" charset="-122"/>
                <a:cs typeface="Cambria" pitchFamily="34" charset="-120"/>
              </a:rPr>
              <a:t>O'Higgins y Maule</a:t>
            </a:r>
            <a:endParaRPr lang="en-US" sz="1500" dirty="0"/>
          </a:p>
        </p:txBody>
      </p:sp>
      <p:sp>
        <p:nvSpPr>
          <p:cNvPr id="17" name="Text 12"/>
          <p:cNvSpPr txBox="1"/>
          <p:nvPr/>
        </p:nvSpPr>
        <p:spPr>
          <a:xfrm>
            <a:off x="8325917" y="4041648"/>
            <a:ext cx="3070250" cy="329184"/>
          </a:xfrm>
          <a:prstGeom prst="rect">
            <a:avLst/>
          </a:prstGeom>
          <a:noFill/>
          <a:ln/>
        </p:spPr>
        <p:txBody>
          <a:bodyPr wrap="square" lIns="0" tIns="0" rIns="0" bIns="0" rtlCol="0" anchor="ctr"/>
          <a:lstStyle/>
          <a:p>
            <a:pPr algn="l" indent="0" marL="0">
              <a:buNone/>
            </a:pPr>
            <a:r>
              <a:rPr lang="en-US" sz="1250" b="1" dirty="0">
                <a:solidFill>
                  <a:srgbClr val="8F6D0F"/>
                </a:solidFill>
                <a:latin typeface="Calibri" pitchFamily="34" charset="0"/>
                <a:ea typeface="Calibri" pitchFamily="34" charset="-122"/>
                <a:cs typeface="Calibri" pitchFamily="34" charset="-120"/>
              </a:rPr>
              <a:t>≈ 50 000 ha de viñedos en Maule</a:t>
            </a:r>
            <a:endParaRPr lang="en-US" sz="1250" dirty="0"/>
          </a:p>
        </p:txBody>
      </p:sp>
      <p:sp>
        <p:nvSpPr>
          <p:cNvPr id="18" name="Text 13"/>
          <p:cNvSpPr txBox="1"/>
          <p:nvPr/>
        </p:nvSpPr>
        <p:spPr>
          <a:xfrm>
            <a:off x="8325917" y="4407408"/>
            <a:ext cx="3070250" cy="1280160"/>
          </a:xfrm>
          <a:prstGeom prst="rect">
            <a:avLst/>
          </a:prstGeom>
          <a:noFill/>
          <a:ln/>
        </p:spPr>
        <p:txBody>
          <a:bodyPr wrap="square" lIns="0" tIns="0" rIns="0" bIns="0" rtlCol="0" anchor="t"/>
          <a:lstStyle/>
          <a:p>
            <a:pPr algn="l" marL="342900" indent="-342900">
              <a:lnSpc>
                <a:spcPct val="116000"/>
              </a:lnSpc>
              <a:spcAft>
                <a:spcPts val="700"/>
              </a:spcAft>
              <a:buSzPct val="100000"/>
              <a:buChar char="•"/>
            </a:pPr>
            <a:r>
              <a:rPr lang="en-US" sz="1150" dirty="0">
                <a:solidFill>
                  <a:srgbClr val="3F3138"/>
                </a:solidFill>
                <a:latin typeface="Calibri" pitchFamily="34" charset="0"/>
                <a:ea typeface="Calibri" pitchFamily="34" charset="-122"/>
                <a:cs typeface="Calibri" pitchFamily="34" charset="-120"/>
              </a:rPr>
              <a:t>Corazón del cerezo de exportación a China y del manzano: fruta de alto valor donde el estrés hídrico en cuaja y llenado cuesta calibre.</a:t>
            </a:r>
            <a:endParaRPr lang="en-US" sz="1150" dirty="0"/>
          </a:p>
          <a:p>
            <a:pPr algn="l" marL="342900" indent="-342900">
              <a:lnSpc>
                <a:spcPct val="116000"/>
              </a:lnSpc>
              <a:spcAft>
                <a:spcPts val="700"/>
              </a:spcAft>
              <a:buSzPct val="100000"/>
              <a:buChar char="•"/>
            </a:pPr>
            <a:r>
              <a:rPr lang="en-US" sz="1150" dirty="0">
                <a:solidFill>
                  <a:srgbClr val="3F3138"/>
                </a:solidFill>
                <a:latin typeface="Calibri" pitchFamily="34" charset="0"/>
                <a:ea typeface="Calibri" pitchFamily="34" charset="-122"/>
                <a:cs typeface="Calibri" pitchFamily="34" charset="-120"/>
              </a:rPr>
              <a:t>Viñedos del secano interior y costero, sin riego o con riego deficitario: el hidrorretenedor actúa donde no hay infraestructura.</a:t>
            </a:r>
            <a:endParaRPr lang="en-US" sz="1150" dirty="0"/>
          </a:p>
          <a:p>
            <a:pPr algn="l" marL="342900" indent="-342900">
              <a:lnSpc>
                <a:spcPct val="116000"/>
              </a:lnSpc>
              <a:spcAft>
                <a:spcPts val="700"/>
              </a:spcAft>
              <a:buSzPct val="100000"/>
              <a:buChar char="•"/>
            </a:pPr>
            <a:r>
              <a:rPr lang="en-US" sz="1150" dirty="0">
                <a:solidFill>
                  <a:srgbClr val="3F3138"/>
                </a:solidFill>
                <a:latin typeface="Calibri" pitchFamily="34" charset="0"/>
                <a:ea typeface="Calibri" pitchFamily="34" charset="-122"/>
                <a:cs typeface="Calibri" pitchFamily="34" charset="-120"/>
              </a:rPr>
              <a:t>Predios medianos y grandes, con capacidad técnica para conducir un ensayo con parcela testigo.</a:t>
            </a:r>
            <a:endParaRPr lang="en-US" sz="1150" dirty="0"/>
          </a:p>
        </p:txBody>
      </p:sp>
      <p:sp>
        <p:nvSpPr>
          <p:cNvPr id="19" name="Text 14"/>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Estudio de mercado Chile</a:t>
            </a:r>
            <a:endParaRPr lang="en-US" sz="950" dirty="0"/>
          </a:p>
        </p:txBody>
      </p:sp>
      <p:sp>
        <p:nvSpPr>
          <p:cNvPr id="20" name="Text 15"/>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13</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CÓMO TRABAJAMOS</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Un despliegue por etapas, medido en cada paso</a:t>
            </a:r>
            <a:endParaRPr lang="en-US" sz="3000" dirty="0"/>
          </a:p>
        </p:txBody>
      </p:sp>
      <p:sp>
        <p:nvSpPr>
          <p:cNvPr id="4" name="Shape 2"/>
          <p:cNvSpPr/>
          <p:nvPr/>
        </p:nvSpPr>
        <p:spPr>
          <a:xfrm>
            <a:off x="594360" y="1874520"/>
            <a:ext cx="2545004" cy="2834640"/>
          </a:xfrm>
          <a:prstGeom prst="roundRect">
            <a:avLst>
              <a:gd name="adj" fmla="val 3593"/>
            </a:avLst>
          </a:prstGeom>
          <a:solidFill>
            <a:srgbClr val="F5EFF1"/>
          </a:solidFill>
          <a:ln w="9525">
            <a:solidFill>
              <a:srgbClr val="E5D9DE"/>
            </a:solidFill>
            <a:prstDash val="solid"/>
          </a:ln>
        </p:spPr>
      </p:sp>
      <p:sp>
        <p:nvSpPr>
          <p:cNvPr id="5" name="Shape 3"/>
          <p:cNvSpPr/>
          <p:nvPr/>
        </p:nvSpPr>
        <p:spPr>
          <a:xfrm>
            <a:off x="822960" y="2103120"/>
            <a:ext cx="566928" cy="566928"/>
          </a:xfrm>
          <a:prstGeom prst="ellipse">
            <a:avLst/>
          </a:prstGeom>
          <a:solidFill>
            <a:srgbClr val="6B2A44"/>
          </a:solidFill>
          <a:ln/>
        </p:spPr>
      </p:sp>
      <p:sp>
        <p:nvSpPr>
          <p:cNvPr id="6" name="Text 4"/>
          <p:cNvSpPr txBox="1"/>
          <p:nvPr/>
        </p:nvSpPr>
        <p:spPr>
          <a:xfrm>
            <a:off x="822960"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822960" y="2788920"/>
            <a:ext cx="2087804" cy="457200"/>
          </a:xfrm>
          <a:prstGeom prst="rect">
            <a:avLst/>
          </a:prstGeom>
          <a:noFill/>
          <a:ln/>
        </p:spPr>
        <p:txBody>
          <a:bodyPr wrap="square" lIns="0" tIns="0" rIns="0" bIns="0" rtlCol="0" anchor="ctr"/>
          <a:lstStyle/>
          <a:p>
            <a:pPr algn="l" indent="0" marL="0">
              <a:buNone/>
            </a:pPr>
            <a:r>
              <a:rPr lang="en-US" sz="1400" b="1" dirty="0">
                <a:solidFill>
                  <a:srgbClr val="6B2A44"/>
                </a:solidFill>
                <a:latin typeface="Cambria" pitchFamily="34" charset="0"/>
                <a:ea typeface="Cambria" pitchFamily="34" charset="-122"/>
                <a:cs typeface="Cambria" pitchFamily="34" charset="-120"/>
              </a:rPr>
              <a:t>Diagnóstico</a:t>
            </a:r>
            <a:endParaRPr lang="en-US" sz="1400" dirty="0"/>
          </a:p>
        </p:txBody>
      </p:sp>
      <p:sp>
        <p:nvSpPr>
          <p:cNvPr id="8" name="Text 6"/>
          <p:cNvSpPr txBox="1"/>
          <p:nvPr/>
        </p:nvSpPr>
        <p:spPr>
          <a:xfrm>
            <a:off x="822960"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3F3138"/>
                </a:solidFill>
                <a:latin typeface="Calibri" pitchFamily="34" charset="0"/>
                <a:ea typeface="Calibri" pitchFamily="34" charset="-122"/>
                <a:cs typeface="Calibri" pitchFamily="34" charset="-120"/>
              </a:rPr>
              <a:t>Análisis del suelo, del método de riego y del cultivo. Sin compromiso en esta etapa.</a:t>
            </a:r>
            <a:endParaRPr lang="en-US" sz="1200" dirty="0"/>
          </a:p>
        </p:txBody>
      </p:sp>
      <p:sp>
        <p:nvSpPr>
          <p:cNvPr id="9" name="Shape 7"/>
          <p:cNvSpPr/>
          <p:nvPr/>
        </p:nvSpPr>
        <p:spPr>
          <a:xfrm>
            <a:off x="3413684" y="1874520"/>
            <a:ext cx="2545004" cy="2834640"/>
          </a:xfrm>
          <a:prstGeom prst="roundRect">
            <a:avLst>
              <a:gd name="adj" fmla="val 3593"/>
            </a:avLst>
          </a:prstGeom>
          <a:solidFill>
            <a:srgbClr val="F5EFF1"/>
          </a:solidFill>
          <a:ln w="9525">
            <a:solidFill>
              <a:srgbClr val="E5D9DE"/>
            </a:solidFill>
            <a:prstDash val="solid"/>
          </a:ln>
        </p:spPr>
      </p:sp>
      <p:sp>
        <p:nvSpPr>
          <p:cNvPr id="10" name="Shape 8"/>
          <p:cNvSpPr/>
          <p:nvPr/>
        </p:nvSpPr>
        <p:spPr>
          <a:xfrm>
            <a:off x="3642284" y="2103120"/>
            <a:ext cx="566928" cy="566928"/>
          </a:xfrm>
          <a:prstGeom prst="ellipse">
            <a:avLst/>
          </a:prstGeom>
          <a:solidFill>
            <a:srgbClr val="6B2A44"/>
          </a:solidFill>
          <a:ln/>
        </p:spPr>
      </p:sp>
      <p:sp>
        <p:nvSpPr>
          <p:cNvPr id="11" name="Text 9"/>
          <p:cNvSpPr txBox="1"/>
          <p:nvPr/>
        </p:nvSpPr>
        <p:spPr>
          <a:xfrm>
            <a:off x="3642284"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3642284" y="2788920"/>
            <a:ext cx="2087804" cy="457200"/>
          </a:xfrm>
          <a:prstGeom prst="rect">
            <a:avLst/>
          </a:prstGeom>
          <a:noFill/>
          <a:ln/>
        </p:spPr>
        <p:txBody>
          <a:bodyPr wrap="square" lIns="0" tIns="0" rIns="0" bIns="0" rtlCol="0" anchor="ctr"/>
          <a:lstStyle/>
          <a:p>
            <a:pPr algn="l" indent="0" marL="0">
              <a:buNone/>
            </a:pPr>
            <a:r>
              <a:rPr lang="en-US" sz="1400" b="1" dirty="0">
                <a:solidFill>
                  <a:srgbClr val="6B2A44"/>
                </a:solidFill>
                <a:latin typeface="Cambria" pitchFamily="34" charset="0"/>
                <a:ea typeface="Cambria" pitchFamily="34" charset="-122"/>
                <a:cs typeface="Cambria" pitchFamily="34" charset="-120"/>
              </a:rPr>
              <a:t>Parcela piloto</a:t>
            </a:r>
            <a:endParaRPr lang="en-US" sz="1400" dirty="0"/>
          </a:p>
        </p:txBody>
      </p:sp>
      <p:sp>
        <p:nvSpPr>
          <p:cNvPr id="13" name="Text 11"/>
          <p:cNvSpPr txBox="1"/>
          <p:nvPr/>
        </p:nvSpPr>
        <p:spPr>
          <a:xfrm>
            <a:off x="3642284"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3F3138"/>
                </a:solidFill>
                <a:latin typeface="Calibri" pitchFamily="34" charset="0"/>
                <a:ea typeface="Calibri" pitchFamily="34" charset="-122"/>
                <a:cs typeface="Calibri" pitchFamily="34" charset="-120"/>
              </a:rPr>
              <a:t>Un ensayo comparativo en una parcela, con parcela testigo conducida de forma idéntica.</a:t>
            </a:r>
            <a:endParaRPr lang="en-US" sz="1200" dirty="0"/>
          </a:p>
        </p:txBody>
      </p:sp>
      <p:sp>
        <p:nvSpPr>
          <p:cNvPr id="14" name="Shape 12"/>
          <p:cNvSpPr/>
          <p:nvPr/>
        </p:nvSpPr>
        <p:spPr>
          <a:xfrm>
            <a:off x="6233008" y="1874520"/>
            <a:ext cx="2545004" cy="2834640"/>
          </a:xfrm>
          <a:prstGeom prst="roundRect">
            <a:avLst>
              <a:gd name="adj" fmla="val 3593"/>
            </a:avLst>
          </a:prstGeom>
          <a:solidFill>
            <a:srgbClr val="F5EFF1"/>
          </a:solidFill>
          <a:ln w="9525">
            <a:solidFill>
              <a:srgbClr val="E5D9DE"/>
            </a:solidFill>
            <a:prstDash val="solid"/>
          </a:ln>
        </p:spPr>
      </p:sp>
      <p:sp>
        <p:nvSpPr>
          <p:cNvPr id="15" name="Shape 13"/>
          <p:cNvSpPr/>
          <p:nvPr/>
        </p:nvSpPr>
        <p:spPr>
          <a:xfrm>
            <a:off x="6461608" y="2103120"/>
            <a:ext cx="566928" cy="566928"/>
          </a:xfrm>
          <a:prstGeom prst="ellipse">
            <a:avLst/>
          </a:prstGeom>
          <a:solidFill>
            <a:srgbClr val="6B2A44"/>
          </a:solidFill>
          <a:ln/>
        </p:spPr>
      </p:sp>
      <p:sp>
        <p:nvSpPr>
          <p:cNvPr id="16" name="Text 14"/>
          <p:cNvSpPr txBox="1"/>
          <p:nvPr/>
        </p:nvSpPr>
        <p:spPr>
          <a:xfrm>
            <a:off x="6461608"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txBox="1"/>
          <p:nvPr/>
        </p:nvSpPr>
        <p:spPr>
          <a:xfrm>
            <a:off x="6461608" y="2788920"/>
            <a:ext cx="2087804" cy="457200"/>
          </a:xfrm>
          <a:prstGeom prst="rect">
            <a:avLst/>
          </a:prstGeom>
          <a:noFill/>
          <a:ln/>
        </p:spPr>
        <p:txBody>
          <a:bodyPr wrap="square" lIns="0" tIns="0" rIns="0" bIns="0" rtlCol="0" anchor="ctr"/>
          <a:lstStyle/>
          <a:p>
            <a:pPr algn="l" indent="0" marL="0">
              <a:buNone/>
            </a:pPr>
            <a:r>
              <a:rPr lang="en-US" sz="1400" b="1" dirty="0">
                <a:solidFill>
                  <a:srgbClr val="6B2A44"/>
                </a:solidFill>
                <a:latin typeface="Cambria" pitchFamily="34" charset="0"/>
                <a:ea typeface="Cambria" pitchFamily="34" charset="-122"/>
                <a:cs typeface="Cambria" pitchFamily="34" charset="-120"/>
              </a:rPr>
              <a:t>Medición</a:t>
            </a:r>
            <a:endParaRPr lang="en-US" sz="1400" dirty="0"/>
          </a:p>
        </p:txBody>
      </p:sp>
      <p:sp>
        <p:nvSpPr>
          <p:cNvPr id="18" name="Text 16"/>
          <p:cNvSpPr txBox="1"/>
          <p:nvPr/>
        </p:nvSpPr>
        <p:spPr>
          <a:xfrm>
            <a:off x="6461608"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3F3138"/>
                </a:solidFill>
                <a:latin typeface="Calibri" pitchFamily="34" charset="0"/>
                <a:ea typeface="Calibri" pitchFamily="34" charset="-122"/>
                <a:cs typeface="Calibri" pitchFamily="34" charset="-120"/>
              </a:rPr>
              <a:t>Registro de consumo de agua y de rendimiento durante un ciclo de cultivo completo.</a:t>
            </a:r>
            <a:endParaRPr lang="en-US" sz="1200" dirty="0"/>
          </a:p>
        </p:txBody>
      </p:sp>
      <p:sp>
        <p:nvSpPr>
          <p:cNvPr id="19" name="Shape 17"/>
          <p:cNvSpPr/>
          <p:nvPr/>
        </p:nvSpPr>
        <p:spPr>
          <a:xfrm>
            <a:off x="9052331" y="1874520"/>
            <a:ext cx="2545004" cy="2834640"/>
          </a:xfrm>
          <a:prstGeom prst="roundRect">
            <a:avLst>
              <a:gd name="adj" fmla="val 3593"/>
            </a:avLst>
          </a:prstGeom>
          <a:solidFill>
            <a:srgbClr val="F5EFF1"/>
          </a:solidFill>
          <a:ln w="9525">
            <a:solidFill>
              <a:srgbClr val="E5D9DE"/>
            </a:solidFill>
            <a:prstDash val="solid"/>
          </a:ln>
        </p:spPr>
      </p:sp>
      <p:sp>
        <p:nvSpPr>
          <p:cNvPr id="20" name="Shape 18"/>
          <p:cNvSpPr/>
          <p:nvPr/>
        </p:nvSpPr>
        <p:spPr>
          <a:xfrm>
            <a:off x="9280931" y="2103120"/>
            <a:ext cx="566928" cy="566928"/>
          </a:xfrm>
          <a:prstGeom prst="ellipse">
            <a:avLst/>
          </a:prstGeom>
          <a:solidFill>
            <a:srgbClr val="6B2A44"/>
          </a:solidFill>
          <a:ln/>
        </p:spPr>
      </p:sp>
      <p:sp>
        <p:nvSpPr>
          <p:cNvPr id="21" name="Text 19"/>
          <p:cNvSpPr txBox="1"/>
          <p:nvPr/>
        </p:nvSpPr>
        <p:spPr>
          <a:xfrm>
            <a:off x="9280931"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20"/>
          <p:cNvSpPr txBox="1"/>
          <p:nvPr/>
        </p:nvSpPr>
        <p:spPr>
          <a:xfrm>
            <a:off x="9280931" y="2788920"/>
            <a:ext cx="2087804" cy="457200"/>
          </a:xfrm>
          <a:prstGeom prst="rect">
            <a:avLst/>
          </a:prstGeom>
          <a:noFill/>
          <a:ln/>
        </p:spPr>
        <p:txBody>
          <a:bodyPr wrap="square" lIns="0" tIns="0" rIns="0" bIns="0" rtlCol="0" anchor="ctr"/>
          <a:lstStyle/>
          <a:p>
            <a:pPr algn="l" indent="0" marL="0">
              <a:buNone/>
            </a:pPr>
            <a:r>
              <a:rPr lang="en-US" sz="1400" b="1" dirty="0">
                <a:solidFill>
                  <a:srgbClr val="6B2A44"/>
                </a:solidFill>
                <a:latin typeface="Cambria" pitchFamily="34" charset="0"/>
                <a:ea typeface="Cambria" pitchFamily="34" charset="-122"/>
                <a:cs typeface="Cambria" pitchFamily="34" charset="-120"/>
              </a:rPr>
              <a:t>Extensión</a:t>
            </a:r>
            <a:endParaRPr lang="en-US" sz="1400" dirty="0"/>
          </a:p>
        </p:txBody>
      </p:sp>
      <p:sp>
        <p:nvSpPr>
          <p:cNvPr id="23" name="Text 21"/>
          <p:cNvSpPr txBox="1"/>
          <p:nvPr/>
        </p:nvSpPr>
        <p:spPr>
          <a:xfrm>
            <a:off x="9280931"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3F3138"/>
                </a:solidFill>
                <a:latin typeface="Calibri" pitchFamily="34" charset="0"/>
                <a:ea typeface="Calibri" pitchFamily="34" charset="-122"/>
                <a:cs typeface="Calibri" pitchFamily="34" charset="-120"/>
              </a:rPr>
              <a:t>Ampliación gradual a las demás parcelas sobre la base de los resultados constatados.</a:t>
            </a:r>
            <a:endParaRPr lang="en-US" sz="1200" dirty="0"/>
          </a:p>
        </p:txBody>
      </p:sp>
      <p:sp>
        <p:nvSpPr>
          <p:cNvPr id="24" name="Text 22"/>
          <p:cNvSpPr txBox="1"/>
          <p:nvPr/>
        </p:nvSpPr>
        <p:spPr>
          <a:xfrm>
            <a:off x="594360" y="4983480"/>
            <a:ext cx="11002975" cy="822960"/>
          </a:xfrm>
          <a:prstGeom prst="rect">
            <a:avLst/>
          </a:prstGeom>
          <a:noFill/>
          <a:ln/>
        </p:spPr>
        <p:txBody>
          <a:bodyPr wrap="square" lIns="0" tIns="0" rIns="0" bIns="0" rtlCol="0" anchor="t"/>
          <a:lstStyle/>
          <a:p>
            <a:pPr algn="l" indent="0" marL="0">
              <a:lnSpc>
                <a:spcPct val="125000"/>
              </a:lnSpc>
              <a:buNone/>
            </a:pPr>
            <a:r>
              <a:rPr lang="en-US" sz="1250" i="1" dirty="0">
                <a:solidFill>
                  <a:srgbClr val="7C6B73"/>
                </a:solidFill>
                <a:latin typeface="Calibri" pitchFamily="34" charset="0"/>
                <a:ea typeface="Calibri" pitchFamily="34" charset="-122"/>
                <a:cs typeface="Calibri" pitchFamily="34" charset="-120"/>
              </a:rPr>
              <a:t>La regla de dosificación es la misma en todas partes: 3 gramos por litro de tierra útil. Lo que cambia de un predio a otro es el volumen de suelo que las raíces exploran realmente.</a:t>
            </a:r>
            <a:endParaRPr lang="en-US" sz="1250" dirty="0"/>
          </a:p>
        </p:txBody>
      </p:sp>
      <p:sp>
        <p:nvSpPr>
          <p:cNvPr id="25" name="Text 23"/>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Estudio de mercado Chile</a:t>
            </a:r>
            <a:endParaRPr lang="en-US" sz="950" dirty="0"/>
          </a:p>
        </p:txBody>
      </p:sp>
      <p:sp>
        <p:nvSpPr>
          <p:cNvPr id="26" name="Text 24"/>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14</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Trabajar juntos</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Un socio local para Chile</a:t>
            </a:r>
            <a:endParaRPr lang="en-US" sz="3000" dirty="0"/>
          </a:p>
        </p:txBody>
      </p:sp>
      <p:sp>
        <p:nvSpPr>
          <p:cNvPr id="4" name="Shape 2"/>
          <p:cNvSpPr/>
          <p:nvPr/>
        </p:nvSpPr>
        <p:spPr>
          <a:xfrm>
            <a:off x="594360" y="1874520"/>
            <a:ext cx="2545004" cy="2834640"/>
          </a:xfrm>
          <a:prstGeom prst="roundRect">
            <a:avLst>
              <a:gd name="adj" fmla="val 3593"/>
            </a:avLst>
          </a:prstGeom>
          <a:solidFill>
            <a:srgbClr val="F5EFF1"/>
          </a:solidFill>
          <a:ln w="9525">
            <a:solidFill>
              <a:srgbClr val="E5D9DE"/>
            </a:solidFill>
            <a:prstDash val="solid"/>
          </a:ln>
        </p:spPr>
      </p:sp>
      <p:sp>
        <p:nvSpPr>
          <p:cNvPr id="5" name="Shape 3"/>
          <p:cNvSpPr/>
          <p:nvPr/>
        </p:nvSpPr>
        <p:spPr>
          <a:xfrm>
            <a:off x="822960" y="2103120"/>
            <a:ext cx="566928" cy="566928"/>
          </a:xfrm>
          <a:prstGeom prst="ellipse">
            <a:avLst/>
          </a:prstGeom>
          <a:solidFill>
            <a:srgbClr val="6B2A44"/>
          </a:solidFill>
          <a:ln/>
        </p:spPr>
      </p:sp>
      <p:sp>
        <p:nvSpPr>
          <p:cNvPr id="6" name="Text 4"/>
          <p:cNvSpPr txBox="1"/>
          <p:nvPr/>
        </p:nvSpPr>
        <p:spPr>
          <a:xfrm>
            <a:off x="822960"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822960" y="2788920"/>
            <a:ext cx="2087804" cy="457200"/>
          </a:xfrm>
          <a:prstGeom prst="rect">
            <a:avLst/>
          </a:prstGeom>
          <a:noFill/>
          <a:ln/>
        </p:spPr>
        <p:txBody>
          <a:bodyPr wrap="square" lIns="0" tIns="0" rIns="0" bIns="0" rtlCol="0" anchor="ctr"/>
          <a:lstStyle/>
          <a:p>
            <a:pPr algn="l" indent="0" marL="0">
              <a:buNone/>
            </a:pPr>
            <a:r>
              <a:rPr lang="en-US" sz="1400" b="1" dirty="0">
                <a:solidFill>
                  <a:srgbClr val="6B2A44"/>
                </a:solidFill>
                <a:latin typeface="Cambria" pitchFamily="34" charset="0"/>
                <a:ea typeface="Cambria" pitchFamily="34" charset="-122"/>
                <a:cs typeface="Cambria" pitchFamily="34" charset="-120"/>
              </a:rPr>
              <a:t>Distribución</a:t>
            </a:r>
            <a:endParaRPr lang="en-US" sz="1400" dirty="0"/>
          </a:p>
        </p:txBody>
      </p:sp>
      <p:sp>
        <p:nvSpPr>
          <p:cNvPr id="8" name="Text 6"/>
          <p:cNvSpPr txBox="1"/>
          <p:nvPr/>
        </p:nvSpPr>
        <p:spPr>
          <a:xfrm>
            <a:off x="822960"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3F3138"/>
                </a:solidFill>
                <a:latin typeface="Calibri" pitchFamily="34" charset="0"/>
                <a:ea typeface="Calibri" pitchFamily="34" charset="-122"/>
                <a:cs typeface="Calibri" pitchFamily="34" charset="-120"/>
              </a:rPr>
              <a:t>Exclusividad territorial y stock de lanzamiento para la primera campaña comercial.</a:t>
            </a:r>
            <a:endParaRPr lang="en-US" sz="1200" dirty="0"/>
          </a:p>
        </p:txBody>
      </p:sp>
      <p:sp>
        <p:nvSpPr>
          <p:cNvPr id="9" name="Shape 7"/>
          <p:cNvSpPr/>
          <p:nvPr/>
        </p:nvSpPr>
        <p:spPr>
          <a:xfrm>
            <a:off x="3413684" y="1874520"/>
            <a:ext cx="2545004" cy="2834640"/>
          </a:xfrm>
          <a:prstGeom prst="roundRect">
            <a:avLst>
              <a:gd name="adj" fmla="val 3593"/>
            </a:avLst>
          </a:prstGeom>
          <a:solidFill>
            <a:srgbClr val="F5EFF1"/>
          </a:solidFill>
          <a:ln w="9525">
            <a:solidFill>
              <a:srgbClr val="E5D9DE"/>
            </a:solidFill>
            <a:prstDash val="solid"/>
          </a:ln>
        </p:spPr>
      </p:sp>
      <p:sp>
        <p:nvSpPr>
          <p:cNvPr id="10" name="Shape 8"/>
          <p:cNvSpPr/>
          <p:nvPr/>
        </p:nvSpPr>
        <p:spPr>
          <a:xfrm>
            <a:off x="3642284" y="2103120"/>
            <a:ext cx="566928" cy="566928"/>
          </a:xfrm>
          <a:prstGeom prst="ellipse">
            <a:avLst/>
          </a:prstGeom>
          <a:solidFill>
            <a:srgbClr val="6B2A44"/>
          </a:solidFill>
          <a:ln/>
        </p:spPr>
      </p:sp>
      <p:sp>
        <p:nvSpPr>
          <p:cNvPr id="11" name="Text 9"/>
          <p:cNvSpPr txBox="1"/>
          <p:nvPr/>
        </p:nvSpPr>
        <p:spPr>
          <a:xfrm>
            <a:off x="3642284"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3642284" y="2788920"/>
            <a:ext cx="2087804" cy="457200"/>
          </a:xfrm>
          <a:prstGeom prst="rect">
            <a:avLst/>
          </a:prstGeom>
          <a:noFill/>
          <a:ln/>
        </p:spPr>
        <p:txBody>
          <a:bodyPr wrap="square" lIns="0" tIns="0" rIns="0" bIns="0" rtlCol="0" anchor="ctr"/>
          <a:lstStyle/>
          <a:p>
            <a:pPr algn="l" indent="0" marL="0">
              <a:buNone/>
            </a:pPr>
            <a:r>
              <a:rPr lang="en-US" sz="1400" b="1" dirty="0">
                <a:solidFill>
                  <a:srgbClr val="6B2A44"/>
                </a:solidFill>
                <a:latin typeface="Cambria" pitchFamily="34" charset="0"/>
                <a:ea typeface="Cambria" pitchFamily="34" charset="-122"/>
                <a:cs typeface="Cambria" pitchFamily="34" charset="-120"/>
              </a:rPr>
              <a:t>Formación</a:t>
            </a:r>
            <a:endParaRPr lang="en-US" sz="1400" dirty="0"/>
          </a:p>
        </p:txBody>
      </p:sp>
      <p:sp>
        <p:nvSpPr>
          <p:cNvPr id="13" name="Text 11"/>
          <p:cNvSpPr txBox="1"/>
          <p:nvPr/>
        </p:nvSpPr>
        <p:spPr>
          <a:xfrm>
            <a:off x="3642284"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3F3138"/>
                </a:solidFill>
                <a:latin typeface="Calibri" pitchFamily="34" charset="0"/>
                <a:ea typeface="Calibri" pitchFamily="34" charset="-122"/>
                <a:cs typeface="Calibri" pitchFamily="34" charset="-120"/>
              </a:rPr>
              <a:t>Formación técnica de los equipos, protocolos de dosis y actualización cada campaña.</a:t>
            </a:r>
            <a:endParaRPr lang="en-US" sz="1200" dirty="0"/>
          </a:p>
        </p:txBody>
      </p:sp>
      <p:sp>
        <p:nvSpPr>
          <p:cNvPr id="14" name="Shape 12"/>
          <p:cNvSpPr/>
          <p:nvPr/>
        </p:nvSpPr>
        <p:spPr>
          <a:xfrm>
            <a:off x="6233008" y="1874520"/>
            <a:ext cx="2545004" cy="2834640"/>
          </a:xfrm>
          <a:prstGeom prst="roundRect">
            <a:avLst>
              <a:gd name="adj" fmla="val 3593"/>
            </a:avLst>
          </a:prstGeom>
          <a:solidFill>
            <a:srgbClr val="F5EFF1"/>
          </a:solidFill>
          <a:ln w="9525">
            <a:solidFill>
              <a:srgbClr val="E5D9DE"/>
            </a:solidFill>
            <a:prstDash val="solid"/>
          </a:ln>
        </p:spPr>
      </p:sp>
      <p:sp>
        <p:nvSpPr>
          <p:cNvPr id="15" name="Shape 13"/>
          <p:cNvSpPr/>
          <p:nvPr/>
        </p:nvSpPr>
        <p:spPr>
          <a:xfrm>
            <a:off x="6461608" y="2103120"/>
            <a:ext cx="566928" cy="566928"/>
          </a:xfrm>
          <a:prstGeom prst="ellipse">
            <a:avLst/>
          </a:prstGeom>
          <a:solidFill>
            <a:srgbClr val="6B2A44"/>
          </a:solidFill>
          <a:ln/>
        </p:spPr>
      </p:sp>
      <p:sp>
        <p:nvSpPr>
          <p:cNvPr id="16" name="Text 14"/>
          <p:cNvSpPr txBox="1"/>
          <p:nvPr/>
        </p:nvSpPr>
        <p:spPr>
          <a:xfrm>
            <a:off x="6461608"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txBox="1"/>
          <p:nvPr/>
        </p:nvSpPr>
        <p:spPr>
          <a:xfrm>
            <a:off x="6461608" y="2788920"/>
            <a:ext cx="2087804" cy="457200"/>
          </a:xfrm>
          <a:prstGeom prst="rect">
            <a:avLst/>
          </a:prstGeom>
          <a:noFill/>
          <a:ln/>
        </p:spPr>
        <p:txBody>
          <a:bodyPr wrap="square" lIns="0" tIns="0" rIns="0" bIns="0" rtlCol="0" anchor="ctr"/>
          <a:lstStyle/>
          <a:p>
            <a:pPr algn="l" indent="0" marL="0">
              <a:buNone/>
            </a:pPr>
            <a:r>
              <a:rPr lang="en-US" sz="1400" b="1" dirty="0">
                <a:solidFill>
                  <a:srgbClr val="6B2A44"/>
                </a:solidFill>
                <a:latin typeface="Cambria" pitchFamily="34" charset="0"/>
                <a:ea typeface="Cambria" pitchFamily="34" charset="-122"/>
                <a:cs typeface="Cambria" pitchFamily="34" charset="-120"/>
              </a:rPr>
              <a:t>Ensayos conjuntos</a:t>
            </a:r>
            <a:endParaRPr lang="en-US" sz="1400" dirty="0"/>
          </a:p>
        </p:txBody>
      </p:sp>
      <p:sp>
        <p:nvSpPr>
          <p:cNvPr id="18" name="Text 16"/>
          <p:cNvSpPr txBox="1"/>
          <p:nvPr/>
        </p:nvSpPr>
        <p:spPr>
          <a:xfrm>
            <a:off x="6461608"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3F3138"/>
                </a:solidFill>
                <a:latin typeface="Calibri" pitchFamily="34" charset="0"/>
                <a:ea typeface="Calibri" pitchFamily="34" charset="-122"/>
                <a:cs typeface="Calibri" pitchFamily="34" charset="-120"/>
              </a:rPr>
              <a:t>Parcelas de demostración con testigo y resultados compartidos con los productores.</a:t>
            </a:r>
            <a:endParaRPr lang="en-US" sz="1200" dirty="0"/>
          </a:p>
        </p:txBody>
      </p:sp>
      <p:sp>
        <p:nvSpPr>
          <p:cNvPr id="19" name="Shape 17"/>
          <p:cNvSpPr/>
          <p:nvPr/>
        </p:nvSpPr>
        <p:spPr>
          <a:xfrm>
            <a:off x="9052331" y="1874520"/>
            <a:ext cx="2545004" cy="2834640"/>
          </a:xfrm>
          <a:prstGeom prst="roundRect">
            <a:avLst>
              <a:gd name="adj" fmla="val 3593"/>
            </a:avLst>
          </a:prstGeom>
          <a:solidFill>
            <a:srgbClr val="F5EFF1"/>
          </a:solidFill>
          <a:ln w="9525">
            <a:solidFill>
              <a:srgbClr val="E5D9DE"/>
            </a:solidFill>
            <a:prstDash val="solid"/>
          </a:ln>
        </p:spPr>
      </p:sp>
      <p:sp>
        <p:nvSpPr>
          <p:cNvPr id="20" name="Shape 18"/>
          <p:cNvSpPr/>
          <p:nvPr/>
        </p:nvSpPr>
        <p:spPr>
          <a:xfrm>
            <a:off x="9280931" y="2103120"/>
            <a:ext cx="566928" cy="566928"/>
          </a:xfrm>
          <a:prstGeom prst="ellipse">
            <a:avLst/>
          </a:prstGeom>
          <a:solidFill>
            <a:srgbClr val="6B2A44"/>
          </a:solidFill>
          <a:ln/>
        </p:spPr>
      </p:sp>
      <p:sp>
        <p:nvSpPr>
          <p:cNvPr id="21" name="Text 19"/>
          <p:cNvSpPr txBox="1"/>
          <p:nvPr/>
        </p:nvSpPr>
        <p:spPr>
          <a:xfrm>
            <a:off x="9280931"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20"/>
          <p:cNvSpPr txBox="1"/>
          <p:nvPr/>
        </p:nvSpPr>
        <p:spPr>
          <a:xfrm>
            <a:off x="9280931" y="2788920"/>
            <a:ext cx="2087804" cy="457200"/>
          </a:xfrm>
          <a:prstGeom prst="rect">
            <a:avLst/>
          </a:prstGeom>
          <a:noFill/>
          <a:ln/>
        </p:spPr>
        <p:txBody>
          <a:bodyPr wrap="square" lIns="0" tIns="0" rIns="0" bIns="0" rtlCol="0" anchor="ctr"/>
          <a:lstStyle/>
          <a:p>
            <a:pPr algn="l" indent="0" marL="0">
              <a:buNone/>
            </a:pPr>
            <a:r>
              <a:rPr lang="en-US" sz="1400" b="1" dirty="0">
                <a:solidFill>
                  <a:srgbClr val="6B2A44"/>
                </a:solidFill>
                <a:latin typeface="Cambria" pitchFamily="34" charset="0"/>
                <a:ea typeface="Cambria" pitchFamily="34" charset="-122"/>
                <a:cs typeface="Cambria" pitchFamily="34" charset="-120"/>
              </a:rPr>
              <a:t>Instituciones</a:t>
            </a:r>
            <a:endParaRPr lang="en-US" sz="1400" dirty="0"/>
          </a:p>
        </p:txBody>
      </p:sp>
      <p:sp>
        <p:nvSpPr>
          <p:cNvPr id="23" name="Text 21"/>
          <p:cNvSpPr txBox="1"/>
          <p:nvPr/>
        </p:nvSpPr>
        <p:spPr>
          <a:xfrm>
            <a:off x="9280931"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3F3138"/>
                </a:solidFill>
                <a:latin typeface="Calibri" pitchFamily="34" charset="0"/>
                <a:ea typeface="Calibri" pitchFamily="34" charset="-122"/>
                <a:cs typeface="Calibri" pitchFamily="34" charset="-120"/>
              </a:rPr>
              <a:t>Diálogo con el Ministerio de Agricultura y los programas de seguridad alimentaria.</a:t>
            </a:r>
            <a:endParaRPr lang="en-US" sz="1200" dirty="0"/>
          </a:p>
        </p:txBody>
      </p:sp>
      <p:sp>
        <p:nvSpPr>
          <p:cNvPr id="24" name="Text 22"/>
          <p:cNvSpPr txBox="1"/>
          <p:nvPr/>
        </p:nvSpPr>
        <p:spPr>
          <a:xfrm>
            <a:off x="594360" y="4983480"/>
            <a:ext cx="11002975" cy="822960"/>
          </a:xfrm>
          <a:prstGeom prst="rect">
            <a:avLst/>
          </a:prstGeom>
          <a:noFill/>
          <a:ln/>
        </p:spPr>
        <p:txBody>
          <a:bodyPr wrap="square" lIns="0" tIns="0" rIns="0" bIns="0" rtlCol="0" anchor="t"/>
          <a:lstStyle/>
          <a:p>
            <a:pPr algn="l" indent="0" marL="0">
              <a:lnSpc>
                <a:spcPct val="125000"/>
              </a:lnSpc>
              <a:buNone/>
            </a:pPr>
            <a:r>
              <a:rPr lang="en-US" sz="1250" i="1" dirty="0">
                <a:solidFill>
                  <a:srgbClr val="7C6B73"/>
                </a:solidFill>
                <a:latin typeface="Calibri" pitchFamily="34" charset="0"/>
                <a:ea typeface="Calibri" pitchFamily="34" charset="-122"/>
                <a:cs typeface="Calibri" pitchFamily="34" charset="-120"/>
              </a:rPr>
              <a:t>El marco se adapta al territorio: un importador, un distribuidor de insumos o una agrupación de productores puede liderar la alianza.</a:t>
            </a:r>
            <a:endParaRPr lang="en-US" sz="1250" dirty="0"/>
          </a:p>
        </p:txBody>
      </p:sp>
      <p:sp>
        <p:nvSpPr>
          <p:cNvPr id="25" name="Text 23"/>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Estudio de mercado Chile</a:t>
            </a:r>
            <a:endParaRPr lang="en-US" sz="950" dirty="0"/>
          </a:p>
        </p:txBody>
      </p:sp>
      <p:sp>
        <p:nvSpPr>
          <p:cNvPr id="26" name="Text 24"/>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15</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LO QUE HAY QUE ANTICIPAR</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Riesgos identificados y respuestas</a:t>
            </a:r>
            <a:endParaRPr lang="en-US" sz="3000" dirty="0"/>
          </a:p>
        </p:txBody>
      </p:sp>
      <p:sp>
        <p:nvSpPr>
          <p:cNvPr id="4" name="Text 2"/>
          <p:cNvSpPr txBox="1"/>
          <p:nvPr/>
        </p:nvSpPr>
        <p:spPr>
          <a:xfrm>
            <a:off x="594360" y="1783080"/>
            <a:ext cx="5227168" cy="411480"/>
          </a:xfrm>
          <a:prstGeom prst="rect">
            <a:avLst/>
          </a:prstGeom>
          <a:noFill/>
          <a:ln/>
        </p:spPr>
        <p:txBody>
          <a:bodyPr wrap="square" lIns="0" tIns="0" rIns="0" bIns="0" rtlCol="0" anchor="ctr"/>
          <a:lstStyle/>
          <a:p>
            <a:pPr algn="l" indent="0" marL="0">
              <a:buNone/>
            </a:pPr>
            <a:r>
              <a:rPr lang="en-US" sz="1600" b="1" dirty="0">
                <a:solidFill>
                  <a:srgbClr val="6B2A44"/>
                </a:solidFill>
                <a:latin typeface="Cambria" pitchFamily="34" charset="0"/>
                <a:ea typeface="Cambria" pitchFamily="34" charset="-122"/>
                <a:cs typeface="Cambria" pitchFamily="34" charset="-120"/>
              </a:rPr>
              <a:t>Riesgos</a:t>
            </a:r>
            <a:endParaRPr lang="en-US" sz="1600" dirty="0"/>
          </a:p>
        </p:txBody>
      </p:sp>
      <p:sp>
        <p:nvSpPr>
          <p:cNvPr id="5" name="Text 3"/>
          <p:cNvSpPr txBox="1"/>
          <p:nvPr/>
        </p:nvSpPr>
        <p:spPr>
          <a:xfrm>
            <a:off x="594360"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Variabilidad entre temporadas: un año lluvioso, ligado a El Niño, enmascara el interés del producto.</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Parque de riego ya muy tecnificado: el comprador pregunta qué aporta el producto por sobre el goteo.</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Competencia de polímeros baratos a base de sodio, que dejaron mal recuerdo en suelos salinos.</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Trámites de registro e ingreso de insumos ante el SAG, y liquidez de los predios tras varias temporadas secas.</a:t>
            </a:r>
            <a:endParaRPr lang="en-US" sz="1350" dirty="0"/>
          </a:p>
        </p:txBody>
      </p:sp>
      <p:sp>
        <p:nvSpPr>
          <p:cNvPr id="6" name="Text 4"/>
          <p:cNvSpPr txBox="1"/>
          <p:nvPr/>
        </p:nvSpPr>
        <p:spPr>
          <a:xfrm>
            <a:off x="6370168" y="1783080"/>
            <a:ext cx="5227168" cy="411480"/>
          </a:xfrm>
          <a:prstGeom prst="rect">
            <a:avLst/>
          </a:prstGeom>
          <a:noFill/>
          <a:ln/>
        </p:spPr>
        <p:txBody>
          <a:bodyPr wrap="square" lIns="0" tIns="0" rIns="0" bIns="0" rtlCol="0" anchor="ctr"/>
          <a:lstStyle/>
          <a:p>
            <a:pPr algn="l" indent="0" marL="0">
              <a:buNone/>
            </a:pPr>
            <a:r>
              <a:rPr lang="en-US" sz="1600" b="1" dirty="0">
                <a:solidFill>
                  <a:srgbClr val="6B2A44"/>
                </a:solidFill>
                <a:latin typeface="Cambria" pitchFamily="34" charset="0"/>
                <a:ea typeface="Cambria" pitchFamily="34" charset="-122"/>
                <a:cs typeface="Cambria" pitchFamily="34" charset="-120"/>
              </a:rPr>
              <a:t>Respuestas</a:t>
            </a:r>
            <a:endParaRPr lang="en-US" sz="1600" dirty="0"/>
          </a:p>
        </p:txBody>
      </p:sp>
      <p:sp>
        <p:nvSpPr>
          <p:cNvPr id="7" name="Text 5"/>
          <p:cNvSpPr txBox="1"/>
          <p:nvPr/>
        </p:nvSpPr>
        <p:spPr>
          <a:xfrm>
            <a:off x="6370168"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Conducir el ensayo sobre un ciclo completo con parcela testigo, para objetivar la ganancia incluso en año favorable.</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Medir el ahorro sobre el goteo mismo: la hidrorretención actúa en el suelo, no en el método de aplicación.</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Documentar la formulación: potasio y no sodio, compatible con cultivos alimentarios.</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Escalonar el compromiso: el efecto útil de 3 a 4 años amortiza el costo sobre varias temporadas.</a:t>
            </a:r>
            <a:endParaRPr lang="en-US" sz="1350" dirty="0"/>
          </a:p>
        </p:txBody>
      </p:sp>
      <p:sp>
        <p:nvSpPr>
          <p:cNvPr id="8" name="Shape 6"/>
          <p:cNvSpPr/>
          <p:nvPr/>
        </p:nvSpPr>
        <p:spPr>
          <a:xfrm>
            <a:off x="594360" y="4846320"/>
            <a:ext cx="11002975" cy="960120"/>
          </a:xfrm>
          <a:prstGeom prst="roundRect">
            <a:avLst>
              <a:gd name="adj" fmla="val 7619"/>
            </a:avLst>
          </a:prstGeom>
          <a:solidFill>
            <a:srgbClr val="F5EFF1"/>
          </a:solidFill>
          <a:ln w="9525">
            <a:solidFill>
              <a:srgbClr val="E5D9DE"/>
            </a:solidFill>
            <a:prstDash val="solid"/>
          </a:ln>
        </p:spPr>
      </p:sp>
      <p:sp>
        <p:nvSpPr>
          <p:cNvPr id="9" name="Text 7"/>
          <p:cNvSpPr txBox="1"/>
          <p:nvPr/>
        </p:nvSpPr>
        <p:spPr>
          <a:xfrm>
            <a:off x="822960" y="4983480"/>
            <a:ext cx="10545775" cy="713232"/>
          </a:xfrm>
          <a:prstGeom prst="rect">
            <a:avLst/>
          </a:prstGeom>
          <a:noFill/>
          <a:ln/>
        </p:spPr>
        <p:txBody>
          <a:bodyPr wrap="square" lIns="0" tIns="0" rIns="0" bIns="0" rtlCol="0" anchor="t"/>
          <a:lstStyle/>
          <a:p>
            <a:pPr algn="l" indent="0" marL="0">
              <a:lnSpc>
                <a:spcPct val="118000"/>
              </a:lnSpc>
              <a:buNone/>
            </a:pPr>
            <a:r>
              <a:rPr lang="en-US" sz="1100" dirty="0">
                <a:solidFill>
                  <a:srgbClr val="7C6B73"/>
                </a:solidFill>
                <a:latin typeface="Calibri" pitchFamily="34" charset="0"/>
                <a:ea typeface="Calibri" pitchFamily="34" charset="-122"/>
                <a:cs typeface="Calibri" pitchFamily="34" charset="-120"/>
              </a:rPr>
              <a:t>Análisis de acrilamida (laboratorio Polymex, ISO 9001, contenido inferior a 3,0 µg/g), screening REACH / SVHC (SGS) y certificado SOHISCERT vigente hasta el 4 de septiembre de 2027, disponibles a solicitud.</a:t>
            </a:r>
            <a:endParaRPr lang="en-US" sz="1100" dirty="0"/>
          </a:p>
        </p:txBody>
      </p:sp>
      <p:sp>
        <p:nvSpPr>
          <p:cNvPr id="10" name="Text 8"/>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Estudio de mercado Chile</a:t>
            </a:r>
            <a:endParaRPr lang="en-US" sz="950" dirty="0"/>
          </a:p>
        </p:txBody>
      </p:sp>
      <p:sp>
        <p:nvSpPr>
          <p:cNvPr id="11" name="Text 9"/>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16</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Fuentes</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Fuentes e hipótesis de trabajo</a:t>
            </a:r>
            <a:endParaRPr lang="en-US" sz="3000" dirty="0"/>
          </a:p>
        </p:txBody>
      </p:sp>
      <p:sp>
        <p:nvSpPr>
          <p:cNvPr id="4" name="Text 2"/>
          <p:cNvSpPr txBox="1"/>
          <p:nvPr/>
        </p:nvSpPr>
        <p:spPr>
          <a:xfrm>
            <a:off x="594360" y="1783080"/>
            <a:ext cx="5227168" cy="411480"/>
          </a:xfrm>
          <a:prstGeom prst="rect">
            <a:avLst/>
          </a:prstGeom>
          <a:noFill/>
          <a:ln/>
        </p:spPr>
        <p:txBody>
          <a:bodyPr wrap="square" lIns="0" tIns="0" rIns="0" bIns="0" rtlCol="0" anchor="ctr"/>
          <a:lstStyle/>
          <a:p>
            <a:pPr algn="l" indent="0" marL="0">
              <a:buNone/>
            </a:pPr>
            <a:r>
              <a:rPr lang="en-US" sz="1600" b="1" dirty="0">
                <a:solidFill>
                  <a:srgbClr val="6B2A44"/>
                </a:solidFill>
                <a:latin typeface="Cambria" pitchFamily="34" charset="0"/>
                <a:ea typeface="Cambria" pitchFamily="34" charset="-122"/>
                <a:cs typeface="Cambria" pitchFamily="34" charset="-120"/>
              </a:rPr>
              <a:t>Fuentes principales</a:t>
            </a:r>
            <a:endParaRPr lang="en-US" sz="1600" dirty="0"/>
          </a:p>
        </p:txBody>
      </p:sp>
      <p:sp>
        <p:nvSpPr>
          <p:cNvPr id="5" name="Text 3"/>
          <p:cNvSpPr txBox="1"/>
          <p:nvPr/>
        </p:nvSpPr>
        <p:spPr>
          <a:xfrm>
            <a:off x="594360"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Banco Central de Chile: cuentas nacionales y exportaciones.</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ODEPA: boletines de exportaciones silvoagropecuarias y de fruta fresca.</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Dirección General de Aguas: Código de Aguas y decretos de escasez hídrica.</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FAO (FAOSTAT, AQUASTAT) y Banco Mundial (WDI).</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UNCCD, Drought in Numbers 2022: número y duración de las sequías, +29 % desde 2000 frente a 1980–1999.</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ONU-Agua / FAO AQUASTAT, indicador ODS 6.4.2: definición y umbrales del estrés hídrico.</a:t>
            </a:r>
            <a:endParaRPr lang="en-US" sz="1350" dirty="0"/>
          </a:p>
        </p:txBody>
      </p:sp>
      <p:sp>
        <p:nvSpPr>
          <p:cNvPr id="6" name="Text 4"/>
          <p:cNvSpPr txBox="1"/>
          <p:nvPr/>
        </p:nvSpPr>
        <p:spPr>
          <a:xfrm>
            <a:off x="6370168" y="1783080"/>
            <a:ext cx="5227168" cy="411480"/>
          </a:xfrm>
          <a:prstGeom prst="rect">
            <a:avLst/>
          </a:prstGeom>
          <a:noFill/>
          <a:ln/>
        </p:spPr>
        <p:txBody>
          <a:bodyPr wrap="square" lIns="0" tIns="0" rIns="0" bIns="0" rtlCol="0" anchor="ctr"/>
          <a:lstStyle/>
          <a:p>
            <a:pPr algn="l" indent="0" marL="0">
              <a:buNone/>
            </a:pPr>
            <a:r>
              <a:rPr lang="en-US" sz="1600" b="1" dirty="0">
                <a:solidFill>
                  <a:srgbClr val="6B2A44"/>
                </a:solidFill>
                <a:latin typeface="Cambria" pitchFamily="34" charset="0"/>
                <a:ea typeface="Cambria" pitchFamily="34" charset="-122"/>
                <a:cs typeface="Cambria" pitchFamily="34" charset="-120"/>
              </a:rPr>
              <a:t>Hipótesis de trabajo</a:t>
            </a:r>
            <a:endParaRPr lang="en-US" sz="1600" dirty="0"/>
          </a:p>
        </p:txBody>
      </p:sp>
      <p:sp>
        <p:nvSpPr>
          <p:cNvPr id="7" name="Text 5"/>
          <p:cNvSpPr txBox="1"/>
          <p:nvPr/>
        </p:nvSpPr>
        <p:spPr>
          <a:xfrm>
            <a:off x="6370168"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Las cifras son órdenes de magnitud redondeados, tomados de los últimos datos públicos disponibles.</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Los ahorros de agua y los aumentos de rendimiento son indicativos y varían según suelo, clima y cultivo.</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Documento comercial de trabajo: cifras a actualizar antes de cualquier presentación oficial.</a:t>
            </a:r>
            <a:endParaRPr lang="en-US" sz="1350" dirty="0"/>
          </a:p>
        </p:txBody>
      </p:sp>
      <p:sp>
        <p:nvSpPr>
          <p:cNvPr id="8" name="Shape 6"/>
          <p:cNvSpPr/>
          <p:nvPr/>
        </p:nvSpPr>
        <p:spPr>
          <a:xfrm>
            <a:off x="594360" y="4846320"/>
            <a:ext cx="11002975" cy="960120"/>
          </a:xfrm>
          <a:prstGeom prst="roundRect">
            <a:avLst>
              <a:gd name="adj" fmla="val 7619"/>
            </a:avLst>
          </a:prstGeom>
          <a:solidFill>
            <a:srgbClr val="F5EFF1"/>
          </a:solidFill>
          <a:ln w="9525">
            <a:solidFill>
              <a:srgbClr val="E5D9DE"/>
            </a:solidFill>
            <a:prstDash val="solid"/>
          </a:ln>
        </p:spPr>
      </p:sp>
      <p:sp>
        <p:nvSpPr>
          <p:cNvPr id="9" name="Text 7"/>
          <p:cNvSpPr txBox="1"/>
          <p:nvPr/>
        </p:nvSpPr>
        <p:spPr>
          <a:xfrm>
            <a:off x="822960" y="4983480"/>
            <a:ext cx="10545775" cy="713232"/>
          </a:xfrm>
          <a:prstGeom prst="rect">
            <a:avLst/>
          </a:prstGeom>
          <a:noFill/>
          <a:ln/>
        </p:spPr>
        <p:txBody>
          <a:bodyPr wrap="square" lIns="0" tIns="0" rIns="0" bIns="0" rtlCol="0" anchor="t"/>
          <a:lstStyle/>
          <a:p>
            <a:pPr algn="l" indent="0" marL="0">
              <a:lnSpc>
                <a:spcPct val="118000"/>
              </a:lnSpc>
              <a:buNone/>
            </a:pPr>
            <a:r>
              <a:rPr lang="en-US" sz="1100" dirty="0">
                <a:solidFill>
                  <a:srgbClr val="7C6B73"/>
                </a:solidFill>
                <a:latin typeface="Calibri" pitchFamily="34" charset="0"/>
                <a:ea typeface="Calibri" pitchFamily="34" charset="-122"/>
                <a:cs typeface="Calibri" pitchFamily="34" charset="-120"/>
              </a:rPr>
              <a:t>Informes de ensayo, certificados (SOHISCERT, análisis Polymex y SGS) y fichas técnicas: disponibles a pedido.</a:t>
            </a:r>
            <a:endParaRPr lang="en-US" sz="1100" dirty="0"/>
          </a:p>
        </p:txBody>
      </p:sp>
      <p:sp>
        <p:nvSpPr>
          <p:cNvPr id="10" name="Text 8"/>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Estudio de mercado Chile</a:t>
            </a:r>
            <a:endParaRPr lang="en-US" sz="950" dirty="0"/>
          </a:p>
        </p:txBody>
      </p:sp>
      <p:sp>
        <p:nvSpPr>
          <p:cNvPr id="11" name="Text 9"/>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17</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822960" y="2103120"/>
            <a:ext cx="10058400" cy="100584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Cuéntenos cómo es su predio</a:t>
            </a:r>
            <a:endParaRPr lang="en-US" sz="3400" dirty="0"/>
          </a:p>
        </p:txBody>
      </p:sp>
      <p:sp>
        <p:nvSpPr>
          <p:cNvPr id="4" name="Text 1"/>
          <p:cNvSpPr txBox="1"/>
          <p:nvPr/>
        </p:nvSpPr>
        <p:spPr>
          <a:xfrm>
            <a:off x="822960" y="3200400"/>
            <a:ext cx="8961120" cy="1463040"/>
          </a:xfrm>
          <a:prstGeom prst="rect">
            <a:avLst/>
          </a:prstGeom>
          <a:noFill/>
          <a:ln/>
        </p:spPr>
        <p:txBody>
          <a:bodyPr wrap="square" lIns="0" tIns="0" rIns="0" bIns="0" rtlCol="0" anchor="ctr"/>
          <a:lstStyle/>
          <a:p>
            <a:pPr algn="l" indent="0" marL="0">
              <a:lnSpc>
                <a:spcPct val="130000"/>
              </a:lnSpc>
              <a:buNone/>
            </a:pPr>
            <a:r>
              <a:rPr lang="en-US" sz="1500" dirty="0">
                <a:solidFill>
                  <a:srgbClr val="FFFFFF">
                    <a:alpha val="88000"/>
                  </a:srgbClr>
                </a:solidFill>
                <a:latin typeface="Calibri" pitchFamily="34" charset="0"/>
                <a:ea typeface="Calibri" pitchFamily="34" charset="-122"/>
                <a:cs typeface="Calibri" pitchFamily="34" charset="-120"/>
              </a:rPr>
              <a:t>Cultivo, método de riego, tipo de suelo, volumen de agua que consume hoy. Volvemos con la combinación de tecnologías correspondiente, las dosis y los ensayos ya realizados en situaciones comparables.</a:t>
            </a:r>
            <a:endParaRPr lang="en-US" sz="1500" dirty="0"/>
          </a:p>
          <a:p>
            <a:pPr algn="l" indent="0" marL="0">
              <a:lnSpc>
                <a:spcPct val="130000"/>
              </a:lnSpc>
              <a:buNone/>
            </a:pPr>
            <a:endParaRPr lang="en-US" sz="1500" dirty="0"/>
          </a:p>
          <a:p>
            <a:pPr algn="l" indent="0" marL="0">
              <a:lnSpc>
                <a:spcPct val="130000"/>
              </a:lnSpc>
              <a:buNone/>
            </a:pPr>
            <a:r>
              <a:rPr lang="en-US" sz="1500" dirty="0">
                <a:solidFill>
                  <a:srgbClr val="FFFFFF">
                    <a:alpha val="88000"/>
                  </a:srgbClr>
                </a:solidFill>
                <a:latin typeface="Calibri" pitchFamily="34" charset="0"/>
                <a:ea typeface="Calibri" pitchFamily="34" charset="-122"/>
                <a:cs typeface="Calibri" pitchFamily="34" charset="-120"/>
              </a:rPr>
              <a:t>Una primera conversación no compromete a nada.</a:t>
            </a:r>
            <a:endParaRPr lang="en-US" sz="1500" dirty="0"/>
          </a:p>
        </p:txBody>
      </p:sp>
      <p:sp>
        <p:nvSpPr>
          <p:cNvPr id="5" name="Text 2"/>
          <p:cNvSpPr txBox="1"/>
          <p:nvPr/>
        </p:nvSpPr>
        <p:spPr>
          <a:xfrm>
            <a:off x="822960" y="4846320"/>
            <a:ext cx="10058400" cy="457200"/>
          </a:xfrm>
          <a:prstGeom prst="rect">
            <a:avLst/>
          </a:prstGeom>
          <a:noFill/>
          <a:ln/>
        </p:spPr>
        <p:txBody>
          <a:bodyPr wrap="square" lIns="0" tIns="0" rIns="0" bIns="0" rtlCol="0" anchor="ctr"/>
          <a:lstStyle/>
          <a:p>
            <a:pPr algn="l" indent="0" marL="0">
              <a:buNone/>
            </a:pPr>
            <a:r>
              <a:rPr lang="en-US" sz="1400" b="1" dirty="0">
                <a:solidFill>
                  <a:srgbClr val="C9A227"/>
                </a:solidFill>
                <a:latin typeface="Calibri" pitchFamily="34" charset="0"/>
                <a:ea typeface="Calibri" pitchFamily="34" charset="-122"/>
                <a:cs typeface="Calibri" pitchFamily="34" charset="-120"/>
              </a:rPr>
              <a:t>contact@green-solutions-group.com · Green Solutions Groupe AIM SA, 46, route de la Condémine, 1475 Forel, Suiza</a:t>
            </a:r>
            <a:endParaRPr lang="en-US" sz="1400" dirty="0"/>
          </a:p>
        </p:txBody>
      </p:sp>
      <p:pic>
        <p:nvPicPr>
          <p:cNvPr id="6" name="Image 1" descr="/home/claude/green-solutions-web/scripts/dossiers/sceau-aim-clair.png">    </p:cNvPr>
          <p:cNvPicPr>
            <a:picLocks noChangeAspect="1"/>
          </p:cNvPicPr>
          <p:nvPr/>
        </p:nvPicPr>
        <p:blipFill>
          <a:blip r:embed="rId2">
            <a:alphaModFix amt="85000"/>
          </a:blip>
          <a:stretch>
            <a:fillRect/>
          </a:stretch>
        </p:blipFill>
        <p:spPr>
          <a:xfrm>
            <a:off x="10637215" y="5193792"/>
            <a:ext cx="1051560" cy="1051560"/>
          </a:xfrm>
          <a:prstGeom prst="rect">
            <a:avLst/>
          </a:prstGeom>
        </p:spPr>
      </p:pic>
      <p:sp>
        <p:nvSpPr>
          <p:cNvPr id="7" name="Text 3"/>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FFFFFF">
                    <a:alpha val="55000"/>
                  </a:srgbClr>
                </a:solidFill>
                <a:latin typeface="Calibri" pitchFamily="34" charset="0"/>
                <a:ea typeface="Calibri" pitchFamily="34" charset="-122"/>
                <a:cs typeface="Calibri" pitchFamily="34" charset="-120"/>
              </a:rPr>
              <a:t>Green Solutions · Estudio de mercado Chile</a:t>
            </a:r>
            <a:endParaRPr lang="en-US" sz="950" dirty="0"/>
          </a:p>
        </p:txBody>
      </p:sp>
      <p:sp>
        <p:nvSpPr>
          <p:cNvPr id="8" name="Text 4"/>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FFFFFF">
                    <a:alpha val="55000"/>
                  </a:srgbClr>
                </a:solidFill>
                <a:latin typeface="Calibri" pitchFamily="34" charset="0"/>
                <a:ea typeface="Calibri" pitchFamily="34" charset="-122"/>
                <a:cs typeface="Calibri" pitchFamily="34" charset="-120"/>
              </a:rPr>
              <a:t>18</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2026-10-07T08:25:29Z</dcterms:created>
  <dcterms:modified xsi:type="dcterms:W3CDTF">2026-10-07T08:25:29Z</dcterms:modified>
</cp:coreProperties>
</file>