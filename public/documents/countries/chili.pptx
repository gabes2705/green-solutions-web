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Índice mundial del número y duración de las sequías</c:v>
                </c:pt>
              </c:strCache>
            </c:strRef>
          </c:tx>
          <c:spPr>
            <a:solidFill>
              <a:srgbClr val="6B2A44"/>
            </a:solidFill>
            <a:effectLst/>
          </c:spPr>
          <c:invertIfNegative val="0"/>
          <c:dLbls>
            <c:numFmt formatCode="[$-C0A]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cat>
            <c:multiLvlStrRef>
              <c:f>Sheet1!$A$2:$A$3</c:f>
              <c:multiLvlStrCache>
                <c:ptCount val="2"/>
                <c:lvl>
                  <c:pt idx="0">
                    <c:v>1980–1999</c:v>
                  </c:pt>
                  <c:pt idx="1">
                    <c:v>Desde 2000</c:v>
                  </c:pt>
                </c:lvl>
              </c:multiLvlStrCache>
            </c:multiLvlStrRef>
          </c:cat>
          <c:val>
            <c:numRef>
              <c:f>Sheet1!$B$2:$B$3</c:f>
              <c:numCache>
                <c:formatCode>General</c:formatCode>
                <c:ptCount val="2"/>
                <c:pt idx="0">
                  <c:v>100</c:v>
                </c:pt>
                <c:pt idx="1">
                  <c:v>129</c:v>
                </c:pt>
              </c:numCache>
            </c:numRef>
          </c:val>
        </c:ser>
        <c:dLbls>
          <c:numFmt formatCode="[$-C0A]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Sheet1!$B$2:$B$6</c:f>
              <c:numCache>
                <c:formatCode>General</c:formatCode>
                <c:ptCount val="5"/>
                <c:pt idx="0">
                  <c:v>15</c:v>
                </c:pt>
                <c:pt idx="1">
                  <c:v>20</c:v>
                </c:pt>
                <c:pt idx="2">
                  <c:v>20</c:v>
                </c:pt>
                <c:pt idx="3">
                  <c:v>20</c:v>
                </c:pt>
                <c:pt idx="4">
                  <c:v>30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Sheet1!$C$2:$C$6</c:f>
              <c:numCache>
                <c:formatCode>General</c:formatCode>
                <c:ptCount val="5"/>
                <c:pt idx="0">
                  <c:v>25</c:v>
                </c:pt>
                <c:pt idx="1">
                  <c:v>40</c:v>
                </c:pt>
                <c:pt idx="2">
                  <c:v>40</c:v>
                </c:pt>
                <c:pt idx="3">
                  <c:v>40</c:v>
                </c:pt>
                <c:pt idx="4">
                  <c:v>50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chili.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REPÚBLICA DE CHILE</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Santiago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Fruta de exportación, viñedos y hortalizas bajo una sequía de más de una década.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en una agricultura de contraestación.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SEQUÍA Y ESTRÉS HÍDRICO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presión aumenta, pero el riesgo sigue siendo local</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Dos indicadores, no un atajo</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A escala mundial, el número y la duración de las sequías han aumentado un 29 % desde 2000 frente a las dos décadas anteriores.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estrés hídrico mide otra cosa: las extracciones respecto a los recursos renovables disponibles tras las necesidades ambientales. Esta señal mundial no es una previsión nacional; debe leerse con la lluvia, los acuíferos, las estaciones y los usos locales.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exportador de fruta fresca hacia el mundo entero</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cerezas frescas</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90 %</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las cerezas chilenas exportadas se venden en China</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60</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economías con un acuerdo comercial vigente con Chile</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fruta fresca —cerezas, uva de mesa, arándanos, manzanas y paltas— sostiene las exportaciones agrícolas junto al vino. Ese modelo depende del riego en valles donde el Código de Aguas, reformado en 2022, prioriza el consumo humano y limita los nuevos derechos.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Palta en laderas: árboles caros de mantener sin agua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palta Hass se planta en laderas de Valparaíso, Coquimbo y la Región Metropolitana, regadas por goteo.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 Petorca y La Ligua la escasez de agua obligó a abandonar huertos y abrió un debate nacional sobre su uso.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palto adulto no tolera cortes largos de riego: el estrés hídrico hace caer la fruta y compromete la temporada siguiente.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suelos de ladera, delgados y con pendiente, retienen poca agua entre dos riegos.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de raíces.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Uva de mesa y cerezas: exportar con menos agua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uva de mesa se concentra de Atacama a O'Higgins; la cereza avanza de O'Higgins hacia el Maule y más al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compradores de Asia, Estados Unidos y Europa pagan calibre, firmeza y condición tras semanas de viaje.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dotaciones de los canalistas bajan en años secos y la extracción subterránea está cada vez más limitada.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riego regular durante el crecimiento del fruto evita partiduras y problemas de calibre.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un requisito de los protocolos fitosanitarios de exportación.</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Chile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Banco Central de Chile: cuentas nacionales y exportaciones.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ODEPA: boletines de exportaciones silvoagropecuarias y de fruta fresca.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Dirección General de Aguas: Código de Aguas y decretos de escasez hídrica.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UNCCD, Drought in Numbers 2022: número y duración de las sequías, +29 % desde 2000 frente a 1980–1999.</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ONU-Agua / FAO AQUASTAT, indicador ODS 6.4.2: definición y umbrales del estrés hídrico.</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Suiza</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2026-09-20T00:13:28Z</dcterms:created>
  <dcterms:modified xsi:type="dcterms:W3CDTF">2026-09-20T00:13:28Z</dcterms:modified>
</cp:coreProperties>
</file>