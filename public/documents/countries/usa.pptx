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88.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89.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9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9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9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88.xml.rels><?xml version="1.0" encoding="UTF-8" standalone="yes"?><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Relationships xmlns="http://schemas.openxmlformats.org/package/2006/relationships"><Relationship Id="rId1" Type="http://schemas.openxmlformats.org/officeDocument/2006/relationships/package" Target="../embeddings/Microsoft_Excel_Worksheet92.xlsx"/></Relationships>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Global index of drought number and duration</c:v>
                </c:pt>
              </c:strCache>
            </c:strRef>
          </c:tx>
          <c:spPr>
            <a:solidFill>
              <a:srgbClr val="1D4E6B"/>
            </a:solidFill>
            <a:effectLst/>
          </c:spPr>
          <c:invertIfNegative val="0"/>
          <c:dLbls>
            <c:numFmt formatCode="[$-409]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dPt>
            <c:idx val="0"/>
            <c:invertIfNegative val="0"/>
            <c:bubble3D val="0"/>
            <c:spPr>
              <a:solidFill>
                <a:srgbClr val="1D4E6B"/>
              </a:solidFill>
              <a:effectLst/>
            </c:spPr>
          </c:dPt>
          <c:dPt>
            <c:idx val="1"/>
            <c:invertIfNegative val="0"/>
            <c:bubble3D val="0"/>
            <c:spPr>
              <a:solidFill>
                <a:srgbClr val="D98C2B"/>
              </a:solidFill>
              <a:effectLst/>
            </c:spPr>
          </c:dPt>
          <c:cat>
            <c:multiLvlStrRef>
              <c:f>Sheet1!$A$2:$A$3</c:f>
              <c:multiLvlStrCache>
                <c:ptCount val="2"/>
                <c:lvl>
                  <c:pt idx="0">
                    <c:v>1980–1999</c:v>
                  </c:pt>
                  <c:pt idx="1">
                    <c:v>Since 2000</c:v>
                  </c:pt>
                </c:lvl>
              </c:multiLvlStrCache>
            </c:multiLvlStrRef>
          </c:cat>
          <c:val>
            <c:numRef>
              <c:f>Sheet1!$B$2:$B$3</c:f>
              <c:numCache>
                <c:formatCode>General</c:formatCode>
                <c:ptCount val="2"/>
                <c:pt idx="0">
                  <c:v>100</c:v>
                </c:pt>
                <c:pt idx="1">
                  <c:v>129</c:v>
                </c:pt>
              </c:numCache>
            </c:numRef>
          </c:val>
        </c:ser>
        <c:dLbls>
          <c:numFmt formatCode="[$-409]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Withdrawals</c:v>
                </c:pt>
              </c:strCache>
            </c:strRef>
          </c:tx>
          <c:spPr>
            <a:solidFill>
              <a:schemeClr val="accent1"/>
            </a:solidFill>
            <a:ln w="9525" cap="flat">
              <a:solidFill>
                <a:srgbClr val="F9F9F9"/>
              </a:solidFill>
              <a:prstDash val="solid"/>
              <a:round/>
            </a:ln>
            <a:effectLst/>
          </c:spPr>
          <c:dPt>
            <c:idx val="0"/>
            <c:bubble3D val="0"/>
            <c:spPr>
              <a:solidFill>
                <a:srgbClr val="1D4E6B"/>
              </a:solidFill>
              <a:effectLst/>
            </c:spPr>
          </c:dPt>
          <c:dPt>
            <c:idx val="1"/>
            <c:bubble3D val="0"/>
            <c:spPr>
              <a:solidFill>
                <a:srgbClr val="D98C2B"/>
              </a:solidFill>
              <a:effectLst/>
            </c:spPr>
          </c:dPt>
          <c:dPt>
            <c:idx val="2"/>
            <c:bubble3D val="0"/>
            <c:spPr>
              <a:solidFill>
                <a:srgbClr val="5A8BA6"/>
              </a:solidFill>
              <a:effectLst/>
            </c:spPr>
          </c:dPt>
          <c:dLbls>
            <c:dLbl>
              <c:idx val="0"/>
              <c:numFmt formatCode="[$-409]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9]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9]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9]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Public supply</c:v>
                </c:pt>
                <c:pt idx="2">
                  <c:v>Industry &amp; power</c:v>
                </c:pt>
              </c:strCache>
            </c:strRef>
          </c:cat>
          <c:val>
            <c:numRef>
              <c:f>Sheet1!$B$2:$B$4</c:f>
              <c:numCache>
                <c:ptCount val="3"/>
                <c:pt idx="0">
                  <c:v>40</c:v>
                </c:pt>
                <c:pt idx="1">
                  <c:v>13</c:v>
                </c:pt>
                <c:pt idx="2">
                  <c:v>47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Annual output (million metric tons)</c:v>
                </c:pt>
              </c:strCache>
            </c:strRef>
          </c:tx>
          <c:spPr>
            <a:solidFill>
              <a:srgbClr val="1D4E6B"/>
            </a:solidFill>
            <a:effectLst/>
          </c:spPr>
          <c:invertIfNegative val="0"/>
          <c:dLbls>
            <c:numFmt formatCode="[$-409]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dPt>
            <c:idx val="0"/>
            <c:invertIfNegative val="0"/>
            <c:bubble3D val="0"/>
            <c:spPr>
              <a:solidFill>
                <a:srgbClr val="1D4E6B"/>
              </a:solidFill>
              <a:effectLst/>
            </c:spPr>
          </c:dPt>
          <c:dPt>
            <c:idx val="1"/>
            <c:invertIfNegative val="0"/>
            <c:bubble3D val="0"/>
            <c:spPr>
              <a:solidFill>
                <a:srgbClr val="D98C2B"/>
              </a:solidFill>
              <a:effectLst/>
            </c:spPr>
          </c:dPt>
          <c:dPt>
            <c:idx val="2"/>
            <c:invertIfNegative val="0"/>
            <c:bubble3D val="0"/>
            <c:spPr>
              <a:solidFill>
                <a:srgbClr val="5A8BA6"/>
              </a:solidFill>
              <a:effectLst/>
            </c:spPr>
          </c:dPt>
          <c:dPt>
            <c:idx val="3"/>
            <c:invertIfNegative val="0"/>
            <c:bubble3D val="0"/>
            <c:spPr>
              <a:solidFill>
                <a:srgbClr val="8FAF5B"/>
              </a:solidFill>
              <a:effectLst/>
            </c:spPr>
          </c:dPt>
          <c:dPt>
            <c:idx val="4"/>
            <c:invertIfNegative val="0"/>
            <c:bubble3D val="0"/>
            <c:spPr>
              <a:solidFill>
                <a:srgbClr val="B25C3C"/>
              </a:solidFill>
              <a:effectLst/>
            </c:spPr>
          </c:dPt>
          <c:cat>
            <c:multiLvlStrRef>
              <c:f>Sheet1!$A$2:$A$6</c:f>
              <c:multiLvlStrCache>
                <c:ptCount val="5"/>
                <c:lvl>
                  <c:pt idx="0">
                    <c:v>Corn</c:v>
                  </c:pt>
                  <c:pt idx="1">
                    <c:v>Soybeans</c:v>
                  </c:pt>
                  <c:pt idx="2">
                    <c:v>Hay &amp; forage</c:v>
                  </c:pt>
                  <c:pt idx="3">
                    <c:v>Wheat</c:v>
                  </c:pt>
                  <c:pt idx="4">
                    <c:v>Potatoes</c:v>
                  </c:pt>
                </c:lvl>
              </c:multiLvlStrCache>
            </c:multiLvlStrRef>
          </c:cat>
          <c:val>
            <c:numRef>
              <c:f>Sheet1!$B$2:$B$6</c:f>
              <c:numCache>
                <c:formatCode>General</c:formatCode>
                <c:ptCount val="5"/>
                <c:pt idx="0">
                  <c:v>380</c:v>
                </c:pt>
                <c:pt idx="1">
                  <c:v>115</c:v>
                </c:pt>
                <c:pt idx="2">
                  <c:v>110</c:v>
                </c:pt>
                <c:pt idx="3">
                  <c:v>50</c:v>
                </c:pt>
                <c:pt idx="4">
                  <c:v>19</c:v>
                </c:pt>
              </c:numCache>
            </c:numRef>
          </c:val>
        </c:ser>
        <c:dLbls>
          <c:numFmt formatCode="[$-409]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Low end (%)</c:v>
                </c:pt>
              </c:strCache>
            </c:strRef>
          </c:tx>
          <c:spPr>
            <a:solidFill>
              <a:srgbClr val="1D4E6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Tomatoes</c:v>
                  </c:pt>
                  <c:pt idx="1">
                    <c:v>Avocados</c:v>
                  </c:pt>
                  <c:pt idx="2">
                    <c:v>Strawberries</c:v>
                  </c:pt>
                  <c:pt idx="3">
                    <c:v>Almonds</c:v>
                  </c:pt>
                  <c:pt idx="4">
                    <c:v>Grapes</c:v>
                  </c:pt>
                </c:lvl>
              </c:multiLvlStrCache>
            </c:multiLvlStrRef>
          </c:cat>
          <c:val>
            <c:numRef>
              <c:f>Sheet1!$B$2:$B$6</c:f>
              <c:numCache>
                <c:formatCode>General</c:formatCode>
                <c:ptCount val="5"/>
                <c:pt idx="0">
                  <c:v>30</c:v>
                </c:pt>
                <c:pt idx="1">
                  <c:v>15</c:v>
                </c:pt>
                <c:pt idx="2">
                  <c:v>20</c:v>
                </c:pt>
                <c:pt idx="3">
                  <c:v>20</c:v>
                </c:pt>
                <c:pt idx="4">
                  <c:v>20</c:v>
                </c:pt>
              </c:numCache>
            </c:numRef>
          </c:val>
        </c:ser>
        <c:ser>
          <c:idx val="1"/>
          <c:order val="1"/>
          <c:tx>
            <c:strRef>
              <c:f>Sheet1!$C$1</c:f>
              <c:strCache>
                <c:ptCount val="1"/>
                <c:pt idx="0">
                  <c:v>High end (%)</c:v>
                </c:pt>
              </c:strCache>
            </c:strRef>
          </c:tx>
          <c:spPr>
            <a:solidFill>
              <a:srgbClr val="D98C2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Tomatoes</c:v>
                  </c:pt>
                  <c:pt idx="1">
                    <c:v>Avocados</c:v>
                  </c:pt>
                  <c:pt idx="2">
                    <c:v>Strawberries</c:v>
                  </c:pt>
                  <c:pt idx="3">
                    <c:v>Almonds</c:v>
                  </c:pt>
                  <c:pt idx="4">
                    <c:v>Grapes</c:v>
                  </c:pt>
                </c:lvl>
              </c:multiLvlStrCache>
            </c:multiLvlStrRef>
          </c:cat>
          <c:val>
            <c:numRef>
              <c:f>Sheet1!$C$2:$C$6</c:f>
              <c:numCache>
                <c:formatCode>General</c:formatCode>
                <c:ptCount val="5"/>
                <c:pt idx="0">
                  <c:v>50</c:v>
                </c:pt>
                <c:pt idx="1">
                  <c:v>25</c:v>
                </c:pt>
                <c:pt idx="2">
                  <c:v>40</c:v>
                </c:pt>
                <c:pt idx="3">
                  <c:v>40</c:v>
                </c:pt>
                <c:pt idx="4">
                  <c:v>40</c:v>
                </c:pt>
              </c:numCache>
            </c:numRef>
          </c:val>
        </c:ser>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Low end (%)</c:v>
                </c:pt>
              </c:strCache>
            </c:strRef>
          </c:tx>
          <c:spPr>
            <a:solidFill>
              <a:srgbClr val="1D4E6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Drip</c:v>
                  </c:pt>
                  <c:pt idx="1">
                    <c:v>Sprinkler</c:v>
                  </c:pt>
                  <c:pt idx="2">
                    <c:v>Center pivot</c:v>
                  </c:pt>
                  <c:pt idx="3">
                    <c:v>Furrow / flood</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High end (%)</c:v>
                </c:pt>
              </c:strCache>
            </c:strRef>
          </c:tx>
          <c:spPr>
            <a:solidFill>
              <a:srgbClr val="D98C2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Drip</c:v>
                  </c:pt>
                  <c:pt idx="1">
                    <c:v>Sprinkler</c:v>
                  </c:pt>
                  <c:pt idx="2">
                    <c:v>Center pivot</c:v>
                  </c:pt>
                  <c:pt idx="3">
                    <c:v>Furrow / flood</c:v>
                  </c:pt>
                </c:lvl>
              </c:multiLvlStrCache>
            </c:multiLvlStrRef>
          </c:cat>
          <c:val>
            <c:numRef>
              <c:f>Sheet1!$C$2:$C$5</c:f>
              <c:numCache>
                <c:formatCode>General</c:formatCode>
                <c:ptCount val="4"/>
                <c:pt idx="0">
                  <c:v>55</c:v>
                </c:pt>
                <c:pt idx="1">
                  <c:v>65</c:v>
                </c:pt>
                <c:pt idx="2">
                  <c:v>65</c:v>
                </c:pt>
                <c:pt idx="3">
                  <c:v>70</c:v>
                </c:pt>
              </c:numCache>
            </c:numRef>
          </c:val>
        </c:ser>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8.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89.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90.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9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9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workspace/scratch/50eb4f7d8e13/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workspace/scratch/50eb4f7d8e13/green-solutions-web/scripts/dossiers/drapeaux/usa.png">    </p:cNvPr>
          <p:cNvPicPr>
            <a:picLocks noChangeAspect="1"/>
          </p:cNvPicPr>
          <p:nvPr/>
        </p:nvPicPr>
        <p:blipFill>
          <a:blip r:embed="rId3"/>
          <a:stretch>
            <a:fillRect/>
          </a:stretch>
        </p:blipFill>
        <p:spPr>
          <a:xfrm>
            <a:off x="3648456" y="1527608"/>
            <a:ext cx="1965960" cy="1035201"/>
          </a:xfrm>
          <a:prstGeom prst="rect">
            <a:avLst/>
          </a:prstGeom>
        </p:spPr>
      </p:pic>
      <p:sp>
        <p:nvSpPr>
          <p:cNvPr id="7" name="Shape 2"/>
          <p:cNvSpPr/>
          <p:nvPr/>
        </p:nvSpPr>
        <p:spPr>
          <a:xfrm>
            <a:off x="3648456" y="1527608"/>
            <a:ext cx="1965960" cy="1035201"/>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400" b="1" dirty="0">
                <a:solidFill>
                  <a:srgbClr val="FFFFFF"/>
                </a:solidFill>
                <a:latin typeface="Cambria" pitchFamily="34" charset="0"/>
                <a:ea typeface="Cambria" pitchFamily="34" charset="-122"/>
                <a:cs typeface="Cambria" pitchFamily="34" charset="-120"/>
              </a:rPr>
              <a:t>UNITED STATES OF AMERICA</a:t>
            </a:r>
            <a:endParaRPr lang="en-US" sz="2400" dirty="0"/>
          </a:p>
        </p:txBody>
      </p:sp>
      <p:sp>
        <p:nvSpPr>
          <p:cNvPr id="9" name="Shape 4"/>
          <p:cNvSpPr/>
          <p:nvPr/>
        </p:nvSpPr>
        <p:spPr>
          <a:xfrm>
            <a:off x="658368" y="2889504"/>
            <a:ext cx="2788920" cy="45720"/>
          </a:xfrm>
          <a:prstGeom prst="rect">
            <a:avLst/>
          </a:prstGeom>
          <a:solidFill>
            <a:srgbClr val="D98C2B"/>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D98C2B"/>
                </a:solidFill>
                <a:latin typeface="Cambria" pitchFamily="34" charset="0"/>
                <a:ea typeface="Cambria" pitchFamily="34" charset="-122"/>
                <a:cs typeface="Cambria" pitchFamily="34" charset="-120"/>
              </a:rPr>
              <a:t>Washington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Row crops, permanent plantings and specialty produce on a shrinking water budget.</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What hydro-retention changes for irrigated acres.</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September 2026 · Confidential · For the sole use of the recipient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MARKET AT A GLANCE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A large export sector working on a tighter water budget</a:t>
            </a:r>
            <a:endParaRPr lang="en-US" sz="3000" dirty="0"/>
          </a:p>
        </p:txBody>
      </p:sp>
      <p:sp>
        <p:nvSpPr>
          <p:cNvPr id="4" name="Shape 2"/>
          <p:cNvSpPr/>
          <p:nvPr/>
        </p:nvSpPr>
        <p:spPr>
          <a:xfrm>
            <a:off x="594360" y="1874520"/>
            <a:ext cx="2545004" cy="2514600"/>
          </a:xfrm>
          <a:prstGeom prst="roundRect">
            <a:avLst>
              <a:gd name="adj" fmla="val 3636"/>
            </a:avLst>
          </a:prstGeom>
          <a:solidFill>
            <a:srgbClr val="EEF2F5"/>
          </a:solidFill>
          <a:ln w="9525">
            <a:solidFill>
              <a:srgbClr val="D8E1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880M acres</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of land in farms, about 40% of the land area</a:t>
            </a:r>
            <a:endParaRPr lang="en-US" sz="1250" dirty="0"/>
          </a:p>
        </p:txBody>
      </p:sp>
      <p:sp>
        <p:nvSpPr>
          <p:cNvPr id="7" name="Shape 5"/>
          <p:cNvSpPr/>
          <p:nvPr/>
        </p:nvSpPr>
        <p:spPr>
          <a:xfrm>
            <a:off x="3413684" y="1874520"/>
            <a:ext cx="2545004" cy="2514600"/>
          </a:xfrm>
          <a:prstGeom prst="roundRect">
            <a:avLst>
              <a:gd name="adj" fmla="val 3636"/>
            </a:avLst>
          </a:prstGeom>
          <a:solidFill>
            <a:srgbClr val="EEF2F5"/>
          </a:solidFill>
          <a:ln w="9525">
            <a:solidFill>
              <a:srgbClr val="D8E1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 55M acres</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under irrigation, three quarters of it in the West</a:t>
            </a:r>
            <a:endParaRPr lang="en-US" sz="1250" dirty="0"/>
          </a:p>
        </p:txBody>
      </p:sp>
      <p:sp>
        <p:nvSpPr>
          <p:cNvPr id="10" name="Shape 8"/>
          <p:cNvSpPr/>
          <p:nvPr/>
        </p:nvSpPr>
        <p:spPr>
          <a:xfrm>
            <a:off x="6233008" y="1874520"/>
            <a:ext cx="2545004" cy="2514600"/>
          </a:xfrm>
          <a:prstGeom prst="roundRect">
            <a:avLst>
              <a:gd name="adj" fmla="val 3636"/>
            </a:avLst>
          </a:prstGeom>
          <a:solidFill>
            <a:srgbClr val="EEF2F5"/>
          </a:solidFill>
          <a:ln w="9525">
            <a:solidFill>
              <a:srgbClr val="D8E1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$180 B</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in annual agricultural and food exports</a:t>
            </a:r>
            <a:endParaRPr lang="en-US" sz="1250" dirty="0"/>
          </a:p>
        </p:txBody>
      </p:sp>
      <p:sp>
        <p:nvSpPr>
          <p:cNvPr id="13" name="Shape 11"/>
          <p:cNvSpPr/>
          <p:nvPr/>
        </p:nvSpPr>
        <p:spPr>
          <a:xfrm>
            <a:off x="9052331" y="1874520"/>
            <a:ext cx="2545004" cy="2514600"/>
          </a:xfrm>
          <a:prstGeom prst="roundRect">
            <a:avLst>
              <a:gd name="adj" fmla="val 3636"/>
            </a:avLst>
          </a:prstGeom>
          <a:solidFill>
            <a:srgbClr val="EEF2F5"/>
          </a:solidFill>
          <a:ln w="9525">
            <a:solidFill>
              <a:srgbClr val="D8E1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2.6 M</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people working on farms, near 1.4% of all U.S. jobs</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2F3E47"/>
                </a:solidFill>
                <a:latin typeface="Calibri" pitchFamily="34" charset="0"/>
                <a:ea typeface="Calibri" pitchFamily="34" charset="-122"/>
                <a:cs typeface="Calibri" pitchFamily="34" charset="-120"/>
              </a:rPr>
              <a:t>Farming contributes roughly 1% of GDP on its own, and close to 5% once processing and distribution are counted. Output is concentrated: a small share of operations generates most of the production value, and irrigated acres deliver far more than their proportion of that total.</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CONSTRAINT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Water scarcity here is regional, and it is structural</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6B7D87"/>
                </a:solidFill>
                <a:latin typeface="Calibri" pitchFamily="34" charset="0"/>
                <a:ea typeface="Calibri" pitchFamily="34" charset="-122"/>
                <a:cs typeface="Calibri" pitchFamily="34" charset="-120"/>
              </a:rPr>
              <a:t>Center-pivot irrigation, Great Plains</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Annual precipitation runs from under 10 inches (≈ 250 mm) in the Desert Southwest to more than 50 inches (≈ 1,270 mm) in the Southeast. Irrigation follows that gradient.</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About three quarters of irrigated acreage sits in the 17 western states, where most crops cannot be brought to harvest without applied water in a normal season.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The Colorado River serves some 40 million people and roughly 5 million irrigated acres. Lake Mead and Lake Powell have operated near a third of capacity in recent years.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The Ogallala Aquifer supports close to 12 million irrigated acres across eight states. In parts of Kansas and the Texas Panhandle, water levels have fallen by more than 100 feet.</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Public policy works on supply — storage, recycling, fallowing payments, groundwater plans California basins must balance by 2040. Hydro-retention works on demand, in the root zone.</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DROUGHT AND WATER STRESS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Pressure is rising, but risk remains local</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Two indicators, not a shortcut</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Worldwide, the number and duration of droughts have risen by 29% since 2000 compared with the two previous decades.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Water stress measures something different: withdrawals as a share of renewable resources available after environmental needs. This global signal is therefore not a country forecast; it must be read alongside local rainfall, aquifers, seasons and uses.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WHERE THE WATER GOES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Irrigation and power cooling dominate withdrawals</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What this means</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The industrial share is inflated by once-through cooling at power plants, which returns most of its water to the river.</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Irrigation is different: most of what is applied is consumed. In consumptive terms, farming accounts for the large majority of U.S. freshwater use.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ECONOMY AND FOOD SYSTEM</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The largest farm exporter, on a tightening water ledger</a:t>
            </a:r>
            <a:endParaRPr lang="en-US" sz="3000" dirty="0"/>
          </a:p>
        </p:txBody>
      </p:sp>
      <p:sp>
        <p:nvSpPr>
          <p:cNvPr id="4" name="Shape 2"/>
          <p:cNvSpPr/>
          <p:nvPr/>
        </p:nvSpPr>
        <p:spPr>
          <a:xfrm>
            <a:off x="594360" y="1874520"/>
            <a:ext cx="2545004" cy="2514600"/>
          </a:xfrm>
          <a:prstGeom prst="roundRect">
            <a:avLst>
              <a:gd name="adj" fmla="val 3636"/>
            </a:avLst>
          </a:prstGeom>
          <a:solidFill>
            <a:srgbClr val="EEF2F5"/>
          </a:solidFill>
          <a:ln w="9525">
            <a:solidFill>
              <a:srgbClr val="D8E1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1.9 M</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farms, averaging about 460 acres each</a:t>
            </a:r>
            <a:endParaRPr lang="en-US" sz="1250" dirty="0"/>
          </a:p>
        </p:txBody>
      </p:sp>
      <p:sp>
        <p:nvSpPr>
          <p:cNvPr id="7" name="Shape 5"/>
          <p:cNvSpPr/>
          <p:nvPr/>
        </p:nvSpPr>
        <p:spPr>
          <a:xfrm>
            <a:off x="3413684" y="1874520"/>
            <a:ext cx="2545004" cy="2514600"/>
          </a:xfrm>
          <a:prstGeom prst="roundRect">
            <a:avLst>
              <a:gd name="adj" fmla="val 3636"/>
            </a:avLst>
          </a:prstGeom>
          <a:solidFill>
            <a:srgbClr val="EEF2F5"/>
          </a:solidFill>
          <a:ln w="9525">
            <a:solidFill>
              <a:srgbClr val="D8E1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0.7 %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of GDP from farms alone, over 5 % with food industries</a:t>
            </a:r>
            <a:endParaRPr lang="en-US" sz="1250" dirty="0"/>
          </a:p>
        </p:txBody>
      </p:sp>
      <p:sp>
        <p:nvSpPr>
          <p:cNvPr id="10" name="Shape 8"/>
          <p:cNvSpPr/>
          <p:nvPr/>
        </p:nvSpPr>
        <p:spPr>
          <a:xfrm>
            <a:off x="6233008" y="1874520"/>
            <a:ext cx="2545004" cy="2514600"/>
          </a:xfrm>
          <a:prstGeom prst="roundRect">
            <a:avLst>
              <a:gd name="adj" fmla="val 3636"/>
            </a:avLst>
          </a:prstGeom>
          <a:solidFill>
            <a:srgbClr val="EEF2F5"/>
          </a:solidFill>
          <a:ln w="9525">
            <a:solidFill>
              <a:srgbClr val="D8E1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$59 B</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in 2023 farm cash receipts for California, the top state</a:t>
            </a:r>
            <a:endParaRPr lang="en-US" sz="1250" dirty="0"/>
          </a:p>
        </p:txBody>
      </p:sp>
      <p:sp>
        <p:nvSpPr>
          <p:cNvPr id="13" name="Shape 11"/>
          <p:cNvSpPr/>
          <p:nvPr/>
        </p:nvSpPr>
        <p:spPr>
          <a:xfrm>
            <a:off x="9052331" y="1874520"/>
            <a:ext cx="2545004" cy="2514600"/>
          </a:xfrm>
          <a:prstGeom prst="roundRect">
            <a:avLst>
              <a:gd name="adj" fmla="val 3636"/>
            </a:avLst>
          </a:prstGeom>
          <a:solidFill>
            <a:srgbClr val="EEF2F5"/>
          </a:solidFill>
          <a:ln w="9525">
            <a:solidFill>
              <a:srgbClr val="D8E1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80 %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of the world's almonds grown in California</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2F3E47"/>
                </a:solidFill>
                <a:latin typeface="Calibri" pitchFamily="34" charset="0"/>
                <a:ea typeface="Calibri" pitchFamily="34" charset="-122"/>
                <a:cs typeface="Calibri" pitchFamily="34" charset="-120"/>
              </a:rPr>
              <a:t>Fruit, nuts and vegetables cover a small share of cropland but a large share of farm value, and most of them are irrigated in the West. California's Sustainable Groundwater Management Act and falling water tables on the High Plains now cap how much water those acres can draw.</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MAJOR CROPS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Five outputs carry the bulk of farm volume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Reading</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Corn and soybeans carry the volume, largely rain-fed across the Midwest.</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Hay and forage are the single largest consumer of irrigation water in the West; alfalfa alone takes a significant share of Colorado River deliveries. Potatoes and specialty crops carry the highest value per acre.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FIRST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California specialty crops: every acre-foot is margin</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California grows most U.S. almonds, pistachios, table grapes, strawberries and processing tomatoes, all under irrigation.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In drought years surface-water allocations have fallen close to zero, pushing growers onto groundwater.</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SGMA requires groundwater basins to reach sustainable pumping by the early 2040s: less water per acre, or fewer acres.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Orchards cannot be rotated out in a dry year; keeping the root zone moist protects a multi-decade investment.</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 water retainer placed at planting, or when an orchard is renewed, lengthens the interval between irrigations.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SECOND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High Plains corn above a shrinking Ogallala</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The Ogallala aquifer underlies parts of eight states and carries much of the irrigated corn, sorghum and cotton of the High Plains.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In southwest Kansas and the Texas Panhandle, some wells no longer yield enough for full irrigation.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Local districts now set pumping limits, and growers are shifting to fewer pivot acres or limited irrigation.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For grain crops we claim no yield gain without a field trial: the case rests on the water saved per acre.</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Trials pair a treated pivot sector with an untreated one, measured over a full season with soil-moisture probes.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Yield potential</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Expected yield gain by crop</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Read with care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Ranges used by our dose calculator, for a normally managed crop with EVERGREEN® applied at planting.</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Actual results depend on soil, climate and management. For cereals, no gain is claimed without a field trial.</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OUR ANSWER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Two technologies for two different constraints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EVERGREEN® — hold the water</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Potassium-based hydro-retainer, placed in the root zone at planting or at the first pass of the season.</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Captures rain and irrigation water, then releases it back to the plant as demand arises, removing water stress during the critical growth stages.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Absorbs on the order of 300 times its own weight; useful life of 3 to 4 years in the soil.</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Degrades by 20 to 25% per year, with no accumulation and no risk of overdose.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ECOFERT® — feed without depleting</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Microdose fertilizer built on amino acids, nitrogen, phosphorus and potassium, sourced from renewable inputs.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Non-chelating: it does not strip the clay-humus complex and does not raise soil salinity or nitrate load.</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SOHISCERT and EU Organic certified — the condition of entry to organic and export buyer programs.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1 to 4 bottles of 140 ml per hectare, compatible with existing fertigation equipment.</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The two products are sold separately but were designed to reinforce one another: the hydro-retainer extends how long water stays available, the fertilizer converts that available water into growth without degrading the soil.</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rest of the range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Protecting crops, holding soils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NAPEMA® — protection without residue</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Controls diseases, parasites, fungi and pests, with no synthetic molecule.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Foliar and root spraying, working both preventively and curatively.</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No residue in soil, plant or air: pollinators and beneficial insects are spared.</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Formulated for one precise problem: mealybug, citrus greening (HLB), nematodes.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Paulownia ALTIFOLIA® — the tree for hot regions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13 to 15 m in six to eight years, with a wide trunk.</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Combined with 100 g of EVERGREEN® per plant, irrigation needs drop by 50%.</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Withstands −25 °C to +45 °C; the wood only ignites above 426 °C.</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Windbreak, protection against soil erosion, 400 to 700 kg of honey per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Plants delivered potted (25 to 30 cm), certified disease-free and replaced under warranty in case of loss. First harvest at the end of year six, with wood valued at around €400 to €450 per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ORDERS OF MAGNITUDE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Expected water savings by irrigation method</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Read with care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These ranges are indicative and rest on documented gains from our hydro-retainers.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Actual results depend on the soil, the climate and the crop. The figures give an order of magnitude only: they are in no case a guaranteed, contractual or absolute value.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THREE PRIORITY AREAS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Where to run the first trials</a:t>
            </a:r>
            <a:endParaRPr lang="en-US" sz="3000" dirty="0"/>
          </a:p>
        </p:txBody>
      </p:sp>
      <p:sp>
        <p:nvSpPr>
          <p:cNvPr id="4" name="Shape 2"/>
          <p:cNvSpPr/>
          <p:nvPr/>
        </p:nvSpPr>
        <p:spPr>
          <a:xfrm>
            <a:off x="594360" y="1783080"/>
            <a:ext cx="3472586" cy="4069080"/>
          </a:xfrm>
          <a:prstGeom prst="roundRect">
            <a:avLst>
              <a:gd name="adj" fmla="val 2633"/>
            </a:avLst>
          </a:prstGeom>
          <a:solidFill>
            <a:srgbClr val="EEF2F5"/>
          </a:solidFill>
          <a:ln w="9525">
            <a:solidFill>
              <a:srgbClr val="D8E1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Central Valley, CA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 5M irrigated acres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More than 250 crops on one valley floor — almonds, pistachios, grapes, processing tomatoes. Permanent plantings cannot simply be fallowed in a dry year.</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State groundwater plans tighten pumping allowances through 2040: growers need savings per acre, not new supply.</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Drip and micro-sprinkler are already standard, so the remaining gain has to come from the soil itself.</a:t>
            </a:r>
            <a:endParaRPr lang="en-US" sz="1150" dirty="0"/>
          </a:p>
        </p:txBody>
      </p:sp>
      <p:sp>
        <p:nvSpPr>
          <p:cNvPr id="9" name="Shape 6"/>
          <p:cNvSpPr/>
          <p:nvPr/>
        </p:nvSpPr>
        <p:spPr>
          <a:xfrm>
            <a:off x="4359554" y="1783080"/>
            <a:ext cx="3472586" cy="4069080"/>
          </a:xfrm>
          <a:prstGeom prst="roundRect">
            <a:avLst>
              <a:gd name="adj" fmla="val 2633"/>
            </a:avLst>
          </a:prstGeom>
          <a:solidFill>
            <a:srgbClr val="EEF2F5"/>
          </a:solidFill>
          <a:ln w="9525">
            <a:solidFill>
              <a:srgbClr val="D8E1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High Plains</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 12M irrigated acres</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Corn, sorghum, cotton and alfalfa across Nebraska, Kansas, Colorado and the Texas Panhandle, almost entirely on center pivot.</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Aquifer levels have declined for decades; well yields fall and pumping lift rises, pushing up energy cost per acre-inch applied.</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Sandy and sandy-loam soils hold little water — retention in the root zone has a direct, measurable effect.</a:t>
            </a:r>
            <a:endParaRPr lang="en-US" sz="1150" dirty="0"/>
          </a:p>
        </p:txBody>
      </p:sp>
      <p:sp>
        <p:nvSpPr>
          <p:cNvPr id="14" name="Shape 10"/>
          <p:cNvSpPr/>
          <p:nvPr/>
        </p:nvSpPr>
        <p:spPr>
          <a:xfrm>
            <a:off x="8124749" y="1783080"/>
            <a:ext cx="3472586" cy="4069080"/>
          </a:xfrm>
          <a:prstGeom prst="roundRect">
            <a:avLst>
              <a:gd name="adj" fmla="val 2633"/>
            </a:avLst>
          </a:prstGeom>
          <a:solidFill>
            <a:srgbClr val="EEF2F5"/>
          </a:solidFill>
          <a:ln w="9525">
            <a:solidFill>
              <a:srgbClr val="D8E1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Columbia Basin</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 700k irrigated acres</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Potatoes, apples, hops, onions and wine grapes on sandy volcanic soils with very low water-holding capacity.</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Under 10 inches of rain a year: every acre depends on delivered water from the Columbia River system.</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High value per acre and strict packer quality specifications justify spending on per-acre inputs.</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HOW WE PROCEED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A staged rollout, measured at every step</a:t>
            </a:r>
            <a:endParaRPr lang="en-US" sz="3000" dirty="0"/>
          </a:p>
        </p:txBody>
      </p:sp>
      <p:sp>
        <p:nvSpPr>
          <p:cNvPr id="4" name="Shape 2"/>
          <p:cNvSpPr/>
          <p:nvPr/>
        </p:nvSpPr>
        <p:spPr>
          <a:xfrm>
            <a:off x="594360" y="1874520"/>
            <a:ext cx="2545004" cy="2834640"/>
          </a:xfrm>
          <a:prstGeom prst="roundRect">
            <a:avLst>
              <a:gd name="adj" fmla="val 3593"/>
            </a:avLst>
          </a:prstGeom>
          <a:solidFill>
            <a:srgbClr val="EEF2F5"/>
          </a:solidFill>
          <a:ln w="9525">
            <a:solidFill>
              <a:srgbClr val="D8E1E7"/>
            </a:solidFill>
            <a:prstDash val="solid"/>
          </a:ln>
        </p:spPr>
      </p:sp>
      <p:sp>
        <p:nvSpPr>
          <p:cNvPr id="5" name="Shape 3"/>
          <p:cNvSpPr/>
          <p:nvPr/>
        </p:nvSpPr>
        <p:spPr>
          <a:xfrm>
            <a:off x="822960" y="2103120"/>
            <a:ext cx="566928" cy="566928"/>
          </a:xfrm>
          <a:prstGeom prst="ellipse">
            <a:avLst/>
          </a:prstGeom>
          <a:solidFill>
            <a:srgbClr val="1D4E6B"/>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Assessment</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Review of the soil, the irrigation method and the crop. No commitment at this stage.</a:t>
            </a:r>
            <a:endParaRPr lang="en-US" sz="1200" dirty="0"/>
          </a:p>
        </p:txBody>
      </p:sp>
      <p:sp>
        <p:nvSpPr>
          <p:cNvPr id="9" name="Shape 7"/>
          <p:cNvSpPr/>
          <p:nvPr/>
        </p:nvSpPr>
        <p:spPr>
          <a:xfrm>
            <a:off x="3413684" y="1874520"/>
            <a:ext cx="2545004" cy="2834640"/>
          </a:xfrm>
          <a:prstGeom prst="roundRect">
            <a:avLst>
              <a:gd name="adj" fmla="val 3593"/>
            </a:avLst>
          </a:prstGeom>
          <a:solidFill>
            <a:srgbClr val="EEF2F5"/>
          </a:solidFill>
          <a:ln w="9525">
            <a:solidFill>
              <a:srgbClr val="D8E1E7"/>
            </a:solidFill>
            <a:prstDash val="solid"/>
          </a:ln>
        </p:spPr>
      </p:sp>
      <p:sp>
        <p:nvSpPr>
          <p:cNvPr id="10" name="Shape 8"/>
          <p:cNvSpPr/>
          <p:nvPr/>
        </p:nvSpPr>
        <p:spPr>
          <a:xfrm>
            <a:off x="3642284" y="2103120"/>
            <a:ext cx="566928" cy="566928"/>
          </a:xfrm>
          <a:prstGeom prst="ellipse">
            <a:avLst/>
          </a:prstGeom>
          <a:solidFill>
            <a:srgbClr val="1D4E6B"/>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Trial block</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A comparative trial on one block, against a control block managed identically.</a:t>
            </a:r>
            <a:endParaRPr lang="en-US" sz="1200" dirty="0"/>
          </a:p>
        </p:txBody>
      </p:sp>
      <p:sp>
        <p:nvSpPr>
          <p:cNvPr id="14" name="Shape 12"/>
          <p:cNvSpPr/>
          <p:nvPr/>
        </p:nvSpPr>
        <p:spPr>
          <a:xfrm>
            <a:off x="6233008" y="1874520"/>
            <a:ext cx="2545004" cy="2834640"/>
          </a:xfrm>
          <a:prstGeom prst="roundRect">
            <a:avLst>
              <a:gd name="adj" fmla="val 3593"/>
            </a:avLst>
          </a:prstGeom>
          <a:solidFill>
            <a:srgbClr val="EEF2F5"/>
          </a:solidFill>
          <a:ln w="9525">
            <a:solidFill>
              <a:srgbClr val="D8E1E7"/>
            </a:solidFill>
            <a:prstDash val="solid"/>
          </a:ln>
        </p:spPr>
      </p:sp>
      <p:sp>
        <p:nvSpPr>
          <p:cNvPr id="15" name="Shape 13"/>
          <p:cNvSpPr/>
          <p:nvPr/>
        </p:nvSpPr>
        <p:spPr>
          <a:xfrm>
            <a:off x="6461608" y="2103120"/>
            <a:ext cx="566928" cy="566928"/>
          </a:xfrm>
          <a:prstGeom prst="ellipse">
            <a:avLst/>
          </a:prstGeom>
          <a:solidFill>
            <a:srgbClr val="1D4E6B"/>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Measurement</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Water use and yield recorded across a full production cycle.</a:t>
            </a:r>
            <a:endParaRPr lang="en-US" sz="1200" dirty="0"/>
          </a:p>
        </p:txBody>
      </p:sp>
      <p:sp>
        <p:nvSpPr>
          <p:cNvPr id="19" name="Shape 17"/>
          <p:cNvSpPr/>
          <p:nvPr/>
        </p:nvSpPr>
        <p:spPr>
          <a:xfrm>
            <a:off x="9052331" y="1874520"/>
            <a:ext cx="2545004" cy="2834640"/>
          </a:xfrm>
          <a:prstGeom prst="roundRect">
            <a:avLst>
              <a:gd name="adj" fmla="val 3593"/>
            </a:avLst>
          </a:prstGeom>
          <a:solidFill>
            <a:srgbClr val="EEF2F5"/>
          </a:solidFill>
          <a:ln w="9525">
            <a:solidFill>
              <a:srgbClr val="D8E1E7"/>
            </a:solidFill>
            <a:prstDash val="solid"/>
          </a:ln>
        </p:spPr>
      </p:sp>
      <p:sp>
        <p:nvSpPr>
          <p:cNvPr id="20" name="Shape 18"/>
          <p:cNvSpPr/>
          <p:nvPr/>
        </p:nvSpPr>
        <p:spPr>
          <a:xfrm>
            <a:off x="9280931" y="2103120"/>
            <a:ext cx="566928" cy="566928"/>
          </a:xfrm>
          <a:prstGeom prst="ellipse">
            <a:avLst/>
          </a:prstGeom>
          <a:solidFill>
            <a:srgbClr val="1D4E6B"/>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Rollout</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Gradual extension to the remaining acres on the basis of the results observed.</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D87"/>
                </a:solidFill>
                <a:latin typeface="Calibri" pitchFamily="34" charset="0"/>
                <a:ea typeface="Calibri" pitchFamily="34" charset="-122"/>
                <a:cs typeface="Calibri" pitchFamily="34" charset="-120"/>
              </a:rPr>
              <a:t>The dosing rule is the same everywhere: 3 grams per liter of usable soil. What changes from one field to the next is the volume of soil the roots actually explore.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Working together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A local partner for the United States</a:t>
            </a:r>
            <a:endParaRPr lang="en-US" sz="3000" dirty="0"/>
          </a:p>
        </p:txBody>
      </p:sp>
      <p:sp>
        <p:nvSpPr>
          <p:cNvPr id="4" name="Shape 2"/>
          <p:cNvSpPr/>
          <p:nvPr/>
        </p:nvSpPr>
        <p:spPr>
          <a:xfrm>
            <a:off x="594360" y="1874520"/>
            <a:ext cx="2545004" cy="2834640"/>
          </a:xfrm>
          <a:prstGeom prst="roundRect">
            <a:avLst>
              <a:gd name="adj" fmla="val 3593"/>
            </a:avLst>
          </a:prstGeom>
          <a:solidFill>
            <a:srgbClr val="EEF2F5"/>
          </a:solidFill>
          <a:ln w="9525">
            <a:solidFill>
              <a:srgbClr val="D8E1E7"/>
            </a:solidFill>
            <a:prstDash val="solid"/>
          </a:ln>
        </p:spPr>
      </p:sp>
      <p:sp>
        <p:nvSpPr>
          <p:cNvPr id="5" name="Shape 3"/>
          <p:cNvSpPr/>
          <p:nvPr/>
        </p:nvSpPr>
        <p:spPr>
          <a:xfrm>
            <a:off x="822960" y="2103120"/>
            <a:ext cx="566928" cy="566928"/>
          </a:xfrm>
          <a:prstGeom prst="ellipse">
            <a:avLst/>
          </a:prstGeom>
          <a:solidFill>
            <a:srgbClr val="1D4E6B"/>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Territorial exclusivity and launch stock for the first commercial season.</a:t>
            </a:r>
            <a:endParaRPr lang="en-US" sz="1200" dirty="0"/>
          </a:p>
        </p:txBody>
      </p:sp>
      <p:sp>
        <p:nvSpPr>
          <p:cNvPr id="9" name="Shape 7"/>
          <p:cNvSpPr/>
          <p:nvPr/>
        </p:nvSpPr>
        <p:spPr>
          <a:xfrm>
            <a:off x="3413684" y="1874520"/>
            <a:ext cx="2545004" cy="2834640"/>
          </a:xfrm>
          <a:prstGeom prst="roundRect">
            <a:avLst>
              <a:gd name="adj" fmla="val 3593"/>
            </a:avLst>
          </a:prstGeom>
          <a:solidFill>
            <a:srgbClr val="EEF2F5"/>
          </a:solidFill>
          <a:ln w="9525">
            <a:solidFill>
              <a:srgbClr val="D8E1E7"/>
            </a:solidFill>
            <a:prstDash val="solid"/>
          </a:ln>
        </p:spPr>
      </p:sp>
      <p:sp>
        <p:nvSpPr>
          <p:cNvPr id="10" name="Shape 8"/>
          <p:cNvSpPr/>
          <p:nvPr/>
        </p:nvSpPr>
        <p:spPr>
          <a:xfrm>
            <a:off x="3642284" y="2103120"/>
            <a:ext cx="566928" cy="566928"/>
          </a:xfrm>
          <a:prstGeom prst="ellipse">
            <a:avLst/>
          </a:prstGeom>
          <a:solidFill>
            <a:srgbClr val="1D4E6B"/>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Training</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Technical training for field teams, dosing protocols and seasonal updates.</a:t>
            </a:r>
            <a:endParaRPr lang="en-US" sz="1200" dirty="0"/>
          </a:p>
        </p:txBody>
      </p:sp>
      <p:sp>
        <p:nvSpPr>
          <p:cNvPr id="14" name="Shape 12"/>
          <p:cNvSpPr/>
          <p:nvPr/>
        </p:nvSpPr>
        <p:spPr>
          <a:xfrm>
            <a:off x="6233008" y="1874520"/>
            <a:ext cx="2545004" cy="2834640"/>
          </a:xfrm>
          <a:prstGeom prst="roundRect">
            <a:avLst>
              <a:gd name="adj" fmla="val 3593"/>
            </a:avLst>
          </a:prstGeom>
          <a:solidFill>
            <a:srgbClr val="EEF2F5"/>
          </a:solidFill>
          <a:ln w="9525">
            <a:solidFill>
              <a:srgbClr val="D8E1E7"/>
            </a:solidFill>
            <a:prstDash val="solid"/>
          </a:ln>
        </p:spPr>
      </p:sp>
      <p:sp>
        <p:nvSpPr>
          <p:cNvPr id="15" name="Shape 13"/>
          <p:cNvSpPr/>
          <p:nvPr/>
        </p:nvSpPr>
        <p:spPr>
          <a:xfrm>
            <a:off x="6461608" y="2103120"/>
            <a:ext cx="566928" cy="566928"/>
          </a:xfrm>
          <a:prstGeom prst="ellipse">
            <a:avLst/>
          </a:prstGeom>
          <a:solidFill>
            <a:srgbClr val="1D4E6B"/>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Joint trials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Demonstration plots with a control, results shared with growers.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EEF2F5"/>
          </a:solidFill>
          <a:ln w="9525">
            <a:solidFill>
              <a:srgbClr val="D8E1E7"/>
            </a:solidFill>
            <a:prstDash val="solid"/>
          </a:ln>
        </p:spPr>
      </p:sp>
      <p:sp>
        <p:nvSpPr>
          <p:cNvPr id="20" name="Shape 18"/>
          <p:cNvSpPr/>
          <p:nvPr/>
        </p:nvSpPr>
        <p:spPr>
          <a:xfrm>
            <a:off x="9280931" y="2103120"/>
            <a:ext cx="566928" cy="566928"/>
          </a:xfrm>
          <a:prstGeom prst="ellipse">
            <a:avLst/>
          </a:prstGeom>
          <a:solidFill>
            <a:srgbClr val="1D4E6B"/>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Dialogue with the Ministry of Agriculture and food-security programmes.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D87"/>
                </a:solidFill>
                <a:latin typeface="Calibri" pitchFamily="34" charset="0"/>
                <a:ea typeface="Calibri" pitchFamily="34" charset="-122"/>
                <a:cs typeface="Calibri" pitchFamily="34" charset="-120"/>
              </a:rPr>
              <a:t>The framework adapts to the territory: an importer, an input distributor or a growers' group can lead the partnership.</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WHAT TO ANTICIPATE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Identified risks and how we answer them</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Risks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Year-to-year rainfall variability: a wet season masks the value of the product.</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Long purchasing cycles and agronomist sign-off on large operations, plus dealer and co-op channels to qualify.</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Memory of low-grade sodium-based polymers, which left a poor reputation among growers.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Tight margins on row crops when input costs rise faster than commodity prices.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Answers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Run the trial over a full cycle with a control block, so the gain is documented even in a favorable season.</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Work through dealers, co-ops and crop consultants rather than farm by farm, and supply the trial protocol in advance.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Document the formulation: potassium, never sodium, compatible with food crops and with soil health.</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Spread the outlay: a 3 to 4 year useful life amortizes the cost across several seasons.</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Acrylamide analysis (Polymex laboratory, ISO 9001, content below 3.0 µg/g), REACH / SVHC screening (SGS) and the SOHISCERT certificate valid to 4 September 2027 are all available on request.</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Sources and working assumptions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Main sources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USDA NASS: 2022 Census of Agriculture, state farm cash receipts.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USDA ERS: agriculture and food sectors in the economy, farm exports.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USGS: estimated water use in the United States, High Plains aquifer monitoring.</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California Department of Water Resources (SGMA); Almond Board of California.</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UNCCD, Drought in Numbers 2022: number and duration of droughts, +29% since 2000 versus 1980–1999.</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UN-Water / FAO AQUASTAT, SDG indicator 6.4.2: definition and thresholds of water stress.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Working assumptions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Figures are rounded orders of magnitude, taken from the latest public data available.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Water and yield gains are indicative and vary with soil, climate and crop.</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Commercial working document: figures to be refreshed before any official submission.</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Trial reports, certificates (SOHISCERT, Polymex and SGS analyses) and technical sheets: available on request.</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Tell us about your field</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Crop, irrigation method, soil type, and the water volume you apply today. We come back with the matching combination of technologies, the dosing, and the trials already run in comparable conditions.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A first conversation commits you to nothing.</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D98C2B"/>
                </a:solidFill>
                <a:latin typeface="Calibri" pitchFamily="34" charset="0"/>
                <a:ea typeface="Calibri" pitchFamily="34" charset="-122"/>
                <a:cs typeface="Calibri" pitchFamily="34" charset="-120"/>
              </a:rPr>
              <a:t>contact@evergreen-ecosorb.com · Green Solutions Groupe AIM SA, 46, route de la Condémine, 1475 Forel, Switzerland</a:t>
            </a:r>
            <a:endParaRPr lang="en-US" sz="1400" dirty="0"/>
          </a:p>
        </p:txBody>
      </p:sp>
      <p:pic>
        <p:nvPicPr>
          <p:cNvPr id="6" name="Image 1" descr="/workspace/scratch/50eb4f7d8e13/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2026-09-20T00:14:23Z</dcterms:created>
  <dcterms:modified xsi:type="dcterms:W3CDTF">2026-09-20T00:14:23Z</dcterms:modified>
</cp:coreProperties>
</file>