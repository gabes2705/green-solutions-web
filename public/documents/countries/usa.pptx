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7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8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9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Withdrawals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D4E6B"/>
              </a:solidFill>
              <a:effectLst/>
            </c:spPr>
          </c:dPt>
          <c:dPt>
            <c:idx val="1"/>
            <c:bubble3D val="0"/>
            <c:spPr>
              <a:solidFill>
                <a:srgbClr val="D98C2B"/>
              </a:solidFill>
              <a:effectLst/>
            </c:spPr>
          </c:dPt>
          <c:dPt>
            <c:idx val="2"/>
            <c:bubble3D val="0"/>
            <c:spPr>
              <a:solidFill>
                <a:srgbClr val="5A8BA6"/>
              </a:solidFill>
              <a:effectLst/>
            </c:spPr>
          </c:dPt>
          <c:dLbls>
            <c:dLbl>
              <c:idx val="0"/>
              <c:numFmt formatCode="[$-409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[$-409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[$-409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09]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Agriculture</c:v>
                </c:pt>
                <c:pt idx="1">
                  <c:v>Public supply</c:v>
                </c:pt>
                <c:pt idx="2">
                  <c:v>Industry &amp; power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40</c:v>
                </c:pt>
                <c:pt idx="1">
                  <c:v>13</c:v>
                </c:pt>
                <c:pt idx="2">
                  <c:v>47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output (million metric tons)</c:v>
                </c:pt>
              </c:strCache>
            </c:strRef>
          </c:tx>
          <c:spPr>
            <a:solidFill>
              <a:srgbClr val="1D4E6B"/>
            </a:solidFill>
            <a:effectLst/>
          </c:spPr>
          <c:invertIfNegative val="0"/>
          <c:dLbls>
            <c:numFmt formatCode="[$-409]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D4E6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8C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A8BA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FAF5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B25C3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Corn</c:v>
                  </c:pt>
                  <c:pt idx="1">
                    <c:v>Soybeans</c:v>
                  </c:pt>
                  <c:pt idx="2">
                    <c:v>Hay &amp; forage</c:v>
                  </c:pt>
                  <c:pt idx="3">
                    <c:v>Wheat</c:v>
                  </c:pt>
                  <c:pt idx="4">
                    <c:v>Potatoes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380</c:v>
                </c:pt>
                <c:pt idx="1">
                  <c:v>115</c:v>
                </c:pt>
                <c:pt idx="2">
                  <c:v>110</c:v>
                </c:pt>
                <c:pt idx="3">
                  <c:v>50</c:v>
                </c:pt>
                <c:pt idx="4">
                  <c:v>19</c:v>
                </c:pt>
              </c:numCache>
            </c:numRef>
          </c:val>
        </c:ser>
        <c:dLbls>
          <c:numFmt formatCode="[$-409]0" sourceLinked="0"/>
          <c:txPr>
            <a:bodyPr/>
            <a:lstStyle/>
            <a:p>
              <a:pPr>
                <a:defRPr b="0" i="0" strike="noStrike" sz="1100" u="none">
                  <a:solidFill>
                    <a:srgbClr val="0F2E4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8E1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Low end (%)</c:v>
                </c:pt>
              </c:strCache>
            </c:strRef>
          </c:tx>
          <c:spPr>
            <a:solidFill>
              <a:srgbClr val="1D4E6B"/>
            </a:solidFill>
            <a:effectLst/>
          </c:spPr>
          <c:invertIfNegative val="0"/>
          <c:dLbls>
            <c:numFmt formatCode="[$-409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Drip</c:v>
                  </c:pt>
                  <c:pt idx="1">
                    <c:v>Sprinkler</c:v>
                  </c:pt>
                  <c:pt idx="2">
                    <c:v>Center pivot</c:v>
                  </c:pt>
                  <c:pt idx="3">
                    <c:v>Furrow / flood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50</c:v>
                </c:pt>
                <c:pt idx="2">
                  <c:v>50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end (%)</c:v>
                </c:pt>
              </c:strCache>
            </c:strRef>
          </c:tx>
          <c:spPr>
            <a:solidFill>
              <a:srgbClr val="D98C2B"/>
            </a:solidFill>
            <a:effectLst/>
          </c:spPr>
          <c:invertIfNegative val="0"/>
          <c:dLbls>
            <c:numFmt formatCode="[$-409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Drip</c:v>
                  </c:pt>
                  <c:pt idx="1">
                    <c:v>Sprinkler</c:v>
                  </c:pt>
                  <c:pt idx="2">
                    <c:v>Center pivot</c:v>
                  </c:pt>
                  <c:pt idx="3">
                    <c:v>Furrow / flood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65</c:v>
                </c:pt>
                <c:pt idx="2">
                  <c:v>65</c:v>
                </c:pt>
                <c:pt idx="3">
                  <c:v>70</c:v>
                </c:pt>
              </c:numCache>
            </c:numRef>
          </c:val>
        </c:ser>
        <c:dLbls>
          <c:numFmt formatCode="[$-409]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0F2E4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8E1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jpeg"/><Relationship Id="rId3" Type="http://schemas.openxmlformats.org/officeDocument/2006/relationships/image" Target="../media/image-8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0"/>
            <a:ext cx="5918911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272784" cy="68580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58368" y="566928"/>
            <a:ext cx="4041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80" kern="0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GROUP</a:t>
            </a:r>
            <a:endParaRPr lang="en-US" sz="1100" dirty="0"/>
          </a:p>
        </p:txBody>
      </p:sp>
      <p:pic>
        <p:nvPicPr>
          <p:cNvPr id="5" name="Image 1" descr="C:\Users\Utilisateur\dev\green-solutions-web\public\images\logo-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457200"/>
            <a:ext cx="603504" cy="603504"/>
          </a:xfrm>
          <a:prstGeom prst="rect">
            <a:avLst/>
          </a:prstGeom>
        </p:spPr>
      </p:pic>
      <p:pic>
        <p:nvPicPr>
          <p:cNvPr id="6" name="Image 2" descr="C:\Users\Utilisateur\dev\green-solutions-web\scripts\dossiers\drapeaux\us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8456" y="1389888"/>
            <a:ext cx="1965960" cy="13106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3648456" y="1389888"/>
            <a:ext cx="1965960" cy="1310640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58368" y="1298448"/>
            <a:ext cx="27614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UNITED STATES OF AMERICA</a:t>
            </a:r>
            <a:endParaRPr lang="en-US" sz="2400" dirty="0"/>
          </a:p>
        </p:txBody>
      </p:sp>
      <p:sp>
        <p:nvSpPr>
          <p:cNvPr id="9" name="Shape 4"/>
          <p:cNvSpPr/>
          <p:nvPr/>
        </p:nvSpPr>
        <p:spPr>
          <a:xfrm>
            <a:off x="658368" y="2889504"/>
            <a:ext cx="2788920" cy="45720"/>
          </a:xfrm>
          <a:prstGeom prst="rect">
            <a:avLst/>
          </a:prstGeom>
          <a:solidFill>
            <a:srgbClr val="D98C2B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658368" y="3163824"/>
            <a:ext cx="4956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D98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Washington · 2026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658368" y="3767328"/>
            <a:ext cx="4956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 crops, permanent plantings and specialty produce on a shrinking water budget.</a:t>
            </a:r>
            <a:endParaRPr lang="en-US" sz="14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hydro-retention changes for irrigated acres.</a:t>
            </a:r>
            <a:endParaRPr lang="en-US" sz="1450" dirty="0"/>
          </a:p>
        </p:txBody>
      </p:sp>
      <p:sp>
        <p:nvSpPr>
          <p:cNvPr id="12" name="Text 7"/>
          <p:cNvSpPr txBox="1"/>
          <p:nvPr/>
        </p:nvSpPr>
        <p:spPr>
          <a:xfrm>
            <a:off x="658368" y="4892040"/>
            <a:ext cx="4956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ECOSORB® · ECOFERT® · NAPEMA® · PAULOWNIA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658368" y="6053328"/>
            <a:ext cx="4956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 · Confidential · For the sole use of the recipient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 AT A GLANCE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large export sector working on a tighter water budget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880M acres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land in farms, about 40% of the land area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55M acres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irrigation, three quarters of it in the West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$180 B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annual agricultural and food exports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2.6 M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working on farms, near 1.4% of all U.S. jobs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Farming contributes roughly 1% of GDP on its own, and close to 5% once processing and distribution are counted. Output is concentrated: a small share of operations generates most of the production value, and irrigated acres deliver far more than their proportion of that total.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United States Market Dossier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CONSTRAINT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Water scarcity here is regional, and it is structural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522415" y="5687568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Center-pivot irrigation, Great Plains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precipitation runs from under 10 inches (≈ 250 mm) in the Desert Southwest to more than 50 inches (≈ 1,270 mm) in the Southeast. Irrigation follows that gradient.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three quarters of irrigated acreage sits in the 17 western states, where most crops cannot be brought to harvest without applied water in a normal season.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Colorado River serves some 40 million people and roughly 5 million irrigated acres. Lake Mead and Lake Powell have operated near a third of capacity in recent years.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Ogallala Aquifer supports close to 12 million irrigated acres across eight states. In parts of Kansas and the Texas Panhandle, water levels have fallen by more than 100 feet.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policy works on supply — storage, recycling, fallowing payments, groundwater plans California basins must balance by 2040. Hydro-retention works on demand, in the root zone.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United States Market Dossier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WATER GOES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Irrigation and power cooling dominate withdrawals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means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industrial share is inflated by once-through cooling at power plants, which returns most of its water to the river.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Irrigation is different: most of what is applied is consumed. In consumptive terms, farming accounts for the large majority of U.S. freshwater use.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United States Market Dossier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MAJOR CROPS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outputs carry the bulk of farm volume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Corn and soybeans carry the volume, largely rain-fed across the Midwest.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 and forage are the single largest consumer of irrigation water in the West; alfalfa alone takes a significant share of Colorado River deliveries. Potatoes and specialty crops carry the highest value per acre.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United States Market Dossier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ANSWER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technologies for two different constraints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EVERGREEN® — hold the water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Potassium-based hydro-retainer, placed in the root zone at planting or at the first pass of the season.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rain and irrigation water, then releases it back to the plant as demand arises, removing water stress during the critical growth stages.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Absorbs on the order of 300 times its own weight; useful life of 3 to 4 years in the soil.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Degrades by 20 to 25% per year, with no accumulation and no risk of overdose.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ECOFERT® — feed without depleting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Microdose fertilizer built on amino acids, nitrogen, phosphorus and potassium, sourced from renewable inputs.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Non-chelating: it does not strip the clay-humus complex and does not raise soil salinity or nitrate load.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SOHISCERT and EU Organic certified — the condition of entry to organic and export buyer programs.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to 4 bottles of 140 ml per hectare, compatible with existing fertigation equipment.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products are sold separately but were designed to reinforce one another: the hydro-retainer extends how long water stays available, the fertilizer converts that available water into growth without degrading the soil.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United States Market Dossier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OF MAGNITUDE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Expected water savings by irrigation method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with care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ranges are indicative and rest on documented gains from our hydro-retainers.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results depend on the soil, the climate and the crop. The figures give an order of magnitude only: they are in no case a guaranteed, contractual or absolute value.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United States Market Dossier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PRIORITY AREAS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to run the first trials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3472586" cy="1691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95528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Central Valley, CA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A5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5M irrigated acres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250 crops on one valley floor — almonds, pistachios, grapes, processing tomatoes. Permanent plantings cannot simply be fallowed in a dry year.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groundwater plans tighten pumping allowances through 2040: growers need savings per acre, not new supply.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Drip and micro-sprinkler are already standard, so the remaining gain has to come from the soil itself.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59554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9554" y="1783080"/>
            <a:ext cx="3472586" cy="16916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0722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 Plains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60722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A5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12M irrigated acres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4560722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Corn, sorghum, cotton and alfalfa across Nebraska, Kansas, Colorado and the Texas Panhandle, almost entirely on center pivot.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Aquifer levels have declined for decades; well yields fall and pumping lift rises, pushing up energy cost per acre-inch applied.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Sandy and sandy-loam soils hold little water — retention in the root zone has a direct, measurable effect.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24749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4749" y="1783080"/>
            <a:ext cx="3472586" cy="16916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5917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Columbia Basin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8325917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A5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700k irrigated acres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8325917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Potatoes, apples, hops, onions and wine grapes on sandy volcanic soils with very low water-holding capacity.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10 inches of rain a year: every acre depends on delivered water from the Columbia River system.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value per acre and strict packer quality specifications justify spending on per-acre inputs.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United States Market Dossier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PROCEED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staged rollout, measured at every step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Assessment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of the soil, the irrigation method and the crop. No commitment at this stage.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Trial block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comparative trial on one block, against a control block managed identically.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Measurement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use and yield recorded across a full production cycle.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Rollout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Gradual extension to the remaining acres on the basis of the results observed.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dosing rule is the same everywhere: 3 grams per liter of usable soil. What changes from one field to the next is the volume of soil the roots actually explore.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United States Market Dossier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ANTICIPATE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Identified risks and how we answer them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Year-to-year rainfall variability: a wet season masks the value of the product.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purchasing cycles and agronomist sign-off on large operations, plus dealer and co-op channels to qualify.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of low-grade sodium-based polymers, which left a poor reputation among growers.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Tight margins on row crops when input costs rise faster than commodity prices.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trial over a full cycle with a control block, so the gain is documented even in a favorable season.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through dealers, co-ops and crop consultants rather than farm by farm, and supply the trial protocol in advance.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the formulation: potassium, never sodium, compatible with food crops and with soil health.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the outlay: a 3 to 4 year useful life amortizes the cost across several seasons.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Acrylamide analysis (Polymex laboratory, ISO 9001, content below 3.0 µg/g), REACH / SVHC screening (SGS) and the SOHISCERT certificate valid to 4 September 2027 are all available on request.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United States Market Dossier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21031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Tell us about your field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3200400"/>
            <a:ext cx="8961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Crop, irrigation method, soil type, and the water volume you apply today. We come back with the matching combination of technologies, the dosing, and the trials already run in comparable conditions.</a:t>
            </a: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first conversation commits you to nothing.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846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contact@evergreen-ecosorb.com · 821 Chemin des Clapiers, 83220 Le Pradet, France</a:t>
            </a:r>
            <a:endParaRPr lang="en-US" sz="1400" dirty="0"/>
          </a:p>
        </p:txBody>
      </p:sp>
      <p:pic>
        <p:nvPicPr>
          <p:cNvPr id="6" name="Image 1" descr="C:\Users\Utilisateur\dev\green-solutions-web\scripts\dossiers\sceau-aim-clair.png">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10637215" y="5193792"/>
            <a:ext cx="1051560" cy="10515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United States Market Dossier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2026-09-15T12:53:53Z</dcterms:created>
  <dcterms:modified xsi:type="dcterms:W3CDTF">2026-09-15T12:53:53Z</dcterms:modified>
</cp:coreProperties>
</file>