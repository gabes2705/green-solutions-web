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3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32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33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3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1.xlsx"/></Relationships>
</file>

<file path=ppt/charts/_rels/chart3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2.xlsx"/></Relationships>
</file>

<file path=ppt/charts/_rels/chart3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3.xlsx"/></Relationships>
</file>

<file path=ppt/charts/chart3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Withdrawals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D4E6B"/>
              </a:solidFill>
              <a:effectLst/>
            </c:spPr>
          </c:dPt>
          <c:dPt>
            <c:idx val="1"/>
            <c:bubble3D val="0"/>
            <c:spPr>
              <a:solidFill>
                <a:srgbClr val="D98C2B"/>
              </a:solidFill>
              <a:effectLst/>
            </c:spPr>
          </c:dPt>
          <c:dPt>
            <c:idx val="2"/>
            <c:bubble3D val="0"/>
            <c:spPr>
              <a:solidFill>
                <a:srgbClr val="5A8BA6"/>
              </a:solidFill>
              <a:effectLst/>
            </c:spPr>
          </c:dPt>
          <c:dLbls>
            <c:dLbl>
              <c:idx val="0"/>
              <c:numFmt formatCode="[$-409]0&quot;%&quot;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numFmt formatCode="[$-409]0&quot;%&quot;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numFmt formatCode="[$-409]0&quot;%&quot;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[$-409]0&quot;%&quot;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Agriculture</c:v>
                </c:pt>
                <c:pt idx="1">
                  <c:v>Public supply</c:v>
                </c:pt>
                <c:pt idx="2">
                  <c:v>Industry &amp; power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40</c:v>
                </c:pt>
                <c:pt idx="1">
                  <c:v>13</c:v>
                </c:pt>
                <c:pt idx="2">
                  <c:v>47</c:v>
                </c:pt>
              </c:numCache>
            </c:numRef>
          </c:val>
        </c:ser>
        <c:firstSliceAng val="0"/>
        <c:holeSize val="55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output (million metric tons)</c:v>
                </c:pt>
              </c:strCache>
            </c:strRef>
          </c:tx>
          <c:spPr>
            <a:solidFill>
              <a:srgbClr val="1D4E6B"/>
            </a:solidFill>
            <a:effectLst/>
          </c:spPr>
          <c:invertIfNegative val="0"/>
          <c:dLbls>
            <c:numFmt formatCode="[$-409]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F2E40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D4E6B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D98C2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5A8BA6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8FAF5B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B25C3C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Corn</c:v>
                  </c:pt>
                  <c:pt idx="1">
                    <c:v>Soybeans</c:v>
                  </c:pt>
                  <c:pt idx="2">
                    <c:v>Hay &amp; forage</c:v>
                  </c:pt>
                  <c:pt idx="3">
                    <c:v>Wheat</c:v>
                  </c:pt>
                  <c:pt idx="4">
                    <c:v>Potatoes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380</c:v>
                </c:pt>
                <c:pt idx="1">
                  <c:v>115</c:v>
                </c:pt>
                <c:pt idx="2">
                  <c:v>110</c:v>
                </c:pt>
                <c:pt idx="3">
                  <c:v>50</c:v>
                </c:pt>
                <c:pt idx="4">
                  <c:v>19</c:v>
                </c:pt>
              </c:numCache>
            </c:numRef>
          </c:val>
        </c:ser>
        <c:dLbls>
          <c:numFmt formatCode="[$-409]0" sourceLinked="0"/>
          <c:txPr>
            <a:bodyPr/>
            <a:lstStyle/>
            <a:p>
              <a:pPr>
                <a:defRPr b="0" i="0" strike="noStrike" sz="1100" u="none">
                  <a:solidFill>
                    <a:srgbClr val="0F2E40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D8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9525" cap="flat">
              <a:solidFill>
                <a:srgbClr val="D8E1E7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D8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Low end (%)</c:v>
                </c:pt>
              </c:strCache>
            </c:strRef>
          </c:tx>
          <c:spPr>
            <a:solidFill>
              <a:srgbClr val="1D4E6B"/>
            </a:solidFill>
            <a:effectLst/>
          </c:spPr>
          <c:invertIfNegative val="0"/>
          <c:dLbls>
            <c:numFmt formatCode="[$-409]0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F2E40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Drip</c:v>
                  </c:pt>
                  <c:pt idx="1">
                    <c:v>Sprinkler</c:v>
                  </c:pt>
                  <c:pt idx="2">
                    <c:v>Center pivot</c:v>
                  </c:pt>
                  <c:pt idx="3">
                    <c:v>Furrow / flood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40</c:v>
                </c:pt>
                <c:pt idx="1">
                  <c:v>50</c:v>
                </c:pt>
                <c:pt idx="2">
                  <c:v>50</c:v>
                </c:pt>
                <c:pt idx="3">
                  <c:v>55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High end (%)</c:v>
                </c:pt>
              </c:strCache>
            </c:strRef>
          </c:tx>
          <c:spPr>
            <a:solidFill>
              <a:srgbClr val="D98C2B"/>
            </a:solidFill>
            <a:effectLst/>
          </c:spPr>
          <c:invertIfNegative val="0"/>
          <c:dLbls>
            <c:numFmt formatCode="[$-409]0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F2E40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Drip</c:v>
                  </c:pt>
                  <c:pt idx="1">
                    <c:v>Sprinkler</c:v>
                  </c:pt>
                  <c:pt idx="2">
                    <c:v>Center pivot</c:v>
                  </c:pt>
                  <c:pt idx="3">
                    <c:v>Furrow / flood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55</c:v>
                </c:pt>
                <c:pt idx="1">
                  <c:v>65</c:v>
                </c:pt>
                <c:pt idx="2">
                  <c:v>65</c:v>
                </c:pt>
                <c:pt idx="3">
                  <c:v>70</c:v>
                </c:pt>
              </c:numCache>
            </c:numRef>
          </c:val>
        </c:ser>
        <c:dLbls>
          <c:numFmt formatCode="[$-409]0&quot;%&quot;" sourceLinked="0"/>
          <c:txPr>
            <a:bodyPr/>
            <a:lstStyle/>
            <a:p>
              <a:pPr>
                <a:defRPr b="0" i="0" strike="noStrike" sz="1100" u="none">
                  <a:solidFill>
                    <a:srgbClr val="0F2E40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D8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9525" cap="flat">
              <a:solidFill>
                <a:srgbClr val="D8E1E7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D8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eg"/><Relationship Id="rId2" Type="http://schemas.openxmlformats.org/officeDocument/2006/relationships/image" Target="../media/image-8-2.jpeg"/><Relationship Id="rId3" Type="http://schemas.openxmlformats.org/officeDocument/2006/relationships/image" Target="../media/image-8-3.jpe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72784" y="0"/>
            <a:ext cx="5918911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6272784" cy="6858000"/>
          </a:xfrm>
          <a:prstGeom prst="rect">
            <a:avLst/>
          </a:prstGeom>
          <a:solidFill>
            <a:srgbClr val="0D0D0D"/>
          </a:solidFill>
          <a:ln/>
        </p:spPr>
      </p:sp>
      <p:sp>
        <p:nvSpPr>
          <p:cNvPr id="4" name="Text 1"/>
          <p:cNvSpPr txBox="1"/>
          <p:nvPr/>
        </p:nvSpPr>
        <p:spPr>
          <a:xfrm>
            <a:off x="658368" y="566928"/>
            <a:ext cx="40416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80" kern="0" dirty="0">
                <a:solidFill>
                  <a:srgbClr val="8BC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GROUP</a:t>
            </a:r>
            <a:endParaRPr lang="en-US" sz="1100" dirty="0"/>
          </a:p>
        </p:txBody>
      </p:sp>
      <p:pic>
        <p:nvPicPr>
          <p:cNvPr id="5" name="Image 1" descr="C:\Users\Utilisateur\dev\green-solutions-web\public\images\logo-ic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10912" y="457200"/>
            <a:ext cx="603504" cy="603504"/>
          </a:xfrm>
          <a:prstGeom prst="rect">
            <a:avLst/>
          </a:prstGeom>
        </p:spPr>
      </p:pic>
      <p:pic>
        <p:nvPicPr>
          <p:cNvPr id="6" name="Image 2" descr="C:\Users\Utilisateur\dev\green-solutions-web\scripts\dossiers\drapeaux\usa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48456" y="1389888"/>
            <a:ext cx="1965960" cy="1310640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3648456" y="1389888"/>
            <a:ext cx="1965960" cy="1310640"/>
          </a:xfrm>
          <a:prstGeom prst="rect">
            <a:avLst/>
          </a:prstGeom>
          <a:ln w="9525">
            <a:solidFill>
              <a:srgbClr val="3A3A3A"/>
            </a:solidFill>
            <a:prstDash val="solid"/>
          </a:ln>
        </p:spPr>
      </p:sp>
      <p:sp>
        <p:nvSpPr>
          <p:cNvPr id="8" name="Text 3"/>
          <p:cNvSpPr txBox="1"/>
          <p:nvPr/>
        </p:nvSpPr>
        <p:spPr>
          <a:xfrm>
            <a:off x="658368" y="1298448"/>
            <a:ext cx="276148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UNITED STATES OF AMERICA</a:t>
            </a:r>
            <a:endParaRPr lang="en-US" sz="2400" dirty="0"/>
          </a:p>
        </p:txBody>
      </p:sp>
      <p:sp>
        <p:nvSpPr>
          <p:cNvPr id="9" name="Shape 4"/>
          <p:cNvSpPr/>
          <p:nvPr/>
        </p:nvSpPr>
        <p:spPr>
          <a:xfrm>
            <a:off x="658368" y="2889504"/>
            <a:ext cx="2788920" cy="45720"/>
          </a:xfrm>
          <a:prstGeom prst="rect">
            <a:avLst/>
          </a:prstGeom>
          <a:solidFill>
            <a:srgbClr val="D98C2B"/>
          </a:solidFill>
          <a:ln/>
        </p:spPr>
      </p:sp>
      <p:sp>
        <p:nvSpPr>
          <p:cNvPr id="10" name="Text 5"/>
          <p:cNvSpPr txBox="1"/>
          <p:nvPr/>
        </p:nvSpPr>
        <p:spPr>
          <a:xfrm>
            <a:off x="658368" y="3163824"/>
            <a:ext cx="4956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D98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Washington · 2026</a:t>
            </a:r>
            <a:endParaRPr lang="en-US" sz="1600" dirty="0"/>
          </a:p>
        </p:txBody>
      </p:sp>
      <p:sp>
        <p:nvSpPr>
          <p:cNvPr id="11" name="Text 6"/>
          <p:cNvSpPr txBox="1"/>
          <p:nvPr/>
        </p:nvSpPr>
        <p:spPr>
          <a:xfrm>
            <a:off x="658368" y="3767328"/>
            <a:ext cx="49560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Row crops, permanent plantings and specialty produce on a shrinking water budget.</a:t>
            </a:r>
            <a:endParaRPr lang="en-US" sz="1450" dirty="0"/>
          </a:p>
          <a:p>
            <a:pPr algn="l" indent="0" marL="0">
              <a:lnSpc>
                <a:spcPct val="128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hydro-retention changes for irrigated acres.</a:t>
            </a:r>
            <a:endParaRPr lang="en-US" sz="1450" dirty="0"/>
          </a:p>
        </p:txBody>
      </p:sp>
      <p:sp>
        <p:nvSpPr>
          <p:cNvPr id="12" name="Text 7"/>
          <p:cNvSpPr txBox="1"/>
          <p:nvPr/>
        </p:nvSpPr>
        <p:spPr>
          <a:xfrm>
            <a:off x="658368" y="4892040"/>
            <a:ext cx="4956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8BC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ECOSORB® · ECOFERT® · NAPEMA® · PAULOWNIA</a:t>
            </a:r>
            <a:endParaRPr lang="en-US" sz="1100" dirty="0"/>
          </a:p>
        </p:txBody>
      </p:sp>
      <p:sp>
        <p:nvSpPr>
          <p:cNvPr id="13" name="Text 8"/>
          <p:cNvSpPr txBox="1"/>
          <p:nvPr/>
        </p:nvSpPr>
        <p:spPr>
          <a:xfrm>
            <a:off x="658368" y="6053328"/>
            <a:ext cx="49560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 · Confidential · For the sole use of the recipient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8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MARKET AT A GLANCE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E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large export sector working on a tighter water budget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94360" y="1874520"/>
            <a:ext cx="2545004" cy="2514600"/>
          </a:xfrm>
          <a:prstGeom prst="roundRect">
            <a:avLst>
              <a:gd name="adj" fmla="val 3636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2148840"/>
            <a:ext cx="21792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880M acres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795528" y="3154680"/>
            <a:ext cx="21426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land in farms, about 40% of the land area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3413684" y="1874520"/>
            <a:ext cx="2545004" cy="2514600"/>
          </a:xfrm>
          <a:prstGeom prst="roundRect">
            <a:avLst>
              <a:gd name="adj" fmla="val 3636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596564" y="2148840"/>
            <a:ext cx="21792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55M acres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3614852" y="3154680"/>
            <a:ext cx="21426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irrigation, three quarters of it in the West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233008" y="1874520"/>
            <a:ext cx="2545004" cy="2514600"/>
          </a:xfrm>
          <a:prstGeom prst="roundRect">
            <a:avLst>
              <a:gd name="adj" fmla="val 3636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15888" y="2148840"/>
            <a:ext cx="21792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$180 B</a:t>
            </a:r>
            <a:endParaRPr lang="en-US" sz="3800" dirty="0"/>
          </a:p>
        </p:txBody>
      </p:sp>
      <p:sp>
        <p:nvSpPr>
          <p:cNvPr id="12" name="Text 10"/>
          <p:cNvSpPr txBox="1"/>
          <p:nvPr/>
        </p:nvSpPr>
        <p:spPr>
          <a:xfrm>
            <a:off x="6434176" y="3154680"/>
            <a:ext cx="21426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annual agricultural and food exports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9052331" y="1874520"/>
            <a:ext cx="2545004" cy="2514600"/>
          </a:xfrm>
          <a:prstGeom prst="roundRect">
            <a:avLst>
              <a:gd name="adj" fmla="val 3636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235211" y="2148840"/>
            <a:ext cx="21792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2.6 M</a:t>
            </a:r>
            <a:endParaRPr lang="en-US" sz="3800" dirty="0"/>
          </a:p>
        </p:txBody>
      </p:sp>
      <p:sp>
        <p:nvSpPr>
          <p:cNvPr id="15" name="Text 13"/>
          <p:cNvSpPr txBox="1"/>
          <p:nvPr/>
        </p:nvSpPr>
        <p:spPr>
          <a:xfrm>
            <a:off x="9253499" y="3154680"/>
            <a:ext cx="21426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 working on farms, near 1.4% of all U.S. jobs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594360" y="4709160"/>
            <a:ext cx="1100297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Farming contributes roughly 1% of GDP on its own, and close to 5% once processing and distribution are counted. Output is concentrated: a small share of operations generates most of the production value, and irrigated acres deliver far more than their proportion of that total.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United States Market Dossier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8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CONSTRAINT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E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Water scarcity here is regional, and it is structural</a:t>
            </a:r>
            <a:endParaRPr lang="en-US" sz="30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22415" y="1783080"/>
            <a:ext cx="5074920" cy="379476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522415" y="5687568"/>
            <a:ext cx="5074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6B7D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Center-pivot irrigation, Great Plains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594360" y="1783080"/>
            <a:ext cx="5379415" cy="4251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precipitation runs from under 10 inches (≈ 250 mm) in the Desert Southwest to more than 50 inches (≈ 1,270 mm) in the Southeast. Irrigation follows that gradient.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three quarters of irrigated acreage sits in the 17 western states, where most crops cannot be brought to harvest without applied water in a normal season.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Colorado River serves some 40 million people and roughly 5 million irrigated acres. Lake Mead and Lake Powell have operated near a third of capacity in recent years.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Ogallala Aquifer supports close to 12 million irrigated acres across eight states. In parts of Kansas and the Texas Panhandle, water levels have fallen by more than 100 feet.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policy works on supply — storage, recycling, fallowing payments, groundwater plans California basins must balance by 2040. Hydro-retention works on demand, in the root zone.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United States Market Dossier</a:t>
            </a:r>
            <a:endParaRPr lang="en-US" sz="950" dirty="0"/>
          </a:p>
        </p:txBody>
      </p:sp>
      <p:sp>
        <p:nvSpPr>
          <p:cNvPr id="8" name="Text 5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8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THE WATER GOES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E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Irrigation and power cooling dominate withdrawals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94360" y="1783080"/>
          <a:ext cx="736092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8275320" y="1783080"/>
            <a:ext cx="3291840" cy="3977640"/>
          </a:xfrm>
          <a:prstGeom prst="roundRect">
            <a:avLst>
              <a:gd name="adj" fmla="val 2778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503920" y="20116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this means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8503920" y="2560320"/>
            <a:ext cx="28346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industrial share is inflated by once-through cooling at power plants, which returns most of its water to the river.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Irrigation is different: most of what is applied is consumed. In consumptive terms, farming accounts for the large majority of U.S. freshwater use.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United States Market Dossier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8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MAJOR CROPS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E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Five outputs carry the bulk of farm volume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94360" y="1783080"/>
          <a:ext cx="736092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8275320" y="1783080"/>
            <a:ext cx="3291840" cy="3977640"/>
          </a:xfrm>
          <a:prstGeom prst="roundRect">
            <a:avLst>
              <a:gd name="adj" fmla="val 2778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503920" y="20116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8503920" y="2560320"/>
            <a:ext cx="28346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Corn and soybeans carry the volume, largely rain-fed across the Midwest.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Hay and forage are the single largest consumer of irrigation water in the West; alfalfa alone takes a significant share of Colorado River deliveries. Potatoes and specialty crops carry the highest value per acre.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United States Market Dossier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8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ANSWER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E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technologies for two different constraints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1783080"/>
            <a:ext cx="522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EVERGREEN® — hold the water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2286000"/>
            <a:ext cx="522716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Potassium-based hydro-retainer, placed in the root zone at planting or at the first pass of the season.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Captures rain and irrigation water, then releases it back to the plant as demand arises, removing water stress during the critical growth stages.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Absorbs on the order of 300 times its own weight; useful life of 3 to 4 years in the soil.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Degrades by 20 to 25% per year, with no accumulation and no risk of overdose.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6370168" y="1783080"/>
            <a:ext cx="522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ECOFERT® — feed without depleting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370168" y="2286000"/>
            <a:ext cx="522716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Microdose fertilizer built on amino acids, nitrogen, phosphorus and potassium, sourced from renewable inputs.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Non-chelating: it does not strip the clay-humus complex and does not raise soil salinity or nitrate load.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SOHISCERT and EU Organic certified — the condition of entry to organic and export buyer programs.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to 4 bottles of 140 ml per hectare, compatible with existing fertigation equipment.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94360" y="4846320"/>
            <a:ext cx="11002975" cy="960120"/>
          </a:xfrm>
          <a:prstGeom prst="roundRect">
            <a:avLst>
              <a:gd name="adj" fmla="val 7619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2960" y="4983480"/>
            <a:ext cx="105457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6B7D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two products are sold separately but were designed to reinforce one another: the hydro-retainer extends how long water stays available, the fertilizer converts that available water into growth without degrading the soil.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United States Market Dossier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8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ORDERS OF MAGNITUDE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E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Expected water savings by irrigation method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94360" y="1783080"/>
          <a:ext cx="736092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8275320" y="1783080"/>
            <a:ext cx="3291840" cy="3977640"/>
          </a:xfrm>
          <a:prstGeom prst="roundRect">
            <a:avLst>
              <a:gd name="adj" fmla="val 2778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503920" y="20116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 with care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8503920" y="2560320"/>
            <a:ext cx="28346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ranges are indicative and rest on documented gains from our hydro-retainers.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 results depend on the soil, the climate and the crop. The figures give an order of magnitude only: they are in no case a guaranteed, contractual or absolute value.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United States Market Dossier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8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PRIORITY AREAS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E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to run the first trials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94360" y="1783080"/>
            <a:ext cx="3472586" cy="4069080"/>
          </a:xfrm>
          <a:prstGeom prst="roundRect">
            <a:avLst>
              <a:gd name="adj" fmla="val 2633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783080"/>
            <a:ext cx="3472586" cy="169164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95528" y="3639312"/>
            <a:ext cx="307025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Central Valley, CA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795528" y="4041648"/>
            <a:ext cx="30702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9A5F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5M irrigated acres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795528" y="4407408"/>
            <a:ext cx="307025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than 250 crops on one valley floor — almonds, pistachios, grapes, processing tomatoes. Permanent plantings cannot simply be fallowed in a dry year.</a:t>
            </a:r>
            <a:endParaRPr lang="en-US" sz="1150" dirty="0"/>
          </a:p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groundwater plans tighten pumping allowances through 2040: growers need savings per acre, not new supply.</a:t>
            </a:r>
            <a:endParaRPr lang="en-US" sz="1150" dirty="0"/>
          </a:p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Drip and micro-sprinkler are already standard, so the remaining gain has to come from the soil itself.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4359554" y="1783080"/>
            <a:ext cx="3472586" cy="4069080"/>
          </a:xfrm>
          <a:prstGeom prst="roundRect">
            <a:avLst>
              <a:gd name="adj" fmla="val 2633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59554" y="1783080"/>
            <a:ext cx="3472586" cy="169164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560722" y="3639312"/>
            <a:ext cx="307025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High Plains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4560722" y="4041648"/>
            <a:ext cx="30702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9A5F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12M irrigated acres</a:t>
            </a:r>
            <a:endParaRPr lang="en-US" sz="1250" dirty="0"/>
          </a:p>
        </p:txBody>
      </p:sp>
      <p:sp>
        <p:nvSpPr>
          <p:cNvPr id="13" name="Text 9"/>
          <p:cNvSpPr txBox="1"/>
          <p:nvPr/>
        </p:nvSpPr>
        <p:spPr>
          <a:xfrm>
            <a:off x="4560722" y="4407408"/>
            <a:ext cx="307025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Corn, sorghum, cotton and alfalfa across Nebraska, Kansas, Colorado and the Texas Panhandle, almost entirely on center pivot.</a:t>
            </a:r>
            <a:endParaRPr lang="en-US" sz="1150" dirty="0"/>
          </a:p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Aquifer levels have declined for decades; well yields fall and pumping lift rises, pushing up energy cost per acre-inch applied.</a:t>
            </a:r>
            <a:endParaRPr lang="en-US" sz="1150" dirty="0"/>
          </a:p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Sandy and sandy-loam soils hold little water — retention in the root zone has a direct, measurable effect.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8124749" y="1783080"/>
            <a:ext cx="3472586" cy="4069080"/>
          </a:xfrm>
          <a:prstGeom prst="roundRect">
            <a:avLst>
              <a:gd name="adj" fmla="val 2633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24749" y="1783080"/>
            <a:ext cx="3472586" cy="169164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325917" y="3639312"/>
            <a:ext cx="307025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Columbia Basin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8325917" y="4041648"/>
            <a:ext cx="30702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9A5F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700k irrigated acres</a:t>
            </a:r>
            <a:endParaRPr lang="en-US" sz="1250" dirty="0"/>
          </a:p>
        </p:txBody>
      </p:sp>
      <p:sp>
        <p:nvSpPr>
          <p:cNvPr id="18" name="Text 13"/>
          <p:cNvSpPr txBox="1"/>
          <p:nvPr/>
        </p:nvSpPr>
        <p:spPr>
          <a:xfrm>
            <a:off x="8325917" y="4407408"/>
            <a:ext cx="307025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Potatoes, apples, hops, onions and wine grapes on sandy volcanic soils with very low water-holding capacity.</a:t>
            </a:r>
            <a:endParaRPr lang="en-US" sz="1150" dirty="0"/>
          </a:p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10 inches of rain a year: every acre depends on delivered water from the Columbia River system.</a:t>
            </a:r>
            <a:endParaRPr lang="en-US" sz="1150" dirty="0"/>
          </a:p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value per acre and strict packer quality specifications justify spending on per-acre inputs.</a:t>
            </a:r>
            <a:endParaRPr lang="en-US" sz="1150" dirty="0"/>
          </a:p>
        </p:txBody>
      </p:sp>
      <p:sp>
        <p:nvSpPr>
          <p:cNvPr id="19" name="Text 14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United States Market Dossier</a:t>
            </a:r>
            <a:endParaRPr lang="en-US" sz="950" dirty="0"/>
          </a:p>
        </p:txBody>
      </p:sp>
      <p:sp>
        <p:nvSpPr>
          <p:cNvPr id="20" name="Text 15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8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WE PROCEED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E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staged rollout, measured at every step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94360" y="1874520"/>
            <a:ext cx="2545004" cy="2834640"/>
          </a:xfrm>
          <a:prstGeom prst="roundRect">
            <a:avLst>
              <a:gd name="adj" fmla="val 3593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2103120"/>
            <a:ext cx="566928" cy="566928"/>
          </a:xfrm>
          <a:prstGeom prst="ellipse">
            <a:avLst/>
          </a:prstGeom>
          <a:solidFill>
            <a:srgbClr val="1D4E6B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788920"/>
            <a:ext cx="20878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Assessment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291840"/>
            <a:ext cx="208780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of the soil, the irrigation method and the crop. No commitment at this stage.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413684" y="1874520"/>
            <a:ext cx="2545004" cy="2834640"/>
          </a:xfrm>
          <a:prstGeom prst="roundRect">
            <a:avLst>
              <a:gd name="adj" fmla="val 3593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42284" y="2103120"/>
            <a:ext cx="566928" cy="566928"/>
          </a:xfrm>
          <a:prstGeom prst="ellipse">
            <a:avLst/>
          </a:prstGeom>
          <a:solidFill>
            <a:srgbClr val="1D4E6B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642284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3642284" y="2788920"/>
            <a:ext cx="20878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Trial block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3642284" y="3291840"/>
            <a:ext cx="208780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comparative trial on one block, against a control block managed identically.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233008" y="1874520"/>
            <a:ext cx="2545004" cy="2834640"/>
          </a:xfrm>
          <a:prstGeom prst="roundRect">
            <a:avLst>
              <a:gd name="adj" fmla="val 3593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61608" y="2103120"/>
            <a:ext cx="566928" cy="566928"/>
          </a:xfrm>
          <a:prstGeom prst="ellipse">
            <a:avLst/>
          </a:prstGeom>
          <a:solidFill>
            <a:srgbClr val="1D4E6B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461608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461608" y="2788920"/>
            <a:ext cx="20878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Measurement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461608" y="3291840"/>
            <a:ext cx="208780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Water use and yield recorded across a full production cycle.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9052331" y="1874520"/>
            <a:ext cx="2545004" cy="2834640"/>
          </a:xfrm>
          <a:prstGeom prst="roundRect">
            <a:avLst>
              <a:gd name="adj" fmla="val 3593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280931" y="2103120"/>
            <a:ext cx="566928" cy="566928"/>
          </a:xfrm>
          <a:prstGeom prst="ellipse">
            <a:avLst/>
          </a:prstGeom>
          <a:solidFill>
            <a:srgbClr val="1D4E6B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9280931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9280931" y="2788920"/>
            <a:ext cx="20878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Rollout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9280931" y="3291840"/>
            <a:ext cx="208780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Gradual extension to the remaining acres on the basis of the results observed.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594360" y="4983480"/>
            <a:ext cx="110029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50" i="1" dirty="0">
                <a:solidFill>
                  <a:srgbClr val="6B7D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dosing rule is the same everywhere: 3 grams per liter of usable soil. What changes from one field to the next is the volume of soil the roots actually explore.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United States Market Dossier</a:t>
            </a:r>
            <a:endParaRPr lang="en-US" sz="950" dirty="0"/>
          </a:p>
        </p:txBody>
      </p:sp>
      <p:sp>
        <p:nvSpPr>
          <p:cNvPr id="26" name="Text 24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8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ANTICIPATE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E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Identified risks and how we answer them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1783080"/>
            <a:ext cx="522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Risks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2286000"/>
            <a:ext cx="522716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Year-to-year rainfall variability: a wet season masks the value of the product.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 purchasing cycles and agronomist sign-off on large operations, plus dealer and co-op channels to qualify.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 of low-grade sodium-based polymers, which left a poor reputation among growers.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Tight margins on row crops when input costs rise faster than commodity prices.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6370168" y="1783080"/>
            <a:ext cx="522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Answers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370168" y="2286000"/>
            <a:ext cx="522716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trial over a full cycle with a control block, so the gain is documented even in a favorable season.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through dealers, co-ops and crop consultants rather than farm by farm, and supply the trial protocol in advance.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 the formulation: potassium, never sodium, compatible with food crops and with soil health.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Spread the outlay: a 3 to 4 year useful life amortizes the cost across several seasons.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94360" y="4846320"/>
            <a:ext cx="11002975" cy="960120"/>
          </a:xfrm>
          <a:prstGeom prst="roundRect">
            <a:avLst>
              <a:gd name="adj" fmla="val 7619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2960" y="4983480"/>
            <a:ext cx="105457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6B7D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Acrylamide analysis (Polymex laboratory, ISO 9001, content below 3.0 µg/g), REACH / SVHC screening (SGS) and the SOHISCERT certificate valid to 4 September 2027 are all available on request.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United States Market Dossier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822960" y="2103120"/>
            <a:ext cx="10058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Tell us about your field</a:t>
            </a:r>
            <a:endParaRPr lang="en-US" sz="3400" dirty="0"/>
          </a:p>
        </p:txBody>
      </p:sp>
      <p:sp>
        <p:nvSpPr>
          <p:cNvPr id="4" name="Text 1"/>
          <p:cNvSpPr txBox="1"/>
          <p:nvPr/>
        </p:nvSpPr>
        <p:spPr>
          <a:xfrm>
            <a:off x="822960" y="3200400"/>
            <a:ext cx="89611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FFFFFF">
                    <a:alpha val="88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Crop, irrigation method, soil type, and the water volume you apply today. We come back with the matching combination of technologies, the dosing, and the trials already run in comparable conditions.</a:t>
            </a:r>
            <a:endParaRPr lang="en-US" sz="1500" dirty="0"/>
          </a:p>
          <a:p>
            <a:pPr algn="l" indent="0" marL="0">
              <a:lnSpc>
                <a:spcPct val="130000"/>
              </a:lnSpc>
              <a:buNone/>
            </a:pPr>
            <a:endParaRPr lang="en-US" sz="15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FFFFFF">
                    <a:alpha val="88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first conversation commits you to nothing.</a:t>
            </a:r>
            <a:endParaRPr lang="en-US" sz="15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484632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D98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contact@evergreen-ecosorb.com · 821 Chemin des Clapiers, 83220 Le Pradet, France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FFFFF">
                    <a:alpha val="5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United States Market Dossier</a:t>
            </a:r>
            <a:endParaRPr lang="en-US" sz="950" dirty="0"/>
          </a:p>
        </p:txBody>
      </p:sp>
      <p:sp>
        <p:nvSpPr>
          <p:cNvPr id="7" name="Text 4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FFFFF">
                    <a:alpha val="5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2026-09-14T18:06:32Z</dcterms:created>
  <dcterms:modified xsi:type="dcterms:W3CDTF">2026-09-14T18:06:32Z</dcterms:modified>
</cp:coreProperties>
</file>