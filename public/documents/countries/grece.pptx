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57.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58.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59.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60.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57.xml.rels><?xml version="1.0" encoding="UTF-8" standalone="yes"?><Relationships xmlns="http://schemas.openxmlformats.org/package/2006/relationships"><Relationship Id="rId1" Type="http://schemas.openxmlformats.org/officeDocument/2006/relationships/package" Target="../embeddings/Microsoft_Excel_Worksheet57.xlsx"/></Relationships>
</file>

<file path=ppt/charts/_rels/chart58.xml.rels><?xml version="1.0" encoding="UTF-8" standalone="yes"?><Relationships xmlns="http://schemas.openxmlformats.org/package/2006/relationships"><Relationship Id="rId1" Type="http://schemas.openxmlformats.org/officeDocument/2006/relationships/package" Target="../embeddings/Microsoft_Excel_Worksheet58.xlsx"/></Relationships>
</file>

<file path=ppt/charts/_rels/chart59.xml.rels><?xml version="1.0" encoding="UTF-8" standalone="yes"?><Relationships xmlns="http://schemas.openxmlformats.org/package/2006/relationships"><Relationship Id="rId1" Type="http://schemas.openxmlformats.org/officeDocument/2006/relationships/package" Target="../embeddings/Microsoft_Excel_Worksheet59.xlsx"/></Relationships>
</file>

<file path=ppt/charts/_rels/chart60.xml.rels><?xml version="1.0" encoding="UTF-8" standalone="yes"?><Relationships xmlns="http://schemas.openxmlformats.org/package/2006/relationships"><Relationship Id="rId1" Type="http://schemas.openxmlformats.org/officeDocument/2006/relationships/package" Target="../embeddings/Microsoft_Excel_Worksheet60.xlsx"/></Relationships>
</file>

<file path=ppt/charts/chart5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Παγκόσμιος δείκτης αριθμού και διάρκειας ξηρασιών</c:v>
                </c:pt>
              </c:strCache>
            </c:strRef>
          </c:tx>
          <c:spPr>
            <a:solidFill>
              <a:srgbClr val="6B2A44"/>
            </a:solidFill>
            <a:effectLst/>
          </c:spPr>
          <c:invertIfNegative val="0"/>
          <c:dLbls>
            <c:numFmt formatCode="0" sourceLinked="0"/>
            <c:txPr>
              <a:bodyPr/>
              <a:lstStyle/>
              <a:p>
                <a:pPr>
                  <a:defRPr b="0" i="0" strike="noStrike" sz="1100" u="none">
                    <a:solidFill>
                      <a:srgbClr val="3F162A"/>
                    </a:solidFill>
                    <a:latin typeface="Calibri"/>
                  </a:defRPr>
                </a:pPr>
              </a:p>
            </c:txPr>
            <c:showLegendKey val="0"/>
            <c:showVal val="1"/>
            <c:showCatName val="0"/>
            <c:showSerName val="0"/>
            <c:showPercent val="0"/>
            <c:showBubbleSize val="0"/>
            <c:showLeaderLines val="0"/>
          </c:dLbls>
          <c:dPt>
            <c:idx val="0"/>
            <c:invertIfNegative val="0"/>
            <c:bubble3D val="0"/>
            <c:spPr>
              <a:solidFill>
                <a:srgbClr val="6B2A44"/>
              </a:solidFill>
              <a:effectLst/>
            </c:spPr>
          </c:dPt>
          <c:dPt>
            <c:idx val="1"/>
            <c:invertIfNegative val="0"/>
            <c:bubble3D val="0"/>
            <c:spPr>
              <a:solidFill>
                <a:srgbClr val="C9A227"/>
              </a:solidFill>
              <a:effectLst/>
            </c:spPr>
          </c:dPt>
          <c:cat>
            <c:multiLvlStrRef>
              <c:f>Sheet1!$A$2:$A$3</c:f>
              <c:multiLvlStrCache>
                <c:ptCount val="2"/>
                <c:lvl>
                  <c:pt idx="0">
                    <c:v>1980–1999</c:v>
                  </c:pt>
                  <c:pt idx="1">
                    <c:v>Από το 2000</c:v>
                  </c:pt>
                </c:lvl>
              </c:multiLvlStrCache>
            </c:multiLvlStrRef>
          </c:cat>
          <c:val>
            <c:numRef>
              <c:f>Sheet1!$B$2:$B$3</c:f>
              <c:numCache>
                <c:formatCode>General</c:formatCode>
                <c:ptCount val="2"/>
                <c:pt idx="0">
                  <c:v>100</c:v>
                </c:pt>
                <c:pt idx="1">
                  <c:v>129</c:v>
                </c:pt>
              </c:numCache>
            </c:numRef>
          </c:val>
        </c:ser>
        <c:dLbls>
          <c:numFmt formatCode="0" sourceLinked="0"/>
          <c:txPr>
            <a:bodyPr/>
            <a:lstStyle/>
            <a:p>
              <a:pPr>
                <a:defRPr b="0" i="0" strike="noStrike" sz="1100" u="none">
                  <a:solidFill>
                    <a:srgbClr val="3F162A"/>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7C6B73"/>
                </a:solidFill>
                <a:latin typeface="Calibri"/>
              </a:defRPr>
            </a:pPr>
            <a:endParaRPr lang="en-US"/>
          </a:p>
        </c:txPr>
        <c:crossAx val="2094734552"/>
        <c:crosses val="autoZero"/>
        <c:auto val="1"/>
        <c:lblAlgn val="ctr"/>
        <c:noMultiLvlLbl val="1"/>
      </c:catAx>
      <c:valAx>
        <c:axId val="2094734552"/>
        <c:scaling>
          <c:orientation val="minMax"/>
          <c:max val="140"/>
          <c:min val="0"/>
        </c:scaling>
        <c:delete val="0"/>
        <c:axPos val="l"/>
        <c:majorGridlines>
          <c:spPr>
            <a:ln w="9525" cap="flat">
              <a:solidFill>
                <a:srgbClr val="E5D9D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7C6B73"/>
                </a:solidFill>
                <a:latin typeface="Calibri"/>
              </a:defRPr>
            </a:pPr>
            <a:endParaRPr lang="en-US"/>
          </a:p>
        </c:txPr>
        <c:crossAx val="2094734554"/>
        <c:crosses val="autoZero"/>
        <c:crossBetween val="between"/>
        <c:majorUnit val="20"/>
      </c:valAx>
      <c:spPr>
        <a:noFill/>
        <a:ln>
          <a:noFill/>
        </a:ln>
        <a:effectLst/>
      </c:spPr>
    </c:plotArea>
    <c:plotVisOnly val="1"/>
    <c:dispBlanksAs val="span"/>
  </c:chart>
  <c:spPr>
    <a:noFill/>
    <a:ln>
      <a:noFill/>
    </a:ln>
    <a:effectLst/>
  </c:spPr>
  <c:externalData r:id="rId1">
    <c:autoUpdate val="0"/>
  </c:externalData>
</c:chartSpace>
</file>

<file path=ppt/charts/chart5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Αντλήσεις νερού</c:v>
                </c:pt>
              </c:strCache>
            </c:strRef>
          </c:tx>
          <c:spPr>
            <a:solidFill>
              <a:schemeClr val="accent1"/>
            </a:solidFill>
            <a:ln w="9525" cap="flat">
              <a:solidFill>
                <a:srgbClr val="F9F9F9"/>
              </a:solidFill>
              <a:prstDash val="solid"/>
              <a:round/>
            </a:ln>
            <a:effectLst/>
          </c:spPr>
          <c:dPt>
            <c:idx val="0"/>
            <c:bubble3D val="0"/>
            <c:spPr>
              <a:solidFill>
                <a:srgbClr val="6B2A44"/>
              </a:solidFill>
              <a:effectLst/>
            </c:spPr>
          </c:dPt>
          <c:dPt>
            <c:idx val="1"/>
            <c:bubble3D val="0"/>
            <c:spPr>
              <a:solidFill>
                <a:srgbClr val="C9A227"/>
              </a:solidFill>
              <a:effectLst/>
            </c:spPr>
          </c:dPt>
          <c:dPt>
            <c:idx val="2"/>
            <c:bubble3D val="0"/>
            <c:spPr>
              <a:solidFill>
                <a:srgbClr val="9E6079"/>
              </a:solidFill>
              <a:effectLst/>
            </c:spPr>
          </c:dPt>
          <c:dLbls>
            <c:dLbl>
              <c:idx val="0"/>
              <c:numFmt formatCode="0&quot;%&quot;" sourceLinked="0"/>
              <c:spPr/>
              <c:txPr>
                <a:bodyPr/>
                <a:lstStyle/>
                <a:p>
                  <a:pPr>
                    <a:defRPr sz="1100" b="0" i="0" u="none" strike="noStrike">
                      <a:solidFill>
                        <a:srgbClr val="FFFFFF"/>
                      </a:solidFill>
                      <a:latin typeface="Calibri"/>
                    </a:defRPr>
                  </a:pPr>
                </a:p>
              </c:txPr>
              <c:showLegendKey val="0"/>
              <c:showVal val="1"/>
              <c:showCatName val="0"/>
              <c:showSerName val="0"/>
              <c:showPercent val="0"/>
              <c:showBubbleSize val="0"/>
            </c:dLbl>
            <c:dLbl>
              <c:idx val="1"/>
              <c:numFmt formatCode="0&quot;%&quot;" sourceLinked="0"/>
              <c:spPr/>
              <c:txPr>
                <a:bodyPr/>
                <a:lstStyle/>
                <a:p>
                  <a:pPr>
                    <a:defRPr sz="1100" b="0" i="0" u="none" strike="noStrike">
                      <a:solidFill>
                        <a:srgbClr val="FFFFFF"/>
                      </a:solidFill>
                      <a:latin typeface="Calibri"/>
                    </a:defRPr>
                  </a:pPr>
                </a:p>
              </c:txPr>
              <c:showLegendKey val="0"/>
              <c:showVal val="1"/>
              <c:showCatName val="0"/>
              <c:showSerName val="0"/>
              <c:showPercent val="0"/>
              <c:showBubbleSize val="0"/>
            </c:dLbl>
            <c:dLbl>
              <c:idx val="2"/>
              <c:numFmt formatCode="0&quot;%&quot;" sourceLinked="0"/>
              <c:spPr/>
              <c:txPr>
                <a:bodyPr/>
                <a:lstStyle/>
                <a:p>
                  <a:pPr>
                    <a:defRPr sz="1100" b="0" i="0" u="none" strike="noStrike">
                      <a:solidFill>
                        <a:srgbClr val="FFFFFF"/>
                      </a:solidFill>
                      <a:latin typeface="Calibri"/>
                    </a:defRPr>
                  </a:pPr>
                </a:p>
              </c:txPr>
              <c:showLegendKey val="0"/>
              <c:showVal val="1"/>
              <c:showCatName val="0"/>
              <c:showSerName val="0"/>
              <c:showPercent val="0"/>
              <c:showBubbleSize val="0"/>
            </c:dLbl>
            <c:numFmt formatCode="0&quot;%&quot;"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Γεωργία</c:v>
                </c:pt>
                <c:pt idx="1">
                  <c:v>Ύδρευση</c:v>
                </c:pt>
                <c:pt idx="2">
                  <c:v>Βιομηχανία</c:v>
                </c:pt>
              </c:strCache>
            </c:strRef>
          </c:cat>
          <c:val>
            <c:numRef>
              <c:f>Sheet1!$B$2:$B$4</c:f>
              <c:numCache>
                <c:ptCount val="3"/>
                <c:pt idx="0">
                  <c:v>83</c:v>
                </c:pt>
                <c:pt idx="1">
                  <c:v>14</c:v>
                </c:pt>
                <c:pt idx="2">
                  <c:v>3</c:v>
                </c:pt>
              </c:numCache>
            </c:numRef>
          </c:val>
        </c:ser>
        <c:firstSliceAng val="0"/>
        <c:holeSize val="55"/>
      </c:doughnutChart>
      <c:spPr>
        <a:noFill/>
        <a:ln>
          <a:noFill/>
        </a:ln>
        <a:effectLst/>
      </c:spPr>
    </c:plotArea>
    <c:legend>
      <c:legendPos val="b"/>
      <c:overlay val="0"/>
      <c:txPr>
        <a:bodyPr/>
        <a:lstStyle/>
        <a:p>
          <a:pPr>
            <a:defRPr sz="11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5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Ετήσια παραγωγή (εκατ. τόνοι)</c:v>
                </c:pt>
              </c:strCache>
            </c:strRef>
          </c:tx>
          <c:spPr>
            <a:solidFill>
              <a:srgbClr val="6B2A44"/>
            </a:solidFill>
            <a:effectLst/>
          </c:spPr>
          <c:invertIfNegative val="0"/>
          <c:dLbls>
            <c:numFmt formatCode="0.0" sourceLinked="0"/>
            <c:txPr>
              <a:bodyPr/>
              <a:lstStyle/>
              <a:p>
                <a:pPr>
                  <a:defRPr b="0" i="0" strike="noStrike" sz="1100" u="none">
                    <a:solidFill>
                      <a:srgbClr val="3F162A"/>
                    </a:solidFill>
                    <a:latin typeface="Calibri"/>
                  </a:defRPr>
                </a:pPr>
              </a:p>
            </c:txPr>
            <c:showLegendKey val="0"/>
            <c:showVal val="1"/>
            <c:showCatName val="0"/>
            <c:showSerName val="0"/>
            <c:showPercent val="0"/>
            <c:showBubbleSize val="0"/>
            <c:showLeaderLines val="0"/>
          </c:dLbls>
          <c:dPt>
            <c:idx val="0"/>
            <c:invertIfNegative val="0"/>
            <c:bubble3D val="0"/>
            <c:spPr>
              <a:solidFill>
                <a:srgbClr val="6B2A44"/>
              </a:solidFill>
              <a:effectLst/>
            </c:spPr>
          </c:dPt>
          <c:dPt>
            <c:idx val="1"/>
            <c:invertIfNegative val="0"/>
            <c:bubble3D val="0"/>
            <c:spPr>
              <a:solidFill>
                <a:srgbClr val="C9A227"/>
              </a:solidFill>
              <a:effectLst/>
            </c:spPr>
          </c:dPt>
          <c:dPt>
            <c:idx val="2"/>
            <c:invertIfNegative val="0"/>
            <c:bubble3D val="0"/>
            <c:spPr>
              <a:solidFill>
                <a:srgbClr val="9E6079"/>
              </a:solidFill>
              <a:effectLst/>
            </c:spPr>
          </c:dPt>
          <c:dPt>
            <c:idx val="3"/>
            <c:invertIfNegative val="0"/>
            <c:bubble3D val="0"/>
            <c:spPr>
              <a:solidFill>
                <a:srgbClr val="5C7D5A"/>
              </a:solidFill>
              <a:effectLst/>
            </c:spPr>
          </c:dPt>
          <c:cat>
            <c:multiLvlStrRef>
              <c:f>Sheet1!$A$2:$A$5</c:f>
              <c:multiLvlStrCache>
                <c:ptCount val="4"/>
                <c:lvl>
                  <c:pt idx="0">
                    <c:v>Ελιές*</c:v>
                  </c:pt>
                  <c:pt idx="1">
                    <c:v>Πορτοκάλια</c:v>
                  </c:pt>
                  <c:pt idx="2">
                    <c:v>Βαμβάκι σύσπορο</c:v>
                  </c:pt>
                  <c:pt idx="3">
                    <c:v>Σταφύλια</c:v>
                  </c:pt>
                </c:lvl>
              </c:multiLvlStrCache>
            </c:multiLvlStrRef>
          </c:cat>
          <c:val>
            <c:numRef>
              <c:f>Sheet1!$B$2:$B$5</c:f>
              <c:numCache>
                <c:formatCode>General</c:formatCode>
                <c:ptCount val="4"/>
                <c:pt idx="0">
                  <c:v>2</c:v>
                </c:pt>
                <c:pt idx="1">
                  <c:v>0.9</c:v>
                </c:pt>
                <c:pt idx="2">
                  <c:v>0.85</c:v>
                </c:pt>
                <c:pt idx="3">
                  <c:v>0.85</c:v>
                </c:pt>
              </c:numCache>
            </c:numRef>
          </c:val>
        </c:ser>
        <c:dLbls>
          <c:numFmt formatCode="0.0" sourceLinked="0"/>
          <c:txPr>
            <a:bodyPr/>
            <a:lstStyle/>
            <a:p>
              <a:pPr>
                <a:defRPr b="0" i="0" strike="noStrike" sz="1100" u="none">
                  <a:solidFill>
                    <a:srgbClr val="3F162A"/>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7C6B73"/>
                </a:solidFill>
                <a:latin typeface="Calibri"/>
              </a:defRPr>
            </a:pPr>
            <a:endParaRPr lang="en-US"/>
          </a:p>
        </c:txPr>
        <c:crossAx val="2094734552"/>
        <c:crosses val="autoZero"/>
        <c:auto val="1"/>
        <c:lblAlgn val="ctr"/>
        <c:noMultiLvlLbl val="1"/>
      </c:catAx>
      <c:valAx>
        <c:axId val="2094734552"/>
        <c:scaling>
          <c:orientation val="minMax"/>
          <c:min val="0"/>
        </c:scaling>
        <c:delete val="0"/>
        <c:axPos val="l"/>
        <c:majorGridlines>
          <c:spPr>
            <a:ln w="9525" cap="flat">
              <a:solidFill>
                <a:srgbClr val="E5D9D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7C6B73"/>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Κατώτατο όριο (%)</c:v>
                </c:pt>
              </c:strCache>
            </c:strRef>
          </c:tx>
          <c:spPr>
            <a:solidFill>
              <a:srgbClr val="6B2A44"/>
            </a:solidFill>
            <a:effectLst/>
          </c:spPr>
          <c:invertIfNegative val="0"/>
          <c:dLbls>
            <c:numFmt formatCode="0&quot;%&quot;" sourceLinked="0"/>
            <c:txPr>
              <a:bodyPr/>
              <a:lstStyle/>
              <a:p>
                <a:pPr>
                  <a:defRPr b="0" i="0" strike="noStrike" sz="1100" u="none">
                    <a:solidFill>
                      <a:srgbClr val="3F162A"/>
                    </a:solidFill>
                    <a:latin typeface="Calibri"/>
                  </a:defRPr>
                </a:pPr>
              </a:p>
            </c:txPr>
            <c:showLegendKey val="0"/>
            <c:showVal val="1"/>
            <c:showCatName val="0"/>
            <c:showSerName val="0"/>
            <c:showPercent val="0"/>
            <c:showBubbleSize val="0"/>
            <c:showLeaderLines val="0"/>
          </c:dLbls>
          <c:cat>
            <c:multiLvlStrRef>
              <c:f>Sheet1!$A$2:$A$5</c:f>
              <c:multiLvlStrCache>
                <c:ptCount val="4"/>
                <c:lvl>
                  <c:pt idx="0">
                    <c:v>Στάγδην</c:v>
                  </c:pt>
                  <c:pt idx="1">
                    <c:v>Μικροεκτοξευτές</c:v>
                  </c:pt>
                  <c:pt idx="2">
                    <c:v>Καταιονισμός</c:v>
                  </c:pt>
                  <c:pt idx="3">
                    <c:v>Κατάκλυση</c:v>
                  </c:pt>
                </c:lvl>
              </c:multiLvlStrCache>
            </c:multiLvlStrRef>
          </c:cat>
          <c:val>
            <c:numRef>
              <c:f>Sheet1!$B$2:$B$5</c:f>
              <c:numCache>
                <c:formatCode>General</c:formatCode>
                <c:ptCount val="4"/>
                <c:pt idx="0">
                  <c:v>40</c:v>
                </c:pt>
                <c:pt idx="1">
                  <c:v>45</c:v>
                </c:pt>
                <c:pt idx="2">
                  <c:v>50</c:v>
                </c:pt>
                <c:pt idx="3">
                  <c:v>55</c:v>
                </c:pt>
              </c:numCache>
            </c:numRef>
          </c:val>
        </c:ser>
        <c:ser>
          <c:idx val="1"/>
          <c:order val="1"/>
          <c:tx>
            <c:strRef>
              <c:f>Sheet1!$C$1</c:f>
              <c:strCache>
                <c:ptCount val="1"/>
                <c:pt idx="0">
                  <c:v>Ανώτατο όριο (%)</c:v>
                </c:pt>
              </c:strCache>
            </c:strRef>
          </c:tx>
          <c:spPr>
            <a:solidFill>
              <a:srgbClr val="C9A227"/>
            </a:solidFill>
            <a:effectLst/>
          </c:spPr>
          <c:invertIfNegative val="0"/>
          <c:dLbls>
            <c:numFmt formatCode="0&quot;%&quot;" sourceLinked="0"/>
            <c:txPr>
              <a:bodyPr/>
              <a:lstStyle/>
              <a:p>
                <a:pPr>
                  <a:defRPr b="0" i="0" strike="noStrike" sz="1100" u="none">
                    <a:solidFill>
                      <a:srgbClr val="3F162A"/>
                    </a:solidFill>
                    <a:latin typeface="Calibri"/>
                  </a:defRPr>
                </a:pPr>
              </a:p>
            </c:txPr>
            <c:showLegendKey val="0"/>
            <c:showVal val="1"/>
            <c:showCatName val="0"/>
            <c:showSerName val="0"/>
            <c:showPercent val="0"/>
            <c:showBubbleSize val="0"/>
            <c:showLeaderLines val="0"/>
          </c:dLbls>
          <c:cat>
            <c:multiLvlStrRef>
              <c:f>Sheet1!$A$2:$A$5</c:f>
              <c:multiLvlStrCache>
                <c:ptCount val="4"/>
                <c:lvl>
                  <c:pt idx="0">
                    <c:v>Στάγδην</c:v>
                  </c:pt>
                  <c:pt idx="1">
                    <c:v>Μικροεκτοξευτές</c:v>
                  </c:pt>
                  <c:pt idx="2">
                    <c:v>Καταιονισμός</c:v>
                  </c:pt>
                  <c:pt idx="3">
                    <c:v>Κατάκλυση</c:v>
                  </c:pt>
                </c:lvl>
              </c:multiLvlStrCache>
            </c:multiLvlStrRef>
          </c:cat>
          <c:val>
            <c:numRef>
              <c:f>Sheet1!$C$2:$C$5</c:f>
              <c:numCache>
                <c:formatCode>General</c:formatCode>
                <c:ptCount val="4"/>
                <c:pt idx="0">
                  <c:v>55</c:v>
                </c:pt>
                <c:pt idx="1">
                  <c:v>60</c:v>
                </c:pt>
                <c:pt idx="2">
                  <c:v>65</c:v>
                </c:pt>
                <c:pt idx="3">
                  <c:v>70</c:v>
                </c:pt>
              </c:numCache>
            </c:numRef>
          </c:val>
        </c:ser>
        <c:dLbls>
          <c:numFmt formatCode="0&quot;%&quot;" sourceLinked="0"/>
          <c:txPr>
            <a:bodyPr/>
            <a:lstStyle/>
            <a:p>
              <a:pPr>
                <a:defRPr b="0" i="0" strike="noStrike" sz="1100" u="none">
                  <a:solidFill>
                    <a:srgbClr val="3F162A"/>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7C6B73"/>
                </a:solidFill>
                <a:latin typeface="Calibri"/>
              </a:defRPr>
            </a:pPr>
            <a:endParaRPr lang="en-US"/>
          </a:p>
        </c:txPr>
        <c:crossAx val="2094734552"/>
        <c:crosses val="autoZero"/>
        <c:auto val="1"/>
        <c:lblAlgn val="ctr"/>
        <c:noMultiLvlLbl val="1"/>
      </c:catAx>
      <c:valAx>
        <c:axId val="2094734552"/>
        <c:scaling>
          <c:orientation val="minMax"/>
          <c:min val="0"/>
        </c:scaling>
        <c:delete val="0"/>
        <c:axPos val="l"/>
        <c:majorGridlines>
          <c:spPr>
            <a:ln w="9525" cap="flat">
              <a:solidFill>
                <a:srgbClr val="E5D9D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7C6B73"/>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100">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57.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58.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59.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60.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eg"/><Relationship Id="rId2" Type="http://schemas.openxmlformats.org/officeDocument/2006/relationships/image" Target="../media/image-12-2.jpeg"/><Relationship Id="rId3" Type="http://schemas.openxmlformats.org/officeDocument/2006/relationships/image" Target="../media/image-12-3.jpe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e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0D0D"/>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272784" y="0"/>
            <a:ext cx="5918911" cy="6858000"/>
          </a:xfrm>
          <a:prstGeom prst="rect">
            <a:avLst/>
          </a:prstGeom>
        </p:spPr>
      </p:pic>
      <p:sp>
        <p:nvSpPr>
          <p:cNvPr id="3" name="Shape 0"/>
          <p:cNvSpPr/>
          <p:nvPr/>
        </p:nvSpPr>
        <p:spPr>
          <a:xfrm>
            <a:off x="0" y="0"/>
            <a:ext cx="6272784" cy="6858000"/>
          </a:xfrm>
          <a:prstGeom prst="rect">
            <a:avLst/>
          </a:prstGeom>
          <a:solidFill>
            <a:srgbClr val="0D0D0D"/>
          </a:solidFill>
          <a:ln/>
        </p:spPr>
      </p:sp>
      <p:sp>
        <p:nvSpPr>
          <p:cNvPr id="4" name="Text 1"/>
          <p:cNvSpPr txBox="1"/>
          <p:nvPr/>
        </p:nvSpPr>
        <p:spPr>
          <a:xfrm>
            <a:off x="658368" y="566928"/>
            <a:ext cx="4041648" cy="292608"/>
          </a:xfrm>
          <a:prstGeom prst="rect">
            <a:avLst/>
          </a:prstGeom>
          <a:noFill/>
          <a:ln/>
        </p:spPr>
        <p:txBody>
          <a:bodyPr wrap="square" lIns="0" tIns="0" rIns="0" bIns="0" rtlCol="0" anchor="ctr"/>
          <a:lstStyle/>
          <a:p>
            <a:pPr algn="l" indent="0" marL="0">
              <a:buNone/>
            </a:pPr>
            <a:r>
              <a:rPr lang="en-US" sz="1100" b="1" spc="80" kern="0" dirty="0">
                <a:solidFill>
                  <a:srgbClr val="8BC34A"/>
                </a:solidFill>
                <a:latin typeface="Calibri" pitchFamily="34" charset="0"/>
                <a:ea typeface="Calibri" pitchFamily="34" charset="-122"/>
                <a:cs typeface="Calibri" pitchFamily="34" charset="-120"/>
              </a:rPr>
              <a:t>GREEN SOLUTIONS GROUP</a:t>
            </a:r>
            <a:endParaRPr lang="en-US" sz="1100" dirty="0"/>
          </a:p>
        </p:txBody>
      </p:sp>
      <p:pic>
        <p:nvPicPr>
          <p:cNvPr id="5" name="Image 1" descr="/home/claude/green-solutions-web/public/images/logo-icon.png">    </p:cNvPr>
          <p:cNvPicPr>
            <a:picLocks noChangeAspect="1"/>
          </p:cNvPicPr>
          <p:nvPr/>
        </p:nvPicPr>
        <p:blipFill>
          <a:blip r:embed="rId2"/>
          <a:stretch>
            <a:fillRect/>
          </a:stretch>
        </p:blipFill>
        <p:spPr>
          <a:xfrm>
            <a:off x="5010912" y="457200"/>
            <a:ext cx="603504" cy="603504"/>
          </a:xfrm>
          <a:prstGeom prst="rect">
            <a:avLst/>
          </a:prstGeom>
        </p:spPr>
      </p:pic>
      <p:pic>
        <p:nvPicPr>
          <p:cNvPr id="6" name="Image 2" descr="/home/claude/green-solutions-web/scripts/dossiers/drapeaux/grece.png">    </p:cNvPr>
          <p:cNvPicPr>
            <a:picLocks noChangeAspect="1"/>
          </p:cNvPicPr>
          <p:nvPr/>
        </p:nvPicPr>
        <p:blipFill>
          <a:blip r:embed="rId3"/>
          <a:stretch>
            <a:fillRect/>
          </a:stretch>
        </p:blipFill>
        <p:spPr>
          <a:xfrm>
            <a:off x="3649991" y="1389888"/>
            <a:ext cx="1964425" cy="1310640"/>
          </a:xfrm>
          <a:prstGeom prst="rect">
            <a:avLst/>
          </a:prstGeom>
        </p:spPr>
      </p:pic>
      <p:sp>
        <p:nvSpPr>
          <p:cNvPr id="7" name="Shape 2"/>
          <p:cNvSpPr/>
          <p:nvPr/>
        </p:nvSpPr>
        <p:spPr>
          <a:xfrm>
            <a:off x="3649991" y="1389888"/>
            <a:ext cx="1964425" cy="1310640"/>
          </a:xfrm>
          <a:prstGeom prst="rect">
            <a:avLst/>
          </a:prstGeom>
          <a:ln w="9525">
            <a:solidFill>
              <a:srgbClr val="3A3A3A"/>
            </a:solidFill>
            <a:prstDash val="solid"/>
          </a:ln>
        </p:spPr>
      </p:sp>
      <p:sp>
        <p:nvSpPr>
          <p:cNvPr id="8" name="Text 3"/>
          <p:cNvSpPr txBox="1"/>
          <p:nvPr/>
        </p:nvSpPr>
        <p:spPr>
          <a:xfrm>
            <a:off x="658368" y="1298448"/>
            <a:ext cx="2761488" cy="1234440"/>
          </a:xfrm>
          <a:prstGeom prst="rect">
            <a:avLst/>
          </a:prstGeom>
          <a:noFill/>
          <a:ln/>
        </p:spPr>
        <p:txBody>
          <a:bodyPr wrap="square" lIns="0" tIns="0" rIns="0" bIns="0" rtlCol="0" anchor="t"/>
          <a:lstStyle/>
          <a:p>
            <a:pPr algn="l" indent="0" marL="0">
              <a:lnSpc>
                <a:spcPct val="110000"/>
              </a:lnSpc>
              <a:buNone/>
            </a:pPr>
            <a:r>
              <a:rPr lang="en-US" sz="2800" b="1" dirty="0">
                <a:solidFill>
                  <a:srgbClr val="FFFFFF"/>
                </a:solidFill>
                <a:latin typeface="Cambria" pitchFamily="34" charset="0"/>
                <a:ea typeface="Cambria" pitchFamily="34" charset="-122"/>
                <a:cs typeface="Cambria" pitchFamily="34" charset="-120"/>
              </a:rPr>
              <a:t>ΕΛΛΗΝΙΚΗ ΔΗΜΟΚΡΑΤΙΑ</a:t>
            </a:r>
            <a:endParaRPr lang="en-US" sz="2800" dirty="0"/>
          </a:p>
        </p:txBody>
      </p:sp>
      <p:sp>
        <p:nvSpPr>
          <p:cNvPr id="9" name="Shape 4"/>
          <p:cNvSpPr/>
          <p:nvPr/>
        </p:nvSpPr>
        <p:spPr>
          <a:xfrm>
            <a:off x="658368" y="2889504"/>
            <a:ext cx="2788920" cy="45720"/>
          </a:xfrm>
          <a:prstGeom prst="rect">
            <a:avLst/>
          </a:prstGeom>
          <a:solidFill>
            <a:srgbClr val="C9A227"/>
          </a:solidFill>
          <a:ln/>
        </p:spPr>
      </p:sp>
      <p:sp>
        <p:nvSpPr>
          <p:cNvPr id="10" name="Text 5"/>
          <p:cNvSpPr txBox="1"/>
          <p:nvPr/>
        </p:nvSpPr>
        <p:spPr>
          <a:xfrm>
            <a:off x="658368" y="3163824"/>
            <a:ext cx="4956048" cy="384048"/>
          </a:xfrm>
          <a:prstGeom prst="rect">
            <a:avLst/>
          </a:prstGeom>
          <a:noFill/>
          <a:ln/>
        </p:spPr>
        <p:txBody>
          <a:bodyPr wrap="square" lIns="0" tIns="0" rIns="0" bIns="0" rtlCol="0" anchor="ctr"/>
          <a:lstStyle/>
          <a:p>
            <a:pPr algn="l" indent="0" marL="0">
              <a:buNone/>
            </a:pPr>
            <a:r>
              <a:rPr lang="en-US" sz="1600" b="1" dirty="0">
                <a:solidFill>
                  <a:srgbClr val="C9A227"/>
                </a:solidFill>
                <a:latin typeface="Cambria" pitchFamily="34" charset="0"/>
                <a:ea typeface="Cambria" pitchFamily="34" charset="-122"/>
                <a:cs typeface="Cambria" pitchFamily="34" charset="-120"/>
              </a:rPr>
              <a:t>Αθήνα · 2026</a:t>
            </a:r>
            <a:endParaRPr lang="en-US" sz="1600" dirty="0"/>
          </a:p>
        </p:txBody>
      </p:sp>
      <p:sp>
        <p:nvSpPr>
          <p:cNvPr id="11" name="Text 6"/>
          <p:cNvSpPr txBox="1"/>
          <p:nvPr/>
        </p:nvSpPr>
        <p:spPr>
          <a:xfrm>
            <a:off x="658368" y="3767328"/>
            <a:ext cx="4956048" cy="914400"/>
          </a:xfrm>
          <a:prstGeom prst="rect">
            <a:avLst/>
          </a:prstGeom>
          <a:noFill/>
          <a:ln/>
        </p:spPr>
        <p:txBody>
          <a:bodyPr wrap="square" lIns="0" tIns="0" rIns="0" bIns="0" rtlCol="0" anchor="t"/>
          <a:lstStyle/>
          <a:p>
            <a:pPr algn="l" indent="0" marL="0">
              <a:lnSpc>
                <a:spcPct val="128000"/>
              </a:lnSpc>
              <a:buNone/>
            </a:pPr>
            <a:r>
              <a:rPr lang="en-US" sz="1450" dirty="0">
                <a:solidFill>
                  <a:srgbClr val="FFFFFF"/>
                </a:solidFill>
                <a:latin typeface="Calibri" pitchFamily="34" charset="0"/>
                <a:ea typeface="Calibri" pitchFamily="34" charset="-122"/>
                <a:cs typeface="Calibri" pitchFamily="34" charset="-120"/>
              </a:rPr>
              <a:t>Ελαιόλαδο, βαμβάκι, αμπέλι και οπωροφόρα με όλο και λιγότερο νερό.</a:t>
            </a:r>
            <a:endParaRPr lang="en-US" sz="1450" dirty="0"/>
          </a:p>
          <a:p>
            <a:pPr algn="l" indent="0" marL="0">
              <a:lnSpc>
                <a:spcPct val="128000"/>
              </a:lnSpc>
              <a:buNone/>
            </a:pPr>
            <a:r>
              <a:rPr lang="en-US" sz="1450" dirty="0">
                <a:solidFill>
                  <a:srgbClr val="FFFFFF"/>
                </a:solidFill>
                <a:latin typeface="Calibri" pitchFamily="34" charset="0"/>
                <a:ea typeface="Calibri" pitchFamily="34" charset="-122"/>
                <a:cs typeface="Calibri" pitchFamily="34" charset="-120"/>
              </a:rPr>
              <a:t>Τι αλλάζει η συγκράτηση νερού στο έδαφος σε μια εξαγωγική γεωργία.</a:t>
            </a:r>
            <a:endParaRPr lang="en-US" sz="1450" dirty="0"/>
          </a:p>
        </p:txBody>
      </p:sp>
      <p:sp>
        <p:nvSpPr>
          <p:cNvPr id="12" name="Text 7"/>
          <p:cNvSpPr txBox="1"/>
          <p:nvPr/>
        </p:nvSpPr>
        <p:spPr>
          <a:xfrm>
            <a:off x="658368" y="4892040"/>
            <a:ext cx="4956048" cy="347472"/>
          </a:xfrm>
          <a:prstGeom prst="rect">
            <a:avLst/>
          </a:prstGeom>
          <a:noFill/>
          <a:ln/>
        </p:spPr>
        <p:txBody>
          <a:bodyPr wrap="square" lIns="0" tIns="0" rIns="0" bIns="0" rtlCol="0" anchor="ctr"/>
          <a:lstStyle/>
          <a:p>
            <a:pPr algn="l" indent="0" marL="0">
              <a:buNone/>
            </a:pPr>
            <a:r>
              <a:rPr lang="en-US" sz="1100" b="1" dirty="0">
                <a:solidFill>
                  <a:srgbClr val="8BC34A"/>
                </a:solidFill>
                <a:latin typeface="Calibri" pitchFamily="34" charset="0"/>
                <a:ea typeface="Calibri" pitchFamily="34" charset="-122"/>
                <a:cs typeface="Calibri" pitchFamily="34" charset="-120"/>
              </a:rPr>
              <a:t>ECOSORB® · ECOFERT® · NAPEMA® · PAULOWNIA</a:t>
            </a:r>
            <a:endParaRPr lang="en-US" sz="1100" dirty="0"/>
          </a:p>
        </p:txBody>
      </p:sp>
      <p:sp>
        <p:nvSpPr>
          <p:cNvPr id="13" name="Text 8"/>
          <p:cNvSpPr txBox="1"/>
          <p:nvPr/>
        </p:nvSpPr>
        <p:spPr>
          <a:xfrm>
            <a:off x="658368" y="6053328"/>
            <a:ext cx="4956048" cy="310896"/>
          </a:xfrm>
          <a:prstGeom prst="rect">
            <a:avLst/>
          </a:prstGeom>
          <a:noFill/>
          <a:ln/>
        </p:spPr>
        <p:txBody>
          <a:bodyPr wrap="square" lIns="0" tIns="0" rIns="0" bIns="0" rtlCol="0" anchor="ctr"/>
          <a:lstStyle/>
          <a:p>
            <a:pPr algn="l" indent="0" marL="0">
              <a:buNone/>
            </a:pPr>
            <a:r>
              <a:rPr lang="en-US" sz="850" dirty="0">
                <a:solidFill>
                  <a:srgbClr val="9A9A9A"/>
                </a:solidFill>
                <a:latin typeface="Calibri" pitchFamily="34" charset="0"/>
                <a:ea typeface="Calibri" pitchFamily="34" charset="-122"/>
                <a:cs typeface="Calibri" pitchFamily="34" charset="-120"/>
              </a:rPr>
              <a:t>Σεπτέμβριος 2026 · Εμπιστευτικό · Αποκλειστικά για τον παραλήπτη</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CFAFA"/>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algn="l" indent="0" marL="0">
              <a:buNone/>
            </a:pPr>
            <a:r>
              <a:rPr lang="en-US" sz="1150" b="1" spc="200" kern="0" dirty="0">
                <a:solidFill>
                  <a:srgbClr val="C9A227"/>
                </a:solidFill>
                <a:latin typeface="Calibri" pitchFamily="34" charset="0"/>
                <a:ea typeface="Calibri" pitchFamily="34" charset="-122"/>
                <a:cs typeface="Calibri" pitchFamily="34" charset="-120"/>
              </a:rPr>
              <a:t>Η ΑΓΟΡΑ ΣΥΝΟΠΤΙΚΑ</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algn="l" indent="0" marL="0">
              <a:buNone/>
            </a:pPr>
            <a:r>
              <a:rPr lang="en-US" sz="3000" b="1" dirty="0">
                <a:solidFill>
                  <a:srgbClr val="3F162A"/>
                </a:solidFill>
                <a:latin typeface="Cambria" pitchFamily="34" charset="0"/>
                <a:ea typeface="Cambria" pitchFamily="34" charset="-122"/>
                <a:cs typeface="Cambria" pitchFamily="34" charset="-120"/>
              </a:rPr>
              <a:t>Μια εξαγωγική γεωργία που εξαρτάται από το νερό</a:t>
            </a:r>
            <a:endParaRPr lang="en-US" sz="3000" dirty="0"/>
          </a:p>
        </p:txBody>
      </p:sp>
      <p:sp>
        <p:nvSpPr>
          <p:cNvPr id="4" name="Shape 2"/>
          <p:cNvSpPr/>
          <p:nvPr/>
        </p:nvSpPr>
        <p:spPr>
          <a:xfrm>
            <a:off x="594360" y="1874520"/>
            <a:ext cx="2545004" cy="2514600"/>
          </a:xfrm>
          <a:prstGeom prst="roundRect">
            <a:avLst>
              <a:gd name="adj" fmla="val 3636"/>
            </a:avLst>
          </a:prstGeom>
          <a:solidFill>
            <a:srgbClr val="F5EFF1"/>
          </a:solidFill>
          <a:ln w="9525">
            <a:solidFill>
              <a:srgbClr val="E5D9DE"/>
            </a:solidFill>
            <a:prstDash val="solid"/>
          </a:ln>
        </p:spPr>
      </p:sp>
      <p:sp>
        <p:nvSpPr>
          <p:cNvPr id="5" name="Text 3"/>
          <p:cNvSpPr txBox="1"/>
          <p:nvPr/>
        </p:nvSpPr>
        <p:spPr>
          <a:xfrm>
            <a:off x="777240" y="2148840"/>
            <a:ext cx="2179244" cy="960120"/>
          </a:xfrm>
          <a:prstGeom prst="rect">
            <a:avLst/>
          </a:prstGeom>
          <a:noFill/>
          <a:ln/>
        </p:spPr>
        <p:txBody>
          <a:bodyPr wrap="square" lIns="0" tIns="0" rIns="0" bIns="0" rtlCol="0" anchor="ctr"/>
          <a:lstStyle/>
          <a:p>
            <a:pPr algn="ctr" indent="0" marL="0">
              <a:buNone/>
            </a:pPr>
            <a:r>
              <a:rPr lang="en-US" sz="3800" b="1" dirty="0">
                <a:solidFill>
                  <a:srgbClr val="6B2A44"/>
                </a:solidFill>
                <a:latin typeface="Cambria" pitchFamily="34" charset="0"/>
                <a:ea typeface="Cambria" pitchFamily="34" charset="-122"/>
                <a:cs typeface="Cambria" pitchFamily="34" charset="-120"/>
              </a:rPr>
              <a:t>≈ 4 %</a:t>
            </a:r>
            <a:endParaRPr lang="en-US" sz="3800" dirty="0"/>
          </a:p>
        </p:txBody>
      </p:sp>
      <p:sp>
        <p:nvSpPr>
          <p:cNvPr id="6" name="Text 4"/>
          <p:cNvSpPr txBox="1"/>
          <p:nvPr/>
        </p:nvSpPr>
        <p:spPr>
          <a:xfrm>
            <a:off x="795528" y="3154680"/>
            <a:ext cx="2142668" cy="1051560"/>
          </a:xfrm>
          <a:prstGeom prst="rect">
            <a:avLst/>
          </a:prstGeom>
          <a:noFill/>
          <a:ln/>
        </p:spPr>
        <p:txBody>
          <a:bodyPr wrap="square" lIns="0" tIns="0" rIns="0" bIns="0" rtlCol="0" anchor="t"/>
          <a:lstStyle/>
          <a:p>
            <a:pPr algn="ctr" indent="0" marL="0">
              <a:lnSpc>
                <a:spcPct val="118000"/>
              </a:lnSpc>
              <a:buNone/>
            </a:pPr>
            <a:r>
              <a:rPr lang="en-US" sz="1250" dirty="0">
                <a:solidFill>
                  <a:srgbClr val="3F3138"/>
                </a:solidFill>
                <a:latin typeface="Calibri" pitchFamily="34" charset="0"/>
                <a:ea typeface="Calibri" pitchFamily="34" charset="-122"/>
                <a:cs typeface="Calibri" pitchFamily="34" charset="-120"/>
              </a:rPr>
              <a:t>του ΑΕΠ προέρχεται από τη γεωργία</a:t>
            </a:r>
            <a:endParaRPr lang="en-US" sz="1250" dirty="0"/>
          </a:p>
        </p:txBody>
      </p:sp>
      <p:sp>
        <p:nvSpPr>
          <p:cNvPr id="7" name="Shape 5"/>
          <p:cNvSpPr/>
          <p:nvPr/>
        </p:nvSpPr>
        <p:spPr>
          <a:xfrm>
            <a:off x="3413684" y="1874520"/>
            <a:ext cx="2545004" cy="2514600"/>
          </a:xfrm>
          <a:prstGeom prst="roundRect">
            <a:avLst>
              <a:gd name="adj" fmla="val 3636"/>
            </a:avLst>
          </a:prstGeom>
          <a:solidFill>
            <a:srgbClr val="F5EFF1"/>
          </a:solidFill>
          <a:ln w="9525">
            <a:solidFill>
              <a:srgbClr val="E5D9DE"/>
            </a:solidFill>
            <a:prstDash val="solid"/>
          </a:ln>
        </p:spPr>
      </p:sp>
      <p:sp>
        <p:nvSpPr>
          <p:cNvPr id="8" name="Text 6"/>
          <p:cNvSpPr txBox="1"/>
          <p:nvPr/>
        </p:nvSpPr>
        <p:spPr>
          <a:xfrm>
            <a:off x="3596564" y="2148840"/>
            <a:ext cx="2179244" cy="960120"/>
          </a:xfrm>
          <a:prstGeom prst="rect">
            <a:avLst/>
          </a:prstGeom>
          <a:noFill/>
          <a:ln/>
        </p:spPr>
        <p:txBody>
          <a:bodyPr wrap="square" lIns="0" tIns="0" rIns="0" bIns="0" rtlCol="0" anchor="ctr"/>
          <a:lstStyle/>
          <a:p>
            <a:pPr algn="ctr" indent="0" marL="0">
              <a:buNone/>
            </a:pPr>
            <a:r>
              <a:rPr lang="en-US" sz="3800" b="1" dirty="0">
                <a:solidFill>
                  <a:srgbClr val="6B2A44"/>
                </a:solidFill>
                <a:latin typeface="Cambria" pitchFamily="34" charset="0"/>
                <a:ea typeface="Cambria" pitchFamily="34" charset="-122"/>
                <a:cs typeface="Cambria" pitchFamily="34" charset="-120"/>
              </a:rPr>
              <a:t>&gt; 80 %</a:t>
            </a:r>
            <a:endParaRPr lang="en-US" sz="3800" dirty="0"/>
          </a:p>
        </p:txBody>
      </p:sp>
      <p:sp>
        <p:nvSpPr>
          <p:cNvPr id="9" name="Text 7"/>
          <p:cNvSpPr txBox="1"/>
          <p:nvPr/>
        </p:nvSpPr>
        <p:spPr>
          <a:xfrm>
            <a:off x="3614852" y="3154680"/>
            <a:ext cx="2142668" cy="1051560"/>
          </a:xfrm>
          <a:prstGeom prst="rect">
            <a:avLst/>
          </a:prstGeom>
          <a:noFill/>
          <a:ln/>
        </p:spPr>
        <p:txBody>
          <a:bodyPr wrap="square" lIns="0" tIns="0" rIns="0" bIns="0" rtlCol="0" anchor="t"/>
          <a:lstStyle/>
          <a:p>
            <a:pPr algn="ctr" indent="0" marL="0">
              <a:lnSpc>
                <a:spcPct val="118000"/>
              </a:lnSpc>
              <a:buNone/>
            </a:pPr>
            <a:r>
              <a:rPr lang="en-US" sz="1250" dirty="0">
                <a:solidFill>
                  <a:srgbClr val="3F3138"/>
                </a:solidFill>
                <a:latin typeface="Calibri" pitchFamily="34" charset="0"/>
                <a:ea typeface="Calibri" pitchFamily="34" charset="-122"/>
                <a:cs typeface="Calibri" pitchFamily="34" charset="-120"/>
              </a:rPr>
              <a:t>της ευρωπαϊκής παραγωγής βαμβακιού</a:t>
            </a:r>
            <a:endParaRPr lang="en-US" sz="1250" dirty="0"/>
          </a:p>
        </p:txBody>
      </p:sp>
      <p:sp>
        <p:nvSpPr>
          <p:cNvPr id="10" name="Shape 8"/>
          <p:cNvSpPr/>
          <p:nvPr/>
        </p:nvSpPr>
        <p:spPr>
          <a:xfrm>
            <a:off x="6233008" y="1874520"/>
            <a:ext cx="2545004" cy="2514600"/>
          </a:xfrm>
          <a:prstGeom prst="roundRect">
            <a:avLst>
              <a:gd name="adj" fmla="val 3636"/>
            </a:avLst>
          </a:prstGeom>
          <a:solidFill>
            <a:srgbClr val="F5EFF1"/>
          </a:solidFill>
          <a:ln w="9525">
            <a:solidFill>
              <a:srgbClr val="E5D9DE"/>
            </a:solidFill>
            <a:prstDash val="solid"/>
          </a:ln>
        </p:spPr>
      </p:sp>
      <p:sp>
        <p:nvSpPr>
          <p:cNvPr id="11" name="Text 9"/>
          <p:cNvSpPr txBox="1"/>
          <p:nvPr/>
        </p:nvSpPr>
        <p:spPr>
          <a:xfrm>
            <a:off x="6415888" y="2148840"/>
            <a:ext cx="2179244" cy="960120"/>
          </a:xfrm>
          <a:prstGeom prst="rect">
            <a:avLst/>
          </a:prstGeom>
          <a:noFill/>
          <a:ln/>
        </p:spPr>
        <p:txBody>
          <a:bodyPr wrap="square" lIns="0" tIns="0" rIns="0" bIns="0" rtlCol="0" anchor="ctr"/>
          <a:lstStyle/>
          <a:p>
            <a:pPr algn="ctr" indent="0" marL="0">
              <a:buNone/>
            </a:pPr>
            <a:r>
              <a:rPr lang="en-US" sz="3000" b="1" dirty="0">
                <a:solidFill>
                  <a:srgbClr val="6B2A44"/>
                </a:solidFill>
                <a:latin typeface="Cambria" pitchFamily="34" charset="0"/>
                <a:ea typeface="Cambria" pitchFamily="34" charset="-122"/>
                <a:cs typeface="Cambria" pitchFamily="34" charset="-120"/>
              </a:rPr>
              <a:t>≈ 1,2 εκατ. ha</a:t>
            </a:r>
            <a:endParaRPr lang="en-US" sz="3000" dirty="0"/>
          </a:p>
        </p:txBody>
      </p:sp>
      <p:sp>
        <p:nvSpPr>
          <p:cNvPr id="12" name="Text 10"/>
          <p:cNvSpPr txBox="1"/>
          <p:nvPr/>
        </p:nvSpPr>
        <p:spPr>
          <a:xfrm>
            <a:off x="6434176" y="3154680"/>
            <a:ext cx="2142668" cy="1051560"/>
          </a:xfrm>
          <a:prstGeom prst="rect">
            <a:avLst/>
          </a:prstGeom>
          <a:noFill/>
          <a:ln/>
        </p:spPr>
        <p:txBody>
          <a:bodyPr wrap="square" lIns="0" tIns="0" rIns="0" bIns="0" rtlCol="0" anchor="t"/>
          <a:lstStyle/>
          <a:p>
            <a:pPr algn="ctr" indent="0" marL="0">
              <a:lnSpc>
                <a:spcPct val="118000"/>
              </a:lnSpc>
              <a:buNone/>
            </a:pPr>
            <a:r>
              <a:rPr lang="en-US" sz="1250" dirty="0">
                <a:solidFill>
                  <a:srgbClr val="3F3138"/>
                </a:solidFill>
                <a:latin typeface="Calibri" pitchFamily="34" charset="0"/>
                <a:ea typeface="Calibri" pitchFamily="34" charset="-122"/>
                <a:cs typeface="Calibri" pitchFamily="34" charset="-120"/>
              </a:rPr>
              <a:t>αρδευόμενης γης</a:t>
            </a:r>
            <a:endParaRPr lang="en-US" sz="1250" dirty="0"/>
          </a:p>
        </p:txBody>
      </p:sp>
      <p:sp>
        <p:nvSpPr>
          <p:cNvPr id="13" name="Shape 11"/>
          <p:cNvSpPr/>
          <p:nvPr/>
        </p:nvSpPr>
        <p:spPr>
          <a:xfrm>
            <a:off x="9052331" y="1874520"/>
            <a:ext cx="2545004" cy="2514600"/>
          </a:xfrm>
          <a:prstGeom prst="roundRect">
            <a:avLst>
              <a:gd name="adj" fmla="val 3636"/>
            </a:avLst>
          </a:prstGeom>
          <a:solidFill>
            <a:srgbClr val="F5EFF1"/>
          </a:solidFill>
          <a:ln w="9525">
            <a:solidFill>
              <a:srgbClr val="E5D9DE"/>
            </a:solidFill>
            <a:prstDash val="solid"/>
          </a:ln>
        </p:spPr>
      </p:sp>
      <p:sp>
        <p:nvSpPr>
          <p:cNvPr id="14" name="Text 12"/>
          <p:cNvSpPr txBox="1"/>
          <p:nvPr/>
        </p:nvSpPr>
        <p:spPr>
          <a:xfrm>
            <a:off x="9235211" y="2148840"/>
            <a:ext cx="2179244" cy="960120"/>
          </a:xfrm>
          <a:prstGeom prst="rect">
            <a:avLst/>
          </a:prstGeom>
          <a:noFill/>
          <a:ln/>
        </p:spPr>
        <p:txBody>
          <a:bodyPr wrap="square" lIns="0" tIns="0" rIns="0" bIns="0" rtlCol="0" anchor="ctr"/>
          <a:lstStyle/>
          <a:p>
            <a:pPr algn="ctr" indent="0" marL="0">
              <a:buNone/>
            </a:pPr>
            <a:r>
              <a:rPr lang="en-US" sz="3800" b="1" dirty="0">
                <a:solidFill>
                  <a:srgbClr val="6B2A44"/>
                </a:solidFill>
                <a:latin typeface="Cambria" pitchFamily="34" charset="0"/>
                <a:ea typeface="Cambria" pitchFamily="34" charset="-122"/>
                <a:cs typeface="Cambria" pitchFamily="34" charset="-120"/>
              </a:rPr>
              <a:t>≈ 83 %</a:t>
            </a:r>
            <a:endParaRPr lang="en-US" sz="3800" dirty="0"/>
          </a:p>
        </p:txBody>
      </p:sp>
      <p:sp>
        <p:nvSpPr>
          <p:cNvPr id="15" name="Text 13"/>
          <p:cNvSpPr txBox="1"/>
          <p:nvPr/>
        </p:nvSpPr>
        <p:spPr>
          <a:xfrm>
            <a:off x="9253499" y="3154680"/>
            <a:ext cx="2142668" cy="1051560"/>
          </a:xfrm>
          <a:prstGeom prst="rect">
            <a:avLst/>
          </a:prstGeom>
          <a:noFill/>
          <a:ln/>
        </p:spPr>
        <p:txBody>
          <a:bodyPr wrap="square" lIns="0" tIns="0" rIns="0" bIns="0" rtlCol="0" anchor="t"/>
          <a:lstStyle/>
          <a:p>
            <a:pPr algn="ctr" indent="0" marL="0">
              <a:lnSpc>
                <a:spcPct val="118000"/>
              </a:lnSpc>
              <a:buNone/>
            </a:pPr>
            <a:r>
              <a:rPr lang="en-US" sz="1250" dirty="0">
                <a:solidFill>
                  <a:srgbClr val="3F3138"/>
                </a:solidFill>
                <a:latin typeface="Calibri" pitchFamily="34" charset="0"/>
                <a:ea typeface="Calibri" pitchFamily="34" charset="-122"/>
                <a:cs typeface="Calibri" pitchFamily="34" charset="-120"/>
              </a:rPr>
              <a:t>των αντλήσεων νερού πηγαίνουν στη γεωργία</a:t>
            </a:r>
            <a:endParaRPr lang="en-US" sz="1250" dirty="0"/>
          </a:p>
        </p:txBody>
      </p:sp>
      <p:sp>
        <p:nvSpPr>
          <p:cNvPr id="16" name="Text 14"/>
          <p:cNvSpPr txBox="1"/>
          <p:nvPr/>
        </p:nvSpPr>
        <p:spPr>
          <a:xfrm>
            <a:off x="594360" y="4709160"/>
            <a:ext cx="11002975" cy="1097280"/>
          </a:xfrm>
          <a:prstGeom prst="rect">
            <a:avLst/>
          </a:prstGeom>
          <a:noFill/>
          <a:ln/>
        </p:spPr>
        <p:txBody>
          <a:bodyPr wrap="square" lIns="0" tIns="0" rIns="0" bIns="0" rtlCol="0" anchor="t"/>
          <a:lstStyle/>
          <a:p>
            <a:pPr algn="l" indent="0" marL="0">
              <a:lnSpc>
                <a:spcPct val="130000"/>
              </a:lnSpc>
              <a:buNone/>
            </a:pPr>
            <a:r>
              <a:rPr lang="en-US" sz="1350" dirty="0">
                <a:solidFill>
                  <a:srgbClr val="3F3138"/>
                </a:solidFill>
                <a:latin typeface="Calibri" pitchFamily="34" charset="0"/>
                <a:ea typeface="Calibri" pitchFamily="34" charset="-122"/>
                <a:cs typeface="Calibri" pitchFamily="34" charset="-120"/>
              </a:rPr>
              <a:t>Η Ελλάδα είναι από τους μεγαλύτερους παραγωγούς ελαιολάδου στον κόσμο και ο πρώτος παραγωγός βαμβακιού της Ευρωπαϊκής Ένωσης. Οι εκμεταλλεύσεις είναι μικρές και κατακερματισμένες, και η παραγωγή εξαρτάται όλο και περισσότερο από την άρδευση σε καλοκαίρια με καύσωνες και ξηρασία.</a:t>
            </a:r>
            <a:endParaRPr lang="en-US" sz="1350" dirty="0"/>
          </a:p>
        </p:txBody>
      </p:sp>
      <p:sp>
        <p:nvSpPr>
          <p:cNvPr id="17" name="Text 15"/>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7C6B73">
                    <a:alpha val="80000"/>
                  </a:srgbClr>
                </a:solidFill>
                <a:latin typeface="Calibri" pitchFamily="34" charset="0"/>
                <a:ea typeface="Calibri" pitchFamily="34" charset="-122"/>
                <a:cs typeface="Calibri" pitchFamily="34" charset="-120"/>
              </a:rPr>
              <a:t>Green Solutions · Μελέτη αγοράς Ελλάδα</a:t>
            </a:r>
            <a:endParaRPr lang="en-US" sz="950" dirty="0"/>
          </a:p>
        </p:txBody>
      </p:sp>
      <p:sp>
        <p:nvSpPr>
          <p:cNvPr id="18" name="Text 16"/>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7C6B73">
                    <a:alpha val="80000"/>
                  </a:srgbClr>
                </a:solidFill>
                <a:latin typeface="Calibri" pitchFamily="34" charset="0"/>
                <a:ea typeface="Calibri" pitchFamily="34" charset="-122"/>
                <a:cs typeface="Calibri" pitchFamily="34" charset="-120"/>
              </a:rPr>
              <a:t>1</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CFAFA"/>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algn="l" indent="0" marL="0">
              <a:buNone/>
            </a:pPr>
            <a:r>
              <a:rPr lang="en-US" sz="1150" b="1" spc="200" kern="0" dirty="0">
                <a:solidFill>
                  <a:srgbClr val="C9A227"/>
                </a:solidFill>
                <a:latin typeface="Calibri" pitchFamily="34" charset="0"/>
                <a:ea typeface="Calibri" pitchFamily="34" charset="-122"/>
                <a:cs typeface="Calibri" pitchFamily="34" charset="-120"/>
              </a:rPr>
              <a:t>Ο ΠΕΡΙΟΡΙΣΜΟΣ</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algn="l" indent="0" marL="0">
              <a:buNone/>
            </a:pPr>
            <a:r>
              <a:rPr lang="en-US" sz="3000" b="1" dirty="0">
                <a:solidFill>
                  <a:srgbClr val="3F162A"/>
                </a:solidFill>
                <a:latin typeface="Cambria" pitchFamily="34" charset="0"/>
                <a:ea typeface="Cambria" pitchFamily="34" charset="-122"/>
                <a:cs typeface="Cambria" pitchFamily="34" charset="-120"/>
              </a:rPr>
              <a:t>Περισσότερη ζέστη, λιγότερη βροχή, πιεσμένοι υδροφορείς</a:t>
            </a:r>
            <a:endParaRPr lang="en-US" sz="3000" dirty="0"/>
          </a:p>
        </p:txBody>
      </p:sp>
      <p:pic>
        <p:nvPicPr>
          <p:cNvPr id="4" name="Image 0" descr="preencoded.png">    </p:cNvPr>
          <p:cNvPicPr>
            <a:picLocks noChangeAspect="1"/>
          </p:cNvPicPr>
          <p:nvPr/>
        </p:nvPicPr>
        <p:blipFill>
          <a:blip r:embed="rId1"/>
          <a:stretch>
            <a:fillRect/>
          </a:stretch>
        </p:blipFill>
        <p:spPr>
          <a:xfrm>
            <a:off x="6522415" y="1783080"/>
            <a:ext cx="5074920" cy="3794760"/>
          </a:xfrm>
          <a:prstGeom prst="rect">
            <a:avLst/>
          </a:prstGeom>
        </p:spPr>
      </p:pic>
      <p:sp>
        <p:nvSpPr>
          <p:cNvPr id="5" name="Text 2"/>
          <p:cNvSpPr txBox="1"/>
          <p:nvPr/>
        </p:nvSpPr>
        <p:spPr>
          <a:xfrm>
            <a:off x="594360" y="1783080"/>
            <a:ext cx="5379415" cy="4251960"/>
          </a:xfrm>
          <a:prstGeom prst="rect">
            <a:avLst/>
          </a:prstGeom>
          <a:noFill/>
          <a:ln/>
        </p:spPr>
        <p:txBody>
          <a:bodyPr wrap="square" lIns="0" tIns="0" rIns="0" bIns="0" rtlCol="0" anchor="t"/>
          <a:lstStyle/>
          <a:p>
            <a:pPr algn="l" marL="342900" indent="-342900">
              <a:lnSpc>
                <a:spcPct val="122000"/>
              </a:lnSpc>
              <a:spcAft>
                <a:spcPts val="1100"/>
              </a:spcAft>
              <a:buSzPct val="100000"/>
              <a:buChar char="•"/>
            </a:pPr>
            <a:r>
              <a:rPr lang="en-US" sz="1400" dirty="0">
                <a:solidFill>
                  <a:srgbClr val="3F3138"/>
                </a:solidFill>
                <a:latin typeface="Calibri" pitchFamily="34" charset="0"/>
                <a:ea typeface="Calibri" pitchFamily="34" charset="-122"/>
                <a:cs typeface="Calibri" pitchFamily="34" charset="-120"/>
              </a:rPr>
              <a:t>Η βροχή πέφτει κυρίως τον χειμώνα, ενώ οι καλλιέργειες τη χρειάζονται το καλοκαίρι, όταν η θερμοκρασία ξεπερνά συχνά τους 40 °C.</a:t>
            </a:r>
            <a:endParaRPr lang="en-US" sz="1400" dirty="0"/>
          </a:p>
          <a:p>
            <a:pPr algn="l" marL="342900" indent="-342900">
              <a:lnSpc>
                <a:spcPct val="122000"/>
              </a:lnSpc>
              <a:spcAft>
                <a:spcPts val="1100"/>
              </a:spcAft>
              <a:buSzPct val="100000"/>
              <a:buChar char="•"/>
            </a:pPr>
            <a:r>
              <a:rPr lang="en-US" sz="1400" dirty="0">
                <a:solidFill>
                  <a:srgbClr val="3F3138"/>
                </a:solidFill>
                <a:latin typeface="Calibri" pitchFamily="34" charset="0"/>
                <a:ea typeface="Calibri" pitchFamily="34" charset="-122"/>
                <a:cs typeface="Calibri" pitchFamily="34" charset="-120"/>
              </a:rPr>
              <a:t>Στη Θεσσαλία οι αντλήσεις για άρδευση ξεπερνούν εδώ και χρόνια την ανανέωση των υπόγειων νερών, και η στάθμη τους πέφτει.</a:t>
            </a:r>
            <a:endParaRPr lang="en-US" sz="1400" dirty="0"/>
          </a:p>
          <a:p>
            <a:pPr algn="l" marL="342900" indent="-342900">
              <a:lnSpc>
                <a:spcPct val="122000"/>
              </a:lnSpc>
              <a:spcAft>
                <a:spcPts val="1100"/>
              </a:spcAft>
              <a:buSzPct val="100000"/>
              <a:buChar char="•"/>
            </a:pPr>
            <a:r>
              <a:rPr lang="en-US" sz="1400" dirty="0">
                <a:solidFill>
                  <a:srgbClr val="3F3138"/>
                </a:solidFill>
                <a:latin typeface="Calibri" pitchFamily="34" charset="0"/>
                <a:ea typeface="Calibri" pitchFamily="34" charset="-122"/>
                <a:cs typeface="Calibri" pitchFamily="34" charset="-120"/>
              </a:rPr>
              <a:t>Οι ταμιευτήρες υποχωρούν σε χρονιές ξηρασίας: ο Μόρνος, που υδροδοτεί την Αθήνα, έφτασε το 2025 σε ιστορικά χαμηλά επίπεδα.</a:t>
            </a:r>
            <a:endParaRPr lang="en-US" sz="1400" dirty="0"/>
          </a:p>
          <a:p>
            <a:pPr algn="l" marL="342900" indent="-342900">
              <a:lnSpc>
                <a:spcPct val="122000"/>
              </a:lnSpc>
              <a:spcAft>
                <a:spcPts val="1100"/>
              </a:spcAft>
              <a:buSzPct val="100000"/>
              <a:buChar char="•"/>
            </a:pPr>
            <a:r>
              <a:rPr lang="en-US" sz="1400" dirty="0">
                <a:solidFill>
                  <a:srgbClr val="3F3138"/>
                </a:solidFill>
                <a:latin typeface="Calibri" pitchFamily="34" charset="0"/>
                <a:ea typeface="Calibri" pitchFamily="34" charset="-122"/>
                <a:cs typeface="Calibri" pitchFamily="34" charset="-120"/>
              </a:rPr>
              <a:t>Μετά την κακοκαιρία Daniel το 2023, μεγάλο μέρος της θεσσαλικής πεδιάδας έχασε έδαφος, υποδομές και παραγωγή.</a:t>
            </a:r>
            <a:endParaRPr lang="en-US" sz="1400" dirty="0"/>
          </a:p>
          <a:p>
            <a:pPr algn="l" marL="342900" indent="-342900">
              <a:lnSpc>
                <a:spcPct val="122000"/>
              </a:lnSpc>
              <a:spcAft>
                <a:spcPts val="1100"/>
              </a:spcAft>
              <a:buSzPct val="100000"/>
              <a:buChar char="•"/>
            </a:pPr>
            <a:r>
              <a:rPr lang="en-US" sz="1400" dirty="0">
                <a:solidFill>
                  <a:srgbClr val="3F3138"/>
                </a:solidFill>
                <a:latin typeface="Calibri" pitchFamily="34" charset="0"/>
                <a:ea typeface="Calibri" pitchFamily="34" charset="-122"/>
                <a:cs typeface="Calibri" pitchFamily="34" charset="-120"/>
              </a:rPr>
              <a:t>Τα έργα αποθήκευσης και επαναχρησιμοποίησης νερού δρουν στην προσφορά· η συγκράτηση νερού στο έδαφος δρα στη ζήτηση, στη ρίζα.</a:t>
            </a:r>
            <a:endParaRPr lang="en-US" sz="1400" dirty="0"/>
          </a:p>
        </p:txBody>
      </p:sp>
      <p:sp>
        <p:nvSpPr>
          <p:cNvPr id="6" name="Text 3"/>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7C6B73">
                    <a:alpha val="80000"/>
                  </a:srgbClr>
                </a:solidFill>
                <a:latin typeface="Calibri" pitchFamily="34" charset="0"/>
                <a:ea typeface="Calibri" pitchFamily="34" charset="-122"/>
                <a:cs typeface="Calibri" pitchFamily="34" charset="-120"/>
              </a:rPr>
              <a:t>Green Solutions · Μελέτη αγοράς Ελλάδα</a:t>
            </a:r>
            <a:endParaRPr lang="en-US" sz="950" dirty="0"/>
          </a:p>
        </p:txBody>
      </p:sp>
      <p:sp>
        <p:nvSpPr>
          <p:cNvPr id="7" name="Text 4"/>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7C6B73">
                    <a:alpha val="80000"/>
                  </a:srgbClr>
                </a:solidFill>
                <a:latin typeface="Calibri" pitchFamily="34" charset="0"/>
                <a:ea typeface="Calibri" pitchFamily="34" charset="-122"/>
                <a:cs typeface="Calibri" pitchFamily="34" charset="-120"/>
              </a:rPr>
              <a:t>2</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CFAFA"/>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algn="l" indent="0" marL="0">
              <a:buNone/>
            </a:pPr>
            <a:r>
              <a:rPr lang="en-US" sz="1150" b="1" spc="200" kern="0" dirty="0">
                <a:solidFill>
                  <a:srgbClr val="C9A227"/>
                </a:solidFill>
                <a:latin typeface="Calibri" pitchFamily="34" charset="0"/>
                <a:ea typeface="Calibri" pitchFamily="34" charset="-122"/>
                <a:cs typeface="Calibri" pitchFamily="34" charset="-120"/>
              </a:rPr>
              <a:t>ΞΗΡΑΣΙΑ ΚΑΙ ΥΔΑΤΙΚΗ ΠΙΕΣΗ</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algn="l" indent="0" marL="0">
              <a:buNone/>
            </a:pPr>
            <a:r>
              <a:rPr lang="en-US" sz="3000" b="1" dirty="0">
                <a:solidFill>
                  <a:srgbClr val="3F162A"/>
                </a:solidFill>
                <a:latin typeface="Cambria" pitchFamily="34" charset="0"/>
                <a:ea typeface="Cambria" pitchFamily="34" charset="-122"/>
                <a:cs typeface="Cambria" pitchFamily="34" charset="-120"/>
              </a:rPr>
              <a:t>Η πίεση αυξάνεται, αλλά ο κίνδυνος παραμένει τοπικός</a:t>
            </a:r>
            <a:endParaRPr lang="en-US" sz="3000" dirty="0"/>
          </a:p>
        </p:txBody>
      </p:sp>
      <p:graphicFrame>
        <p:nvGraphicFramePr>
          <p:cNvPr id="4" name="Chart 0" descr=""/>
          <p:cNvGraphicFramePr/>
          <p:nvPr/>
        </p:nvGraphicFramePr>
        <p:xfrm>
          <a:off x="594360" y="1783080"/>
          <a:ext cx="7360920" cy="39776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8275320" y="1783080"/>
            <a:ext cx="3291840" cy="3977640"/>
          </a:xfrm>
          <a:prstGeom prst="roundRect">
            <a:avLst>
              <a:gd name="adj" fmla="val 2778"/>
            </a:avLst>
          </a:prstGeom>
          <a:solidFill>
            <a:srgbClr val="F5EFF1"/>
          </a:solidFill>
          <a:ln w="9525">
            <a:solidFill>
              <a:srgbClr val="E5D9DE"/>
            </a:solidFill>
            <a:prstDash val="solid"/>
          </a:ln>
        </p:spPr>
      </p:sp>
      <p:sp>
        <p:nvSpPr>
          <p:cNvPr id="6" name="Text 3"/>
          <p:cNvSpPr txBox="1"/>
          <p:nvPr/>
        </p:nvSpPr>
        <p:spPr>
          <a:xfrm>
            <a:off x="8503920" y="2011680"/>
            <a:ext cx="2834640" cy="457200"/>
          </a:xfrm>
          <a:prstGeom prst="rect">
            <a:avLst/>
          </a:prstGeom>
          <a:noFill/>
          <a:ln/>
        </p:spPr>
        <p:txBody>
          <a:bodyPr wrap="square" lIns="0" tIns="0" rIns="0" bIns="0" rtlCol="0" anchor="ctr"/>
          <a:lstStyle/>
          <a:p>
            <a:pPr algn="l" indent="0" marL="0">
              <a:buNone/>
            </a:pPr>
            <a:r>
              <a:rPr lang="en-US" sz="1300" b="1" dirty="0">
                <a:solidFill>
                  <a:srgbClr val="6B2A44"/>
                </a:solidFill>
                <a:latin typeface="Cambria" pitchFamily="34" charset="0"/>
                <a:ea typeface="Cambria" pitchFamily="34" charset="-122"/>
                <a:cs typeface="Cambria" pitchFamily="34" charset="-120"/>
              </a:rPr>
              <a:t>Δύο διαφορετικοί δείκτες</a:t>
            </a:r>
            <a:endParaRPr lang="en-US" sz="1300" dirty="0"/>
          </a:p>
        </p:txBody>
      </p:sp>
      <p:sp>
        <p:nvSpPr>
          <p:cNvPr id="7" name="Text 4"/>
          <p:cNvSpPr txBox="1"/>
          <p:nvPr/>
        </p:nvSpPr>
        <p:spPr>
          <a:xfrm>
            <a:off x="8503920" y="2560320"/>
            <a:ext cx="2834640" cy="3017520"/>
          </a:xfrm>
          <a:prstGeom prst="rect">
            <a:avLst/>
          </a:prstGeom>
          <a:noFill/>
          <a:ln/>
        </p:spPr>
        <p:txBody>
          <a:bodyPr wrap="square" lIns="0" tIns="0" rIns="0" bIns="0" rtlCol="0" anchor="t"/>
          <a:lstStyle/>
          <a:p>
            <a:pPr algn="l" indent="0" marL="0">
              <a:lnSpc>
                <a:spcPct val="125000"/>
              </a:lnSpc>
              <a:buNone/>
            </a:pPr>
            <a:r>
              <a:rPr lang="en-US" sz="1200" dirty="0">
                <a:solidFill>
                  <a:srgbClr val="3F3138"/>
                </a:solidFill>
                <a:latin typeface="Calibri" pitchFamily="34" charset="0"/>
                <a:ea typeface="Calibri" pitchFamily="34" charset="-122"/>
                <a:cs typeface="Calibri" pitchFamily="34" charset="-120"/>
              </a:rPr>
              <a:t>Παγκοσμίως, ο αριθμός και η διάρκεια των ξηρασιών αυξήθηκαν κατά 29% από το 2000 σε σύγκριση με τις δύο προηγούμενες δεκαετίες.</a:t>
            </a:r>
            <a:endParaRPr lang="en-US" sz="1200" dirty="0"/>
          </a:p>
          <a:p>
            <a:pPr algn="l" indent="0" marL="0">
              <a:lnSpc>
                <a:spcPct val="125000"/>
              </a:lnSpc>
              <a:buNone/>
            </a:pPr>
            <a:endParaRPr lang="en-US" sz="1200" dirty="0"/>
          </a:p>
          <a:p>
            <a:pPr algn="l" indent="0" marL="0">
              <a:lnSpc>
                <a:spcPct val="125000"/>
              </a:lnSpc>
              <a:buNone/>
            </a:pPr>
            <a:r>
              <a:rPr lang="en-US" sz="1200" dirty="0">
                <a:solidFill>
                  <a:srgbClr val="3F3138"/>
                </a:solidFill>
                <a:latin typeface="Calibri" pitchFamily="34" charset="0"/>
                <a:ea typeface="Calibri" pitchFamily="34" charset="-122"/>
                <a:cs typeface="Calibri" pitchFamily="34" charset="-120"/>
              </a:rPr>
              <a:t>Η υδατική πίεση μετρά κάτι διαφορετικό: τις απολήψεις ως ποσοστό των ανανεώσιμων πόρων μετά τις περιβαλλοντικές ανάγκες. Το παγκόσμιο σήμα δεν είναι εθνική πρόβλεψη· διαβάζεται μαζί με τις τοπικές βροχές, τους υδροφορείς, τις εποχές και τις χρήσεις.</a:t>
            </a:r>
            <a:endParaRPr lang="en-US" sz="1200" dirty="0"/>
          </a:p>
        </p:txBody>
      </p:sp>
      <p:sp>
        <p:nvSpPr>
          <p:cNvPr id="8" name="Text 5"/>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7C6B73">
                    <a:alpha val="80000"/>
                  </a:srgbClr>
                </a:solidFill>
                <a:latin typeface="Calibri" pitchFamily="34" charset="0"/>
                <a:ea typeface="Calibri" pitchFamily="34" charset="-122"/>
                <a:cs typeface="Calibri" pitchFamily="34" charset="-120"/>
              </a:rPr>
              <a:t>Green Solutions · Μελέτη αγοράς Ελλάδα</a:t>
            </a:r>
            <a:endParaRPr lang="en-US" sz="950" dirty="0"/>
          </a:p>
        </p:txBody>
      </p:sp>
      <p:sp>
        <p:nvSpPr>
          <p:cNvPr id="9" name="Text 6"/>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7C6B73">
                    <a:alpha val="80000"/>
                  </a:srgbClr>
                </a:solidFill>
                <a:latin typeface="Calibri" pitchFamily="34" charset="0"/>
                <a:ea typeface="Calibri" pitchFamily="34" charset="-122"/>
                <a:cs typeface="Calibri" pitchFamily="34" charset="-120"/>
              </a:rPr>
              <a:t>3</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CFAFA"/>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algn="l" indent="0" marL="0">
              <a:buNone/>
            </a:pPr>
            <a:r>
              <a:rPr lang="en-US" sz="1150" b="1" spc="200" kern="0" dirty="0">
                <a:solidFill>
                  <a:srgbClr val="C9A227"/>
                </a:solidFill>
                <a:latin typeface="Calibri" pitchFamily="34" charset="0"/>
                <a:ea typeface="Calibri" pitchFamily="34" charset="-122"/>
                <a:cs typeface="Calibri" pitchFamily="34" charset="-120"/>
              </a:rPr>
              <a:t>ΠΟΥ ΠΗΓΑΙΝΕΙ ΤΟ ΝΕΡΟ</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algn="l" indent="0" marL="0">
              <a:buNone/>
            </a:pPr>
            <a:r>
              <a:rPr lang="en-US" sz="3000" b="1" dirty="0">
                <a:solidFill>
                  <a:srgbClr val="3F162A"/>
                </a:solidFill>
                <a:latin typeface="Cambria" pitchFamily="34" charset="0"/>
                <a:ea typeface="Cambria" pitchFamily="34" charset="-122"/>
                <a:cs typeface="Cambria" pitchFamily="34" charset="-120"/>
              </a:rPr>
              <a:t>Η άρδευση παίρνει οκτώ λίτρα στα δέκα</a:t>
            </a:r>
            <a:endParaRPr lang="en-US" sz="3000" dirty="0"/>
          </a:p>
        </p:txBody>
      </p:sp>
      <p:graphicFrame>
        <p:nvGraphicFramePr>
          <p:cNvPr id="4" name="Chart 0" descr=""/>
          <p:cNvGraphicFramePr/>
          <p:nvPr/>
        </p:nvGraphicFramePr>
        <p:xfrm>
          <a:off x="594360" y="1783080"/>
          <a:ext cx="7360920" cy="39776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8275320" y="1783080"/>
            <a:ext cx="3291840" cy="3977640"/>
          </a:xfrm>
          <a:prstGeom prst="roundRect">
            <a:avLst>
              <a:gd name="adj" fmla="val 2778"/>
            </a:avLst>
          </a:prstGeom>
          <a:solidFill>
            <a:srgbClr val="F5EFF1"/>
          </a:solidFill>
          <a:ln w="9525">
            <a:solidFill>
              <a:srgbClr val="E5D9DE"/>
            </a:solidFill>
            <a:prstDash val="solid"/>
          </a:ln>
        </p:spPr>
      </p:sp>
      <p:sp>
        <p:nvSpPr>
          <p:cNvPr id="6" name="Text 3"/>
          <p:cNvSpPr txBox="1"/>
          <p:nvPr/>
        </p:nvSpPr>
        <p:spPr>
          <a:xfrm>
            <a:off x="8503920" y="2011680"/>
            <a:ext cx="2834640" cy="457200"/>
          </a:xfrm>
          <a:prstGeom prst="rect">
            <a:avLst/>
          </a:prstGeom>
          <a:noFill/>
          <a:ln/>
        </p:spPr>
        <p:txBody>
          <a:bodyPr wrap="square" lIns="0" tIns="0" rIns="0" bIns="0" rtlCol="0" anchor="ctr"/>
          <a:lstStyle/>
          <a:p>
            <a:pPr algn="l" indent="0" marL="0">
              <a:buNone/>
            </a:pPr>
            <a:r>
              <a:rPr lang="en-US" sz="1300" b="1" dirty="0">
                <a:solidFill>
                  <a:srgbClr val="6B2A44"/>
                </a:solidFill>
                <a:latin typeface="Cambria" pitchFamily="34" charset="0"/>
                <a:ea typeface="Cambria" pitchFamily="34" charset="-122"/>
                <a:cs typeface="Cambria" pitchFamily="34" charset="-120"/>
              </a:rPr>
              <a:t>Τι σημαίνει αυτό</a:t>
            </a:r>
            <a:endParaRPr lang="en-US" sz="1300" dirty="0"/>
          </a:p>
        </p:txBody>
      </p:sp>
      <p:sp>
        <p:nvSpPr>
          <p:cNvPr id="7" name="Text 4"/>
          <p:cNvSpPr txBox="1"/>
          <p:nvPr/>
        </p:nvSpPr>
        <p:spPr>
          <a:xfrm>
            <a:off x="8503920" y="2560320"/>
            <a:ext cx="2834640" cy="3017520"/>
          </a:xfrm>
          <a:prstGeom prst="rect">
            <a:avLst/>
          </a:prstGeom>
          <a:noFill/>
          <a:ln/>
        </p:spPr>
        <p:txBody>
          <a:bodyPr wrap="square" lIns="0" tIns="0" rIns="0" bIns="0" rtlCol="0" anchor="t"/>
          <a:lstStyle/>
          <a:p>
            <a:pPr algn="l" indent="0" marL="0">
              <a:lnSpc>
                <a:spcPct val="125000"/>
              </a:lnSpc>
              <a:buNone/>
            </a:pPr>
            <a:r>
              <a:rPr lang="en-US" sz="1200" dirty="0">
                <a:solidFill>
                  <a:srgbClr val="3F3138"/>
                </a:solidFill>
                <a:latin typeface="Calibri" pitchFamily="34" charset="0"/>
                <a:ea typeface="Calibri" pitchFamily="34" charset="-122"/>
                <a:cs typeface="Calibri" pitchFamily="34" charset="-120"/>
              </a:rPr>
              <a:t>Μείωση 10 % της ζήτησης για άρδευση εξοικονομεί πολύ περισσότερο νερό από όσο καταναλώνει όλη η βιομηχανία.</a:t>
            </a:r>
            <a:endParaRPr lang="en-US" sz="1200" dirty="0"/>
          </a:p>
          <a:p>
            <a:pPr algn="l" indent="0" marL="0">
              <a:lnSpc>
                <a:spcPct val="125000"/>
              </a:lnSpc>
              <a:buNone/>
            </a:pPr>
            <a:endParaRPr lang="en-US" sz="1200" dirty="0"/>
          </a:p>
          <a:p>
            <a:pPr algn="l" indent="0" marL="0">
              <a:lnSpc>
                <a:spcPct val="125000"/>
              </a:lnSpc>
              <a:buNone/>
            </a:pPr>
            <a:r>
              <a:rPr lang="en-US" sz="1200" dirty="0">
                <a:solidFill>
                  <a:srgbClr val="3F3138"/>
                </a:solidFill>
                <a:latin typeface="Calibri" pitchFamily="34" charset="0"/>
                <a:ea typeface="Calibri" pitchFamily="34" charset="-122"/>
                <a:cs typeface="Calibri" pitchFamily="34" charset="-120"/>
              </a:rPr>
              <a:t>Γι' αυτό η προσπάθεια αφορά πρώτα το χωράφι.</a:t>
            </a:r>
            <a:endParaRPr lang="en-US" sz="1200" dirty="0"/>
          </a:p>
        </p:txBody>
      </p:sp>
      <p:sp>
        <p:nvSpPr>
          <p:cNvPr id="8" name="Text 5"/>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7C6B73">
                    <a:alpha val="80000"/>
                  </a:srgbClr>
                </a:solidFill>
                <a:latin typeface="Calibri" pitchFamily="34" charset="0"/>
                <a:ea typeface="Calibri" pitchFamily="34" charset="-122"/>
                <a:cs typeface="Calibri" pitchFamily="34" charset="-120"/>
              </a:rPr>
              <a:t>Green Solutions · Μελέτη αγοράς Ελλάδα</a:t>
            </a:r>
            <a:endParaRPr lang="en-US" sz="950" dirty="0"/>
          </a:p>
        </p:txBody>
      </p:sp>
      <p:sp>
        <p:nvSpPr>
          <p:cNvPr id="9" name="Text 6"/>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7C6B73">
                    <a:alpha val="80000"/>
                  </a:srgbClr>
                </a:solidFill>
                <a:latin typeface="Calibri" pitchFamily="34" charset="0"/>
                <a:ea typeface="Calibri" pitchFamily="34" charset="-122"/>
                <a:cs typeface="Calibri" pitchFamily="34" charset="-120"/>
              </a:rPr>
              <a:t>4</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CFAFA"/>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algn="l" indent="0" marL="0">
              <a:buNone/>
            </a:pPr>
            <a:r>
              <a:rPr lang="en-US" sz="1150" b="1" spc="200" kern="0" dirty="0">
                <a:solidFill>
                  <a:srgbClr val="C9A227"/>
                </a:solidFill>
                <a:latin typeface="Calibri" pitchFamily="34" charset="0"/>
                <a:ea typeface="Calibri" pitchFamily="34" charset="-122"/>
                <a:cs typeface="Calibri" pitchFamily="34" charset="-120"/>
              </a:rPr>
              <a:t>ΟΙΚΟΝΟΜΙΑ ΚΑΙ ΕΠΙΣΙΤΙΣΤΙΚΗ ΑΣΦΑΛΕΙΑ</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algn="l" indent="0" marL="0">
              <a:buNone/>
            </a:pPr>
            <a:r>
              <a:rPr lang="en-US" sz="3000" b="1" dirty="0">
                <a:solidFill>
                  <a:srgbClr val="3F162A"/>
                </a:solidFill>
                <a:latin typeface="Cambria" pitchFamily="34" charset="0"/>
                <a:ea typeface="Cambria" pitchFamily="34" charset="-122"/>
                <a:cs typeface="Cambria" pitchFamily="34" charset="-120"/>
              </a:rPr>
              <a:t>Ισχυρές εξαγωγές, ευάλωτη παραγωγή</a:t>
            </a:r>
            <a:endParaRPr lang="en-US" sz="3000" dirty="0"/>
          </a:p>
        </p:txBody>
      </p:sp>
      <p:sp>
        <p:nvSpPr>
          <p:cNvPr id="4" name="Shape 2"/>
          <p:cNvSpPr/>
          <p:nvPr/>
        </p:nvSpPr>
        <p:spPr>
          <a:xfrm>
            <a:off x="594360" y="1874520"/>
            <a:ext cx="3484778" cy="2514600"/>
          </a:xfrm>
          <a:prstGeom prst="roundRect">
            <a:avLst>
              <a:gd name="adj" fmla="val 3636"/>
            </a:avLst>
          </a:prstGeom>
          <a:solidFill>
            <a:srgbClr val="F5EFF1"/>
          </a:solidFill>
          <a:ln w="9525">
            <a:solidFill>
              <a:srgbClr val="E5D9DE"/>
            </a:solidFill>
            <a:prstDash val="solid"/>
          </a:ln>
        </p:spPr>
      </p:sp>
      <p:sp>
        <p:nvSpPr>
          <p:cNvPr id="5" name="Text 3"/>
          <p:cNvSpPr txBox="1"/>
          <p:nvPr/>
        </p:nvSpPr>
        <p:spPr>
          <a:xfrm>
            <a:off x="777240" y="2148840"/>
            <a:ext cx="3119018" cy="960120"/>
          </a:xfrm>
          <a:prstGeom prst="rect">
            <a:avLst/>
          </a:prstGeom>
          <a:noFill/>
          <a:ln/>
        </p:spPr>
        <p:txBody>
          <a:bodyPr wrap="square" lIns="0" tIns="0" rIns="0" bIns="0" rtlCol="0" anchor="ctr"/>
          <a:lstStyle/>
          <a:p>
            <a:pPr algn="ctr" indent="0" marL="0">
              <a:buNone/>
            </a:pPr>
            <a:r>
              <a:rPr lang="en-US" sz="3800" b="1" dirty="0">
                <a:solidFill>
                  <a:srgbClr val="6B2A44"/>
                </a:solidFill>
                <a:latin typeface="Cambria" pitchFamily="34" charset="0"/>
                <a:ea typeface="Cambria" pitchFamily="34" charset="-122"/>
                <a:cs typeface="Cambria" pitchFamily="34" charset="-120"/>
              </a:rPr>
              <a:t>Top 5</a:t>
            </a:r>
            <a:endParaRPr lang="en-US" sz="3800" dirty="0"/>
          </a:p>
        </p:txBody>
      </p:sp>
      <p:sp>
        <p:nvSpPr>
          <p:cNvPr id="6" name="Text 4"/>
          <p:cNvSpPr txBox="1"/>
          <p:nvPr/>
        </p:nvSpPr>
        <p:spPr>
          <a:xfrm>
            <a:off x="795528" y="3154680"/>
            <a:ext cx="3082442" cy="1051560"/>
          </a:xfrm>
          <a:prstGeom prst="rect">
            <a:avLst/>
          </a:prstGeom>
          <a:noFill/>
          <a:ln/>
        </p:spPr>
        <p:txBody>
          <a:bodyPr wrap="square" lIns="0" tIns="0" rIns="0" bIns="0" rtlCol="0" anchor="t"/>
          <a:lstStyle/>
          <a:p>
            <a:pPr algn="ctr" indent="0" marL="0">
              <a:lnSpc>
                <a:spcPct val="118000"/>
              </a:lnSpc>
              <a:buNone/>
            </a:pPr>
            <a:r>
              <a:rPr lang="en-US" sz="1250" dirty="0">
                <a:solidFill>
                  <a:srgbClr val="3F3138"/>
                </a:solidFill>
                <a:latin typeface="Calibri" pitchFamily="34" charset="0"/>
                <a:ea typeface="Calibri" pitchFamily="34" charset="-122"/>
                <a:cs typeface="Calibri" pitchFamily="34" charset="-120"/>
              </a:rPr>
              <a:t>παραγωγοί ελαιολάδου στον κόσμο</a:t>
            </a:r>
            <a:endParaRPr lang="en-US" sz="1250" dirty="0"/>
          </a:p>
        </p:txBody>
      </p:sp>
      <p:sp>
        <p:nvSpPr>
          <p:cNvPr id="7" name="Shape 5"/>
          <p:cNvSpPr/>
          <p:nvPr/>
        </p:nvSpPr>
        <p:spPr>
          <a:xfrm>
            <a:off x="4353458" y="1874520"/>
            <a:ext cx="3484778" cy="2514600"/>
          </a:xfrm>
          <a:prstGeom prst="roundRect">
            <a:avLst>
              <a:gd name="adj" fmla="val 3636"/>
            </a:avLst>
          </a:prstGeom>
          <a:solidFill>
            <a:srgbClr val="F5EFF1"/>
          </a:solidFill>
          <a:ln w="9525">
            <a:solidFill>
              <a:srgbClr val="E5D9DE"/>
            </a:solidFill>
            <a:prstDash val="solid"/>
          </a:ln>
        </p:spPr>
      </p:sp>
      <p:sp>
        <p:nvSpPr>
          <p:cNvPr id="8" name="Text 6"/>
          <p:cNvSpPr txBox="1"/>
          <p:nvPr/>
        </p:nvSpPr>
        <p:spPr>
          <a:xfrm>
            <a:off x="4536338" y="2148840"/>
            <a:ext cx="3119018" cy="960120"/>
          </a:xfrm>
          <a:prstGeom prst="rect">
            <a:avLst/>
          </a:prstGeom>
          <a:noFill/>
          <a:ln/>
        </p:spPr>
        <p:txBody>
          <a:bodyPr wrap="square" lIns="0" tIns="0" rIns="0" bIns="0" rtlCol="0" anchor="ctr"/>
          <a:lstStyle/>
          <a:p>
            <a:pPr algn="ctr" indent="0" marL="0">
              <a:buNone/>
            </a:pPr>
            <a:r>
              <a:rPr lang="en-US" sz="3000" b="1" dirty="0">
                <a:solidFill>
                  <a:srgbClr val="6B2A44"/>
                </a:solidFill>
                <a:latin typeface="Cambria" pitchFamily="34" charset="0"/>
                <a:ea typeface="Cambria" pitchFamily="34" charset="-122"/>
                <a:cs typeface="Cambria" pitchFamily="34" charset="-120"/>
              </a:rPr>
              <a:t>≈ 8 δισ. €</a:t>
            </a:r>
            <a:endParaRPr lang="en-US" sz="3000" dirty="0"/>
          </a:p>
        </p:txBody>
      </p:sp>
      <p:sp>
        <p:nvSpPr>
          <p:cNvPr id="9" name="Text 7"/>
          <p:cNvSpPr txBox="1"/>
          <p:nvPr/>
        </p:nvSpPr>
        <p:spPr>
          <a:xfrm>
            <a:off x="4554626" y="3154680"/>
            <a:ext cx="3082442" cy="1051560"/>
          </a:xfrm>
          <a:prstGeom prst="rect">
            <a:avLst/>
          </a:prstGeom>
          <a:noFill/>
          <a:ln/>
        </p:spPr>
        <p:txBody>
          <a:bodyPr wrap="square" lIns="0" tIns="0" rIns="0" bIns="0" rtlCol="0" anchor="t"/>
          <a:lstStyle/>
          <a:p>
            <a:pPr algn="ctr" indent="0" marL="0">
              <a:lnSpc>
                <a:spcPct val="118000"/>
              </a:lnSpc>
              <a:buNone/>
            </a:pPr>
            <a:r>
              <a:rPr lang="en-US" sz="1250" dirty="0">
                <a:solidFill>
                  <a:srgbClr val="3F3138"/>
                </a:solidFill>
                <a:latin typeface="Calibri" pitchFamily="34" charset="0"/>
                <a:ea typeface="Calibri" pitchFamily="34" charset="-122"/>
                <a:cs typeface="Calibri" pitchFamily="34" charset="-120"/>
              </a:rPr>
              <a:t>εξαγωγές αγροτικών προϊόντων και τροφίμων τον χρόνο</a:t>
            </a:r>
            <a:endParaRPr lang="en-US" sz="1250" dirty="0"/>
          </a:p>
        </p:txBody>
      </p:sp>
      <p:sp>
        <p:nvSpPr>
          <p:cNvPr id="10" name="Shape 8"/>
          <p:cNvSpPr/>
          <p:nvPr/>
        </p:nvSpPr>
        <p:spPr>
          <a:xfrm>
            <a:off x="8112557" y="1874520"/>
            <a:ext cx="3484778" cy="2514600"/>
          </a:xfrm>
          <a:prstGeom prst="roundRect">
            <a:avLst>
              <a:gd name="adj" fmla="val 3636"/>
            </a:avLst>
          </a:prstGeom>
          <a:solidFill>
            <a:srgbClr val="F5EFF1"/>
          </a:solidFill>
          <a:ln w="9525">
            <a:solidFill>
              <a:srgbClr val="E5D9DE"/>
            </a:solidFill>
            <a:prstDash val="solid"/>
          </a:ln>
        </p:spPr>
      </p:sp>
      <p:sp>
        <p:nvSpPr>
          <p:cNvPr id="11" name="Text 9"/>
          <p:cNvSpPr txBox="1"/>
          <p:nvPr/>
        </p:nvSpPr>
        <p:spPr>
          <a:xfrm>
            <a:off x="8295437" y="2148840"/>
            <a:ext cx="3119018" cy="960120"/>
          </a:xfrm>
          <a:prstGeom prst="rect">
            <a:avLst/>
          </a:prstGeom>
          <a:noFill/>
          <a:ln/>
        </p:spPr>
        <p:txBody>
          <a:bodyPr wrap="square" lIns="0" tIns="0" rIns="0" bIns="0" rtlCol="0" anchor="ctr"/>
          <a:lstStyle/>
          <a:p>
            <a:pPr algn="ctr" indent="0" marL="0">
              <a:buNone/>
            </a:pPr>
            <a:r>
              <a:rPr lang="en-US" sz="3000" b="1" dirty="0">
                <a:solidFill>
                  <a:srgbClr val="6B2A44"/>
                </a:solidFill>
                <a:latin typeface="Cambria" pitchFamily="34" charset="0"/>
                <a:ea typeface="Cambria" pitchFamily="34" charset="-122"/>
                <a:cs typeface="Cambria" pitchFamily="34" charset="-120"/>
              </a:rPr>
              <a:t>≈ 530 χιλ.</a:t>
            </a:r>
            <a:endParaRPr lang="en-US" sz="3000" dirty="0"/>
          </a:p>
        </p:txBody>
      </p:sp>
      <p:sp>
        <p:nvSpPr>
          <p:cNvPr id="12" name="Text 10"/>
          <p:cNvSpPr txBox="1"/>
          <p:nvPr/>
        </p:nvSpPr>
        <p:spPr>
          <a:xfrm>
            <a:off x="8313725" y="3154680"/>
            <a:ext cx="3082442" cy="1051560"/>
          </a:xfrm>
          <a:prstGeom prst="rect">
            <a:avLst/>
          </a:prstGeom>
          <a:noFill/>
          <a:ln/>
        </p:spPr>
        <p:txBody>
          <a:bodyPr wrap="square" lIns="0" tIns="0" rIns="0" bIns="0" rtlCol="0" anchor="t"/>
          <a:lstStyle/>
          <a:p>
            <a:pPr algn="ctr" indent="0" marL="0">
              <a:lnSpc>
                <a:spcPct val="118000"/>
              </a:lnSpc>
              <a:buNone/>
            </a:pPr>
            <a:r>
              <a:rPr lang="en-US" sz="1250" dirty="0">
                <a:solidFill>
                  <a:srgbClr val="3F3138"/>
                </a:solidFill>
                <a:latin typeface="Calibri" pitchFamily="34" charset="0"/>
                <a:ea typeface="Calibri" pitchFamily="34" charset="-122"/>
                <a:cs typeface="Calibri" pitchFamily="34" charset="-120"/>
              </a:rPr>
              <a:t>γεωργικές εκμεταλλεύσεις, με μέσο μέγεθος κάτω από 7 ha</a:t>
            </a:r>
            <a:endParaRPr lang="en-US" sz="1250" dirty="0"/>
          </a:p>
        </p:txBody>
      </p:sp>
      <p:sp>
        <p:nvSpPr>
          <p:cNvPr id="13" name="Text 11"/>
          <p:cNvSpPr txBox="1"/>
          <p:nvPr/>
        </p:nvSpPr>
        <p:spPr>
          <a:xfrm>
            <a:off x="594360" y="4709160"/>
            <a:ext cx="11002975" cy="1097280"/>
          </a:xfrm>
          <a:prstGeom prst="rect">
            <a:avLst/>
          </a:prstGeom>
          <a:noFill/>
          <a:ln/>
        </p:spPr>
        <p:txBody>
          <a:bodyPr wrap="square" lIns="0" tIns="0" rIns="0" bIns="0" rtlCol="0" anchor="t"/>
          <a:lstStyle/>
          <a:p>
            <a:pPr algn="l" indent="0" marL="0">
              <a:lnSpc>
                <a:spcPct val="130000"/>
              </a:lnSpc>
              <a:buNone/>
            </a:pPr>
            <a:r>
              <a:rPr lang="en-US" sz="1350" dirty="0">
                <a:solidFill>
                  <a:srgbClr val="3F3138"/>
                </a:solidFill>
                <a:latin typeface="Calibri" pitchFamily="34" charset="0"/>
                <a:ea typeface="Calibri" pitchFamily="34" charset="-122"/>
                <a:cs typeface="Calibri" pitchFamily="34" charset="-120"/>
              </a:rPr>
              <a:t>Οι εξαγωγές στηρίζονται στο ελαιόλαδο, τις επιτραπέζιες ελιές, τη φέτα, τα φρούτα και το βαμβάκι. Η Κοινή Αγροτική Πολιτική χρηματοδοτεί εκσυγχρονισμό και εξοικονόμηση νερού, αλλά οι μικρές εκμεταλλεύσεις επενδύουν μόνο όταν το όφελος μετριέται στο χωράφι.</a:t>
            </a:r>
            <a:endParaRPr lang="en-US" sz="1350" dirty="0"/>
          </a:p>
        </p:txBody>
      </p:sp>
      <p:sp>
        <p:nvSpPr>
          <p:cNvPr id="14" name="Text 12"/>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7C6B73">
                    <a:alpha val="80000"/>
                  </a:srgbClr>
                </a:solidFill>
                <a:latin typeface="Calibri" pitchFamily="34" charset="0"/>
                <a:ea typeface="Calibri" pitchFamily="34" charset="-122"/>
                <a:cs typeface="Calibri" pitchFamily="34" charset="-120"/>
              </a:rPr>
              <a:t>Green Solutions · Μελέτη αγοράς Ελλάδα</a:t>
            </a:r>
            <a:endParaRPr lang="en-US" sz="950" dirty="0"/>
          </a:p>
        </p:txBody>
      </p:sp>
      <p:sp>
        <p:nvSpPr>
          <p:cNvPr id="15" name="Text 13"/>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7C6B73">
                    <a:alpha val="80000"/>
                  </a:srgbClr>
                </a:solidFill>
                <a:latin typeface="Calibri" pitchFamily="34" charset="0"/>
                <a:ea typeface="Calibri" pitchFamily="34" charset="-122"/>
                <a:cs typeface="Calibri" pitchFamily="34" charset="-120"/>
              </a:rPr>
              <a:t>5</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CFAFA"/>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algn="l" indent="0" marL="0">
              <a:buNone/>
            </a:pPr>
            <a:r>
              <a:rPr lang="en-US" sz="1150" b="1" spc="200" kern="0" dirty="0">
                <a:solidFill>
                  <a:srgbClr val="C9A227"/>
                </a:solidFill>
                <a:latin typeface="Calibri" pitchFamily="34" charset="0"/>
                <a:ea typeface="Calibri" pitchFamily="34" charset="-122"/>
                <a:cs typeface="Calibri" pitchFamily="34" charset="-120"/>
              </a:rPr>
              <a:t>ΟΙ ΚΑΛΛΙΕΡΓΕΙΕΣ</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algn="l" indent="0" marL="0">
              <a:buNone/>
            </a:pPr>
            <a:r>
              <a:rPr lang="en-US" sz="3000" b="1" dirty="0">
                <a:solidFill>
                  <a:srgbClr val="3F162A"/>
                </a:solidFill>
                <a:latin typeface="Cambria" pitchFamily="34" charset="0"/>
                <a:ea typeface="Cambria" pitchFamily="34" charset="-122"/>
                <a:cs typeface="Cambria" pitchFamily="34" charset="-120"/>
              </a:rPr>
              <a:t>Τέσσερις καλλιέργειες κρατούν τον όγκο και την αξία</a:t>
            </a:r>
            <a:endParaRPr lang="en-US" sz="3000" dirty="0"/>
          </a:p>
        </p:txBody>
      </p:sp>
      <p:graphicFrame>
        <p:nvGraphicFramePr>
          <p:cNvPr id="4" name="Chart 0" descr=""/>
          <p:cNvGraphicFramePr/>
          <p:nvPr/>
        </p:nvGraphicFramePr>
        <p:xfrm>
          <a:off x="594360" y="1783080"/>
          <a:ext cx="7360920" cy="39776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8275320" y="1783080"/>
            <a:ext cx="3291840" cy="3977640"/>
          </a:xfrm>
          <a:prstGeom prst="roundRect">
            <a:avLst>
              <a:gd name="adj" fmla="val 2778"/>
            </a:avLst>
          </a:prstGeom>
          <a:solidFill>
            <a:srgbClr val="F5EFF1"/>
          </a:solidFill>
          <a:ln w="9525">
            <a:solidFill>
              <a:srgbClr val="E5D9DE"/>
            </a:solidFill>
            <a:prstDash val="solid"/>
          </a:ln>
        </p:spPr>
      </p:sp>
      <p:sp>
        <p:nvSpPr>
          <p:cNvPr id="6" name="Text 3"/>
          <p:cNvSpPr txBox="1"/>
          <p:nvPr/>
        </p:nvSpPr>
        <p:spPr>
          <a:xfrm>
            <a:off x="8503920" y="2011680"/>
            <a:ext cx="2834640" cy="457200"/>
          </a:xfrm>
          <a:prstGeom prst="rect">
            <a:avLst/>
          </a:prstGeom>
          <a:noFill/>
          <a:ln/>
        </p:spPr>
        <p:txBody>
          <a:bodyPr wrap="square" lIns="0" tIns="0" rIns="0" bIns="0" rtlCol="0" anchor="ctr"/>
          <a:lstStyle/>
          <a:p>
            <a:pPr algn="l" indent="0" marL="0">
              <a:buNone/>
            </a:pPr>
            <a:r>
              <a:rPr lang="en-US" sz="1300" b="1" dirty="0">
                <a:solidFill>
                  <a:srgbClr val="6B2A44"/>
                </a:solidFill>
                <a:latin typeface="Cambria" pitchFamily="34" charset="0"/>
                <a:ea typeface="Cambria" pitchFamily="34" charset="-122"/>
                <a:cs typeface="Cambria" pitchFamily="34" charset="-120"/>
              </a:rPr>
              <a:t>Ανάγνωση</a:t>
            </a:r>
            <a:endParaRPr lang="en-US" sz="1300" dirty="0"/>
          </a:p>
        </p:txBody>
      </p:sp>
      <p:sp>
        <p:nvSpPr>
          <p:cNvPr id="7" name="Text 4"/>
          <p:cNvSpPr txBox="1"/>
          <p:nvPr/>
        </p:nvSpPr>
        <p:spPr>
          <a:xfrm>
            <a:off x="8503920" y="2560320"/>
            <a:ext cx="2834640" cy="3017520"/>
          </a:xfrm>
          <a:prstGeom prst="rect">
            <a:avLst/>
          </a:prstGeom>
          <a:noFill/>
          <a:ln/>
        </p:spPr>
        <p:txBody>
          <a:bodyPr wrap="square" lIns="0" tIns="0" rIns="0" bIns="0" rtlCol="0" anchor="t"/>
          <a:lstStyle/>
          <a:p>
            <a:pPr algn="l" indent="0" marL="0">
              <a:lnSpc>
                <a:spcPct val="125000"/>
              </a:lnSpc>
              <a:buNone/>
            </a:pPr>
            <a:r>
              <a:rPr lang="en-US" sz="1200" dirty="0">
                <a:solidFill>
                  <a:srgbClr val="3F3138"/>
                </a:solidFill>
                <a:latin typeface="Calibri" pitchFamily="34" charset="0"/>
                <a:ea typeface="Calibri" pitchFamily="34" charset="-122"/>
                <a:cs typeface="Calibri" pitchFamily="34" charset="-120"/>
              </a:rPr>
              <a:t>Η ελιά κυριαρχεί σε έκταση και αξία, από την Κρήτη ως την Πελοπόννησο και τα Ιόνια νησιά.</a:t>
            </a:r>
            <a:endParaRPr lang="en-US" sz="1200" dirty="0"/>
          </a:p>
          <a:p>
            <a:pPr algn="l" indent="0" marL="0">
              <a:lnSpc>
                <a:spcPct val="125000"/>
              </a:lnSpc>
              <a:buNone/>
            </a:pPr>
            <a:endParaRPr lang="en-US" sz="1200" dirty="0"/>
          </a:p>
          <a:p>
            <a:pPr algn="l" indent="0" marL="0">
              <a:lnSpc>
                <a:spcPct val="125000"/>
              </a:lnSpc>
              <a:buNone/>
            </a:pPr>
            <a:r>
              <a:rPr lang="en-US" sz="1200" dirty="0">
                <a:solidFill>
                  <a:srgbClr val="3F3138"/>
                </a:solidFill>
                <a:latin typeface="Calibri" pitchFamily="34" charset="0"/>
                <a:ea typeface="Calibri" pitchFamily="34" charset="-122"/>
                <a:cs typeface="Calibri" pitchFamily="34" charset="-120"/>
              </a:rPr>
              <a:t>* Η παραγωγή ελιάς αλλάζει έντονα από χρονιά σε χρονιά, με τον καιρό και την παρενιαυτοφορία. Στρογγυλεμένες τιμές.</a:t>
            </a:r>
            <a:endParaRPr lang="en-US" sz="1200" dirty="0"/>
          </a:p>
        </p:txBody>
      </p:sp>
      <p:sp>
        <p:nvSpPr>
          <p:cNvPr id="8" name="Text 5"/>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7C6B73">
                    <a:alpha val="80000"/>
                  </a:srgbClr>
                </a:solidFill>
                <a:latin typeface="Calibri" pitchFamily="34" charset="0"/>
                <a:ea typeface="Calibri" pitchFamily="34" charset="-122"/>
                <a:cs typeface="Calibri" pitchFamily="34" charset="-120"/>
              </a:rPr>
              <a:t>Green Solutions · Μελέτη αγοράς Ελλάδα</a:t>
            </a:r>
            <a:endParaRPr lang="en-US" sz="950" dirty="0"/>
          </a:p>
        </p:txBody>
      </p:sp>
      <p:sp>
        <p:nvSpPr>
          <p:cNvPr id="9" name="Text 6"/>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7C6B73">
                    <a:alpha val="80000"/>
                  </a:srgbClr>
                </a:solidFill>
                <a:latin typeface="Calibri" pitchFamily="34" charset="0"/>
                <a:ea typeface="Calibri" pitchFamily="34" charset="-122"/>
                <a:cs typeface="Calibri" pitchFamily="34" charset="-120"/>
              </a:rPr>
              <a:t>6</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CFAFA"/>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algn="l" indent="0" marL="0">
              <a:buNone/>
            </a:pPr>
            <a:r>
              <a:rPr lang="en-US" sz="1150" b="1" spc="200" kern="0" dirty="0">
                <a:solidFill>
                  <a:srgbClr val="C9A227"/>
                </a:solidFill>
                <a:latin typeface="Calibri" pitchFamily="34" charset="0"/>
                <a:ea typeface="Calibri" pitchFamily="34" charset="-122"/>
                <a:cs typeface="Calibri" pitchFamily="34" charset="-120"/>
              </a:rPr>
              <a:t>ΚΥΡΙΟΣ ΤΟΜΕΑΣ</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algn="l" indent="0" marL="0">
              <a:buNone/>
            </a:pPr>
            <a:r>
              <a:rPr lang="en-US" sz="3000" b="1" dirty="0">
                <a:solidFill>
                  <a:srgbClr val="3F162A"/>
                </a:solidFill>
                <a:latin typeface="Cambria" pitchFamily="34" charset="0"/>
                <a:ea typeface="Cambria" pitchFamily="34" charset="-122"/>
                <a:cs typeface="Cambria" pitchFamily="34" charset="-120"/>
              </a:rPr>
              <a:t>Ελαιόλαδο: υψηλή αξία, όλο και πιο ευάλωτη σοδειά</a:t>
            </a:r>
            <a:endParaRPr lang="en-US" sz="3000" dirty="0"/>
          </a:p>
        </p:txBody>
      </p:sp>
      <p:pic>
        <p:nvPicPr>
          <p:cNvPr id="4" name="Image 0" descr="preencoded.png">    </p:cNvPr>
          <p:cNvPicPr>
            <a:picLocks noChangeAspect="1"/>
          </p:cNvPicPr>
          <p:nvPr/>
        </p:nvPicPr>
        <p:blipFill>
          <a:blip r:embed="rId1"/>
          <a:stretch>
            <a:fillRect/>
          </a:stretch>
        </p:blipFill>
        <p:spPr>
          <a:xfrm>
            <a:off x="6522415" y="1783080"/>
            <a:ext cx="5074920" cy="3794760"/>
          </a:xfrm>
          <a:prstGeom prst="rect">
            <a:avLst/>
          </a:prstGeom>
        </p:spPr>
      </p:pic>
      <p:sp>
        <p:nvSpPr>
          <p:cNvPr id="5" name="Text 2"/>
          <p:cNvSpPr txBox="1"/>
          <p:nvPr/>
        </p:nvSpPr>
        <p:spPr>
          <a:xfrm>
            <a:off x="594360" y="1783080"/>
            <a:ext cx="5379415" cy="4251960"/>
          </a:xfrm>
          <a:prstGeom prst="rect">
            <a:avLst/>
          </a:prstGeom>
          <a:noFill/>
          <a:ln/>
        </p:spPr>
        <p:txBody>
          <a:bodyPr wrap="square" lIns="0" tIns="0" rIns="0" bIns="0" rtlCol="0" anchor="t"/>
          <a:lstStyle/>
          <a:p>
            <a:pPr algn="l" marL="342900" indent="-342900">
              <a:lnSpc>
                <a:spcPct val="122000"/>
              </a:lnSpc>
              <a:spcAft>
                <a:spcPts val="1100"/>
              </a:spcAft>
              <a:buSzPct val="100000"/>
              <a:buChar char="•"/>
            </a:pPr>
            <a:r>
              <a:rPr lang="en-US" sz="1400" dirty="0">
                <a:solidFill>
                  <a:srgbClr val="3F3138"/>
                </a:solidFill>
                <a:latin typeface="Calibri" pitchFamily="34" charset="0"/>
                <a:ea typeface="Calibri" pitchFamily="34" charset="-122"/>
                <a:cs typeface="Calibri" pitchFamily="34" charset="-120"/>
              </a:rPr>
              <a:t>Οι ελαιώνες καλύπτουν μεγάλο μέρος της γεωργικής γης, από την Κρήτη και την Πελοπόννησο ως τα Ιόνια νησιά.</a:t>
            </a:r>
            <a:endParaRPr lang="en-US" sz="1400" dirty="0"/>
          </a:p>
          <a:p>
            <a:pPr algn="l" marL="342900" indent="-342900">
              <a:lnSpc>
                <a:spcPct val="122000"/>
              </a:lnSpc>
              <a:spcAft>
                <a:spcPts val="1100"/>
              </a:spcAft>
              <a:buSzPct val="100000"/>
              <a:buChar char="•"/>
            </a:pPr>
            <a:r>
              <a:rPr lang="en-US" sz="1400" dirty="0">
                <a:solidFill>
                  <a:srgbClr val="3F3138"/>
                </a:solidFill>
                <a:latin typeface="Calibri" pitchFamily="34" charset="0"/>
                <a:ea typeface="Calibri" pitchFamily="34" charset="-122"/>
                <a:cs typeface="Calibri" pitchFamily="34" charset="-120"/>
              </a:rPr>
              <a:t>Οι περισσότεροι παραδοσιακοί ελαιώνες δεν αρδεύονται: ένας ξηρός χειμώνας και ένας ανοιξιάτικος καύσωνας μειώνουν την ανθοφορία και την καρπόδεση.</a:t>
            </a:r>
            <a:endParaRPr lang="en-US" sz="1400" dirty="0"/>
          </a:p>
          <a:p>
            <a:pPr algn="l" marL="342900" indent="-342900">
              <a:lnSpc>
                <a:spcPct val="122000"/>
              </a:lnSpc>
              <a:spcAft>
                <a:spcPts val="1100"/>
              </a:spcAft>
              <a:buSzPct val="100000"/>
              <a:buChar char="•"/>
            </a:pPr>
            <a:r>
              <a:rPr lang="en-US" sz="1400" dirty="0">
                <a:solidFill>
                  <a:srgbClr val="3F3138"/>
                </a:solidFill>
                <a:latin typeface="Calibri" pitchFamily="34" charset="0"/>
                <a:ea typeface="Calibri" pitchFamily="34" charset="-122"/>
                <a:cs typeface="Calibri" pitchFamily="34" charset="-120"/>
              </a:rPr>
              <a:t>Οι τιμές του ελαιολάδου έφτασαν σε ιστορικά υψηλά μετά τις κακές σοδειές στη Μεσόγειο το 2022–2024.</a:t>
            </a:r>
            <a:endParaRPr lang="en-US" sz="1400" dirty="0"/>
          </a:p>
          <a:p>
            <a:pPr algn="l" marL="342900" indent="-342900">
              <a:lnSpc>
                <a:spcPct val="122000"/>
              </a:lnSpc>
              <a:spcAft>
                <a:spcPts val="1100"/>
              </a:spcAft>
              <a:buSzPct val="100000"/>
              <a:buChar char="•"/>
            </a:pPr>
            <a:r>
              <a:rPr lang="en-US" sz="1400" dirty="0">
                <a:solidFill>
                  <a:srgbClr val="3F3138"/>
                </a:solidFill>
                <a:latin typeface="Calibri" pitchFamily="34" charset="0"/>
                <a:ea typeface="Calibri" pitchFamily="34" charset="-122"/>
                <a:cs typeface="Calibri" pitchFamily="34" charset="-120"/>
              </a:rPr>
              <a:t>Οι νέοι πυκνοί ελαιώνες αρδεύονται με στάγδην και εξαρτώνται από νερό που σπανίζει όλο και περισσότερο.</a:t>
            </a:r>
            <a:endParaRPr lang="en-US" sz="1400" dirty="0"/>
          </a:p>
          <a:p>
            <a:pPr algn="l" marL="342900" indent="-342900">
              <a:lnSpc>
                <a:spcPct val="122000"/>
              </a:lnSpc>
              <a:spcAft>
                <a:spcPts val="1100"/>
              </a:spcAft>
              <a:buSzPct val="100000"/>
              <a:buChar char="•"/>
            </a:pPr>
            <a:r>
              <a:rPr lang="en-US" sz="1400" dirty="0">
                <a:solidFill>
                  <a:srgbClr val="3F3138"/>
                </a:solidFill>
                <a:latin typeface="Calibri" pitchFamily="34" charset="0"/>
                <a:ea typeface="Calibri" pitchFamily="34" charset="-122"/>
                <a:cs typeface="Calibri" pitchFamily="34" charset="-120"/>
              </a:rPr>
              <a:t>Το EVERGREEN® στη φύτευση ή στη γραμμή στάγδην κρατά το νερό στη ζώνη των ριζών ανάμεσα στις αρδεύσεις.</a:t>
            </a:r>
            <a:endParaRPr lang="en-US" sz="1400" dirty="0"/>
          </a:p>
        </p:txBody>
      </p:sp>
      <p:sp>
        <p:nvSpPr>
          <p:cNvPr id="6" name="Text 3"/>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7C6B73">
                    <a:alpha val="80000"/>
                  </a:srgbClr>
                </a:solidFill>
                <a:latin typeface="Calibri" pitchFamily="34" charset="0"/>
                <a:ea typeface="Calibri" pitchFamily="34" charset="-122"/>
                <a:cs typeface="Calibri" pitchFamily="34" charset="-120"/>
              </a:rPr>
              <a:t>Green Solutions · Μελέτη αγοράς Ελλάδα</a:t>
            </a:r>
            <a:endParaRPr lang="en-US" sz="950" dirty="0"/>
          </a:p>
        </p:txBody>
      </p:sp>
      <p:sp>
        <p:nvSpPr>
          <p:cNvPr id="7" name="Text 4"/>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7C6B73">
                    <a:alpha val="80000"/>
                  </a:srgbClr>
                </a:solidFill>
                <a:latin typeface="Calibri" pitchFamily="34" charset="0"/>
                <a:ea typeface="Calibri" pitchFamily="34" charset="-122"/>
                <a:cs typeface="Calibri" pitchFamily="34" charset="-120"/>
              </a:rPr>
              <a:t>7</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CFAFA"/>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algn="l" indent="0" marL="0">
              <a:buNone/>
            </a:pPr>
            <a:r>
              <a:rPr lang="en-US" sz="1150" b="1" spc="200" kern="0" dirty="0">
                <a:solidFill>
                  <a:srgbClr val="C9A227"/>
                </a:solidFill>
                <a:latin typeface="Calibri" pitchFamily="34" charset="0"/>
                <a:ea typeface="Calibri" pitchFamily="34" charset="-122"/>
                <a:cs typeface="Calibri" pitchFamily="34" charset="-120"/>
              </a:rPr>
              <a:t>Η ΑΠΑΝΤΗΣΗ ΜΑΣ</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algn="l" indent="0" marL="0">
              <a:buNone/>
            </a:pPr>
            <a:r>
              <a:rPr lang="en-US" sz="3000" b="1" dirty="0">
                <a:solidFill>
                  <a:srgbClr val="3F162A"/>
                </a:solidFill>
                <a:latin typeface="Cambria" pitchFamily="34" charset="0"/>
                <a:ea typeface="Cambria" pitchFamily="34" charset="-122"/>
                <a:cs typeface="Cambria" pitchFamily="34" charset="-120"/>
              </a:rPr>
              <a:t>Δύο τεχνολογίες για δύο διαφορετικούς περιορισμούς</a:t>
            </a:r>
            <a:endParaRPr lang="en-US" sz="3000" dirty="0"/>
          </a:p>
        </p:txBody>
      </p:sp>
      <p:sp>
        <p:nvSpPr>
          <p:cNvPr id="4" name="Text 2"/>
          <p:cNvSpPr txBox="1"/>
          <p:nvPr/>
        </p:nvSpPr>
        <p:spPr>
          <a:xfrm>
            <a:off x="594360" y="1783080"/>
            <a:ext cx="5227168" cy="411480"/>
          </a:xfrm>
          <a:prstGeom prst="rect">
            <a:avLst/>
          </a:prstGeom>
          <a:noFill/>
          <a:ln/>
        </p:spPr>
        <p:txBody>
          <a:bodyPr wrap="square" lIns="0" tIns="0" rIns="0" bIns="0" rtlCol="0" anchor="ctr"/>
          <a:lstStyle/>
          <a:p>
            <a:pPr algn="l" indent="0" marL="0">
              <a:buNone/>
            </a:pPr>
            <a:r>
              <a:rPr lang="en-US" sz="1600" b="1" dirty="0">
                <a:solidFill>
                  <a:srgbClr val="6B2A44"/>
                </a:solidFill>
                <a:latin typeface="Cambria" pitchFamily="34" charset="0"/>
                <a:ea typeface="Cambria" pitchFamily="34" charset="-122"/>
                <a:cs typeface="Cambria" pitchFamily="34" charset="-120"/>
              </a:rPr>
              <a:t>EVERGREEN® — συγκράτηση νερού</a:t>
            </a:r>
            <a:endParaRPr lang="en-US" sz="1600" dirty="0"/>
          </a:p>
        </p:txBody>
      </p:sp>
      <p:sp>
        <p:nvSpPr>
          <p:cNvPr id="5" name="Text 3"/>
          <p:cNvSpPr txBox="1"/>
          <p:nvPr/>
        </p:nvSpPr>
        <p:spPr>
          <a:xfrm>
            <a:off x="594360" y="2286000"/>
            <a:ext cx="5227168" cy="2468880"/>
          </a:xfrm>
          <a:prstGeom prst="rect">
            <a:avLst/>
          </a:prstGeom>
          <a:noFill/>
          <a:ln/>
        </p:spPr>
        <p:txBody>
          <a:bodyPr wrap="square" lIns="0" tIns="0" rIns="0" bIns="0" rtlCol="0" anchor="t"/>
          <a:lstStyle/>
          <a:p>
            <a:pPr algn="l" marL="342900" indent="-342900">
              <a:lnSpc>
                <a:spcPct val="122000"/>
              </a:lnSpc>
              <a:spcAft>
                <a:spcPts val="1000"/>
              </a:spcAft>
              <a:buSzPct val="100000"/>
              <a:buChar char="•"/>
            </a:pPr>
            <a:r>
              <a:rPr lang="en-US" sz="1350" dirty="0">
                <a:solidFill>
                  <a:srgbClr val="3F3138"/>
                </a:solidFill>
                <a:latin typeface="Calibri" pitchFamily="34" charset="0"/>
                <a:ea typeface="Calibri" pitchFamily="34" charset="-122"/>
                <a:cs typeface="Calibri" pitchFamily="34" charset="-120"/>
              </a:rPr>
              <a:t>Υδροσυγκρατητής με βάση το κάλιο, που τοποθετείται στη ζώνη των ριζών κατά τη φύτευση ή την ανανέωση.</a:t>
            </a:r>
            <a:endParaRPr lang="en-US" sz="1350" dirty="0"/>
          </a:p>
          <a:p>
            <a:pPr algn="l" marL="342900" indent="-342900">
              <a:lnSpc>
                <a:spcPct val="122000"/>
              </a:lnSpc>
              <a:spcAft>
                <a:spcPts val="1000"/>
              </a:spcAft>
              <a:buSzPct val="100000"/>
              <a:buChar char="•"/>
            </a:pPr>
            <a:r>
              <a:rPr lang="en-US" sz="1350" dirty="0">
                <a:solidFill>
                  <a:srgbClr val="3F3138"/>
                </a:solidFill>
                <a:latin typeface="Calibri" pitchFamily="34" charset="0"/>
                <a:ea typeface="Calibri" pitchFamily="34" charset="-122"/>
                <a:cs typeface="Calibri" pitchFamily="34" charset="-120"/>
              </a:rPr>
              <a:t>Συγκρατεί το νερό της βροχής ή της άρδευσης και το αποδίδει σταδιακά, περιορίζοντας την υδατική καταπόνηση.</a:t>
            </a:r>
            <a:endParaRPr lang="en-US" sz="1350" dirty="0"/>
          </a:p>
          <a:p>
            <a:pPr algn="l" marL="342900" indent="-342900">
              <a:lnSpc>
                <a:spcPct val="122000"/>
              </a:lnSpc>
              <a:spcAft>
                <a:spcPts val="1000"/>
              </a:spcAft>
              <a:buSzPct val="100000"/>
              <a:buChar char="•"/>
            </a:pPr>
            <a:r>
              <a:rPr lang="en-US" sz="1350" dirty="0">
                <a:solidFill>
                  <a:srgbClr val="3F3138"/>
                </a:solidFill>
                <a:latin typeface="Calibri" pitchFamily="34" charset="0"/>
                <a:ea typeface="Calibri" pitchFamily="34" charset="-122"/>
                <a:cs typeface="Calibri" pitchFamily="34" charset="-120"/>
              </a:rPr>
              <a:t>Απορροφά περίπου 300 φορές το βάρος του· ωφέλιμη διάρκεια δράσης 3 έως 4 χρόνια στο έδαφος.</a:t>
            </a:r>
            <a:endParaRPr lang="en-US" sz="1350" dirty="0"/>
          </a:p>
          <a:p>
            <a:pPr algn="l" marL="342900" indent="-342900">
              <a:lnSpc>
                <a:spcPct val="122000"/>
              </a:lnSpc>
              <a:spcAft>
                <a:spcPts val="1000"/>
              </a:spcAft>
              <a:buSzPct val="100000"/>
              <a:buChar char="•"/>
            </a:pPr>
            <a:r>
              <a:rPr lang="en-US" sz="1350" dirty="0">
                <a:solidFill>
                  <a:srgbClr val="3F3138"/>
                </a:solidFill>
                <a:latin typeface="Calibri" pitchFamily="34" charset="0"/>
                <a:ea typeface="Calibri" pitchFamily="34" charset="-122"/>
                <a:cs typeface="Calibri" pitchFamily="34" charset="-120"/>
              </a:rPr>
              <a:t>Αποικοδομείται κατά 20 έως 25 % τον χρόνο, χωρίς συσσώρευση και χωρίς κίνδυνο υπερδοσολογίας.</a:t>
            </a:r>
            <a:endParaRPr lang="en-US" sz="1350" dirty="0"/>
          </a:p>
        </p:txBody>
      </p:sp>
      <p:sp>
        <p:nvSpPr>
          <p:cNvPr id="6" name="Text 4"/>
          <p:cNvSpPr txBox="1"/>
          <p:nvPr/>
        </p:nvSpPr>
        <p:spPr>
          <a:xfrm>
            <a:off x="6370168" y="1783080"/>
            <a:ext cx="5227168" cy="411480"/>
          </a:xfrm>
          <a:prstGeom prst="rect">
            <a:avLst/>
          </a:prstGeom>
          <a:noFill/>
          <a:ln/>
        </p:spPr>
        <p:txBody>
          <a:bodyPr wrap="square" lIns="0" tIns="0" rIns="0" bIns="0" rtlCol="0" anchor="ctr"/>
          <a:lstStyle/>
          <a:p>
            <a:pPr algn="l" indent="0" marL="0">
              <a:buNone/>
            </a:pPr>
            <a:r>
              <a:rPr lang="en-US" sz="1600" b="1" dirty="0">
                <a:solidFill>
                  <a:srgbClr val="6B2A44"/>
                </a:solidFill>
                <a:latin typeface="Cambria" pitchFamily="34" charset="0"/>
                <a:ea typeface="Cambria" pitchFamily="34" charset="-122"/>
                <a:cs typeface="Cambria" pitchFamily="34" charset="-120"/>
              </a:rPr>
              <a:t>ECOFERT® — θρέψη χωρίς εξάντληση</a:t>
            </a:r>
            <a:endParaRPr lang="en-US" sz="1600" dirty="0"/>
          </a:p>
        </p:txBody>
      </p:sp>
      <p:sp>
        <p:nvSpPr>
          <p:cNvPr id="7" name="Text 5"/>
          <p:cNvSpPr txBox="1"/>
          <p:nvPr/>
        </p:nvSpPr>
        <p:spPr>
          <a:xfrm>
            <a:off x="6370168" y="2286000"/>
            <a:ext cx="5227168" cy="2468880"/>
          </a:xfrm>
          <a:prstGeom prst="rect">
            <a:avLst/>
          </a:prstGeom>
          <a:noFill/>
          <a:ln/>
        </p:spPr>
        <p:txBody>
          <a:bodyPr wrap="square" lIns="0" tIns="0" rIns="0" bIns="0" rtlCol="0" anchor="t"/>
          <a:lstStyle/>
          <a:p>
            <a:pPr algn="l" marL="342900" indent="-342900">
              <a:lnSpc>
                <a:spcPct val="122000"/>
              </a:lnSpc>
              <a:spcAft>
                <a:spcPts val="1000"/>
              </a:spcAft>
              <a:buSzPct val="100000"/>
              <a:buChar char="•"/>
            </a:pPr>
            <a:r>
              <a:rPr lang="en-US" sz="1350" dirty="0">
                <a:solidFill>
                  <a:srgbClr val="3F3138"/>
                </a:solidFill>
                <a:latin typeface="Calibri" pitchFamily="34" charset="0"/>
                <a:ea typeface="Calibri" pitchFamily="34" charset="-122"/>
                <a:cs typeface="Calibri" pitchFamily="34" charset="-120"/>
              </a:rPr>
              <a:t>Λίπασμα σε μικροδόσεις αμινοξέων, αζώτου, φωσφόρου και καλίου, από ανανεώσιμες πηγές.</a:t>
            </a:r>
            <a:endParaRPr lang="en-US" sz="1350" dirty="0"/>
          </a:p>
          <a:p>
            <a:pPr algn="l" marL="342900" indent="-342900">
              <a:lnSpc>
                <a:spcPct val="122000"/>
              </a:lnSpc>
              <a:spcAft>
                <a:spcPts val="1000"/>
              </a:spcAft>
              <a:buSzPct val="100000"/>
              <a:buChar char="•"/>
            </a:pPr>
            <a:r>
              <a:rPr lang="en-US" sz="1350" dirty="0">
                <a:solidFill>
                  <a:srgbClr val="3F3138"/>
                </a:solidFill>
                <a:latin typeface="Calibri" pitchFamily="34" charset="0"/>
                <a:ea typeface="Calibri" pitchFamily="34" charset="-122"/>
                <a:cs typeface="Calibri" pitchFamily="34" charset="-120"/>
              </a:rPr>
              <a:t>Μη χηλικό: δεν εξαντλεί το αργιλοχουμικό σύμπλοκο και δεν αυξάνει την αλατότητα ούτε τα νιτρικά.</a:t>
            </a:r>
            <a:endParaRPr lang="en-US" sz="1350" dirty="0"/>
          </a:p>
          <a:p>
            <a:pPr algn="l" marL="342900" indent="-342900">
              <a:lnSpc>
                <a:spcPct val="122000"/>
              </a:lnSpc>
              <a:spcAft>
                <a:spcPts val="1000"/>
              </a:spcAft>
              <a:buSzPct val="100000"/>
              <a:buChar char="•"/>
            </a:pPr>
            <a:r>
              <a:rPr lang="en-US" sz="1350" dirty="0">
                <a:solidFill>
                  <a:srgbClr val="3F3138"/>
                </a:solidFill>
                <a:latin typeface="Calibri" pitchFamily="34" charset="0"/>
                <a:ea typeface="Calibri" pitchFamily="34" charset="-122"/>
                <a:cs typeface="Calibri" pitchFamily="34" charset="-120"/>
              </a:rPr>
              <a:t>Πιστοποιημένο από SOHISCERT και με το ευρωπαϊκό σήμα βιολογικής γεωργίας, σε χρήση σε 60 χώρες.</a:t>
            </a:r>
            <a:endParaRPr lang="en-US" sz="1350" dirty="0"/>
          </a:p>
          <a:p>
            <a:pPr algn="l" marL="342900" indent="-342900">
              <a:lnSpc>
                <a:spcPct val="122000"/>
              </a:lnSpc>
              <a:spcAft>
                <a:spcPts val="1000"/>
              </a:spcAft>
              <a:buSzPct val="100000"/>
              <a:buChar char="•"/>
            </a:pPr>
            <a:r>
              <a:rPr lang="en-US" sz="1350" dirty="0">
                <a:solidFill>
                  <a:srgbClr val="3F3138"/>
                </a:solidFill>
                <a:latin typeface="Calibri" pitchFamily="34" charset="0"/>
                <a:ea typeface="Calibri" pitchFamily="34" charset="-122"/>
                <a:cs typeface="Calibri" pitchFamily="34" charset="-120"/>
              </a:rPr>
              <a:t>1 έως 4 φιάλες των 140 ml ανά εκτάριο, συμβατό με τα υπάρχοντα συστήματα υδρολίπανσης.</a:t>
            </a:r>
            <a:endParaRPr lang="en-US" sz="1350" dirty="0"/>
          </a:p>
        </p:txBody>
      </p:sp>
      <p:sp>
        <p:nvSpPr>
          <p:cNvPr id="8" name="Shape 6"/>
          <p:cNvSpPr/>
          <p:nvPr/>
        </p:nvSpPr>
        <p:spPr>
          <a:xfrm>
            <a:off x="594360" y="4846320"/>
            <a:ext cx="11002975" cy="960120"/>
          </a:xfrm>
          <a:prstGeom prst="roundRect">
            <a:avLst>
              <a:gd name="adj" fmla="val 7619"/>
            </a:avLst>
          </a:prstGeom>
          <a:solidFill>
            <a:srgbClr val="F5EFF1"/>
          </a:solidFill>
          <a:ln w="9525">
            <a:solidFill>
              <a:srgbClr val="E5D9DE"/>
            </a:solidFill>
            <a:prstDash val="solid"/>
          </a:ln>
        </p:spPr>
      </p:sp>
      <p:sp>
        <p:nvSpPr>
          <p:cNvPr id="9" name="Text 7"/>
          <p:cNvSpPr txBox="1"/>
          <p:nvPr/>
        </p:nvSpPr>
        <p:spPr>
          <a:xfrm>
            <a:off x="822960" y="4983480"/>
            <a:ext cx="10545775" cy="713232"/>
          </a:xfrm>
          <a:prstGeom prst="rect">
            <a:avLst/>
          </a:prstGeom>
          <a:noFill/>
          <a:ln/>
        </p:spPr>
        <p:txBody>
          <a:bodyPr wrap="square" lIns="0" tIns="0" rIns="0" bIns="0" rtlCol="0" anchor="t"/>
          <a:lstStyle/>
          <a:p>
            <a:pPr algn="l" indent="0" marL="0">
              <a:lnSpc>
                <a:spcPct val="118000"/>
              </a:lnSpc>
              <a:buNone/>
            </a:pPr>
            <a:r>
              <a:rPr lang="en-US" sz="1100" dirty="0">
                <a:solidFill>
                  <a:srgbClr val="7C6B73"/>
                </a:solidFill>
                <a:latin typeface="Calibri" pitchFamily="34" charset="0"/>
                <a:ea typeface="Calibri" pitchFamily="34" charset="-122"/>
                <a:cs typeface="Calibri" pitchFamily="34" charset="-120"/>
              </a:rPr>
              <a:t>Τα δύο προϊόντα πωλούνται χωριστά, αλλά σχεδιάστηκαν για να λειτουργούν μαζί: ο υδροσυγκρατητής παρατείνει τη διαθεσιμότητα του νερού και το λίπασμα την αξιοποιεί χωρίς να υποβαθμίζει το έδαφος.</a:t>
            </a:r>
            <a:endParaRPr lang="en-US" sz="1100" dirty="0"/>
          </a:p>
        </p:txBody>
      </p:sp>
      <p:sp>
        <p:nvSpPr>
          <p:cNvPr id="10" name="Text 8"/>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7C6B73">
                    <a:alpha val="80000"/>
                  </a:srgbClr>
                </a:solidFill>
                <a:latin typeface="Calibri" pitchFamily="34" charset="0"/>
                <a:ea typeface="Calibri" pitchFamily="34" charset="-122"/>
                <a:cs typeface="Calibri" pitchFamily="34" charset="-120"/>
              </a:rPr>
              <a:t>Green Solutions · Μελέτη αγοράς Ελλάδα</a:t>
            </a:r>
            <a:endParaRPr lang="en-US" sz="950" dirty="0"/>
          </a:p>
        </p:txBody>
      </p:sp>
      <p:sp>
        <p:nvSpPr>
          <p:cNvPr id="11" name="Text 9"/>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7C6B73">
                    <a:alpha val="80000"/>
                  </a:srgbClr>
                </a:solidFill>
                <a:latin typeface="Calibri" pitchFamily="34" charset="0"/>
                <a:ea typeface="Calibri" pitchFamily="34" charset="-122"/>
                <a:cs typeface="Calibri" pitchFamily="34" charset="-120"/>
              </a:rPr>
              <a:t>8</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CFAFA"/>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algn="l" indent="0" marL="0">
              <a:buNone/>
            </a:pPr>
            <a:r>
              <a:rPr lang="en-US" sz="1150" b="1" spc="200" kern="0" dirty="0">
                <a:solidFill>
                  <a:srgbClr val="C9A227"/>
                </a:solidFill>
                <a:latin typeface="Calibri" pitchFamily="34" charset="0"/>
                <a:ea typeface="Calibri" pitchFamily="34" charset="-122"/>
                <a:cs typeface="Calibri" pitchFamily="34" charset="-120"/>
              </a:rPr>
              <a:t>Η υπόλοιπη γκάμα</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algn="l" indent="0" marL="0">
              <a:buNone/>
            </a:pPr>
            <a:r>
              <a:rPr lang="en-US" sz="3000" b="1" dirty="0">
                <a:solidFill>
                  <a:srgbClr val="3F162A"/>
                </a:solidFill>
                <a:latin typeface="Cambria" pitchFamily="34" charset="0"/>
                <a:ea typeface="Cambria" pitchFamily="34" charset="-122"/>
                <a:cs typeface="Cambria" pitchFamily="34" charset="-120"/>
              </a:rPr>
              <a:t>Προστασία καλλιεργειών, συγκράτηση εδαφών</a:t>
            </a:r>
            <a:endParaRPr lang="en-US" sz="3000" dirty="0"/>
          </a:p>
        </p:txBody>
      </p:sp>
      <p:sp>
        <p:nvSpPr>
          <p:cNvPr id="4" name="Text 2"/>
          <p:cNvSpPr txBox="1"/>
          <p:nvPr/>
        </p:nvSpPr>
        <p:spPr>
          <a:xfrm>
            <a:off x="594360" y="1783080"/>
            <a:ext cx="5227168" cy="411480"/>
          </a:xfrm>
          <a:prstGeom prst="rect">
            <a:avLst/>
          </a:prstGeom>
          <a:noFill/>
          <a:ln/>
        </p:spPr>
        <p:txBody>
          <a:bodyPr wrap="square" lIns="0" tIns="0" rIns="0" bIns="0" rtlCol="0" anchor="ctr"/>
          <a:lstStyle/>
          <a:p>
            <a:pPr algn="l" indent="0" marL="0">
              <a:buNone/>
            </a:pPr>
            <a:r>
              <a:rPr lang="en-US" sz="1600" b="1" dirty="0">
                <a:solidFill>
                  <a:srgbClr val="6B2A44"/>
                </a:solidFill>
                <a:latin typeface="Cambria" pitchFamily="34" charset="0"/>
                <a:ea typeface="Cambria" pitchFamily="34" charset="-122"/>
                <a:cs typeface="Cambria" pitchFamily="34" charset="-120"/>
              </a:rPr>
              <a:t>NAPEMA® — προστασία χωρίς υπολείμματα</a:t>
            </a:r>
            <a:endParaRPr lang="en-US" sz="1600" dirty="0"/>
          </a:p>
        </p:txBody>
      </p:sp>
      <p:sp>
        <p:nvSpPr>
          <p:cNvPr id="5" name="Text 3"/>
          <p:cNvSpPr txBox="1"/>
          <p:nvPr/>
        </p:nvSpPr>
        <p:spPr>
          <a:xfrm>
            <a:off x="594360" y="2286000"/>
            <a:ext cx="5227168" cy="2468880"/>
          </a:xfrm>
          <a:prstGeom prst="rect">
            <a:avLst/>
          </a:prstGeom>
          <a:noFill/>
          <a:ln/>
        </p:spPr>
        <p:txBody>
          <a:bodyPr wrap="square" lIns="0" tIns="0" rIns="0" bIns="0" rtlCol="0" anchor="t"/>
          <a:lstStyle/>
          <a:p>
            <a:pPr algn="l" marL="342900" indent="-342900">
              <a:lnSpc>
                <a:spcPct val="122000"/>
              </a:lnSpc>
              <a:spcAft>
                <a:spcPts val="1000"/>
              </a:spcAft>
              <a:buSzPct val="100000"/>
              <a:buChar char="•"/>
            </a:pPr>
            <a:r>
              <a:rPr lang="en-US" sz="1350" dirty="0">
                <a:solidFill>
                  <a:srgbClr val="3F3138"/>
                </a:solidFill>
                <a:latin typeface="Calibri" pitchFamily="34" charset="0"/>
                <a:ea typeface="Calibri" pitchFamily="34" charset="-122"/>
                <a:cs typeface="Calibri" pitchFamily="34" charset="-120"/>
              </a:rPr>
              <a:t>Καταπολεμά ασθένειες, παράσιτα, μύκητες και εχθρούς των καλλιεργειών χωρίς συνθετικά μόρια.</a:t>
            </a:r>
            <a:endParaRPr lang="en-US" sz="1350" dirty="0"/>
          </a:p>
          <a:p>
            <a:pPr algn="l" marL="342900" indent="-342900">
              <a:lnSpc>
                <a:spcPct val="122000"/>
              </a:lnSpc>
              <a:spcAft>
                <a:spcPts val="1000"/>
              </a:spcAft>
              <a:buSzPct val="100000"/>
              <a:buChar char="•"/>
            </a:pPr>
            <a:r>
              <a:rPr lang="en-US" sz="1350" dirty="0">
                <a:solidFill>
                  <a:srgbClr val="3F3138"/>
                </a:solidFill>
                <a:latin typeface="Calibri" pitchFamily="34" charset="0"/>
                <a:ea typeface="Calibri" pitchFamily="34" charset="-122"/>
                <a:cs typeface="Calibri" pitchFamily="34" charset="-120"/>
              </a:rPr>
              <a:t>Διαφυλλικός ψεκασμός και εφαρμογή στη ρίζα, με προληπτική και θεραπευτική δράση.</a:t>
            </a:r>
            <a:endParaRPr lang="en-US" sz="1350" dirty="0"/>
          </a:p>
          <a:p>
            <a:pPr algn="l" marL="342900" indent="-342900">
              <a:lnSpc>
                <a:spcPct val="122000"/>
              </a:lnSpc>
              <a:spcAft>
                <a:spcPts val="1000"/>
              </a:spcAft>
              <a:buSzPct val="100000"/>
              <a:buChar char="•"/>
            </a:pPr>
            <a:r>
              <a:rPr lang="en-US" sz="1350" dirty="0">
                <a:solidFill>
                  <a:srgbClr val="3F3138"/>
                </a:solidFill>
                <a:latin typeface="Calibri" pitchFamily="34" charset="0"/>
                <a:ea typeface="Calibri" pitchFamily="34" charset="-122"/>
                <a:cs typeface="Calibri" pitchFamily="34" charset="-120"/>
              </a:rPr>
              <a:t>Κανένα υπόλειμμα στο έδαφος, στο φυτό ή στον αέρα· επικονιαστές και ωφέλιμα έντομα προστατεύονται.</a:t>
            </a:r>
            <a:endParaRPr lang="en-US" sz="1350" dirty="0"/>
          </a:p>
          <a:p>
            <a:pPr algn="l" marL="342900" indent="-342900">
              <a:lnSpc>
                <a:spcPct val="122000"/>
              </a:lnSpc>
              <a:spcAft>
                <a:spcPts val="1000"/>
              </a:spcAft>
              <a:buSzPct val="100000"/>
              <a:buChar char="•"/>
            </a:pPr>
            <a:r>
              <a:rPr lang="en-US" sz="1350" dirty="0">
                <a:solidFill>
                  <a:srgbClr val="3F3138"/>
                </a:solidFill>
                <a:latin typeface="Calibri" pitchFamily="34" charset="0"/>
                <a:ea typeface="Calibri" pitchFamily="34" charset="-122"/>
                <a:cs typeface="Calibri" pitchFamily="34" charset="-120"/>
              </a:rPr>
              <a:t>Σκεύασμα για συγκεκριμένο πρόβλημα: κοκκοειδή, πρασίνισμα εσπεριδοειδών (HLB), νηματώδεις.</a:t>
            </a:r>
            <a:endParaRPr lang="en-US" sz="1350" dirty="0"/>
          </a:p>
        </p:txBody>
      </p:sp>
      <p:sp>
        <p:nvSpPr>
          <p:cNvPr id="6" name="Text 4"/>
          <p:cNvSpPr txBox="1"/>
          <p:nvPr/>
        </p:nvSpPr>
        <p:spPr>
          <a:xfrm>
            <a:off x="6370168" y="1783080"/>
            <a:ext cx="5227168" cy="411480"/>
          </a:xfrm>
          <a:prstGeom prst="rect">
            <a:avLst/>
          </a:prstGeom>
          <a:noFill/>
          <a:ln/>
        </p:spPr>
        <p:txBody>
          <a:bodyPr wrap="square" lIns="0" tIns="0" rIns="0" bIns="0" rtlCol="0" anchor="ctr"/>
          <a:lstStyle/>
          <a:p>
            <a:pPr algn="l" indent="0" marL="0">
              <a:buNone/>
            </a:pPr>
            <a:r>
              <a:rPr lang="en-US" sz="1600" b="1" dirty="0">
                <a:solidFill>
                  <a:srgbClr val="6B2A44"/>
                </a:solidFill>
                <a:latin typeface="Cambria" pitchFamily="34" charset="0"/>
                <a:ea typeface="Cambria" pitchFamily="34" charset="-122"/>
                <a:cs typeface="Cambria" pitchFamily="34" charset="-120"/>
              </a:rPr>
              <a:t>Paulownia ALTIFOLIA® — δέντρο για θερμές περιοχές</a:t>
            </a:r>
            <a:endParaRPr lang="en-US" sz="1600" dirty="0"/>
          </a:p>
        </p:txBody>
      </p:sp>
      <p:sp>
        <p:nvSpPr>
          <p:cNvPr id="7" name="Text 5"/>
          <p:cNvSpPr txBox="1"/>
          <p:nvPr/>
        </p:nvSpPr>
        <p:spPr>
          <a:xfrm>
            <a:off x="6370168" y="2286000"/>
            <a:ext cx="5227168" cy="2468880"/>
          </a:xfrm>
          <a:prstGeom prst="rect">
            <a:avLst/>
          </a:prstGeom>
          <a:noFill/>
          <a:ln/>
        </p:spPr>
        <p:txBody>
          <a:bodyPr wrap="square" lIns="0" tIns="0" rIns="0" bIns="0" rtlCol="0" anchor="t"/>
          <a:lstStyle/>
          <a:p>
            <a:pPr algn="l" marL="342900" indent="-342900">
              <a:lnSpc>
                <a:spcPct val="122000"/>
              </a:lnSpc>
              <a:spcAft>
                <a:spcPts val="1000"/>
              </a:spcAft>
              <a:buSzPct val="100000"/>
              <a:buChar char="•"/>
            </a:pPr>
            <a:r>
              <a:rPr lang="en-US" sz="1350" dirty="0">
                <a:solidFill>
                  <a:srgbClr val="3F3138"/>
                </a:solidFill>
                <a:latin typeface="Calibri" pitchFamily="34" charset="0"/>
                <a:ea typeface="Calibri" pitchFamily="34" charset="-122"/>
                <a:cs typeface="Calibri" pitchFamily="34" charset="-120"/>
              </a:rPr>
              <a:t>13 έως 15 m σε έξι έως οκτώ χρόνια, με κορμό μεγάλης διαμέτρου.</a:t>
            </a:r>
            <a:endParaRPr lang="en-US" sz="1350" dirty="0"/>
          </a:p>
          <a:p>
            <a:pPr algn="l" marL="342900" indent="-342900">
              <a:lnSpc>
                <a:spcPct val="122000"/>
              </a:lnSpc>
              <a:spcAft>
                <a:spcPts val="1000"/>
              </a:spcAft>
              <a:buSzPct val="100000"/>
              <a:buChar char="•"/>
            </a:pPr>
            <a:r>
              <a:rPr lang="en-US" sz="1350" dirty="0">
                <a:solidFill>
                  <a:srgbClr val="3F3138"/>
                </a:solidFill>
                <a:latin typeface="Calibri" pitchFamily="34" charset="0"/>
                <a:ea typeface="Calibri" pitchFamily="34" charset="-122"/>
                <a:cs typeface="Calibri" pitchFamily="34" charset="-120"/>
              </a:rPr>
              <a:t>Με 100 g EVERGREEN® ανά φυτό, η απαιτούμενη άρδευση μειώνεται κατά 50 %.</a:t>
            </a:r>
            <a:endParaRPr lang="en-US" sz="1350" dirty="0"/>
          </a:p>
          <a:p>
            <a:pPr algn="l" marL="342900" indent="-342900">
              <a:lnSpc>
                <a:spcPct val="122000"/>
              </a:lnSpc>
              <a:spcAft>
                <a:spcPts val="1000"/>
              </a:spcAft>
              <a:buSzPct val="100000"/>
              <a:buChar char="•"/>
            </a:pPr>
            <a:r>
              <a:rPr lang="en-US" sz="1350" dirty="0">
                <a:solidFill>
                  <a:srgbClr val="3F3138"/>
                </a:solidFill>
                <a:latin typeface="Calibri" pitchFamily="34" charset="0"/>
                <a:ea typeface="Calibri" pitchFamily="34" charset="-122"/>
                <a:cs typeface="Calibri" pitchFamily="34" charset="-120"/>
              </a:rPr>
              <a:t>Αντέχει από −25 °C έως +45 °C· το ξύλο αναφλέγεται μόνο πάνω από 426 °C.</a:t>
            </a:r>
            <a:endParaRPr lang="en-US" sz="1350" dirty="0"/>
          </a:p>
          <a:p>
            <a:pPr algn="l" marL="342900" indent="-342900">
              <a:lnSpc>
                <a:spcPct val="122000"/>
              </a:lnSpc>
              <a:spcAft>
                <a:spcPts val="1000"/>
              </a:spcAft>
              <a:buSzPct val="100000"/>
              <a:buChar char="•"/>
            </a:pPr>
            <a:r>
              <a:rPr lang="en-US" sz="1350" dirty="0">
                <a:solidFill>
                  <a:srgbClr val="3F3138"/>
                </a:solidFill>
                <a:latin typeface="Calibri" pitchFamily="34" charset="0"/>
                <a:ea typeface="Calibri" pitchFamily="34" charset="-122"/>
                <a:cs typeface="Calibri" pitchFamily="34" charset="-120"/>
              </a:rPr>
              <a:t>Ανεμοφράκτης, προστασία του εδάφους από τη διάβρωση, 400 έως 700 kg μέλι ανά εκτάριο.</a:t>
            </a:r>
            <a:endParaRPr lang="en-US" sz="1350" dirty="0"/>
          </a:p>
        </p:txBody>
      </p:sp>
      <p:sp>
        <p:nvSpPr>
          <p:cNvPr id="8" name="Shape 6"/>
          <p:cNvSpPr/>
          <p:nvPr/>
        </p:nvSpPr>
        <p:spPr>
          <a:xfrm>
            <a:off x="594360" y="4846320"/>
            <a:ext cx="11002975" cy="960120"/>
          </a:xfrm>
          <a:prstGeom prst="roundRect">
            <a:avLst>
              <a:gd name="adj" fmla="val 7619"/>
            </a:avLst>
          </a:prstGeom>
          <a:solidFill>
            <a:srgbClr val="F5EFF1"/>
          </a:solidFill>
          <a:ln w="9525">
            <a:solidFill>
              <a:srgbClr val="E5D9DE"/>
            </a:solidFill>
            <a:prstDash val="solid"/>
          </a:ln>
        </p:spPr>
      </p:sp>
      <p:sp>
        <p:nvSpPr>
          <p:cNvPr id="9" name="Text 7"/>
          <p:cNvSpPr txBox="1"/>
          <p:nvPr/>
        </p:nvSpPr>
        <p:spPr>
          <a:xfrm>
            <a:off x="822960" y="4983480"/>
            <a:ext cx="10545775" cy="713232"/>
          </a:xfrm>
          <a:prstGeom prst="rect">
            <a:avLst/>
          </a:prstGeom>
          <a:noFill/>
          <a:ln/>
        </p:spPr>
        <p:txBody>
          <a:bodyPr wrap="square" lIns="0" tIns="0" rIns="0" bIns="0" rtlCol="0" anchor="t"/>
          <a:lstStyle/>
          <a:p>
            <a:pPr algn="l" indent="0" marL="0">
              <a:lnSpc>
                <a:spcPct val="118000"/>
              </a:lnSpc>
              <a:buNone/>
            </a:pPr>
            <a:r>
              <a:rPr lang="en-US" sz="1100" dirty="0">
                <a:solidFill>
                  <a:srgbClr val="7C6B73"/>
                </a:solidFill>
                <a:latin typeface="Calibri" pitchFamily="34" charset="0"/>
                <a:ea typeface="Calibri" pitchFamily="34" charset="-122"/>
                <a:cs typeface="Calibri" pitchFamily="34" charset="-120"/>
              </a:rPr>
              <a:t>Τα φυτά παραδίδονται σε γλάστρα (25 έως 30 cm), πιστοποιημένα απαλλαγμένα από ασθένειες, και αντικαθίστανται με εγγύηση σε περίπτωση απώλειας. Πρώτη υλοτομία στο τέλος του έκτου έτους, με το ξύλο να αποτιμάται περίπου στα 400 έως 450 € ανά m³.</a:t>
            </a:r>
            <a:endParaRPr lang="en-US" sz="1100" dirty="0"/>
          </a:p>
        </p:txBody>
      </p:sp>
      <p:sp>
        <p:nvSpPr>
          <p:cNvPr id="10" name="Text 8"/>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7C6B73">
                    <a:alpha val="80000"/>
                  </a:srgbClr>
                </a:solidFill>
                <a:latin typeface="Calibri" pitchFamily="34" charset="0"/>
                <a:ea typeface="Calibri" pitchFamily="34" charset="-122"/>
                <a:cs typeface="Calibri" pitchFamily="34" charset="-120"/>
              </a:rPr>
              <a:t>Green Solutions · Μελέτη αγοράς Ελλάδα</a:t>
            </a:r>
            <a:endParaRPr lang="en-US" sz="950" dirty="0"/>
          </a:p>
        </p:txBody>
      </p:sp>
      <p:sp>
        <p:nvSpPr>
          <p:cNvPr id="11" name="Text 9"/>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7C6B73">
                    <a:alpha val="80000"/>
                  </a:srgbClr>
                </a:solidFill>
                <a:latin typeface="Calibri" pitchFamily="34" charset="0"/>
                <a:ea typeface="Calibri" pitchFamily="34" charset="-122"/>
                <a:cs typeface="Calibri" pitchFamily="34" charset="-120"/>
              </a:rPr>
              <a:t>9</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CFAFA"/>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algn="l" indent="0" marL="0">
              <a:buNone/>
            </a:pPr>
            <a:r>
              <a:rPr lang="en-US" sz="1150" b="1" spc="200" kern="0" dirty="0">
                <a:solidFill>
                  <a:srgbClr val="C9A227"/>
                </a:solidFill>
                <a:latin typeface="Calibri" pitchFamily="34" charset="0"/>
                <a:ea typeface="Calibri" pitchFamily="34" charset="-122"/>
                <a:cs typeface="Calibri" pitchFamily="34" charset="-120"/>
              </a:rPr>
              <a:t>ΤΑΞΕΙΣ ΜΕΓΕΘΟΥΣ</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algn="l" indent="0" marL="0">
              <a:buNone/>
            </a:pPr>
            <a:r>
              <a:rPr lang="en-US" sz="3000" b="1" dirty="0">
                <a:solidFill>
                  <a:srgbClr val="3F162A"/>
                </a:solidFill>
                <a:latin typeface="Cambria" pitchFamily="34" charset="0"/>
                <a:ea typeface="Cambria" pitchFamily="34" charset="-122"/>
                <a:cs typeface="Cambria" pitchFamily="34" charset="-120"/>
              </a:rPr>
              <a:t>Αναμενόμενη εξοικονόμηση νερού ανά μέθοδο άρδευσης</a:t>
            </a:r>
            <a:endParaRPr lang="en-US" sz="3000" dirty="0"/>
          </a:p>
        </p:txBody>
      </p:sp>
      <p:graphicFrame>
        <p:nvGraphicFramePr>
          <p:cNvPr id="4" name="Chart 0" descr=""/>
          <p:cNvGraphicFramePr/>
          <p:nvPr/>
        </p:nvGraphicFramePr>
        <p:xfrm>
          <a:off x="594360" y="1783080"/>
          <a:ext cx="7360920" cy="39776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8275320" y="1783080"/>
            <a:ext cx="3291840" cy="3977640"/>
          </a:xfrm>
          <a:prstGeom prst="roundRect">
            <a:avLst>
              <a:gd name="adj" fmla="val 2778"/>
            </a:avLst>
          </a:prstGeom>
          <a:solidFill>
            <a:srgbClr val="F5EFF1"/>
          </a:solidFill>
          <a:ln w="9525">
            <a:solidFill>
              <a:srgbClr val="E5D9DE"/>
            </a:solidFill>
            <a:prstDash val="solid"/>
          </a:ln>
        </p:spPr>
      </p:sp>
      <p:sp>
        <p:nvSpPr>
          <p:cNvPr id="6" name="Text 3"/>
          <p:cNvSpPr txBox="1"/>
          <p:nvPr/>
        </p:nvSpPr>
        <p:spPr>
          <a:xfrm>
            <a:off x="8503920" y="2011680"/>
            <a:ext cx="2834640" cy="457200"/>
          </a:xfrm>
          <a:prstGeom prst="rect">
            <a:avLst/>
          </a:prstGeom>
          <a:noFill/>
          <a:ln/>
        </p:spPr>
        <p:txBody>
          <a:bodyPr wrap="square" lIns="0" tIns="0" rIns="0" bIns="0" rtlCol="0" anchor="ctr"/>
          <a:lstStyle/>
          <a:p>
            <a:pPr algn="l" indent="0" marL="0">
              <a:buNone/>
            </a:pPr>
            <a:r>
              <a:rPr lang="en-US" sz="1300" b="1" dirty="0">
                <a:solidFill>
                  <a:srgbClr val="6B2A44"/>
                </a:solidFill>
                <a:latin typeface="Cambria" pitchFamily="34" charset="0"/>
                <a:ea typeface="Cambria" pitchFamily="34" charset="-122"/>
                <a:cs typeface="Cambria" pitchFamily="34" charset="-120"/>
              </a:rPr>
              <a:t>Να διαβάζονται με προσοχή</a:t>
            </a:r>
            <a:endParaRPr lang="en-US" sz="1300" dirty="0"/>
          </a:p>
        </p:txBody>
      </p:sp>
      <p:sp>
        <p:nvSpPr>
          <p:cNvPr id="7" name="Text 4"/>
          <p:cNvSpPr txBox="1"/>
          <p:nvPr/>
        </p:nvSpPr>
        <p:spPr>
          <a:xfrm>
            <a:off x="8503920" y="2560320"/>
            <a:ext cx="2834640" cy="3017520"/>
          </a:xfrm>
          <a:prstGeom prst="rect">
            <a:avLst/>
          </a:prstGeom>
          <a:noFill/>
          <a:ln/>
        </p:spPr>
        <p:txBody>
          <a:bodyPr wrap="square" lIns="0" tIns="0" rIns="0" bIns="0" rtlCol="0" anchor="t"/>
          <a:lstStyle/>
          <a:p>
            <a:pPr algn="l" indent="0" marL="0">
              <a:lnSpc>
                <a:spcPct val="125000"/>
              </a:lnSpc>
              <a:buNone/>
            </a:pPr>
            <a:r>
              <a:rPr lang="en-US" sz="1200" dirty="0">
                <a:solidFill>
                  <a:srgbClr val="3F3138"/>
                </a:solidFill>
                <a:latin typeface="Calibri" pitchFamily="34" charset="0"/>
                <a:ea typeface="Calibri" pitchFamily="34" charset="-122"/>
                <a:cs typeface="Calibri" pitchFamily="34" charset="-120"/>
              </a:rPr>
              <a:t>Τα εύρη είναι ενδεικτικά και βασίζονται στα τεκμηριωμένα αποτελέσματα των υδροσυγκρατητών μας.</a:t>
            </a:r>
            <a:endParaRPr lang="en-US" sz="1200" dirty="0"/>
          </a:p>
          <a:p>
            <a:pPr algn="l" indent="0" marL="0">
              <a:lnSpc>
                <a:spcPct val="125000"/>
              </a:lnSpc>
              <a:buNone/>
            </a:pPr>
            <a:endParaRPr lang="en-US" sz="1200" dirty="0"/>
          </a:p>
          <a:p>
            <a:pPr algn="l" indent="0" marL="0">
              <a:lnSpc>
                <a:spcPct val="125000"/>
              </a:lnSpc>
              <a:buNone/>
            </a:pPr>
            <a:r>
              <a:rPr lang="en-US" sz="1200" dirty="0">
                <a:solidFill>
                  <a:srgbClr val="3F3138"/>
                </a:solidFill>
                <a:latin typeface="Calibri" pitchFamily="34" charset="0"/>
                <a:ea typeface="Calibri" pitchFamily="34" charset="-122"/>
                <a:cs typeface="Calibri" pitchFamily="34" charset="-120"/>
              </a:rPr>
              <a:t>Το πραγματικό αποτέλεσμα εξαρτάται από το έδαφος, το κλίμα και την καλλιέργεια. Δίνουν μια τάξη μεγέθους και σε καμία περίπτωση δεν αποτελούν εγγυημένη, συμβατική ή απόλυτη τιμή.</a:t>
            </a:r>
            <a:endParaRPr lang="en-US" sz="1200" dirty="0"/>
          </a:p>
        </p:txBody>
      </p:sp>
      <p:sp>
        <p:nvSpPr>
          <p:cNvPr id="8" name="Text 5"/>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7C6B73">
                    <a:alpha val="80000"/>
                  </a:srgbClr>
                </a:solidFill>
                <a:latin typeface="Calibri" pitchFamily="34" charset="0"/>
                <a:ea typeface="Calibri" pitchFamily="34" charset="-122"/>
                <a:cs typeface="Calibri" pitchFamily="34" charset="-120"/>
              </a:rPr>
              <a:t>Green Solutions · Μελέτη αγοράς Ελλάδα</a:t>
            </a:r>
            <a:endParaRPr lang="en-US" sz="950" dirty="0"/>
          </a:p>
        </p:txBody>
      </p:sp>
      <p:sp>
        <p:nvSpPr>
          <p:cNvPr id="9" name="Text 6"/>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7C6B73">
                    <a:alpha val="80000"/>
                  </a:srgbClr>
                </a:solidFill>
                <a:latin typeface="Calibri" pitchFamily="34" charset="0"/>
                <a:ea typeface="Calibri" pitchFamily="34" charset="-122"/>
                <a:cs typeface="Calibri" pitchFamily="34" charset="-120"/>
              </a:rPr>
              <a:t>10</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CFAFA"/>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algn="l" indent="0" marL="0">
              <a:buNone/>
            </a:pPr>
            <a:r>
              <a:rPr lang="en-US" sz="1150" b="1" spc="200" kern="0" dirty="0">
                <a:solidFill>
                  <a:srgbClr val="C9A227"/>
                </a:solidFill>
                <a:latin typeface="Calibri" pitchFamily="34" charset="0"/>
                <a:ea typeface="Calibri" pitchFamily="34" charset="-122"/>
                <a:cs typeface="Calibri" pitchFamily="34" charset="-120"/>
              </a:rPr>
              <a:t>ΤΡΕΙΣ ΠΕΡΙΟΧΕΣ ΠΡΟΤΕΡΑΙΟΤΗΤΑΣ</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algn="l" indent="0" marL="0">
              <a:buNone/>
            </a:pPr>
            <a:r>
              <a:rPr lang="en-US" sz="3000" b="1" dirty="0">
                <a:solidFill>
                  <a:srgbClr val="3F162A"/>
                </a:solidFill>
                <a:latin typeface="Cambria" pitchFamily="34" charset="0"/>
                <a:ea typeface="Cambria" pitchFamily="34" charset="-122"/>
                <a:cs typeface="Cambria" pitchFamily="34" charset="-120"/>
              </a:rPr>
              <a:t>Πού να γίνουν οι πρώτες δοκιμές</a:t>
            </a:r>
            <a:endParaRPr lang="en-US" sz="3000" dirty="0"/>
          </a:p>
        </p:txBody>
      </p:sp>
      <p:sp>
        <p:nvSpPr>
          <p:cNvPr id="4" name="Shape 2"/>
          <p:cNvSpPr/>
          <p:nvPr/>
        </p:nvSpPr>
        <p:spPr>
          <a:xfrm>
            <a:off x="594360" y="1783080"/>
            <a:ext cx="3472586" cy="4069080"/>
          </a:xfrm>
          <a:prstGeom prst="roundRect">
            <a:avLst>
              <a:gd name="adj" fmla="val 2633"/>
            </a:avLst>
          </a:prstGeom>
          <a:solidFill>
            <a:srgbClr val="F5EFF1"/>
          </a:solidFill>
          <a:ln w="9525">
            <a:solidFill>
              <a:srgbClr val="E5D9DE"/>
            </a:solidFill>
            <a:prstDash val="solid"/>
          </a:ln>
        </p:spPr>
      </p:sp>
      <p:pic>
        <p:nvPicPr>
          <p:cNvPr id="5" name="Image 0" descr="preencoded.png">    </p:cNvPr>
          <p:cNvPicPr>
            <a:picLocks noChangeAspect="1"/>
          </p:cNvPicPr>
          <p:nvPr/>
        </p:nvPicPr>
        <p:blipFill>
          <a:blip r:embed="rId1"/>
          <a:stretch>
            <a:fillRect/>
          </a:stretch>
        </p:blipFill>
        <p:spPr>
          <a:xfrm>
            <a:off x="594360" y="1783080"/>
            <a:ext cx="3472586" cy="1691640"/>
          </a:xfrm>
          <a:prstGeom prst="rect">
            <a:avLst/>
          </a:prstGeom>
        </p:spPr>
      </p:pic>
      <p:sp>
        <p:nvSpPr>
          <p:cNvPr id="6" name="Text 3"/>
          <p:cNvSpPr txBox="1"/>
          <p:nvPr/>
        </p:nvSpPr>
        <p:spPr>
          <a:xfrm>
            <a:off x="795528" y="3639312"/>
            <a:ext cx="3070250" cy="384048"/>
          </a:xfrm>
          <a:prstGeom prst="rect">
            <a:avLst/>
          </a:prstGeom>
          <a:noFill/>
          <a:ln/>
        </p:spPr>
        <p:txBody>
          <a:bodyPr wrap="square" lIns="0" tIns="0" rIns="0" bIns="0" rtlCol="0" anchor="ctr"/>
          <a:lstStyle/>
          <a:p>
            <a:pPr algn="l" indent="0" marL="0">
              <a:buNone/>
            </a:pPr>
            <a:r>
              <a:rPr lang="en-US" sz="1500" b="1" dirty="0">
                <a:solidFill>
                  <a:srgbClr val="6B2A44"/>
                </a:solidFill>
                <a:latin typeface="Cambria" pitchFamily="34" charset="0"/>
                <a:ea typeface="Cambria" pitchFamily="34" charset="-122"/>
                <a:cs typeface="Cambria" pitchFamily="34" charset="-120"/>
              </a:rPr>
              <a:t>Θεσσαλία</a:t>
            </a:r>
            <a:endParaRPr lang="en-US" sz="1500" dirty="0"/>
          </a:p>
        </p:txBody>
      </p:sp>
      <p:sp>
        <p:nvSpPr>
          <p:cNvPr id="7" name="Text 4"/>
          <p:cNvSpPr txBox="1"/>
          <p:nvPr/>
        </p:nvSpPr>
        <p:spPr>
          <a:xfrm>
            <a:off x="795528" y="4041648"/>
            <a:ext cx="3070250" cy="329184"/>
          </a:xfrm>
          <a:prstGeom prst="rect">
            <a:avLst/>
          </a:prstGeom>
          <a:noFill/>
          <a:ln/>
        </p:spPr>
        <p:txBody>
          <a:bodyPr wrap="square" lIns="0" tIns="0" rIns="0" bIns="0" rtlCol="0" anchor="ctr"/>
          <a:lstStyle/>
          <a:p>
            <a:pPr algn="l" indent="0" marL="0">
              <a:buNone/>
            </a:pPr>
            <a:r>
              <a:rPr lang="en-US" sz="1250" b="1" dirty="0">
                <a:solidFill>
                  <a:srgbClr val="8F6D0F"/>
                </a:solidFill>
                <a:latin typeface="Calibri" pitchFamily="34" charset="0"/>
                <a:ea typeface="Calibri" pitchFamily="34" charset="-122"/>
                <a:cs typeface="Calibri" pitchFamily="34" charset="-120"/>
              </a:rPr>
              <a:t>Βαμβάκι και σιτηρά</a:t>
            </a:r>
            <a:endParaRPr lang="en-US" sz="1250" dirty="0"/>
          </a:p>
        </p:txBody>
      </p:sp>
      <p:sp>
        <p:nvSpPr>
          <p:cNvPr id="8" name="Text 5"/>
          <p:cNvSpPr txBox="1"/>
          <p:nvPr/>
        </p:nvSpPr>
        <p:spPr>
          <a:xfrm>
            <a:off x="795528" y="4407408"/>
            <a:ext cx="3070250" cy="1280160"/>
          </a:xfrm>
          <a:prstGeom prst="rect">
            <a:avLst/>
          </a:prstGeom>
          <a:noFill/>
          <a:ln/>
        </p:spPr>
        <p:txBody>
          <a:bodyPr wrap="square" lIns="0" tIns="0" rIns="0" bIns="0" rtlCol="0" anchor="t"/>
          <a:lstStyle/>
          <a:p>
            <a:pPr algn="l" marL="342900" indent="-342900">
              <a:lnSpc>
                <a:spcPct val="116000"/>
              </a:lnSpc>
              <a:spcAft>
                <a:spcPts val="700"/>
              </a:spcAft>
              <a:buSzPct val="100000"/>
              <a:buChar char="•"/>
            </a:pPr>
            <a:r>
              <a:rPr lang="en-US" sz="1150" dirty="0">
                <a:solidFill>
                  <a:srgbClr val="3F3138"/>
                </a:solidFill>
                <a:latin typeface="Calibri" pitchFamily="34" charset="0"/>
                <a:ea typeface="Calibri" pitchFamily="34" charset="-122"/>
                <a:cs typeface="Calibri" pitchFamily="34" charset="-120"/>
              </a:rPr>
              <a:t>Η μεγαλύτερη πεδιάδα της χώρας, με εντατική άρδευση βαμβακιού από γεωτρήσεις.</a:t>
            </a:r>
            <a:endParaRPr lang="en-US" sz="1150" dirty="0"/>
          </a:p>
          <a:p>
            <a:pPr algn="l" marL="342900" indent="-342900">
              <a:lnSpc>
                <a:spcPct val="116000"/>
              </a:lnSpc>
              <a:spcAft>
                <a:spcPts val="700"/>
              </a:spcAft>
              <a:buSzPct val="100000"/>
              <a:buChar char="•"/>
            </a:pPr>
            <a:r>
              <a:rPr lang="en-US" sz="1150" dirty="0">
                <a:solidFill>
                  <a:srgbClr val="3F3138"/>
                </a:solidFill>
                <a:latin typeface="Calibri" pitchFamily="34" charset="0"/>
                <a:ea typeface="Calibri" pitchFamily="34" charset="-122"/>
                <a:cs typeface="Calibri" pitchFamily="34" charset="-120"/>
              </a:rPr>
              <a:t>Πτώση της στάθμης των υπόγειων νερών και ζημιές από την κακοκαιρία Daniel.</a:t>
            </a:r>
            <a:endParaRPr lang="en-US" sz="1150" dirty="0"/>
          </a:p>
          <a:p>
            <a:pPr algn="l" marL="342900" indent="-342900">
              <a:lnSpc>
                <a:spcPct val="116000"/>
              </a:lnSpc>
              <a:spcAft>
                <a:spcPts val="700"/>
              </a:spcAft>
              <a:buSzPct val="100000"/>
              <a:buChar char="•"/>
            </a:pPr>
            <a:r>
              <a:rPr lang="en-US" sz="1150" dirty="0">
                <a:solidFill>
                  <a:srgbClr val="3F3138"/>
                </a:solidFill>
                <a:latin typeface="Calibri" pitchFamily="34" charset="0"/>
                <a:ea typeface="Calibri" pitchFamily="34" charset="-122"/>
                <a:cs typeface="Calibri" pitchFamily="34" charset="-120"/>
              </a:rPr>
              <a:t>Μεγάλοι αγροτικοί συνεταιρισμοί, ικανοί να παρακολουθήσουν μια δοκιμή.</a:t>
            </a:r>
            <a:endParaRPr lang="en-US" sz="1150" dirty="0"/>
          </a:p>
        </p:txBody>
      </p:sp>
      <p:sp>
        <p:nvSpPr>
          <p:cNvPr id="9" name="Shape 6"/>
          <p:cNvSpPr/>
          <p:nvPr/>
        </p:nvSpPr>
        <p:spPr>
          <a:xfrm>
            <a:off x="4359554" y="1783080"/>
            <a:ext cx="3472586" cy="4069080"/>
          </a:xfrm>
          <a:prstGeom prst="roundRect">
            <a:avLst>
              <a:gd name="adj" fmla="val 2633"/>
            </a:avLst>
          </a:prstGeom>
          <a:solidFill>
            <a:srgbClr val="F5EFF1"/>
          </a:solidFill>
          <a:ln w="9525">
            <a:solidFill>
              <a:srgbClr val="E5D9DE"/>
            </a:solidFill>
            <a:prstDash val="solid"/>
          </a:ln>
        </p:spPr>
      </p:sp>
      <p:pic>
        <p:nvPicPr>
          <p:cNvPr id="10" name="Image 1" descr="preencoded.png">    </p:cNvPr>
          <p:cNvPicPr>
            <a:picLocks noChangeAspect="1"/>
          </p:cNvPicPr>
          <p:nvPr/>
        </p:nvPicPr>
        <p:blipFill>
          <a:blip r:embed="rId2"/>
          <a:stretch>
            <a:fillRect/>
          </a:stretch>
        </p:blipFill>
        <p:spPr>
          <a:xfrm>
            <a:off x="4359554" y="1783080"/>
            <a:ext cx="3472586" cy="1691640"/>
          </a:xfrm>
          <a:prstGeom prst="rect">
            <a:avLst/>
          </a:prstGeom>
        </p:spPr>
      </p:pic>
      <p:sp>
        <p:nvSpPr>
          <p:cNvPr id="11" name="Text 7"/>
          <p:cNvSpPr txBox="1"/>
          <p:nvPr/>
        </p:nvSpPr>
        <p:spPr>
          <a:xfrm>
            <a:off x="4560722" y="3639312"/>
            <a:ext cx="3070250" cy="384048"/>
          </a:xfrm>
          <a:prstGeom prst="rect">
            <a:avLst/>
          </a:prstGeom>
          <a:noFill/>
          <a:ln/>
        </p:spPr>
        <p:txBody>
          <a:bodyPr wrap="square" lIns="0" tIns="0" rIns="0" bIns="0" rtlCol="0" anchor="ctr"/>
          <a:lstStyle/>
          <a:p>
            <a:pPr algn="l" indent="0" marL="0">
              <a:buNone/>
            </a:pPr>
            <a:r>
              <a:rPr lang="en-US" sz="1500" b="1" dirty="0">
                <a:solidFill>
                  <a:srgbClr val="6B2A44"/>
                </a:solidFill>
                <a:latin typeface="Cambria" pitchFamily="34" charset="0"/>
                <a:ea typeface="Cambria" pitchFamily="34" charset="-122"/>
                <a:cs typeface="Cambria" pitchFamily="34" charset="-120"/>
              </a:rPr>
              <a:t>Μεσσηνία</a:t>
            </a:r>
            <a:endParaRPr lang="en-US" sz="1500" dirty="0"/>
          </a:p>
        </p:txBody>
      </p:sp>
      <p:sp>
        <p:nvSpPr>
          <p:cNvPr id="12" name="Text 8"/>
          <p:cNvSpPr txBox="1"/>
          <p:nvPr/>
        </p:nvSpPr>
        <p:spPr>
          <a:xfrm>
            <a:off x="4560722" y="4041648"/>
            <a:ext cx="3070250" cy="329184"/>
          </a:xfrm>
          <a:prstGeom prst="rect">
            <a:avLst/>
          </a:prstGeom>
          <a:noFill/>
          <a:ln/>
        </p:spPr>
        <p:txBody>
          <a:bodyPr wrap="square" lIns="0" tIns="0" rIns="0" bIns="0" rtlCol="0" anchor="ctr"/>
          <a:lstStyle/>
          <a:p>
            <a:pPr algn="l" indent="0" marL="0">
              <a:buNone/>
            </a:pPr>
            <a:r>
              <a:rPr lang="en-US" sz="1250" b="1" dirty="0">
                <a:solidFill>
                  <a:srgbClr val="8F6D0F"/>
                </a:solidFill>
                <a:latin typeface="Calibri" pitchFamily="34" charset="0"/>
                <a:ea typeface="Calibri" pitchFamily="34" charset="-122"/>
                <a:cs typeface="Calibri" pitchFamily="34" charset="-120"/>
              </a:rPr>
              <a:t>Ελαιώνες Καλαμάτας</a:t>
            </a:r>
            <a:endParaRPr lang="en-US" sz="1250" dirty="0"/>
          </a:p>
        </p:txBody>
      </p:sp>
      <p:sp>
        <p:nvSpPr>
          <p:cNvPr id="13" name="Text 9"/>
          <p:cNvSpPr txBox="1"/>
          <p:nvPr/>
        </p:nvSpPr>
        <p:spPr>
          <a:xfrm>
            <a:off x="4560722" y="4407408"/>
            <a:ext cx="3070250" cy="1280160"/>
          </a:xfrm>
          <a:prstGeom prst="rect">
            <a:avLst/>
          </a:prstGeom>
          <a:noFill/>
          <a:ln/>
        </p:spPr>
        <p:txBody>
          <a:bodyPr wrap="square" lIns="0" tIns="0" rIns="0" bIns="0" rtlCol="0" anchor="t"/>
          <a:lstStyle/>
          <a:p>
            <a:pPr algn="l" marL="342900" indent="-342900">
              <a:lnSpc>
                <a:spcPct val="116000"/>
              </a:lnSpc>
              <a:spcAft>
                <a:spcPts val="700"/>
              </a:spcAft>
              <a:buSzPct val="100000"/>
              <a:buChar char="•"/>
            </a:pPr>
            <a:r>
              <a:rPr lang="en-US" sz="1150" dirty="0">
                <a:solidFill>
                  <a:srgbClr val="3F3138"/>
                </a:solidFill>
                <a:latin typeface="Calibri" pitchFamily="34" charset="0"/>
                <a:ea typeface="Calibri" pitchFamily="34" charset="-122"/>
                <a:cs typeface="Calibri" pitchFamily="34" charset="-120"/>
              </a:rPr>
              <a:t>Ελαιώνες υψηλής αξίας, πολλοί χωρίς άρδευση, εκτεθειμένοι σε καύσωνες.</a:t>
            </a:r>
            <a:endParaRPr lang="en-US" sz="1150" dirty="0"/>
          </a:p>
          <a:p>
            <a:pPr algn="l" marL="342900" indent="-342900">
              <a:lnSpc>
                <a:spcPct val="116000"/>
              </a:lnSpc>
              <a:spcAft>
                <a:spcPts val="700"/>
              </a:spcAft>
              <a:buSzPct val="100000"/>
              <a:buChar char="•"/>
            </a:pPr>
            <a:r>
              <a:rPr lang="en-US" sz="1150" dirty="0">
                <a:solidFill>
                  <a:srgbClr val="3F3138"/>
                </a:solidFill>
                <a:latin typeface="Calibri" pitchFamily="34" charset="0"/>
                <a:ea typeface="Calibri" pitchFamily="34" charset="-122"/>
                <a:cs typeface="Calibri" pitchFamily="34" charset="-120"/>
              </a:rPr>
              <a:t>Το 2021 η ζέστη της άνοιξης μείωσε σημαντικά την παραγωγή της περιοχής.</a:t>
            </a:r>
            <a:endParaRPr lang="en-US" sz="1150" dirty="0"/>
          </a:p>
          <a:p>
            <a:pPr algn="l" marL="342900" indent="-342900">
              <a:lnSpc>
                <a:spcPct val="116000"/>
              </a:lnSpc>
              <a:spcAft>
                <a:spcPts val="700"/>
              </a:spcAft>
              <a:buSzPct val="100000"/>
              <a:buChar char="•"/>
            </a:pPr>
            <a:r>
              <a:rPr lang="en-US" sz="1150" dirty="0">
                <a:solidFill>
                  <a:srgbClr val="3F3138"/>
                </a:solidFill>
                <a:latin typeface="Calibri" pitchFamily="34" charset="0"/>
                <a:ea typeface="Calibri" pitchFamily="34" charset="-122"/>
                <a:cs typeface="Calibri" pitchFamily="34" charset="-120"/>
              </a:rPr>
              <a:t>Νέες φυτεύσεις και ανανεώσεις: η κατάλληλη στιγμή για τον υδροσυγκρατητή.</a:t>
            </a:r>
            <a:endParaRPr lang="en-US" sz="1150" dirty="0"/>
          </a:p>
        </p:txBody>
      </p:sp>
      <p:sp>
        <p:nvSpPr>
          <p:cNvPr id="14" name="Shape 10"/>
          <p:cNvSpPr/>
          <p:nvPr/>
        </p:nvSpPr>
        <p:spPr>
          <a:xfrm>
            <a:off x="8124749" y="1783080"/>
            <a:ext cx="3472586" cy="4069080"/>
          </a:xfrm>
          <a:prstGeom prst="roundRect">
            <a:avLst>
              <a:gd name="adj" fmla="val 2633"/>
            </a:avLst>
          </a:prstGeom>
          <a:solidFill>
            <a:srgbClr val="F5EFF1"/>
          </a:solidFill>
          <a:ln w="9525">
            <a:solidFill>
              <a:srgbClr val="E5D9DE"/>
            </a:solidFill>
            <a:prstDash val="solid"/>
          </a:ln>
        </p:spPr>
      </p:sp>
      <p:pic>
        <p:nvPicPr>
          <p:cNvPr id="15" name="Image 2" descr="preencoded.png">    </p:cNvPr>
          <p:cNvPicPr>
            <a:picLocks noChangeAspect="1"/>
          </p:cNvPicPr>
          <p:nvPr/>
        </p:nvPicPr>
        <p:blipFill>
          <a:blip r:embed="rId3"/>
          <a:stretch>
            <a:fillRect/>
          </a:stretch>
        </p:blipFill>
        <p:spPr>
          <a:xfrm>
            <a:off x="8124749" y="1783080"/>
            <a:ext cx="3472586" cy="1691640"/>
          </a:xfrm>
          <a:prstGeom prst="rect">
            <a:avLst/>
          </a:prstGeom>
        </p:spPr>
      </p:pic>
      <p:sp>
        <p:nvSpPr>
          <p:cNvPr id="16" name="Text 11"/>
          <p:cNvSpPr txBox="1"/>
          <p:nvPr/>
        </p:nvSpPr>
        <p:spPr>
          <a:xfrm>
            <a:off x="8325917" y="3639312"/>
            <a:ext cx="3070250" cy="384048"/>
          </a:xfrm>
          <a:prstGeom prst="rect">
            <a:avLst/>
          </a:prstGeom>
          <a:noFill/>
          <a:ln/>
        </p:spPr>
        <p:txBody>
          <a:bodyPr wrap="square" lIns="0" tIns="0" rIns="0" bIns="0" rtlCol="0" anchor="ctr"/>
          <a:lstStyle/>
          <a:p>
            <a:pPr algn="l" indent="0" marL="0">
              <a:buNone/>
            </a:pPr>
            <a:r>
              <a:rPr lang="en-US" sz="1500" b="1" dirty="0">
                <a:solidFill>
                  <a:srgbClr val="6B2A44"/>
                </a:solidFill>
                <a:latin typeface="Cambria" pitchFamily="34" charset="0"/>
                <a:ea typeface="Cambria" pitchFamily="34" charset="-122"/>
                <a:cs typeface="Cambria" pitchFamily="34" charset="-120"/>
              </a:rPr>
              <a:t>Κρήτη</a:t>
            </a:r>
            <a:endParaRPr lang="en-US" sz="1500" dirty="0"/>
          </a:p>
        </p:txBody>
      </p:sp>
      <p:sp>
        <p:nvSpPr>
          <p:cNvPr id="17" name="Text 12"/>
          <p:cNvSpPr txBox="1"/>
          <p:nvPr/>
        </p:nvSpPr>
        <p:spPr>
          <a:xfrm>
            <a:off x="8325917" y="4041648"/>
            <a:ext cx="3070250" cy="329184"/>
          </a:xfrm>
          <a:prstGeom prst="rect">
            <a:avLst/>
          </a:prstGeom>
          <a:noFill/>
          <a:ln/>
        </p:spPr>
        <p:txBody>
          <a:bodyPr wrap="square" lIns="0" tIns="0" rIns="0" bIns="0" rtlCol="0" anchor="ctr"/>
          <a:lstStyle/>
          <a:p>
            <a:pPr algn="l" indent="0" marL="0">
              <a:buNone/>
            </a:pPr>
            <a:r>
              <a:rPr lang="en-US" sz="1250" b="1" dirty="0">
                <a:solidFill>
                  <a:srgbClr val="8F6D0F"/>
                </a:solidFill>
                <a:latin typeface="Calibri" pitchFamily="34" charset="0"/>
                <a:ea typeface="Calibri" pitchFamily="34" charset="-122"/>
                <a:cs typeface="Calibri" pitchFamily="34" charset="-120"/>
              </a:rPr>
              <a:t>Ελιά, αμπέλι, θερμοκήπια</a:t>
            </a:r>
            <a:endParaRPr lang="en-US" sz="1250" dirty="0"/>
          </a:p>
        </p:txBody>
      </p:sp>
      <p:sp>
        <p:nvSpPr>
          <p:cNvPr id="18" name="Text 13"/>
          <p:cNvSpPr txBox="1"/>
          <p:nvPr/>
        </p:nvSpPr>
        <p:spPr>
          <a:xfrm>
            <a:off x="8325917" y="4407408"/>
            <a:ext cx="3070250" cy="1280160"/>
          </a:xfrm>
          <a:prstGeom prst="rect">
            <a:avLst/>
          </a:prstGeom>
          <a:noFill/>
          <a:ln/>
        </p:spPr>
        <p:txBody>
          <a:bodyPr wrap="square" lIns="0" tIns="0" rIns="0" bIns="0" rtlCol="0" anchor="t"/>
          <a:lstStyle/>
          <a:p>
            <a:pPr algn="l" marL="342900" indent="-342900">
              <a:lnSpc>
                <a:spcPct val="116000"/>
              </a:lnSpc>
              <a:spcAft>
                <a:spcPts val="700"/>
              </a:spcAft>
              <a:buSzPct val="100000"/>
              <a:buChar char="•"/>
            </a:pPr>
            <a:r>
              <a:rPr lang="en-US" sz="1150" dirty="0">
                <a:solidFill>
                  <a:srgbClr val="3F3138"/>
                </a:solidFill>
                <a:latin typeface="Calibri" pitchFamily="34" charset="0"/>
                <a:ea typeface="Calibri" pitchFamily="34" charset="-122"/>
                <a:cs typeface="Calibri" pitchFamily="34" charset="-120"/>
              </a:rPr>
              <a:t>Ξηρά καλοκαίρια και υδροφορείς υπό πίεση, ιδίως στην ανατολική Κρήτη.</a:t>
            </a:r>
            <a:endParaRPr lang="en-US" sz="1150" dirty="0"/>
          </a:p>
          <a:p>
            <a:pPr algn="l" marL="342900" indent="-342900">
              <a:lnSpc>
                <a:spcPct val="116000"/>
              </a:lnSpc>
              <a:spcAft>
                <a:spcPts val="700"/>
              </a:spcAft>
              <a:buSzPct val="100000"/>
              <a:buChar char="•"/>
            </a:pPr>
            <a:r>
              <a:rPr lang="en-US" sz="1150" dirty="0">
                <a:solidFill>
                  <a:srgbClr val="3F3138"/>
                </a:solidFill>
                <a:latin typeface="Calibri" pitchFamily="34" charset="0"/>
                <a:ea typeface="Calibri" pitchFamily="34" charset="-122"/>
                <a:cs typeface="Calibri" pitchFamily="34" charset="-120"/>
              </a:rPr>
              <a:t>Θερμοκήπια στην Ιεράπετρα και ελαιώνες σε όλο το νησί.</a:t>
            </a:r>
            <a:endParaRPr lang="en-US" sz="1150" dirty="0"/>
          </a:p>
          <a:p>
            <a:pPr algn="l" marL="342900" indent="-342900">
              <a:lnSpc>
                <a:spcPct val="116000"/>
              </a:lnSpc>
              <a:spcAft>
                <a:spcPts val="700"/>
              </a:spcAft>
              <a:buSzPct val="100000"/>
              <a:buChar char="•"/>
            </a:pPr>
            <a:r>
              <a:rPr lang="en-US" sz="1150" dirty="0">
                <a:solidFill>
                  <a:srgbClr val="3F3138"/>
                </a:solidFill>
                <a:latin typeface="Calibri" pitchFamily="34" charset="0"/>
                <a:ea typeface="Calibri" pitchFamily="34" charset="-122"/>
                <a:cs typeface="Calibri" pitchFamily="34" charset="-120"/>
              </a:rPr>
              <a:t>Παραγωγοί εξοικειωμένοι με τη στάγδην άρδευση και τις πιστοποιήσεις εξαγωγής.</a:t>
            </a:r>
            <a:endParaRPr lang="en-US" sz="1150" dirty="0"/>
          </a:p>
        </p:txBody>
      </p:sp>
      <p:sp>
        <p:nvSpPr>
          <p:cNvPr id="19" name="Text 14"/>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7C6B73">
                    <a:alpha val="80000"/>
                  </a:srgbClr>
                </a:solidFill>
                <a:latin typeface="Calibri" pitchFamily="34" charset="0"/>
                <a:ea typeface="Calibri" pitchFamily="34" charset="-122"/>
                <a:cs typeface="Calibri" pitchFamily="34" charset="-120"/>
              </a:rPr>
              <a:t>Green Solutions · Μελέτη αγοράς Ελλάδα</a:t>
            </a:r>
            <a:endParaRPr lang="en-US" sz="950" dirty="0"/>
          </a:p>
        </p:txBody>
      </p:sp>
      <p:sp>
        <p:nvSpPr>
          <p:cNvPr id="20" name="Text 15"/>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7C6B73">
                    <a:alpha val="80000"/>
                  </a:srgbClr>
                </a:solidFill>
                <a:latin typeface="Calibri" pitchFamily="34" charset="0"/>
                <a:ea typeface="Calibri" pitchFamily="34" charset="-122"/>
                <a:cs typeface="Calibri" pitchFamily="34" charset="-120"/>
              </a:rPr>
              <a:t>11</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CFAFA"/>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algn="l" indent="0" marL="0">
              <a:buNone/>
            </a:pPr>
            <a:r>
              <a:rPr lang="en-US" sz="1150" b="1" spc="200" kern="0" dirty="0">
                <a:solidFill>
                  <a:srgbClr val="C9A227"/>
                </a:solidFill>
                <a:latin typeface="Calibri" pitchFamily="34" charset="0"/>
                <a:ea typeface="Calibri" pitchFamily="34" charset="-122"/>
                <a:cs typeface="Calibri" pitchFamily="34" charset="-120"/>
              </a:rPr>
              <a:t>ΠΩΣ ΔΟΥΛΕΥΟΥΜΕ</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algn="l" indent="0" marL="0">
              <a:buNone/>
            </a:pPr>
            <a:r>
              <a:rPr lang="en-US" sz="3000" b="1" dirty="0">
                <a:solidFill>
                  <a:srgbClr val="3F162A"/>
                </a:solidFill>
                <a:latin typeface="Cambria" pitchFamily="34" charset="0"/>
                <a:ea typeface="Cambria" pitchFamily="34" charset="-122"/>
                <a:cs typeface="Cambria" pitchFamily="34" charset="-120"/>
              </a:rPr>
              <a:t>Σταδιακή εφαρμογή, με μέτρηση σε κάθε βήμα</a:t>
            </a:r>
            <a:endParaRPr lang="en-US" sz="3000" dirty="0"/>
          </a:p>
        </p:txBody>
      </p:sp>
      <p:sp>
        <p:nvSpPr>
          <p:cNvPr id="4" name="Shape 2"/>
          <p:cNvSpPr/>
          <p:nvPr/>
        </p:nvSpPr>
        <p:spPr>
          <a:xfrm>
            <a:off x="594360" y="1874520"/>
            <a:ext cx="2545004" cy="2834640"/>
          </a:xfrm>
          <a:prstGeom prst="roundRect">
            <a:avLst>
              <a:gd name="adj" fmla="val 3593"/>
            </a:avLst>
          </a:prstGeom>
          <a:solidFill>
            <a:srgbClr val="F5EFF1"/>
          </a:solidFill>
          <a:ln w="9525">
            <a:solidFill>
              <a:srgbClr val="E5D9DE"/>
            </a:solidFill>
            <a:prstDash val="solid"/>
          </a:ln>
        </p:spPr>
      </p:sp>
      <p:sp>
        <p:nvSpPr>
          <p:cNvPr id="5" name="Shape 3"/>
          <p:cNvSpPr/>
          <p:nvPr/>
        </p:nvSpPr>
        <p:spPr>
          <a:xfrm>
            <a:off x="822960" y="2103120"/>
            <a:ext cx="566928" cy="566928"/>
          </a:xfrm>
          <a:prstGeom prst="ellipse">
            <a:avLst/>
          </a:prstGeom>
          <a:solidFill>
            <a:srgbClr val="6B2A44"/>
          </a:solidFill>
          <a:ln/>
        </p:spPr>
      </p:sp>
      <p:sp>
        <p:nvSpPr>
          <p:cNvPr id="6" name="Text 4"/>
          <p:cNvSpPr txBox="1"/>
          <p:nvPr/>
        </p:nvSpPr>
        <p:spPr>
          <a:xfrm>
            <a:off x="822960" y="2103120"/>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7" name="Text 5"/>
          <p:cNvSpPr txBox="1"/>
          <p:nvPr/>
        </p:nvSpPr>
        <p:spPr>
          <a:xfrm>
            <a:off x="822960" y="2788920"/>
            <a:ext cx="2087804" cy="457200"/>
          </a:xfrm>
          <a:prstGeom prst="rect">
            <a:avLst/>
          </a:prstGeom>
          <a:noFill/>
          <a:ln/>
        </p:spPr>
        <p:txBody>
          <a:bodyPr wrap="square" lIns="0" tIns="0" rIns="0" bIns="0" rtlCol="0" anchor="ctr"/>
          <a:lstStyle/>
          <a:p>
            <a:pPr algn="l" indent="0" marL="0">
              <a:buNone/>
            </a:pPr>
            <a:r>
              <a:rPr lang="en-US" sz="1400" b="1" dirty="0">
                <a:solidFill>
                  <a:srgbClr val="6B2A44"/>
                </a:solidFill>
                <a:latin typeface="Cambria" pitchFamily="34" charset="0"/>
                <a:ea typeface="Cambria" pitchFamily="34" charset="-122"/>
                <a:cs typeface="Cambria" pitchFamily="34" charset="-120"/>
              </a:rPr>
              <a:t>Διάγνωση</a:t>
            </a:r>
            <a:endParaRPr lang="en-US" sz="1400" dirty="0"/>
          </a:p>
        </p:txBody>
      </p:sp>
      <p:sp>
        <p:nvSpPr>
          <p:cNvPr id="8" name="Text 6"/>
          <p:cNvSpPr txBox="1"/>
          <p:nvPr/>
        </p:nvSpPr>
        <p:spPr>
          <a:xfrm>
            <a:off x="822960" y="3291840"/>
            <a:ext cx="2087804" cy="1234440"/>
          </a:xfrm>
          <a:prstGeom prst="rect">
            <a:avLst/>
          </a:prstGeom>
          <a:noFill/>
          <a:ln/>
        </p:spPr>
        <p:txBody>
          <a:bodyPr wrap="square" lIns="0" tIns="0" rIns="0" bIns="0" rtlCol="0" anchor="t"/>
          <a:lstStyle/>
          <a:p>
            <a:pPr algn="l" indent="0" marL="0">
              <a:lnSpc>
                <a:spcPct val="120000"/>
              </a:lnSpc>
              <a:buNone/>
            </a:pPr>
            <a:r>
              <a:rPr lang="en-US" sz="1200" dirty="0">
                <a:solidFill>
                  <a:srgbClr val="3F3138"/>
                </a:solidFill>
                <a:latin typeface="Calibri" pitchFamily="34" charset="0"/>
                <a:ea typeface="Calibri" pitchFamily="34" charset="-122"/>
                <a:cs typeface="Calibri" pitchFamily="34" charset="-120"/>
              </a:rPr>
              <a:t>Ανάλυση εδάφους, μεθόδου άρδευσης και καλλιέργειας. Καμία δέσμευση σε αυτό το στάδιο.</a:t>
            </a:r>
            <a:endParaRPr lang="en-US" sz="1200" dirty="0"/>
          </a:p>
        </p:txBody>
      </p:sp>
      <p:sp>
        <p:nvSpPr>
          <p:cNvPr id="9" name="Shape 7"/>
          <p:cNvSpPr/>
          <p:nvPr/>
        </p:nvSpPr>
        <p:spPr>
          <a:xfrm>
            <a:off x="3413684" y="1874520"/>
            <a:ext cx="2545004" cy="2834640"/>
          </a:xfrm>
          <a:prstGeom prst="roundRect">
            <a:avLst>
              <a:gd name="adj" fmla="val 3593"/>
            </a:avLst>
          </a:prstGeom>
          <a:solidFill>
            <a:srgbClr val="F5EFF1"/>
          </a:solidFill>
          <a:ln w="9525">
            <a:solidFill>
              <a:srgbClr val="E5D9DE"/>
            </a:solidFill>
            <a:prstDash val="solid"/>
          </a:ln>
        </p:spPr>
      </p:sp>
      <p:sp>
        <p:nvSpPr>
          <p:cNvPr id="10" name="Shape 8"/>
          <p:cNvSpPr/>
          <p:nvPr/>
        </p:nvSpPr>
        <p:spPr>
          <a:xfrm>
            <a:off x="3642284" y="2103120"/>
            <a:ext cx="566928" cy="566928"/>
          </a:xfrm>
          <a:prstGeom prst="ellipse">
            <a:avLst/>
          </a:prstGeom>
          <a:solidFill>
            <a:srgbClr val="6B2A44"/>
          </a:solidFill>
          <a:ln/>
        </p:spPr>
      </p:sp>
      <p:sp>
        <p:nvSpPr>
          <p:cNvPr id="11" name="Text 9"/>
          <p:cNvSpPr txBox="1"/>
          <p:nvPr/>
        </p:nvSpPr>
        <p:spPr>
          <a:xfrm>
            <a:off x="3642284" y="2103120"/>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2" name="Text 10"/>
          <p:cNvSpPr txBox="1"/>
          <p:nvPr/>
        </p:nvSpPr>
        <p:spPr>
          <a:xfrm>
            <a:off x="3642284" y="2788920"/>
            <a:ext cx="2087804" cy="457200"/>
          </a:xfrm>
          <a:prstGeom prst="rect">
            <a:avLst/>
          </a:prstGeom>
          <a:noFill/>
          <a:ln/>
        </p:spPr>
        <p:txBody>
          <a:bodyPr wrap="square" lIns="0" tIns="0" rIns="0" bIns="0" rtlCol="0" anchor="ctr"/>
          <a:lstStyle/>
          <a:p>
            <a:pPr algn="l" indent="0" marL="0">
              <a:buNone/>
            </a:pPr>
            <a:r>
              <a:rPr lang="en-US" sz="1400" b="1" dirty="0">
                <a:solidFill>
                  <a:srgbClr val="6B2A44"/>
                </a:solidFill>
                <a:latin typeface="Cambria" pitchFamily="34" charset="0"/>
                <a:ea typeface="Cambria" pitchFamily="34" charset="-122"/>
                <a:cs typeface="Cambria" pitchFamily="34" charset="-120"/>
              </a:rPr>
              <a:t>Δοκιμή</a:t>
            </a:r>
            <a:endParaRPr lang="en-US" sz="1400" dirty="0"/>
          </a:p>
        </p:txBody>
      </p:sp>
      <p:sp>
        <p:nvSpPr>
          <p:cNvPr id="13" name="Text 11"/>
          <p:cNvSpPr txBox="1"/>
          <p:nvPr/>
        </p:nvSpPr>
        <p:spPr>
          <a:xfrm>
            <a:off x="3642284" y="3291840"/>
            <a:ext cx="2087804" cy="1234440"/>
          </a:xfrm>
          <a:prstGeom prst="rect">
            <a:avLst/>
          </a:prstGeom>
          <a:noFill/>
          <a:ln/>
        </p:spPr>
        <p:txBody>
          <a:bodyPr wrap="square" lIns="0" tIns="0" rIns="0" bIns="0" rtlCol="0" anchor="t"/>
          <a:lstStyle/>
          <a:p>
            <a:pPr algn="l" indent="0" marL="0">
              <a:lnSpc>
                <a:spcPct val="120000"/>
              </a:lnSpc>
              <a:buNone/>
            </a:pPr>
            <a:r>
              <a:rPr lang="en-US" sz="1200" dirty="0">
                <a:solidFill>
                  <a:srgbClr val="3F3138"/>
                </a:solidFill>
                <a:latin typeface="Calibri" pitchFamily="34" charset="0"/>
                <a:ea typeface="Calibri" pitchFamily="34" charset="-122"/>
                <a:cs typeface="Calibri" pitchFamily="34" charset="-120"/>
              </a:rPr>
              <a:t>Συγκριτική δοκιμή σε ένα αγροτεμάχιο, με μάρτυρα που καλλιεργείται με τον ίδιο τρόπο.</a:t>
            </a:r>
            <a:endParaRPr lang="en-US" sz="1200" dirty="0"/>
          </a:p>
        </p:txBody>
      </p:sp>
      <p:sp>
        <p:nvSpPr>
          <p:cNvPr id="14" name="Shape 12"/>
          <p:cNvSpPr/>
          <p:nvPr/>
        </p:nvSpPr>
        <p:spPr>
          <a:xfrm>
            <a:off x="6233008" y="1874520"/>
            <a:ext cx="2545004" cy="2834640"/>
          </a:xfrm>
          <a:prstGeom prst="roundRect">
            <a:avLst>
              <a:gd name="adj" fmla="val 3593"/>
            </a:avLst>
          </a:prstGeom>
          <a:solidFill>
            <a:srgbClr val="F5EFF1"/>
          </a:solidFill>
          <a:ln w="9525">
            <a:solidFill>
              <a:srgbClr val="E5D9DE"/>
            </a:solidFill>
            <a:prstDash val="solid"/>
          </a:ln>
        </p:spPr>
      </p:sp>
      <p:sp>
        <p:nvSpPr>
          <p:cNvPr id="15" name="Shape 13"/>
          <p:cNvSpPr/>
          <p:nvPr/>
        </p:nvSpPr>
        <p:spPr>
          <a:xfrm>
            <a:off x="6461608" y="2103120"/>
            <a:ext cx="566928" cy="566928"/>
          </a:xfrm>
          <a:prstGeom prst="ellipse">
            <a:avLst/>
          </a:prstGeom>
          <a:solidFill>
            <a:srgbClr val="6B2A44"/>
          </a:solidFill>
          <a:ln/>
        </p:spPr>
      </p:sp>
      <p:sp>
        <p:nvSpPr>
          <p:cNvPr id="16" name="Text 14"/>
          <p:cNvSpPr txBox="1"/>
          <p:nvPr/>
        </p:nvSpPr>
        <p:spPr>
          <a:xfrm>
            <a:off x="6461608" y="2103120"/>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7" name="Text 15"/>
          <p:cNvSpPr txBox="1"/>
          <p:nvPr/>
        </p:nvSpPr>
        <p:spPr>
          <a:xfrm>
            <a:off x="6461608" y="2788920"/>
            <a:ext cx="2087804" cy="457200"/>
          </a:xfrm>
          <a:prstGeom prst="rect">
            <a:avLst/>
          </a:prstGeom>
          <a:noFill/>
          <a:ln/>
        </p:spPr>
        <p:txBody>
          <a:bodyPr wrap="square" lIns="0" tIns="0" rIns="0" bIns="0" rtlCol="0" anchor="ctr"/>
          <a:lstStyle/>
          <a:p>
            <a:pPr algn="l" indent="0" marL="0">
              <a:buNone/>
            </a:pPr>
            <a:r>
              <a:rPr lang="en-US" sz="1400" b="1" dirty="0">
                <a:solidFill>
                  <a:srgbClr val="6B2A44"/>
                </a:solidFill>
                <a:latin typeface="Cambria" pitchFamily="34" charset="0"/>
                <a:ea typeface="Cambria" pitchFamily="34" charset="-122"/>
                <a:cs typeface="Cambria" pitchFamily="34" charset="-120"/>
              </a:rPr>
              <a:t>Μέτρηση</a:t>
            </a:r>
            <a:endParaRPr lang="en-US" sz="1400" dirty="0"/>
          </a:p>
        </p:txBody>
      </p:sp>
      <p:sp>
        <p:nvSpPr>
          <p:cNvPr id="18" name="Text 16"/>
          <p:cNvSpPr txBox="1"/>
          <p:nvPr/>
        </p:nvSpPr>
        <p:spPr>
          <a:xfrm>
            <a:off x="6461608" y="3291840"/>
            <a:ext cx="2087804" cy="1234440"/>
          </a:xfrm>
          <a:prstGeom prst="rect">
            <a:avLst/>
          </a:prstGeom>
          <a:noFill/>
          <a:ln/>
        </p:spPr>
        <p:txBody>
          <a:bodyPr wrap="square" lIns="0" tIns="0" rIns="0" bIns="0" rtlCol="0" anchor="t"/>
          <a:lstStyle/>
          <a:p>
            <a:pPr algn="l" indent="0" marL="0">
              <a:lnSpc>
                <a:spcPct val="120000"/>
              </a:lnSpc>
              <a:buNone/>
            </a:pPr>
            <a:r>
              <a:rPr lang="en-US" sz="1200" dirty="0">
                <a:solidFill>
                  <a:srgbClr val="3F3138"/>
                </a:solidFill>
                <a:latin typeface="Calibri" pitchFamily="34" charset="0"/>
                <a:ea typeface="Calibri" pitchFamily="34" charset="-122"/>
                <a:cs typeface="Calibri" pitchFamily="34" charset="-120"/>
              </a:rPr>
              <a:t>Καταγραφή κατανάλωσης νερού και απόδοσης σε μια πλήρη καλλιεργητική περίοδο.</a:t>
            </a:r>
            <a:endParaRPr lang="en-US" sz="1200" dirty="0"/>
          </a:p>
        </p:txBody>
      </p:sp>
      <p:sp>
        <p:nvSpPr>
          <p:cNvPr id="19" name="Shape 17"/>
          <p:cNvSpPr/>
          <p:nvPr/>
        </p:nvSpPr>
        <p:spPr>
          <a:xfrm>
            <a:off x="9052331" y="1874520"/>
            <a:ext cx="2545004" cy="2834640"/>
          </a:xfrm>
          <a:prstGeom prst="roundRect">
            <a:avLst>
              <a:gd name="adj" fmla="val 3593"/>
            </a:avLst>
          </a:prstGeom>
          <a:solidFill>
            <a:srgbClr val="F5EFF1"/>
          </a:solidFill>
          <a:ln w="9525">
            <a:solidFill>
              <a:srgbClr val="E5D9DE"/>
            </a:solidFill>
            <a:prstDash val="solid"/>
          </a:ln>
        </p:spPr>
      </p:sp>
      <p:sp>
        <p:nvSpPr>
          <p:cNvPr id="20" name="Shape 18"/>
          <p:cNvSpPr/>
          <p:nvPr/>
        </p:nvSpPr>
        <p:spPr>
          <a:xfrm>
            <a:off x="9280931" y="2103120"/>
            <a:ext cx="566928" cy="566928"/>
          </a:xfrm>
          <a:prstGeom prst="ellipse">
            <a:avLst/>
          </a:prstGeom>
          <a:solidFill>
            <a:srgbClr val="6B2A44"/>
          </a:solidFill>
          <a:ln/>
        </p:spPr>
      </p:sp>
      <p:sp>
        <p:nvSpPr>
          <p:cNvPr id="21" name="Text 19"/>
          <p:cNvSpPr txBox="1"/>
          <p:nvPr/>
        </p:nvSpPr>
        <p:spPr>
          <a:xfrm>
            <a:off x="9280931" y="2103120"/>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2" name="Text 20"/>
          <p:cNvSpPr txBox="1"/>
          <p:nvPr/>
        </p:nvSpPr>
        <p:spPr>
          <a:xfrm>
            <a:off x="9280931" y="2788920"/>
            <a:ext cx="2087804" cy="457200"/>
          </a:xfrm>
          <a:prstGeom prst="rect">
            <a:avLst/>
          </a:prstGeom>
          <a:noFill/>
          <a:ln/>
        </p:spPr>
        <p:txBody>
          <a:bodyPr wrap="square" lIns="0" tIns="0" rIns="0" bIns="0" rtlCol="0" anchor="ctr"/>
          <a:lstStyle/>
          <a:p>
            <a:pPr algn="l" indent="0" marL="0">
              <a:buNone/>
            </a:pPr>
            <a:r>
              <a:rPr lang="en-US" sz="1400" b="1" dirty="0">
                <a:solidFill>
                  <a:srgbClr val="6B2A44"/>
                </a:solidFill>
                <a:latin typeface="Cambria" pitchFamily="34" charset="0"/>
                <a:ea typeface="Cambria" pitchFamily="34" charset="-122"/>
                <a:cs typeface="Cambria" pitchFamily="34" charset="-120"/>
              </a:rPr>
              <a:t>Επέκταση</a:t>
            </a:r>
            <a:endParaRPr lang="en-US" sz="1400" dirty="0"/>
          </a:p>
        </p:txBody>
      </p:sp>
      <p:sp>
        <p:nvSpPr>
          <p:cNvPr id="23" name="Text 21"/>
          <p:cNvSpPr txBox="1"/>
          <p:nvPr/>
        </p:nvSpPr>
        <p:spPr>
          <a:xfrm>
            <a:off x="9280931" y="3291840"/>
            <a:ext cx="2087804" cy="1234440"/>
          </a:xfrm>
          <a:prstGeom prst="rect">
            <a:avLst/>
          </a:prstGeom>
          <a:noFill/>
          <a:ln/>
        </p:spPr>
        <p:txBody>
          <a:bodyPr wrap="square" lIns="0" tIns="0" rIns="0" bIns="0" rtlCol="0" anchor="t"/>
          <a:lstStyle/>
          <a:p>
            <a:pPr algn="l" indent="0" marL="0">
              <a:lnSpc>
                <a:spcPct val="120000"/>
              </a:lnSpc>
              <a:buNone/>
            </a:pPr>
            <a:r>
              <a:rPr lang="en-US" sz="1200" dirty="0">
                <a:solidFill>
                  <a:srgbClr val="3F3138"/>
                </a:solidFill>
                <a:latin typeface="Calibri" pitchFamily="34" charset="0"/>
                <a:ea typeface="Calibri" pitchFamily="34" charset="-122"/>
                <a:cs typeface="Calibri" pitchFamily="34" charset="-120"/>
              </a:rPr>
              <a:t>Σταδιακή εφαρμογή στα υπόλοιπα αγροτεμάχια, με βάση τα μετρημένα αποτελέσματα.</a:t>
            </a:r>
            <a:endParaRPr lang="en-US" sz="1200" dirty="0"/>
          </a:p>
        </p:txBody>
      </p:sp>
      <p:sp>
        <p:nvSpPr>
          <p:cNvPr id="24" name="Text 22"/>
          <p:cNvSpPr txBox="1"/>
          <p:nvPr/>
        </p:nvSpPr>
        <p:spPr>
          <a:xfrm>
            <a:off x="594360" y="4983480"/>
            <a:ext cx="11002975" cy="822960"/>
          </a:xfrm>
          <a:prstGeom prst="rect">
            <a:avLst/>
          </a:prstGeom>
          <a:noFill/>
          <a:ln/>
        </p:spPr>
        <p:txBody>
          <a:bodyPr wrap="square" lIns="0" tIns="0" rIns="0" bIns="0" rtlCol="0" anchor="t"/>
          <a:lstStyle/>
          <a:p>
            <a:pPr algn="l" indent="0" marL="0">
              <a:lnSpc>
                <a:spcPct val="125000"/>
              </a:lnSpc>
              <a:buNone/>
            </a:pPr>
            <a:r>
              <a:rPr lang="en-US" sz="1250" i="1" dirty="0">
                <a:solidFill>
                  <a:srgbClr val="7C6B73"/>
                </a:solidFill>
                <a:latin typeface="Calibri" pitchFamily="34" charset="0"/>
                <a:ea typeface="Calibri" pitchFamily="34" charset="-122"/>
                <a:cs typeface="Calibri" pitchFamily="34" charset="-120"/>
              </a:rPr>
              <a:t>Ο κανόνας δοσολογίας είναι παντού ο ίδιος: 3 γραμμάρια ανά λίτρο ωφέλιμου εδάφους. Αυτό που αλλάζει από χωράφι σε χωράφι είναι ο όγκος εδάφους που εξερευνούν πραγματικά οι ρίζες.</a:t>
            </a:r>
            <a:endParaRPr lang="en-US" sz="1250" dirty="0"/>
          </a:p>
        </p:txBody>
      </p:sp>
      <p:sp>
        <p:nvSpPr>
          <p:cNvPr id="25" name="Text 23"/>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7C6B73">
                    <a:alpha val="80000"/>
                  </a:srgbClr>
                </a:solidFill>
                <a:latin typeface="Calibri" pitchFamily="34" charset="0"/>
                <a:ea typeface="Calibri" pitchFamily="34" charset="-122"/>
                <a:cs typeface="Calibri" pitchFamily="34" charset="-120"/>
              </a:rPr>
              <a:t>Green Solutions · Μελέτη αγοράς Ελλάδα</a:t>
            </a:r>
            <a:endParaRPr lang="en-US" sz="950" dirty="0"/>
          </a:p>
        </p:txBody>
      </p:sp>
      <p:sp>
        <p:nvSpPr>
          <p:cNvPr id="26" name="Text 24"/>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7C6B73">
                    <a:alpha val="80000"/>
                  </a:srgbClr>
                </a:solidFill>
                <a:latin typeface="Calibri" pitchFamily="34" charset="0"/>
                <a:ea typeface="Calibri" pitchFamily="34" charset="-122"/>
                <a:cs typeface="Calibri" pitchFamily="34" charset="-120"/>
              </a:rPr>
              <a:t>12</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CFAFA"/>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algn="l" indent="0" marL="0">
              <a:buNone/>
            </a:pPr>
            <a:r>
              <a:rPr lang="en-US" sz="1150" b="1" spc="200" kern="0" dirty="0">
                <a:solidFill>
                  <a:srgbClr val="C9A227"/>
                </a:solidFill>
                <a:latin typeface="Calibri" pitchFamily="34" charset="0"/>
                <a:ea typeface="Calibri" pitchFamily="34" charset="-122"/>
                <a:cs typeface="Calibri" pitchFamily="34" charset="-120"/>
              </a:rPr>
              <a:t>ΤΙ ΠΡΕΠΕΙ ΝΑ ΠΡΟΒΛΕΦΘΕΙ</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algn="l" indent="0" marL="0">
              <a:buNone/>
            </a:pPr>
            <a:r>
              <a:rPr lang="en-US" sz="3000" b="1" dirty="0">
                <a:solidFill>
                  <a:srgbClr val="3F162A"/>
                </a:solidFill>
                <a:latin typeface="Cambria" pitchFamily="34" charset="0"/>
                <a:ea typeface="Cambria" pitchFamily="34" charset="-122"/>
                <a:cs typeface="Cambria" pitchFamily="34" charset="-120"/>
              </a:rPr>
              <a:t>Κίνδυνοι και απαντήσεις</a:t>
            </a:r>
            <a:endParaRPr lang="en-US" sz="3000" dirty="0"/>
          </a:p>
        </p:txBody>
      </p:sp>
      <p:sp>
        <p:nvSpPr>
          <p:cNvPr id="4" name="Text 2"/>
          <p:cNvSpPr txBox="1"/>
          <p:nvPr/>
        </p:nvSpPr>
        <p:spPr>
          <a:xfrm>
            <a:off x="594360" y="1783080"/>
            <a:ext cx="5227168" cy="411480"/>
          </a:xfrm>
          <a:prstGeom prst="rect">
            <a:avLst/>
          </a:prstGeom>
          <a:noFill/>
          <a:ln/>
        </p:spPr>
        <p:txBody>
          <a:bodyPr wrap="square" lIns="0" tIns="0" rIns="0" bIns="0" rtlCol="0" anchor="ctr"/>
          <a:lstStyle/>
          <a:p>
            <a:pPr algn="l" indent="0" marL="0">
              <a:buNone/>
            </a:pPr>
            <a:r>
              <a:rPr lang="en-US" sz="1600" b="1" dirty="0">
                <a:solidFill>
                  <a:srgbClr val="6B2A44"/>
                </a:solidFill>
                <a:latin typeface="Cambria" pitchFamily="34" charset="0"/>
                <a:ea typeface="Cambria" pitchFamily="34" charset="-122"/>
                <a:cs typeface="Cambria" pitchFamily="34" charset="-120"/>
              </a:rPr>
              <a:t>Κίνδυνοι</a:t>
            </a:r>
            <a:endParaRPr lang="en-US" sz="1600" dirty="0"/>
          </a:p>
        </p:txBody>
      </p:sp>
      <p:sp>
        <p:nvSpPr>
          <p:cNvPr id="5" name="Text 3"/>
          <p:cNvSpPr txBox="1"/>
          <p:nvPr/>
        </p:nvSpPr>
        <p:spPr>
          <a:xfrm>
            <a:off x="594360" y="2286000"/>
            <a:ext cx="5227168" cy="2468880"/>
          </a:xfrm>
          <a:prstGeom prst="rect">
            <a:avLst/>
          </a:prstGeom>
          <a:noFill/>
          <a:ln/>
        </p:spPr>
        <p:txBody>
          <a:bodyPr wrap="square" lIns="0" tIns="0" rIns="0" bIns="0" rtlCol="0" anchor="t"/>
          <a:lstStyle/>
          <a:p>
            <a:pPr algn="l" marL="342900" indent="-342900">
              <a:lnSpc>
                <a:spcPct val="122000"/>
              </a:lnSpc>
              <a:spcAft>
                <a:spcPts val="1000"/>
              </a:spcAft>
              <a:buSzPct val="100000"/>
              <a:buChar char="•"/>
            </a:pPr>
            <a:r>
              <a:rPr lang="en-US" sz="1350" dirty="0">
                <a:solidFill>
                  <a:srgbClr val="3F3138"/>
                </a:solidFill>
                <a:latin typeface="Calibri" pitchFamily="34" charset="0"/>
                <a:ea typeface="Calibri" pitchFamily="34" charset="-122"/>
                <a:cs typeface="Calibri" pitchFamily="34" charset="-120"/>
              </a:rPr>
              <a:t>Μικρές και κατακερματισμένες εκμεταλλεύσεις, με περιορισμένη δυνατότητα επένδυσης.</a:t>
            </a:r>
            <a:endParaRPr lang="en-US" sz="1350" dirty="0"/>
          </a:p>
          <a:p>
            <a:pPr algn="l" marL="342900" indent="-342900">
              <a:lnSpc>
                <a:spcPct val="122000"/>
              </a:lnSpc>
              <a:spcAft>
                <a:spcPts val="1000"/>
              </a:spcAft>
              <a:buSzPct val="100000"/>
              <a:buChar char="•"/>
            </a:pPr>
            <a:r>
              <a:rPr lang="en-US" sz="1350" dirty="0">
                <a:solidFill>
                  <a:srgbClr val="3F3138"/>
                </a:solidFill>
                <a:latin typeface="Calibri" pitchFamily="34" charset="0"/>
                <a:ea typeface="Calibri" pitchFamily="34" charset="-122"/>
                <a:cs typeface="Calibri" pitchFamily="34" charset="-120"/>
              </a:rPr>
              <a:t>Μια βροχερή χρονιά αρκεί για να κρύψει την αξία του προϊόντος.</a:t>
            </a:r>
            <a:endParaRPr lang="en-US" sz="1350" dirty="0"/>
          </a:p>
          <a:p>
            <a:pPr algn="l" marL="342900" indent="-342900">
              <a:lnSpc>
                <a:spcPct val="122000"/>
              </a:lnSpc>
              <a:spcAft>
                <a:spcPts val="1000"/>
              </a:spcAft>
              <a:buSzPct val="100000"/>
              <a:buChar char="•"/>
            </a:pPr>
            <a:r>
              <a:rPr lang="en-US" sz="1350" dirty="0">
                <a:solidFill>
                  <a:srgbClr val="3F3138"/>
                </a:solidFill>
                <a:latin typeface="Calibri" pitchFamily="34" charset="0"/>
                <a:ea typeface="Calibri" pitchFamily="34" charset="-122"/>
                <a:cs typeface="Calibri" pitchFamily="34" charset="-120"/>
              </a:rPr>
              <a:t>Καταχώριση λιπασμάτων και εδαφοβελτιωτικών πριν από την εμπορική διάθεση.</a:t>
            </a:r>
            <a:endParaRPr lang="en-US" sz="1350" dirty="0"/>
          </a:p>
          <a:p>
            <a:pPr algn="l" marL="342900" indent="-342900">
              <a:lnSpc>
                <a:spcPct val="122000"/>
              </a:lnSpc>
              <a:spcAft>
                <a:spcPts val="1000"/>
              </a:spcAft>
              <a:buSzPct val="100000"/>
              <a:buChar char="•"/>
            </a:pPr>
            <a:r>
              <a:rPr lang="en-US" sz="1350" dirty="0">
                <a:solidFill>
                  <a:srgbClr val="3F3138"/>
                </a:solidFill>
                <a:latin typeface="Calibri" pitchFamily="34" charset="0"/>
                <a:ea typeface="Calibri" pitchFamily="34" charset="-122"/>
                <a:cs typeface="Calibri" pitchFamily="34" charset="-120"/>
              </a:rPr>
              <a:t>Κακή φήμη φθηνών πολυμερών με βάση το νάτριο.</a:t>
            </a:r>
            <a:endParaRPr lang="en-US" sz="1350" dirty="0"/>
          </a:p>
        </p:txBody>
      </p:sp>
      <p:sp>
        <p:nvSpPr>
          <p:cNvPr id="6" name="Text 4"/>
          <p:cNvSpPr txBox="1"/>
          <p:nvPr/>
        </p:nvSpPr>
        <p:spPr>
          <a:xfrm>
            <a:off x="6370168" y="1783080"/>
            <a:ext cx="5227168" cy="411480"/>
          </a:xfrm>
          <a:prstGeom prst="rect">
            <a:avLst/>
          </a:prstGeom>
          <a:noFill/>
          <a:ln/>
        </p:spPr>
        <p:txBody>
          <a:bodyPr wrap="square" lIns="0" tIns="0" rIns="0" bIns="0" rtlCol="0" anchor="ctr"/>
          <a:lstStyle/>
          <a:p>
            <a:pPr algn="l" indent="0" marL="0">
              <a:buNone/>
            </a:pPr>
            <a:r>
              <a:rPr lang="en-US" sz="1600" b="1" dirty="0">
                <a:solidFill>
                  <a:srgbClr val="6B2A44"/>
                </a:solidFill>
                <a:latin typeface="Cambria" pitchFamily="34" charset="0"/>
                <a:ea typeface="Cambria" pitchFamily="34" charset="-122"/>
                <a:cs typeface="Cambria" pitchFamily="34" charset="-120"/>
              </a:rPr>
              <a:t>Απαντήσεις</a:t>
            </a:r>
            <a:endParaRPr lang="en-US" sz="1600" dirty="0"/>
          </a:p>
        </p:txBody>
      </p:sp>
      <p:sp>
        <p:nvSpPr>
          <p:cNvPr id="7" name="Text 5"/>
          <p:cNvSpPr txBox="1"/>
          <p:nvPr/>
        </p:nvSpPr>
        <p:spPr>
          <a:xfrm>
            <a:off x="6370168" y="2286000"/>
            <a:ext cx="5227168" cy="2468880"/>
          </a:xfrm>
          <a:prstGeom prst="rect">
            <a:avLst/>
          </a:prstGeom>
          <a:noFill/>
          <a:ln/>
        </p:spPr>
        <p:txBody>
          <a:bodyPr wrap="square" lIns="0" tIns="0" rIns="0" bIns="0" rtlCol="0" anchor="t"/>
          <a:lstStyle/>
          <a:p>
            <a:pPr algn="l" marL="342900" indent="-342900">
              <a:lnSpc>
                <a:spcPct val="122000"/>
              </a:lnSpc>
              <a:spcAft>
                <a:spcPts val="1000"/>
              </a:spcAft>
              <a:buSzPct val="100000"/>
              <a:buChar char="•"/>
            </a:pPr>
            <a:r>
              <a:rPr lang="en-US" sz="1350" dirty="0">
                <a:solidFill>
                  <a:srgbClr val="3F3138"/>
                </a:solidFill>
                <a:latin typeface="Calibri" pitchFamily="34" charset="0"/>
                <a:ea typeface="Calibri" pitchFamily="34" charset="-122"/>
                <a:cs typeface="Calibri" pitchFamily="34" charset="-120"/>
              </a:rPr>
              <a:t>Συνεργασία με συνεταιρισμούς και ομάδες παραγωγών για ομαδικές αγορές.</a:t>
            </a:r>
            <a:endParaRPr lang="en-US" sz="1350" dirty="0"/>
          </a:p>
          <a:p>
            <a:pPr algn="l" marL="342900" indent="-342900">
              <a:lnSpc>
                <a:spcPct val="122000"/>
              </a:lnSpc>
              <a:spcAft>
                <a:spcPts val="1000"/>
              </a:spcAft>
              <a:buSzPct val="100000"/>
              <a:buChar char="•"/>
            </a:pPr>
            <a:r>
              <a:rPr lang="en-US" sz="1350" dirty="0">
                <a:solidFill>
                  <a:srgbClr val="3F3138"/>
                </a:solidFill>
                <a:latin typeface="Calibri" pitchFamily="34" charset="0"/>
                <a:ea typeface="Calibri" pitchFamily="34" charset="-122"/>
                <a:cs typeface="Calibri" pitchFamily="34" charset="-120"/>
              </a:rPr>
              <a:t>Δοκιμή σε πλήρη περίοδο με μάρτυρα, ώστε το όφελος να μετριέται και σε καλή χρονιά.</a:t>
            </a:r>
            <a:endParaRPr lang="en-US" sz="1350" dirty="0"/>
          </a:p>
          <a:p>
            <a:pPr algn="l" marL="342900" indent="-342900">
              <a:lnSpc>
                <a:spcPct val="122000"/>
              </a:lnSpc>
              <a:spcAft>
                <a:spcPts val="1000"/>
              </a:spcAft>
              <a:buSzPct val="100000"/>
              <a:buChar char="•"/>
            </a:pPr>
            <a:r>
              <a:rPr lang="en-US" sz="1350" dirty="0">
                <a:solidFill>
                  <a:srgbClr val="3F3138"/>
                </a:solidFill>
                <a:latin typeface="Calibri" pitchFamily="34" charset="0"/>
                <a:ea typeface="Calibri" pitchFamily="34" charset="-122"/>
                <a:cs typeface="Calibri" pitchFamily="34" charset="-120"/>
              </a:rPr>
              <a:t>Προετοιμασία του φακέλου καταχώρισης παράλληλα με τις πρώτες δοκιμές.</a:t>
            </a:r>
            <a:endParaRPr lang="en-US" sz="1350" dirty="0"/>
          </a:p>
          <a:p>
            <a:pPr algn="l" marL="342900" indent="-342900">
              <a:lnSpc>
                <a:spcPct val="122000"/>
              </a:lnSpc>
              <a:spcAft>
                <a:spcPts val="1000"/>
              </a:spcAft>
              <a:buSzPct val="100000"/>
              <a:buChar char="•"/>
            </a:pPr>
            <a:r>
              <a:rPr lang="en-US" sz="1350" dirty="0">
                <a:solidFill>
                  <a:srgbClr val="3F3138"/>
                </a:solidFill>
                <a:latin typeface="Calibri" pitchFamily="34" charset="0"/>
                <a:ea typeface="Calibri" pitchFamily="34" charset="-122"/>
                <a:cs typeface="Calibri" pitchFamily="34" charset="-120"/>
              </a:rPr>
              <a:t>Τεκμηρίωση της σύνθεσης: κάλιο, ποτέ νάτριο, συμβατό με τροφικές καλλιέργειες.</a:t>
            </a:r>
            <a:endParaRPr lang="en-US" sz="1350" dirty="0"/>
          </a:p>
        </p:txBody>
      </p:sp>
      <p:sp>
        <p:nvSpPr>
          <p:cNvPr id="8" name="Shape 6"/>
          <p:cNvSpPr/>
          <p:nvPr/>
        </p:nvSpPr>
        <p:spPr>
          <a:xfrm>
            <a:off x="594360" y="4846320"/>
            <a:ext cx="11002975" cy="960120"/>
          </a:xfrm>
          <a:prstGeom prst="roundRect">
            <a:avLst>
              <a:gd name="adj" fmla="val 7619"/>
            </a:avLst>
          </a:prstGeom>
          <a:solidFill>
            <a:srgbClr val="F5EFF1"/>
          </a:solidFill>
          <a:ln w="9525">
            <a:solidFill>
              <a:srgbClr val="E5D9DE"/>
            </a:solidFill>
            <a:prstDash val="solid"/>
          </a:ln>
        </p:spPr>
      </p:sp>
      <p:sp>
        <p:nvSpPr>
          <p:cNvPr id="9" name="Text 7"/>
          <p:cNvSpPr txBox="1"/>
          <p:nvPr/>
        </p:nvSpPr>
        <p:spPr>
          <a:xfrm>
            <a:off x="822960" y="4983480"/>
            <a:ext cx="10545775" cy="713232"/>
          </a:xfrm>
          <a:prstGeom prst="rect">
            <a:avLst/>
          </a:prstGeom>
          <a:noFill/>
          <a:ln/>
        </p:spPr>
        <p:txBody>
          <a:bodyPr wrap="square" lIns="0" tIns="0" rIns="0" bIns="0" rtlCol="0" anchor="t"/>
          <a:lstStyle/>
          <a:p>
            <a:pPr algn="l" indent="0" marL="0">
              <a:lnSpc>
                <a:spcPct val="118000"/>
              </a:lnSpc>
              <a:buNone/>
            </a:pPr>
            <a:r>
              <a:rPr lang="en-US" sz="1100" dirty="0">
                <a:solidFill>
                  <a:srgbClr val="7C6B73"/>
                </a:solidFill>
                <a:latin typeface="Calibri" pitchFamily="34" charset="0"/>
                <a:ea typeface="Calibri" pitchFamily="34" charset="-122"/>
                <a:cs typeface="Calibri" pitchFamily="34" charset="-120"/>
              </a:rPr>
              <a:t>Ανάλυση ακρυλαμιδίου (εργαστήριο Polymex, ISO 9001, περιεκτικότητα κάτω από 3,0 µg/g) και έλεγχος REACH / SVHC (SGS) διαθέσιμα κατόπιν αιτήματος, μαζί με το πιστοποιητικό SOHISCERT σε ισχύ έως τις 4 Σεπτεμβρίου 2027.</a:t>
            </a:r>
            <a:endParaRPr lang="en-US" sz="1100" dirty="0"/>
          </a:p>
        </p:txBody>
      </p:sp>
      <p:sp>
        <p:nvSpPr>
          <p:cNvPr id="10" name="Text 8"/>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7C6B73">
                    <a:alpha val="80000"/>
                  </a:srgbClr>
                </a:solidFill>
                <a:latin typeface="Calibri" pitchFamily="34" charset="0"/>
                <a:ea typeface="Calibri" pitchFamily="34" charset="-122"/>
                <a:cs typeface="Calibri" pitchFamily="34" charset="-120"/>
              </a:rPr>
              <a:t>Green Solutions · Μελέτη αγοράς Ελλάδα</a:t>
            </a:r>
            <a:endParaRPr lang="en-US" sz="950" dirty="0"/>
          </a:p>
        </p:txBody>
      </p:sp>
      <p:sp>
        <p:nvSpPr>
          <p:cNvPr id="11" name="Text 9"/>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7C6B73">
                    <a:alpha val="80000"/>
                  </a:srgbClr>
                </a:solidFill>
                <a:latin typeface="Calibri" pitchFamily="34" charset="0"/>
                <a:ea typeface="Calibri" pitchFamily="34" charset="-122"/>
                <a:cs typeface="Calibri" pitchFamily="34" charset="-120"/>
              </a:rPr>
              <a:t>13</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CFAFA"/>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algn="l" indent="0" marL="0">
              <a:buNone/>
            </a:pPr>
            <a:r>
              <a:rPr lang="en-US" sz="1150" b="1" spc="200" kern="0" dirty="0">
                <a:solidFill>
                  <a:srgbClr val="C9A227"/>
                </a:solidFill>
                <a:latin typeface="Calibri" pitchFamily="34" charset="0"/>
                <a:ea typeface="Calibri" pitchFamily="34" charset="-122"/>
                <a:cs typeface="Calibri" pitchFamily="34" charset="-120"/>
              </a:rPr>
              <a:t>Πηγές</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algn="l" indent="0" marL="0">
              <a:buNone/>
            </a:pPr>
            <a:r>
              <a:rPr lang="en-US" sz="3000" b="1" dirty="0">
                <a:solidFill>
                  <a:srgbClr val="3F162A"/>
                </a:solidFill>
                <a:latin typeface="Cambria" pitchFamily="34" charset="0"/>
                <a:ea typeface="Cambria" pitchFamily="34" charset="-122"/>
                <a:cs typeface="Cambria" pitchFamily="34" charset="-120"/>
              </a:rPr>
              <a:t>Πηγές και παραδοχές εργασίας</a:t>
            </a:r>
            <a:endParaRPr lang="en-US" sz="3000" dirty="0"/>
          </a:p>
        </p:txBody>
      </p:sp>
      <p:sp>
        <p:nvSpPr>
          <p:cNvPr id="4" name="Text 2"/>
          <p:cNvSpPr txBox="1"/>
          <p:nvPr/>
        </p:nvSpPr>
        <p:spPr>
          <a:xfrm>
            <a:off x="594360" y="1783080"/>
            <a:ext cx="5227168" cy="411480"/>
          </a:xfrm>
          <a:prstGeom prst="rect">
            <a:avLst/>
          </a:prstGeom>
          <a:noFill/>
          <a:ln/>
        </p:spPr>
        <p:txBody>
          <a:bodyPr wrap="square" lIns="0" tIns="0" rIns="0" bIns="0" rtlCol="0" anchor="ctr"/>
          <a:lstStyle/>
          <a:p>
            <a:pPr algn="l" indent="0" marL="0">
              <a:buNone/>
            </a:pPr>
            <a:r>
              <a:rPr lang="en-US" sz="1600" b="1" dirty="0">
                <a:solidFill>
                  <a:srgbClr val="6B2A44"/>
                </a:solidFill>
                <a:latin typeface="Cambria" pitchFamily="34" charset="0"/>
                <a:ea typeface="Cambria" pitchFamily="34" charset="-122"/>
                <a:cs typeface="Cambria" pitchFamily="34" charset="-120"/>
              </a:rPr>
              <a:t>Κύριες πηγές</a:t>
            </a:r>
            <a:endParaRPr lang="en-US" sz="1600" dirty="0"/>
          </a:p>
        </p:txBody>
      </p:sp>
      <p:sp>
        <p:nvSpPr>
          <p:cNvPr id="5" name="Text 3"/>
          <p:cNvSpPr txBox="1"/>
          <p:nvPr/>
        </p:nvSpPr>
        <p:spPr>
          <a:xfrm>
            <a:off x="594360" y="2286000"/>
            <a:ext cx="5227168" cy="2468880"/>
          </a:xfrm>
          <a:prstGeom prst="rect">
            <a:avLst/>
          </a:prstGeom>
          <a:noFill/>
          <a:ln/>
        </p:spPr>
        <p:txBody>
          <a:bodyPr wrap="square" lIns="0" tIns="0" rIns="0" bIns="0" rtlCol="0" anchor="t"/>
          <a:lstStyle/>
          <a:p>
            <a:pPr algn="l" marL="342900" indent="-342900">
              <a:lnSpc>
                <a:spcPct val="122000"/>
              </a:lnSpc>
              <a:spcAft>
                <a:spcPts val="1000"/>
              </a:spcAft>
              <a:buSzPct val="100000"/>
              <a:buChar char="•"/>
            </a:pPr>
            <a:r>
              <a:rPr lang="en-US" sz="1350" dirty="0">
                <a:solidFill>
                  <a:srgbClr val="3F3138"/>
                </a:solidFill>
                <a:latin typeface="Calibri" pitchFamily="34" charset="0"/>
                <a:ea typeface="Calibri" pitchFamily="34" charset="-122"/>
                <a:cs typeface="Calibri" pitchFamily="34" charset="-120"/>
              </a:rPr>
              <a:t>UNCCD, Drought in Numbers 2022: αριθμός και διάρκεια ξηρασιών, +29% από το 2000 έναντι 1980–1999.</a:t>
            </a:r>
            <a:endParaRPr lang="en-US" sz="1350" dirty="0"/>
          </a:p>
          <a:p>
            <a:pPr algn="l" marL="342900" indent="-342900">
              <a:lnSpc>
                <a:spcPct val="122000"/>
              </a:lnSpc>
              <a:spcAft>
                <a:spcPts val="1000"/>
              </a:spcAft>
              <a:buSzPct val="100000"/>
              <a:buChar char="•"/>
            </a:pPr>
            <a:r>
              <a:rPr lang="en-US" sz="1350" dirty="0">
                <a:solidFill>
                  <a:srgbClr val="3F3138"/>
                </a:solidFill>
                <a:latin typeface="Calibri" pitchFamily="34" charset="0"/>
                <a:ea typeface="Calibri" pitchFamily="34" charset="-122"/>
                <a:cs typeface="Calibri" pitchFamily="34" charset="-120"/>
              </a:rPr>
              <a:t>UN-Water / FAO AQUASTAT, δείκτης ΣΒΑ 6.4.2: ορισμός και όρια υδατικής πίεσης.</a:t>
            </a:r>
            <a:endParaRPr lang="en-US" sz="1350" dirty="0"/>
          </a:p>
          <a:p>
            <a:pPr algn="l" marL="342900" indent="-342900">
              <a:lnSpc>
                <a:spcPct val="122000"/>
              </a:lnSpc>
              <a:spcAft>
                <a:spcPts val="1000"/>
              </a:spcAft>
              <a:buSzPct val="100000"/>
              <a:buChar char="•"/>
            </a:pPr>
            <a:r>
              <a:rPr lang="en-US" sz="1350" dirty="0">
                <a:solidFill>
                  <a:srgbClr val="3F3138"/>
                </a:solidFill>
                <a:latin typeface="Calibri" pitchFamily="34" charset="0"/>
                <a:ea typeface="Calibri" pitchFamily="34" charset="-122"/>
                <a:cs typeface="Calibri" pitchFamily="34" charset="-120"/>
              </a:rPr>
              <a:t>Φωτογραφίες: Neptuul (CC BY-SA 4.0), Bogdan Giuşcă (CC BY-SA 2.5), Freideriki Dionysopoulou (CC BY-SA 3.0), Alastair Rae from London, United Kingdom (CC BY-SA 2.0), vitsoft (CC BY 3.0), Jimzoun (CC BY-SA 4.0), macrolepis (CC BY 3.0), Paul Lakin (CC BY 3.0) — μέσω Wikimedia Commons.</a:t>
            </a:r>
            <a:endParaRPr lang="en-US" sz="1350" dirty="0"/>
          </a:p>
        </p:txBody>
      </p:sp>
      <p:sp>
        <p:nvSpPr>
          <p:cNvPr id="6" name="Text 4"/>
          <p:cNvSpPr txBox="1"/>
          <p:nvPr/>
        </p:nvSpPr>
        <p:spPr>
          <a:xfrm>
            <a:off x="6370168" y="1783080"/>
            <a:ext cx="5227168" cy="411480"/>
          </a:xfrm>
          <a:prstGeom prst="rect">
            <a:avLst/>
          </a:prstGeom>
          <a:noFill/>
          <a:ln/>
        </p:spPr>
        <p:txBody>
          <a:bodyPr wrap="square" lIns="0" tIns="0" rIns="0" bIns="0" rtlCol="0" anchor="ctr"/>
          <a:lstStyle/>
          <a:p>
            <a:pPr algn="l" indent="0" marL="0">
              <a:buNone/>
            </a:pPr>
            <a:r>
              <a:rPr lang="en-US" sz="1600" b="1" dirty="0">
                <a:solidFill>
                  <a:srgbClr val="6B2A44"/>
                </a:solidFill>
                <a:latin typeface="Cambria" pitchFamily="34" charset="0"/>
                <a:ea typeface="Cambria" pitchFamily="34" charset="-122"/>
                <a:cs typeface="Cambria" pitchFamily="34" charset="-120"/>
              </a:rPr>
              <a:t>Παραδοχές εργασίας</a:t>
            </a:r>
            <a:endParaRPr lang="en-US" sz="1600" dirty="0"/>
          </a:p>
        </p:txBody>
      </p:sp>
      <p:sp>
        <p:nvSpPr>
          <p:cNvPr id="7" name="Text 5"/>
          <p:cNvSpPr txBox="1"/>
          <p:nvPr/>
        </p:nvSpPr>
        <p:spPr>
          <a:xfrm>
            <a:off x="6370168" y="2286000"/>
            <a:ext cx="5227168" cy="2468880"/>
          </a:xfrm>
          <a:prstGeom prst="rect">
            <a:avLst/>
          </a:prstGeom>
          <a:noFill/>
          <a:ln/>
        </p:spPr>
        <p:txBody>
          <a:bodyPr wrap="square" lIns="0" tIns="0" rIns="0" bIns="0" rtlCol="0" anchor="t"/>
          <a:lstStyle/>
          <a:p>
            <a:pPr algn="l" marL="342900" indent="-342900">
              <a:lnSpc>
                <a:spcPct val="122000"/>
              </a:lnSpc>
              <a:spcAft>
                <a:spcPts val="1000"/>
              </a:spcAft>
              <a:buSzPct val="100000"/>
              <a:buChar char="•"/>
            </a:pPr>
            <a:r>
              <a:rPr lang="en-US" sz="1350" dirty="0">
                <a:solidFill>
                  <a:srgbClr val="3F3138"/>
                </a:solidFill>
                <a:latin typeface="Calibri" pitchFamily="34" charset="0"/>
                <a:ea typeface="Calibri" pitchFamily="34" charset="-122"/>
                <a:cs typeface="Calibri" pitchFamily="34" charset="-120"/>
              </a:rPr>
              <a:t>Τα στοιχεία είναι στρογγυλεμένες τάξεις μεγέθους, από τα πιο πρόσφατα διαθέσιμα δημόσια δεδομένα.</a:t>
            </a:r>
            <a:endParaRPr lang="en-US" sz="1350" dirty="0"/>
          </a:p>
          <a:p>
            <a:pPr algn="l" marL="342900" indent="-342900">
              <a:lnSpc>
                <a:spcPct val="122000"/>
              </a:lnSpc>
              <a:spcAft>
                <a:spcPts val="1000"/>
              </a:spcAft>
              <a:buSzPct val="100000"/>
              <a:buChar char="•"/>
            </a:pPr>
            <a:r>
              <a:rPr lang="en-US" sz="1350" dirty="0">
                <a:solidFill>
                  <a:srgbClr val="3F3138"/>
                </a:solidFill>
                <a:latin typeface="Calibri" pitchFamily="34" charset="0"/>
                <a:ea typeface="Calibri" pitchFamily="34" charset="-122"/>
                <a:cs typeface="Calibri" pitchFamily="34" charset="-120"/>
              </a:rPr>
              <a:t>Η εξοικονόμηση νερού και η αύξηση απόδοσης είναι ενδεικτικές και εξαρτώνται από έδαφος, κλίμα και καλλιέργεια.</a:t>
            </a:r>
            <a:endParaRPr lang="en-US" sz="1350" dirty="0"/>
          </a:p>
          <a:p>
            <a:pPr algn="l" marL="342900" indent="-342900">
              <a:lnSpc>
                <a:spcPct val="122000"/>
              </a:lnSpc>
              <a:spcAft>
                <a:spcPts val="1000"/>
              </a:spcAft>
              <a:buSzPct val="100000"/>
              <a:buChar char="•"/>
            </a:pPr>
            <a:r>
              <a:rPr lang="en-US" sz="1350" dirty="0">
                <a:solidFill>
                  <a:srgbClr val="3F3138"/>
                </a:solidFill>
                <a:latin typeface="Calibri" pitchFamily="34" charset="0"/>
                <a:ea typeface="Calibri" pitchFamily="34" charset="-122"/>
                <a:cs typeface="Calibri" pitchFamily="34" charset="-120"/>
              </a:rPr>
              <a:t>Εμπορικό έγγραφο εργασίας: τα στοιχεία επικαιροποιούνται πριν από κάθε επίσημη υποβολή.</a:t>
            </a:r>
            <a:endParaRPr lang="en-US" sz="1350" dirty="0"/>
          </a:p>
        </p:txBody>
      </p:sp>
      <p:sp>
        <p:nvSpPr>
          <p:cNvPr id="8" name="Shape 6"/>
          <p:cNvSpPr/>
          <p:nvPr/>
        </p:nvSpPr>
        <p:spPr>
          <a:xfrm>
            <a:off x="594360" y="4846320"/>
            <a:ext cx="11002975" cy="960120"/>
          </a:xfrm>
          <a:prstGeom prst="roundRect">
            <a:avLst>
              <a:gd name="adj" fmla="val 7619"/>
            </a:avLst>
          </a:prstGeom>
          <a:solidFill>
            <a:srgbClr val="F5EFF1"/>
          </a:solidFill>
          <a:ln w="9525">
            <a:solidFill>
              <a:srgbClr val="E5D9DE"/>
            </a:solidFill>
            <a:prstDash val="solid"/>
          </a:ln>
        </p:spPr>
      </p:sp>
      <p:sp>
        <p:nvSpPr>
          <p:cNvPr id="9" name="Text 7"/>
          <p:cNvSpPr txBox="1"/>
          <p:nvPr/>
        </p:nvSpPr>
        <p:spPr>
          <a:xfrm>
            <a:off x="822960" y="4983480"/>
            <a:ext cx="10545775" cy="713232"/>
          </a:xfrm>
          <a:prstGeom prst="rect">
            <a:avLst/>
          </a:prstGeom>
          <a:noFill/>
          <a:ln/>
        </p:spPr>
        <p:txBody>
          <a:bodyPr wrap="square" lIns="0" tIns="0" rIns="0" bIns="0" rtlCol="0" anchor="t"/>
          <a:lstStyle/>
          <a:p>
            <a:pPr algn="l" indent="0" marL="0">
              <a:lnSpc>
                <a:spcPct val="118000"/>
              </a:lnSpc>
              <a:buNone/>
            </a:pPr>
            <a:r>
              <a:rPr lang="en-US" sz="1100" dirty="0">
                <a:solidFill>
                  <a:srgbClr val="7C6B73"/>
                </a:solidFill>
                <a:latin typeface="Calibri" pitchFamily="34" charset="0"/>
                <a:ea typeface="Calibri" pitchFamily="34" charset="-122"/>
                <a:cs typeface="Calibri" pitchFamily="34" charset="-120"/>
              </a:rPr>
              <a:t>Εκθέσεις δοκιμών, πιστοποιητικά (SOHISCERT, αναλύσεις Polymex και SGS) και τεχνικά φυλλάδια: διαθέσιμα κατόπιν αιτήματος.</a:t>
            </a:r>
            <a:endParaRPr lang="en-US" sz="1100" dirty="0"/>
          </a:p>
        </p:txBody>
      </p:sp>
      <p:sp>
        <p:nvSpPr>
          <p:cNvPr id="10" name="Text 8"/>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7C6B73">
                    <a:alpha val="80000"/>
                  </a:srgbClr>
                </a:solidFill>
                <a:latin typeface="Calibri" pitchFamily="34" charset="0"/>
                <a:ea typeface="Calibri" pitchFamily="34" charset="-122"/>
                <a:cs typeface="Calibri" pitchFamily="34" charset="-120"/>
              </a:rPr>
              <a:t>Green Solutions · Μελέτη αγοράς Ελλάδα</a:t>
            </a:r>
            <a:endParaRPr lang="en-US" sz="950" dirty="0"/>
          </a:p>
        </p:txBody>
      </p:sp>
      <p:sp>
        <p:nvSpPr>
          <p:cNvPr id="11" name="Text 9"/>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7C6B73">
                    <a:alpha val="80000"/>
                  </a:srgbClr>
                </a:solidFill>
                <a:latin typeface="Calibri" pitchFamily="34" charset="0"/>
                <a:ea typeface="Calibri" pitchFamily="34" charset="-122"/>
                <a:cs typeface="Calibri" pitchFamily="34" charset="-120"/>
              </a:rPr>
              <a:t>14</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822960" y="2103120"/>
            <a:ext cx="10058400" cy="1005840"/>
          </a:xfrm>
          <a:prstGeom prst="rect">
            <a:avLst/>
          </a:prstGeom>
          <a:noFill/>
          <a:ln/>
        </p:spPr>
        <p:txBody>
          <a:bodyPr wrap="square" lIns="0" tIns="0" rIns="0" bIns="0" rtlCol="0" anchor="ctr"/>
          <a:lstStyle/>
          <a:p>
            <a:pPr algn="l" indent="0" marL="0">
              <a:buNone/>
            </a:pPr>
            <a:r>
              <a:rPr lang="en-US" sz="3400" b="1" dirty="0">
                <a:solidFill>
                  <a:srgbClr val="FFFFFF"/>
                </a:solidFill>
                <a:latin typeface="Cambria" pitchFamily="34" charset="0"/>
                <a:ea typeface="Cambria" pitchFamily="34" charset="-122"/>
                <a:cs typeface="Cambria" pitchFamily="34" charset="-120"/>
              </a:rPr>
              <a:t>Πείτε μας για το χωράφι σας</a:t>
            </a:r>
            <a:endParaRPr lang="en-US" sz="3400" dirty="0"/>
          </a:p>
        </p:txBody>
      </p:sp>
      <p:sp>
        <p:nvSpPr>
          <p:cNvPr id="4" name="Text 1"/>
          <p:cNvSpPr txBox="1"/>
          <p:nvPr/>
        </p:nvSpPr>
        <p:spPr>
          <a:xfrm>
            <a:off x="822960" y="3200400"/>
            <a:ext cx="8961120" cy="1463040"/>
          </a:xfrm>
          <a:prstGeom prst="rect">
            <a:avLst/>
          </a:prstGeom>
          <a:noFill/>
          <a:ln/>
        </p:spPr>
        <p:txBody>
          <a:bodyPr wrap="square" lIns="0" tIns="0" rIns="0" bIns="0" rtlCol="0" anchor="ctr"/>
          <a:lstStyle/>
          <a:p>
            <a:pPr algn="l" indent="0" marL="0">
              <a:lnSpc>
                <a:spcPct val="130000"/>
              </a:lnSpc>
              <a:buNone/>
            </a:pPr>
            <a:r>
              <a:rPr lang="en-US" sz="1500" dirty="0">
                <a:solidFill>
                  <a:srgbClr val="FFFFFF">
                    <a:alpha val="88000"/>
                  </a:srgbClr>
                </a:solidFill>
                <a:latin typeface="Calibri" pitchFamily="34" charset="0"/>
                <a:ea typeface="Calibri" pitchFamily="34" charset="-122"/>
                <a:cs typeface="Calibri" pitchFamily="34" charset="-120"/>
              </a:rPr>
              <a:t>Καλλιέργεια, μέθοδος άρδευσης, τύπος εδάφους, όγκος νερού που χρησιμοποιείτε σήμερα. Επιστρέφουμε με τον κατάλληλο συνδυασμό τεχνολογιών, τις δόσεις και τις δοκιμές που έχουν ήδη γίνει σε παρόμοιες συνθήκες.</a:t>
            </a:r>
            <a:endParaRPr lang="en-US" sz="1500" dirty="0"/>
          </a:p>
          <a:p>
            <a:pPr algn="l" indent="0" marL="0">
              <a:lnSpc>
                <a:spcPct val="130000"/>
              </a:lnSpc>
              <a:buNone/>
            </a:pPr>
            <a:endParaRPr lang="en-US" sz="1500" dirty="0"/>
          </a:p>
          <a:p>
            <a:pPr algn="l" indent="0" marL="0">
              <a:lnSpc>
                <a:spcPct val="130000"/>
              </a:lnSpc>
              <a:buNone/>
            </a:pPr>
            <a:r>
              <a:rPr lang="en-US" sz="1500" dirty="0">
                <a:solidFill>
                  <a:srgbClr val="FFFFFF">
                    <a:alpha val="88000"/>
                  </a:srgbClr>
                </a:solidFill>
                <a:latin typeface="Calibri" pitchFamily="34" charset="0"/>
                <a:ea typeface="Calibri" pitchFamily="34" charset="-122"/>
                <a:cs typeface="Calibri" pitchFamily="34" charset="-120"/>
              </a:rPr>
              <a:t>Μια πρώτη συζήτηση δεν σας δεσμεύει σε τίποτα.</a:t>
            </a:r>
            <a:endParaRPr lang="en-US" sz="1500" dirty="0"/>
          </a:p>
        </p:txBody>
      </p:sp>
      <p:sp>
        <p:nvSpPr>
          <p:cNvPr id="5" name="Text 2"/>
          <p:cNvSpPr txBox="1"/>
          <p:nvPr/>
        </p:nvSpPr>
        <p:spPr>
          <a:xfrm>
            <a:off x="822960" y="4846320"/>
            <a:ext cx="10058400" cy="457200"/>
          </a:xfrm>
          <a:prstGeom prst="rect">
            <a:avLst/>
          </a:prstGeom>
          <a:noFill/>
          <a:ln/>
        </p:spPr>
        <p:txBody>
          <a:bodyPr wrap="square" lIns="0" tIns="0" rIns="0" bIns="0" rtlCol="0" anchor="ctr"/>
          <a:lstStyle/>
          <a:p>
            <a:pPr algn="l" indent="0" marL="0">
              <a:buNone/>
            </a:pPr>
            <a:r>
              <a:rPr lang="en-US" sz="1400" b="1" dirty="0">
                <a:solidFill>
                  <a:srgbClr val="C9A227"/>
                </a:solidFill>
                <a:latin typeface="Calibri" pitchFamily="34" charset="0"/>
                <a:ea typeface="Calibri" pitchFamily="34" charset="-122"/>
                <a:cs typeface="Calibri" pitchFamily="34" charset="-120"/>
              </a:rPr>
              <a:t>contact@green-solutions-group.com · Green Solutions Groupe AIM SA, 46, route de la Condémine, 1475 Forel, Ελβετία</a:t>
            </a:r>
            <a:endParaRPr lang="en-US" sz="1400" dirty="0"/>
          </a:p>
        </p:txBody>
      </p:sp>
      <p:pic>
        <p:nvPicPr>
          <p:cNvPr id="6" name="Image 1" descr="/home/claude/green-solutions-web/scripts/dossiers/sceau-aim-clair.png">    </p:cNvPr>
          <p:cNvPicPr>
            <a:picLocks noChangeAspect="1"/>
          </p:cNvPicPr>
          <p:nvPr/>
        </p:nvPicPr>
        <p:blipFill>
          <a:blip r:embed="rId2">
            <a:alphaModFix amt="85000"/>
          </a:blip>
          <a:stretch>
            <a:fillRect/>
          </a:stretch>
        </p:blipFill>
        <p:spPr>
          <a:xfrm>
            <a:off x="10637215" y="5193792"/>
            <a:ext cx="1051560" cy="1051560"/>
          </a:xfrm>
          <a:prstGeom prst="rect">
            <a:avLst/>
          </a:prstGeom>
        </p:spPr>
      </p:pic>
      <p:sp>
        <p:nvSpPr>
          <p:cNvPr id="7" name="Text 3"/>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FFFFFF">
                    <a:alpha val="55000"/>
                  </a:srgbClr>
                </a:solidFill>
                <a:latin typeface="Calibri" pitchFamily="34" charset="0"/>
                <a:ea typeface="Calibri" pitchFamily="34" charset="-122"/>
                <a:cs typeface="Calibri" pitchFamily="34" charset="-120"/>
              </a:rPr>
              <a:t>Green Solutions · Μελέτη αγοράς Ελλάδα</a:t>
            </a:r>
            <a:endParaRPr lang="en-US" sz="950" dirty="0"/>
          </a:p>
        </p:txBody>
      </p:sp>
      <p:sp>
        <p:nvSpPr>
          <p:cNvPr id="8" name="Text 4"/>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FFFFFF">
                    <a:alpha val="55000"/>
                  </a:srgbClr>
                </a:solidFill>
                <a:latin typeface="Calibri" pitchFamily="34" charset="0"/>
                <a:ea typeface="Calibri" pitchFamily="34" charset="-122"/>
                <a:cs typeface="Calibri" pitchFamily="34" charset="-120"/>
              </a:rPr>
              <a:t>15</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2026-10-07T08:25:53Z</dcterms:created>
  <dcterms:modified xsi:type="dcterms:W3CDTF">2026-10-07T08:25:53Z</dcterms:modified>
</cp:coreProperties>
</file>