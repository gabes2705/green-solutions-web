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2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3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Water withdrawals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6B2A44"/>
              </a:solidFill>
              <a:effectLst/>
            </c:spPr>
          </c:dPt>
          <c:dPt>
            <c:idx val="1"/>
            <c:bubble3D val="0"/>
            <c:spPr>
              <a:solidFill>
                <a:srgbClr val="C9A227"/>
              </a:solidFill>
              <a:effectLst/>
            </c:spPr>
          </c:dPt>
          <c:dPt>
            <c:idx val="2"/>
            <c:bubble3D val="0"/>
            <c:spPr>
              <a:solidFill>
                <a:srgbClr val="9E6079"/>
              </a:solidFill>
              <a:effectLst/>
            </c:spPr>
          </c:dPt>
          <c:dLbls>
            <c:dLbl>
              <c:idx val="0"/>
              <c:numFmt formatCode="[$-409]0&quot;%&quot;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numFmt formatCode="[$-409]0&quot;%&quot;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numFmt formatCode="[$-409]0&quot;%&quot;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numFmt formatCode="[$-409]0&quot;%&quot;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Sheet1!$A$2:$A$4</c:f>
              <c:strCache>
                <c:ptCount val="3"/>
                <c:pt idx="0">
                  <c:v>Agriculture</c:v>
                </c:pt>
                <c:pt idx="1">
                  <c:v>Municipal &amp; domestic</c:v>
                </c:pt>
                <c:pt idx="2">
                  <c:v>Industry, mining &amp; other</c:v>
                </c:pt>
              </c:strCache>
            </c:strRef>
          </c:cat>
          <c:val>
            <c:numRef>
              <c:f>Sheet1!$B$2:$B$4</c:f>
              <c:numCache>
                <c:ptCount val="3"/>
                <c:pt idx="0">
                  <c:v>60</c:v>
                </c:pt>
                <c:pt idx="1">
                  <c:v>27</c:v>
                </c:pt>
                <c:pt idx="2">
                  <c:v>13</c:v>
                </c:pt>
              </c:numCache>
            </c:numRef>
          </c:val>
        </c:ser>
        <c:firstSliceAng val="0"/>
        <c:holeSize val="55"/>
      </c:doughnut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Annual production (million tonnes)</c:v>
                </c:pt>
              </c:strCache>
            </c:strRef>
          </c:tx>
          <c:spPr>
            <a:solidFill>
              <a:srgbClr val="6B2A44"/>
            </a:solidFill>
            <a:effectLst/>
          </c:spPr>
          <c:invertIfNegative val="0"/>
          <c:dLbls>
            <c:numFmt formatCode="[$-409]0.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3F162A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6B2A4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C9A227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9E6079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5C7D5A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A8724C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Sugar cane</c:v>
                  </c:pt>
                  <c:pt idx="1">
                    <c:v>Maize*</c:v>
                  </c:pt>
                  <c:pt idx="2">
                    <c:v>Citrus</c:v>
                  </c:pt>
                  <c:pt idx="3">
                    <c:v>Potatoes</c:v>
                  </c:pt>
                  <c:pt idx="4">
                    <c:v>Grapes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18</c:v>
                </c:pt>
                <c:pt idx="1">
                  <c:v>15</c:v>
                </c:pt>
                <c:pt idx="2">
                  <c:v>3.3</c:v>
                </c:pt>
                <c:pt idx="3">
                  <c:v>2.5</c:v>
                </c:pt>
                <c:pt idx="4">
                  <c:v>1.8</c:v>
                </c:pt>
              </c:numCache>
            </c:numRef>
          </c:val>
        </c:ser>
        <c:dLbls>
          <c:numFmt formatCode="[$-409]0.0" sourceLinked="0"/>
          <c:txPr>
            <a:bodyPr/>
            <a:lstStyle/>
            <a:p>
              <a:pPr>
                <a:defRPr b="0" i="0" strike="noStrike" sz="1100" u="none">
                  <a:solidFill>
                    <a:srgbClr val="3F162A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7C6B73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0"/>
        <c:axPos val="l"/>
        <c:majorGridlines>
          <c:spPr>
            <a:ln w="9525" cap="flat">
              <a:solidFill>
                <a:srgbClr val="E5D9D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7C6B73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Low end of range (%)</c:v>
                </c:pt>
              </c:strCache>
            </c:strRef>
          </c:tx>
          <c:spPr>
            <a:solidFill>
              <a:srgbClr val="6B2A44"/>
            </a:solidFill>
            <a:effectLst/>
          </c:spPr>
          <c:invertIfNegative val="0"/>
          <c:dLbls>
            <c:numFmt formatCode="[$-409]0&quot;%&quot;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3F162A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Drip</c:v>
                  </c:pt>
                  <c:pt idx="1">
                    <c:v>Micro-sprinkler</c:v>
                  </c:pt>
                  <c:pt idx="2">
                    <c:v>Centre pivot</c:v>
                  </c:pt>
                  <c:pt idx="3">
                    <c:v>Flood / furrow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40</c:v>
                </c:pt>
                <c:pt idx="1">
                  <c:v>50</c:v>
                </c:pt>
                <c:pt idx="2">
                  <c:v>50</c:v>
                </c:pt>
                <c:pt idx="3">
                  <c:v>55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High end of range (%)</c:v>
                </c:pt>
              </c:strCache>
            </c:strRef>
          </c:tx>
          <c:spPr>
            <a:solidFill>
              <a:srgbClr val="C9A227"/>
            </a:solidFill>
            <a:effectLst/>
          </c:spPr>
          <c:invertIfNegative val="0"/>
          <c:dLbls>
            <c:numFmt formatCode="[$-409]0&quot;%&quot;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3F162A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Drip</c:v>
                  </c:pt>
                  <c:pt idx="1">
                    <c:v>Micro-sprinkler</c:v>
                  </c:pt>
                  <c:pt idx="2">
                    <c:v>Centre pivot</c:v>
                  </c:pt>
                  <c:pt idx="3">
                    <c:v>Flood / furrow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55</c:v>
                </c:pt>
                <c:pt idx="1">
                  <c:v>65</c:v>
                </c:pt>
                <c:pt idx="2">
                  <c:v>65</c:v>
                </c:pt>
                <c:pt idx="3">
                  <c:v>70</c:v>
                </c:pt>
              </c:numCache>
            </c:numRef>
          </c:val>
        </c:ser>
        <c:dLbls>
          <c:numFmt formatCode="[$-409]0&quot;%&quot;" sourceLinked="0"/>
          <c:txPr>
            <a:bodyPr/>
            <a:lstStyle/>
            <a:p>
              <a:pPr>
                <a:defRPr b="0" i="0" strike="noStrike" sz="1100" u="none">
                  <a:solidFill>
                    <a:srgbClr val="3F162A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7C6B73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0"/>
        <c:axPos val="l"/>
        <c:majorGridlines>
          <c:spPr>
            <a:ln w="9525" cap="flat">
              <a:solidFill>
                <a:srgbClr val="E5D9D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7C6B73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e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eg"/><Relationship Id="rId2" Type="http://schemas.openxmlformats.org/officeDocument/2006/relationships/image" Target="../media/image-8-2.jpeg"/><Relationship Id="rId3" Type="http://schemas.openxmlformats.org/officeDocument/2006/relationships/image" Target="../media/image-8-3.jpe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jpe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0D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72784" y="0"/>
            <a:ext cx="5918911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6272784" cy="6858000"/>
          </a:xfrm>
          <a:prstGeom prst="rect">
            <a:avLst/>
          </a:prstGeom>
          <a:solidFill>
            <a:srgbClr val="0D0D0D"/>
          </a:solidFill>
          <a:ln/>
        </p:spPr>
      </p:sp>
      <p:sp>
        <p:nvSpPr>
          <p:cNvPr id="4" name="Text 1"/>
          <p:cNvSpPr txBox="1"/>
          <p:nvPr/>
        </p:nvSpPr>
        <p:spPr>
          <a:xfrm>
            <a:off x="658368" y="566928"/>
            <a:ext cx="40416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80" kern="0" dirty="0">
                <a:solidFill>
                  <a:srgbClr val="8BC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GROUP</a:t>
            </a:r>
            <a:endParaRPr lang="en-US" sz="1100" dirty="0"/>
          </a:p>
        </p:txBody>
      </p:sp>
      <p:pic>
        <p:nvPicPr>
          <p:cNvPr id="5" name="Image 1" descr="C:\Users\Utilisateur\dev\green-solutions-web\public\images\logo-ico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10912" y="457200"/>
            <a:ext cx="603504" cy="603504"/>
          </a:xfrm>
          <a:prstGeom prst="rect">
            <a:avLst/>
          </a:prstGeom>
        </p:spPr>
      </p:pic>
      <p:pic>
        <p:nvPicPr>
          <p:cNvPr id="6" name="Image 2" descr="C:\Users\Utilisateur\dev\green-solutions-web\scripts\dossiers\drapeaux\afrique-du-su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48456" y="1389888"/>
            <a:ext cx="1965960" cy="1310640"/>
          </a:xfrm>
          <a:prstGeom prst="rect">
            <a:avLst/>
          </a:prstGeom>
        </p:spPr>
      </p:pic>
      <p:sp>
        <p:nvSpPr>
          <p:cNvPr id="7" name="Shape 2"/>
          <p:cNvSpPr/>
          <p:nvPr/>
        </p:nvSpPr>
        <p:spPr>
          <a:xfrm>
            <a:off x="3648456" y="1389888"/>
            <a:ext cx="1965960" cy="1310640"/>
          </a:xfrm>
          <a:prstGeom prst="rect">
            <a:avLst/>
          </a:prstGeom>
          <a:ln w="9525">
            <a:solidFill>
              <a:srgbClr val="3A3A3A"/>
            </a:solidFill>
            <a:prstDash val="solid"/>
          </a:ln>
        </p:spPr>
      </p:sp>
      <p:sp>
        <p:nvSpPr>
          <p:cNvPr id="8" name="Text 3"/>
          <p:cNvSpPr txBox="1"/>
          <p:nvPr/>
        </p:nvSpPr>
        <p:spPr>
          <a:xfrm>
            <a:off x="658368" y="1298448"/>
            <a:ext cx="276148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REPUBLIC OF SOUTH AFRICA</a:t>
            </a:r>
            <a:endParaRPr lang="en-US" sz="2400" dirty="0"/>
          </a:p>
        </p:txBody>
      </p:sp>
      <p:sp>
        <p:nvSpPr>
          <p:cNvPr id="9" name="Shape 4"/>
          <p:cNvSpPr/>
          <p:nvPr/>
        </p:nvSpPr>
        <p:spPr>
          <a:xfrm>
            <a:off x="658368" y="2889504"/>
            <a:ext cx="2788920" cy="45720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10" name="Text 5"/>
          <p:cNvSpPr txBox="1"/>
          <p:nvPr/>
        </p:nvSpPr>
        <p:spPr>
          <a:xfrm>
            <a:off x="658368" y="3163824"/>
            <a:ext cx="4956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C9A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Pretoria · 2026</a:t>
            </a:r>
            <a:endParaRPr lang="en-US" sz="1600" dirty="0"/>
          </a:p>
        </p:txBody>
      </p:sp>
      <p:sp>
        <p:nvSpPr>
          <p:cNvPr id="11" name="Text 6"/>
          <p:cNvSpPr txBox="1"/>
          <p:nvPr/>
        </p:nvSpPr>
        <p:spPr>
          <a:xfrm>
            <a:off x="658368" y="3767328"/>
            <a:ext cx="495604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4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Citrus, deciduous fruit and wine grapes grown on half the world's average rainfall.</a:t>
            </a:r>
            <a:endParaRPr lang="en-US" sz="1450" dirty="0"/>
          </a:p>
          <a:p>
            <a:pPr algn="l" indent="0" marL="0">
              <a:lnSpc>
                <a:spcPct val="128000"/>
              </a:lnSpc>
              <a:buNone/>
            </a:pPr>
            <a:r>
              <a:rPr lang="en-US" sz="14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hydro-retention changes for an export-led sector.</a:t>
            </a:r>
            <a:endParaRPr lang="en-US" sz="1450" dirty="0"/>
          </a:p>
        </p:txBody>
      </p:sp>
      <p:sp>
        <p:nvSpPr>
          <p:cNvPr id="12" name="Text 7"/>
          <p:cNvSpPr txBox="1"/>
          <p:nvPr/>
        </p:nvSpPr>
        <p:spPr>
          <a:xfrm>
            <a:off x="658368" y="4892040"/>
            <a:ext cx="4956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8BC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ECOSORB® · ECOFERT® · NAPEMA® · PAULOWNIA</a:t>
            </a:r>
            <a:endParaRPr lang="en-US" sz="1100" dirty="0"/>
          </a:p>
        </p:txBody>
      </p:sp>
      <p:sp>
        <p:nvSpPr>
          <p:cNvPr id="13" name="Text 8"/>
          <p:cNvSpPr txBox="1"/>
          <p:nvPr/>
        </p:nvSpPr>
        <p:spPr>
          <a:xfrm>
            <a:off x="658368" y="6053328"/>
            <a:ext cx="49560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9A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 · Confidential · For the sole use of the recipient</a:t>
            </a:r>
            <a:endParaRPr lang="en-US" sz="8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C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1148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MARKET IN BRIEF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315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3F16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small share of GDP, a large export earner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94360" y="1874520"/>
            <a:ext cx="2545004" cy="2514600"/>
          </a:xfrm>
          <a:prstGeom prst="roundRect">
            <a:avLst>
              <a:gd name="adj" fmla="val 3636"/>
            </a:avLst>
          </a:prstGeom>
          <a:solidFill>
            <a:srgbClr val="F5EFF1"/>
          </a:solidFill>
          <a:ln w="9525">
            <a:solidFill>
              <a:srgbClr val="E5D9D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2148840"/>
            <a:ext cx="217924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6B2A4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≈ 2.5 %</a:t>
            </a:r>
            <a:endParaRPr lang="en-US" sz="3800" dirty="0"/>
          </a:p>
        </p:txBody>
      </p:sp>
      <p:sp>
        <p:nvSpPr>
          <p:cNvPr id="6" name="Text 4"/>
          <p:cNvSpPr txBox="1"/>
          <p:nvPr/>
        </p:nvSpPr>
        <p:spPr>
          <a:xfrm>
            <a:off x="795528" y="3154680"/>
            <a:ext cx="214266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3F3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GDP from agriculture, forestry and fishing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3413684" y="1874520"/>
            <a:ext cx="2545004" cy="2514600"/>
          </a:xfrm>
          <a:prstGeom prst="roundRect">
            <a:avLst>
              <a:gd name="adj" fmla="val 3636"/>
            </a:avLst>
          </a:prstGeom>
          <a:solidFill>
            <a:srgbClr val="F5EFF1"/>
          </a:solidFill>
          <a:ln w="9525">
            <a:solidFill>
              <a:srgbClr val="E5D9DE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596564" y="2148840"/>
            <a:ext cx="217924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6B2A4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≈ 1.6 M ha</a:t>
            </a:r>
            <a:endParaRPr lang="en-US" sz="3000" dirty="0"/>
          </a:p>
        </p:txBody>
      </p:sp>
      <p:sp>
        <p:nvSpPr>
          <p:cNvPr id="9" name="Text 7"/>
          <p:cNvSpPr txBox="1"/>
          <p:nvPr/>
        </p:nvSpPr>
        <p:spPr>
          <a:xfrm>
            <a:off x="3614852" y="3154680"/>
            <a:ext cx="214266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3F3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 irrigation, out of some 12 M ha of arable land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233008" y="1874520"/>
            <a:ext cx="2545004" cy="2514600"/>
          </a:xfrm>
          <a:prstGeom prst="roundRect">
            <a:avLst>
              <a:gd name="adj" fmla="val 3636"/>
            </a:avLst>
          </a:prstGeom>
          <a:solidFill>
            <a:srgbClr val="F5EFF1"/>
          </a:solidFill>
          <a:ln w="9525">
            <a:solidFill>
              <a:srgbClr val="E5D9DE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415888" y="2148840"/>
            <a:ext cx="217924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6B2A4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≈ 465 mm</a:t>
            </a:r>
            <a:endParaRPr lang="en-US" sz="3800" dirty="0"/>
          </a:p>
        </p:txBody>
      </p:sp>
      <p:sp>
        <p:nvSpPr>
          <p:cNvPr id="12" name="Text 10"/>
          <p:cNvSpPr txBox="1"/>
          <p:nvPr/>
        </p:nvSpPr>
        <p:spPr>
          <a:xfrm>
            <a:off x="6434176" y="3154680"/>
            <a:ext cx="214266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3F3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rain a year, about half the world average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9052331" y="1874520"/>
            <a:ext cx="2545004" cy="2514600"/>
          </a:xfrm>
          <a:prstGeom prst="roundRect">
            <a:avLst>
              <a:gd name="adj" fmla="val 3636"/>
            </a:avLst>
          </a:prstGeom>
          <a:solidFill>
            <a:srgbClr val="F5EFF1"/>
          </a:solidFill>
          <a:ln w="9525">
            <a:solidFill>
              <a:srgbClr val="E5D9DE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235211" y="2148840"/>
            <a:ext cx="217924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6B2A4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US$ 13 bn</a:t>
            </a:r>
            <a:endParaRPr lang="en-US" sz="3800" dirty="0"/>
          </a:p>
        </p:txBody>
      </p:sp>
      <p:sp>
        <p:nvSpPr>
          <p:cNvPr id="15" name="Text 13"/>
          <p:cNvSpPr txBox="1"/>
          <p:nvPr/>
        </p:nvSpPr>
        <p:spPr>
          <a:xfrm>
            <a:off x="9253499" y="3154680"/>
            <a:ext cx="214266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3F3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farm exports a year — a consistent net exporter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594360" y="4709160"/>
            <a:ext cx="1100297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50" dirty="0">
                <a:solidFill>
                  <a:srgbClr val="3F3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Agriculture is a modest share of national output but employs roughly 5 % of the workforce, close to 900,000 people, and feeds an agro-processing chain worth several times the farm-gate value. Output comes from some 40,000 commercial farms alongside a much larger smallholder base.</a:t>
            </a:r>
            <a:endParaRPr lang="en-US" sz="1350" dirty="0"/>
          </a:p>
        </p:txBody>
      </p:sp>
      <p:sp>
        <p:nvSpPr>
          <p:cNvPr id="17" name="Text 15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7C6B73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· South Africa market dossier</a:t>
            </a:r>
            <a:endParaRPr lang="en-US" sz="950" dirty="0"/>
          </a:p>
        </p:txBody>
      </p:sp>
      <p:sp>
        <p:nvSpPr>
          <p:cNvPr id="18" name="Text 16"/>
          <p:cNvSpPr txBox="1"/>
          <p:nvPr/>
        </p:nvSpPr>
        <p:spPr>
          <a:xfrm>
            <a:off x="1114013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7C6B73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C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1148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CONSTRAINT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315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3F16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dry country, and rainfall it cannot count on</a:t>
            </a:r>
            <a:endParaRPr lang="en-US" sz="30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22415" y="1783080"/>
            <a:ext cx="5074920" cy="379476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6522415" y="5687568"/>
            <a:ext cx="5074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i="1" dirty="0">
                <a:solidFill>
                  <a:srgbClr val="7C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Orchards and vineyards, Western Cape</a:t>
            </a:r>
            <a:endParaRPr lang="en-US" sz="1000" dirty="0"/>
          </a:p>
        </p:txBody>
      </p:sp>
      <p:sp>
        <p:nvSpPr>
          <p:cNvPr id="6" name="Text 3"/>
          <p:cNvSpPr txBox="1"/>
          <p:nvPr/>
        </p:nvSpPr>
        <p:spPr>
          <a:xfrm>
            <a:off x="594360" y="1783080"/>
            <a:ext cx="5379415" cy="4251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22000"/>
              </a:lnSpc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3F3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Mean annual rainfall is around 465 mm, roughly half the world average, and potential evaporation exceeds it across most of the interior.</a:t>
            </a:r>
            <a:endParaRPr lang="en-US" sz="1400" dirty="0"/>
          </a:p>
          <a:p>
            <a:pPr algn="l" marL="342900" indent="-342900">
              <a:lnSpc>
                <a:spcPct val="122000"/>
              </a:lnSpc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3F3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Irrigation takes about 60 % of the water withdrawn each year: when the resource tightens, the restriction reaches the field before it reaches the city.</a:t>
            </a:r>
            <a:endParaRPr lang="en-US" sz="1400" dirty="0"/>
          </a:p>
          <a:p>
            <a:pPr algn="l" marL="342900" indent="-342900">
              <a:lnSpc>
                <a:spcPct val="122000"/>
              </a:lnSpc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3F3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Rainfall is unevenly spread — under 200 mm a year in the Northern Cape, more than 1,000 mm on the KwaZulu-Natal coast — and it arrives in short, intense events.</a:t>
            </a:r>
            <a:endParaRPr lang="en-US" sz="1400" dirty="0"/>
          </a:p>
          <a:p>
            <a:pPr algn="l" marL="342900" indent="-342900">
              <a:lnSpc>
                <a:spcPct val="122000"/>
              </a:lnSpc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3F3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Drought is a recurring line item: the 2015/16 El Niño season cut the commercial maize crop to under 8 million tonnes; the 2015-2018 Western Cape drought forced irrigation quota cuts.</a:t>
            </a:r>
            <a:endParaRPr lang="en-US" sz="1400" dirty="0"/>
          </a:p>
          <a:p>
            <a:pPr algn="l" marL="342900" indent="-342900">
              <a:lnSpc>
                <a:spcPct val="122000"/>
              </a:lnSpc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3F3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 plans — new dams, water reuse, coastal desalination — act on supply. Hydro-retention acts on demand, in the root zone, block by block.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7C6B73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· South Africa market dossier</a:t>
            </a:r>
            <a:endParaRPr lang="en-US" sz="950" dirty="0"/>
          </a:p>
        </p:txBody>
      </p:sp>
      <p:sp>
        <p:nvSpPr>
          <p:cNvPr id="8" name="Text 5"/>
          <p:cNvSpPr txBox="1"/>
          <p:nvPr/>
        </p:nvSpPr>
        <p:spPr>
          <a:xfrm>
            <a:off x="1114013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7C6B73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C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1148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THE WATER GOES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315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3F16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Irrigation takes six litres in every ten</a:t>
            </a:r>
            <a:endParaRPr lang="en-US" sz="30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94360" y="1783080"/>
          <a:ext cx="7360920" cy="3977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8275320" y="1783080"/>
            <a:ext cx="3291840" cy="3977640"/>
          </a:xfrm>
          <a:prstGeom prst="roundRect">
            <a:avLst>
              <a:gd name="adj" fmla="val 2778"/>
            </a:avLst>
          </a:prstGeom>
          <a:solidFill>
            <a:srgbClr val="F5EFF1"/>
          </a:solidFill>
          <a:ln w="9525">
            <a:solidFill>
              <a:srgbClr val="E5D9DE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8503920" y="201168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6B2A4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this implies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8503920" y="2560320"/>
            <a:ext cx="28346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3F3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10 % cut in irrigation demand releases close to half the volume used by industry, mining and every other non-municipal use combined.</a:t>
            </a: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3F3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That is why the effort belongs in the field rather than in the other uses.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7C6B73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· South Africa market dossier</a:t>
            </a:r>
            <a:endParaRPr lang="en-US" sz="950" dirty="0"/>
          </a:p>
        </p:txBody>
      </p:sp>
      <p:sp>
        <p:nvSpPr>
          <p:cNvPr id="9" name="Text 6"/>
          <p:cNvSpPr txBox="1"/>
          <p:nvPr/>
        </p:nvSpPr>
        <p:spPr>
          <a:xfrm>
            <a:off x="1114013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7C6B73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C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1148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MAIN CROPS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315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3F16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Five crops carry the volume and the value</a:t>
            </a:r>
            <a:endParaRPr lang="en-US" sz="30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94360" y="1783080"/>
          <a:ext cx="7360920" cy="3977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8275320" y="1783080"/>
            <a:ext cx="3291840" cy="3977640"/>
          </a:xfrm>
          <a:prstGeom prst="roundRect">
            <a:avLst>
              <a:gd name="adj" fmla="val 2778"/>
            </a:avLst>
          </a:prstGeom>
          <a:solidFill>
            <a:srgbClr val="F5EFF1"/>
          </a:solidFill>
          <a:ln w="9525">
            <a:solidFill>
              <a:srgbClr val="E5D9DE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8503920" y="201168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6B2A4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Reading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8503920" y="2560320"/>
            <a:ext cx="28346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3F3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Citrus and grapes are irrigated, export-bound and priced per carton: there, a litre saved converts into margin. The country ships about 2.6 million tonnes of citrus a year, second only to Spain.</a:t>
            </a: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3F3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 Maize is mostly rain-fed and swings by several million tonnes between seasons.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7C6B73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· South Africa market dossier</a:t>
            </a:r>
            <a:endParaRPr lang="en-US" sz="950" dirty="0"/>
          </a:p>
        </p:txBody>
      </p:sp>
      <p:sp>
        <p:nvSpPr>
          <p:cNvPr id="9" name="Text 6"/>
          <p:cNvSpPr txBox="1"/>
          <p:nvPr/>
        </p:nvSpPr>
        <p:spPr>
          <a:xfrm>
            <a:off x="1114013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7C6B73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C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1148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RESPONSE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315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3F16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Two technologies, two different constraints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94360" y="1783080"/>
            <a:ext cx="52271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6B2A4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EVERGREEN® — holding the water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94360" y="2286000"/>
            <a:ext cx="5227168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F3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potassium-based hydro-retainer placed in the root zone at planting or at replant.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F3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captures rain and irrigation water and releases it back to the plant gradually, removing water stress through the critical stages.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F3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Absorbs on the order of 300 times its own weight; useful effect of 3 to 4 years in the soil.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F3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Breaks down by 20 to 25 % a year, with no build-up and no risk of overdosing.</a:t>
            </a:r>
            <a:endParaRPr lang="en-US" sz="1350" dirty="0"/>
          </a:p>
        </p:txBody>
      </p:sp>
      <p:sp>
        <p:nvSpPr>
          <p:cNvPr id="6" name="Text 4"/>
          <p:cNvSpPr txBox="1"/>
          <p:nvPr/>
        </p:nvSpPr>
        <p:spPr>
          <a:xfrm>
            <a:off x="6370168" y="1783080"/>
            <a:ext cx="52271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6B2A4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ECOFERT® — feeding without depleting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6370168" y="2286000"/>
            <a:ext cx="5227168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F3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micro-dose fertiliser of amino acids, nitrogen, phosphorus and potassium, made from renewable resources.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F3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Non-chelating: it does not strip the clay-humus complex and adds neither salinity nor nitrate load.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F3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Certified SOHISCERT and EU Bio, in use in 60 countries — the entry condition for European buyers' specifications.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F3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to 4 bottles of 140 ml per hectare, compatible with existing fertigation equipment.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94360" y="4846320"/>
            <a:ext cx="11002975" cy="960120"/>
          </a:xfrm>
          <a:prstGeom prst="roundRect">
            <a:avLst>
              <a:gd name="adj" fmla="val 7619"/>
            </a:avLst>
          </a:prstGeom>
          <a:solidFill>
            <a:srgbClr val="F5EFF1"/>
          </a:solidFill>
          <a:ln w="9525">
            <a:solidFill>
              <a:srgbClr val="E5D9D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22960" y="4983480"/>
            <a:ext cx="1054577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7C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two products are sold separately but were designed to reinforce each other: the hydro-retainer extends how long water stays available, the fertiliser puts that water to work without degrading the soil.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7C6B73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· South Africa market dossier</a:t>
            </a:r>
            <a:endParaRPr lang="en-US" sz="950" dirty="0"/>
          </a:p>
        </p:txBody>
      </p:sp>
      <p:sp>
        <p:nvSpPr>
          <p:cNvPr id="11" name="Text 9"/>
          <p:cNvSpPr txBox="1"/>
          <p:nvPr/>
        </p:nvSpPr>
        <p:spPr>
          <a:xfrm>
            <a:off x="1114013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7C6B73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C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1148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ORDERS OF MAGNITUDE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315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3F16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Expected water saving by irrigation method</a:t>
            </a:r>
            <a:endParaRPr lang="en-US" sz="30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94360" y="1783080"/>
          <a:ext cx="7360920" cy="3977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8275320" y="1783080"/>
            <a:ext cx="3291840" cy="3977640"/>
          </a:xfrm>
          <a:prstGeom prst="roundRect">
            <a:avLst>
              <a:gd name="adj" fmla="val 2778"/>
            </a:avLst>
          </a:prstGeom>
          <a:solidFill>
            <a:srgbClr val="F5EFF1"/>
          </a:solidFill>
          <a:ln w="9525">
            <a:solidFill>
              <a:srgbClr val="E5D9DE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8503920" y="201168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6B2A4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Read with caution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8503920" y="2560320"/>
            <a:ext cx="28346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3F3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These ranges are indicative and based on the savings documented for our hydro-retainers.</a:t>
            </a: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3F3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actual result depends on the soil, the climate and the crop. They give an order of magnitude and are in no case a guaranteed, contractual or absolute value.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7C6B73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· South Africa market dossier</a:t>
            </a:r>
            <a:endParaRPr lang="en-US" sz="950" dirty="0"/>
          </a:p>
        </p:txBody>
      </p:sp>
      <p:sp>
        <p:nvSpPr>
          <p:cNvPr id="9" name="Text 6"/>
          <p:cNvSpPr txBox="1"/>
          <p:nvPr/>
        </p:nvSpPr>
        <p:spPr>
          <a:xfrm>
            <a:off x="1114013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7C6B73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C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1148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PRIORITY AREAS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315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3F16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Where to run the first trials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94360" y="1783080"/>
            <a:ext cx="3472586" cy="4069080"/>
          </a:xfrm>
          <a:prstGeom prst="roundRect">
            <a:avLst>
              <a:gd name="adj" fmla="val 2633"/>
            </a:avLst>
          </a:prstGeom>
          <a:solidFill>
            <a:srgbClr val="F5EFF1"/>
          </a:solidFill>
          <a:ln w="9525">
            <a:solidFill>
              <a:srgbClr val="E5D9DE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1783080"/>
            <a:ext cx="3472586" cy="169164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95528" y="3639312"/>
            <a:ext cx="307025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6B2A4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Western Cape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795528" y="4041648"/>
            <a:ext cx="307025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8F6D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≈ 90,000 ha of vineyard</a:t>
            </a:r>
            <a:endParaRPr lang="en-US" sz="1250" dirty="0"/>
          </a:p>
        </p:txBody>
      </p:sp>
      <p:sp>
        <p:nvSpPr>
          <p:cNvPr id="8" name="Text 5"/>
          <p:cNvSpPr txBox="1"/>
          <p:nvPr/>
        </p:nvSpPr>
        <p:spPr>
          <a:xfrm>
            <a:off x="795528" y="4407408"/>
            <a:ext cx="307025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160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3F3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Nearly all of the national vineyard, plus the deciduous fruit of the Breede and Olifants valleys.</a:t>
            </a:r>
            <a:endParaRPr lang="en-US" sz="1150" dirty="0"/>
          </a:p>
          <a:p>
            <a:pPr algn="l" marL="342900" indent="-342900">
              <a:lnSpc>
                <a:spcPct val="1160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3F3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Winter rainfall of 250 to 400 mm inland, and the 2015-2018 quota cuts are a live memory.</a:t>
            </a:r>
            <a:endParaRPr lang="en-US" sz="1150" dirty="0"/>
          </a:p>
          <a:p>
            <a:pPr algn="l" marL="342900" indent="-342900">
              <a:lnSpc>
                <a:spcPct val="1160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3F3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Export blocks already on drip or micro-sprinkler, with buyers asking for organic certification.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4359554" y="1783080"/>
            <a:ext cx="3472586" cy="4069080"/>
          </a:xfrm>
          <a:prstGeom prst="roundRect">
            <a:avLst>
              <a:gd name="adj" fmla="val 2633"/>
            </a:avLst>
          </a:prstGeom>
          <a:solidFill>
            <a:srgbClr val="F5EFF1"/>
          </a:solidFill>
          <a:ln w="9525">
            <a:solidFill>
              <a:srgbClr val="E5D9DE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59554" y="1783080"/>
            <a:ext cx="3472586" cy="169164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4560722" y="3639312"/>
            <a:ext cx="307025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6B2A4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Limpopo</a:t>
            </a:r>
            <a:endParaRPr lang="en-US" sz="1500" dirty="0"/>
          </a:p>
        </p:txBody>
      </p:sp>
      <p:sp>
        <p:nvSpPr>
          <p:cNvPr id="12" name="Text 8"/>
          <p:cNvSpPr txBox="1"/>
          <p:nvPr/>
        </p:nvSpPr>
        <p:spPr>
          <a:xfrm>
            <a:off x="4560722" y="4041648"/>
            <a:ext cx="307025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8F6D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≈ 450 mm of rain a year</a:t>
            </a:r>
            <a:endParaRPr lang="en-US" sz="1250" dirty="0"/>
          </a:p>
        </p:txBody>
      </p:sp>
      <p:sp>
        <p:nvSpPr>
          <p:cNvPr id="13" name="Text 9"/>
          <p:cNvSpPr txBox="1"/>
          <p:nvPr/>
        </p:nvSpPr>
        <p:spPr>
          <a:xfrm>
            <a:off x="4560722" y="4407408"/>
            <a:ext cx="307025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160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3F3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leading citrus province, with macadamia and avocado on sandy, low-retention soils.</a:t>
            </a:r>
            <a:endParaRPr lang="en-US" sz="1150" dirty="0"/>
          </a:p>
          <a:p>
            <a:pPr algn="l" marL="342900" indent="-342900">
              <a:lnSpc>
                <a:spcPct val="1160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3F3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 summer evaporation and a long dry winter: irrigation carries the whole season.</a:t>
            </a:r>
            <a:endParaRPr lang="en-US" sz="1150" dirty="0"/>
          </a:p>
          <a:p>
            <a:pPr algn="l" marL="342900" indent="-342900">
              <a:lnSpc>
                <a:spcPct val="1160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3F3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Orchards planted for twenty years or more — planting is exactly when the retainer goes in.</a:t>
            </a:r>
            <a:endParaRPr lang="en-US" sz="1150" dirty="0"/>
          </a:p>
        </p:txBody>
      </p:sp>
      <p:sp>
        <p:nvSpPr>
          <p:cNvPr id="14" name="Shape 10"/>
          <p:cNvSpPr/>
          <p:nvPr/>
        </p:nvSpPr>
        <p:spPr>
          <a:xfrm>
            <a:off x="8124749" y="1783080"/>
            <a:ext cx="3472586" cy="4069080"/>
          </a:xfrm>
          <a:prstGeom prst="roundRect">
            <a:avLst>
              <a:gd name="adj" fmla="val 2633"/>
            </a:avLst>
          </a:prstGeom>
          <a:solidFill>
            <a:srgbClr val="F5EFF1"/>
          </a:solidFill>
          <a:ln w="9525">
            <a:solidFill>
              <a:srgbClr val="E5D9DE"/>
            </a:solidFill>
            <a:prstDash val="solid"/>
          </a:ln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24749" y="1783080"/>
            <a:ext cx="3472586" cy="169164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8325917" y="3639312"/>
            <a:ext cx="307025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6B2A4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KwaZulu-Natal</a:t>
            </a:r>
            <a:endParaRPr lang="en-US" sz="1500" dirty="0"/>
          </a:p>
        </p:txBody>
      </p:sp>
      <p:sp>
        <p:nvSpPr>
          <p:cNvPr id="17" name="Text 12"/>
          <p:cNvSpPr txBox="1"/>
          <p:nvPr/>
        </p:nvSpPr>
        <p:spPr>
          <a:xfrm>
            <a:off x="8325917" y="4041648"/>
            <a:ext cx="307025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8F6D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≈ 300,000 ha of cane</a:t>
            </a:r>
            <a:endParaRPr lang="en-US" sz="1250" dirty="0"/>
          </a:p>
        </p:txBody>
      </p:sp>
      <p:sp>
        <p:nvSpPr>
          <p:cNvPr id="18" name="Text 13"/>
          <p:cNvSpPr txBox="1"/>
          <p:nvPr/>
        </p:nvSpPr>
        <p:spPr>
          <a:xfrm>
            <a:off x="8325917" y="4407408"/>
            <a:ext cx="307025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160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3F3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sugar belt from the North Coast to Zululand, carrying most of a national crop of roughly 18 million tonnes.</a:t>
            </a:r>
            <a:endParaRPr lang="en-US" sz="1150" dirty="0"/>
          </a:p>
          <a:p>
            <a:pPr algn="l" marL="342900" indent="-342900">
              <a:lnSpc>
                <a:spcPct val="1160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3F3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Largely rain-fed: the gain is in holding the rain that falls, not in trimming a dose.</a:t>
            </a:r>
            <a:endParaRPr lang="en-US" sz="1150" dirty="0"/>
          </a:p>
          <a:p>
            <a:pPr algn="l" marL="342900" indent="-342900">
              <a:lnSpc>
                <a:spcPct val="1160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3F3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Around twenty thousand growers organised around mills — one route to a coordinated trial.</a:t>
            </a:r>
            <a:endParaRPr lang="en-US" sz="1150" dirty="0"/>
          </a:p>
        </p:txBody>
      </p:sp>
      <p:sp>
        <p:nvSpPr>
          <p:cNvPr id="19" name="Text 14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7C6B73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· South Africa market dossier</a:t>
            </a:r>
            <a:endParaRPr lang="en-US" sz="950" dirty="0"/>
          </a:p>
        </p:txBody>
      </p:sp>
      <p:sp>
        <p:nvSpPr>
          <p:cNvPr id="20" name="Text 15"/>
          <p:cNvSpPr txBox="1"/>
          <p:nvPr/>
        </p:nvSpPr>
        <p:spPr>
          <a:xfrm>
            <a:off x="1114013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7C6B73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C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1148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WE WORK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315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3F16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staged rollout, measured at every step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94360" y="1874520"/>
            <a:ext cx="2545004" cy="2834640"/>
          </a:xfrm>
          <a:prstGeom prst="roundRect">
            <a:avLst>
              <a:gd name="adj" fmla="val 3593"/>
            </a:avLst>
          </a:prstGeom>
          <a:solidFill>
            <a:srgbClr val="F5EFF1"/>
          </a:solidFill>
          <a:ln w="9525">
            <a:solidFill>
              <a:srgbClr val="E5D9DE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2103120"/>
            <a:ext cx="566928" cy="566928"/>
          </a:xfrm>
          <a:prstGeom prst="ellipse">
            <a:avLst/>
          </a:prstGeom>
          <a:solidFill>
            <a:srgbClr val="6B2A44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22960" y="21031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2788920"/>
            <a:ext cx="20878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6B2A4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Assessment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3291840"/>
            <a:ext cx="208780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3F3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Soil, irrigation method and crop are reviewed. No commitment at this stage.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413684" y="1874520"/>
            <a:ext cx="2545004" cy="2834640"/>
          </a:xfrm>
          <a:prstGeom prst="roundRect">
            <a:avLst>
              <a:gd name="adj" fmla="val 3593"/>
            </a:avLst>
          </a:prstGeom>
          <a:solidFill>
            <a:srgbClr val="F5EFF1"/>
          </a:solidFill>
          <a:ln w="9525">
            <a:solidFill>
              <a:srgbClr val="E5D9D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642284" y="2103120"/>
            <a:ext cx="566928" cy="566928"/>
          </a:xfrm>
          <a:prstGeom prst="ellipse">
            <a:avLst/>
          </a:prstGeom>
          <a:solidFill>
            <a:srgbClr val="6B2A44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3642284" y="21031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3642284" y="2788920"/>
            <a:ext cx="20878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6B2A4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Trial block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3642284" y="3291840"/>
            <a:ext cx="208780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3F3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comparative trial block, against a control block managed identically.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233008" y="1874520"/>
            <a:ext cx="2545004" cy="2834640"/>
          </a:xfrm>
          <a:prstGeom prst="roundRect">
            <a:avLst>
              <a:gd name="adj" fmla="val 3593"/>
            </a:avLst>
          </a:prstGeom>
          <a:solidFill>
            <a:srgbClr val="F5EFF1"/>
          </a:solidFill>
          <a:ln w="9525">
            <a:solidFill>
              <a:srgbClr val="E5D9DE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461608" y="2103120"/>
            <a:ext cx="566928" cy="566928"/>
          </a:xfrm>
          <a:prstGeom prst="ellipse">
            <a:avLst/>
          </a:prstGeom>
          <a:solidFill>
            <a:srgbClr val="6B2A44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461608" y="21031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6461608" y="2788920"/>
            <a:ext cx="20878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6B2A4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Measurement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6461608" y="3291840"/>
            <a:ext cx="208780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3F3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Water use and yield recorded over a full growing season.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9052331" y="1874520"/>
            <a:ext cx="2545004" cy="2834640"/>
          </a:xfrm>
          <a:prstGeom prst="roundRect">
            <a:avLst>
              <a:gd name="adj" fmla="val 3593"/>
            </a:avLst>
          </a:prstGeom>
          <a:solidFill>
            <a:srgbClr val="F5EFF1"/>
          </a:solidFill>
          <a:ln w="9525">
            <a:solidFill>
              <a:srgbClr val="E5D9D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9280931" y="2103120"/>
            <a:ext cx="566928" cy="566928"/>
          </a:xfrm>
          <a:prstGeom prst="ellipse">
            <a:avLst/>
          </a:prstGeom>
          <a:solidFill>
            <a:srgbClr val="6B2A44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9280931" y="21031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9280931" y="2788920"/>
            <a:ext cx="20878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6B2A4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Extension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9280931" y="3291840"/>
            <a:ext cx="208780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3F3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Gradual rollout to the remaining blocks, on the basis of what was measured.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594360" y="4983480"/>
            <a:ext cx="1100297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50" i="1" dirty="0">
                <a:solidFill>
                  <a:srgbClr val="7C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dosing rule is the same everywhere: 3 grams per litre of useful soil. What changes from one site to the next is the volume of soil the roots actually explore.</a:t>
            </a:r>
            <a:endParaRPr lang="en-US" sz="1250" dirty="0"/>
          </a:p>
        </p:txBody>
      </p:sp>
      <p:sp>
        <p:nvSpPr>
          <p:cNvPr id="25" name="Text 23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7C6B73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· South Africa market dossier</a:t>
            </a:r>
            <a:endParaRPr lang="en-US" sz="950" dirty="0"/>
          </a:p>
        </p:txBody>
      </p:sp>
      <p:sp>
        <p:nvSpPr>
          <p:cNvPr id="26" name="Text 24"/>
          <p:cNvSpPr txBox="1"/>
          <p:nvPr/>
        </p:nvSpPr>
        <p:spPr>
          <a:xfrm>
            <a:off x="1114013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7C6B73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C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1148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TO ANTICIPATE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315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3F16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Identified risks and our answers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94360" y="1783080"/>
            <a:ext cx="52271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6B2A4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Risks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94360" y="2286000"/>
            <a:ext cx="5227168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F3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Rainfall variability: one good La Niña season is enough to mask the value of the product.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F3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Registration: fertilisers and soil amendments fall under Act 36 of 1947 and must be registered before commercial sale.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F3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memory of cheap sodium-based polymers, which left a poor reputation in several regions.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F3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Farm cash flow after successive droughts, high input costs and a rand that raises the price of every imported input.</a:t>
            </a:r>
            <a:endParaRPr lang="en-US" sz="1350" dirty="0"/>
          </a:p>
        </p:txBody>
      </p:sp>
      <p:sp>
        <p:nvSpPr>
          <p:cNvPr id="6" name="Text 4"/>
          <p:cNvSpPr txBox="1"/>
          <p:nvPr/>
        </p:nvSpPr>
        <p:spPr>
          <a:xfrm>
            <a:off x="6370168" y="1783080"/>
            <a:ext cx="52271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6B2A4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Our answers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6370168" y="2286000"/>
            <a:ext cx="5227168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F3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the trial over a full season against a control block, so the gain is measurable even in a favourable year.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F3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the registration file in parallel with the first trials rather than after them.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F3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 the formulation: potassium, never sodium, and compatible with food crops.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F3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Spread the commitment: a useful life of 3 to 4 years amortises the cost over several seasons.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94360" y="4846320"/>
            <a:ext cx="11002975" cy="960120"/>
          </a:xfrm>
          <a:prstGeom prst="roundRect">
            <a:avLst>
              <a:gd name="adj" fmla="val 7619"/>
            </a:avLst>
          </a:prstGeom>
          <a:solidFill>
            <a:srgbClr val="F5EFF1"/>
          </a:solidFill>
          <a:ln w="9525">
            <a:solidFill>
              <a:srgbClr val="E5D9D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22960" y="4983480"/>
            <a:ext cx="1054577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7C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Acrylamide analysis (Polymex laboratory, ISO 9001, content below 3.0 µg/g) and REACH / SVHC screening (SGS) are available on request, together with the SOHISCERT certificate valid until 4 September 2027.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7C6B73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· South Africa market dossier</a:t>
            </a:r>
            <a:endParaRPr lang="en-US" sz="950" dirty="0"/>
          </a:p>
        </p:txBody>
      </p:sp>
      <p:sp>
        <p:nvSpPr>
          <p:cNvPr id="11" name="Text 9"/>
          <p:cNvSpPr txBox="1"/>
          <p:nvPr/>
        </p:nvSpPr>
        <p:spPr>
          <a:xfrm>
            <a:off x="1114013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7C6B73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822960" y="2103120"/>
            <a:ext cx="10058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Tell us about your block</a:t>
            </a:r>
            <a:endParaRPr lang="en-US" sz="3400" dirty="0"/>
          </a:p>
        </p:txBody>
      </p:sp>
      <p:sp>
        <p:nvSpPr>
          <p:cNvPr id="4" name="Text 1"/>
          <p:cNvSpPr txBox="1"/>
          <p:nvPr/>
        </p:nvSpPr>
        <p:spPr>
          <a:xfrm>
            <a:off x="822960" y="3200400"/>
            <a:ext cx="89611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FFFFFF">
                    <a:alpha val="88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Crop, irrigation method, soil type, the volume of water you use today. We come back with the matching combination of technologies, the dosing, and the trials already run in comparable situations.</a:t>
            </a:r>
            <a:endParaRPr lang="en-US" sz="1500" dirty="0"/>
          </a:p>
          <a:p>
            <a:pPr algn="l" indent="0" marL="0">
              <a:lnSpc>
                <a:spcPct val="130000"/>
              </a:lnSpc>
              <a:buNone/>
            </a:pPr>
            <a:endParaRPr lang="en-US" sz="150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FFFFFF">
                    <a:alpha val="88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first conversation commits you to nothing.</a:t>
            </a:r>
            <a:endParaRPr lang="en-US" sz="1500" dirty="0"/>
          </a:p>
        </p:txBody>
      </p:sp>
      <p:sp>
        <p:nvSpPr>
          <p:cNvPr id="5" name="Text 2"/>
          <p:cNvSpPr txBox="1"/>
          <p:nvPr/>
        </p:nvSpPr>
        <p:spPr>
          <a:xfrm>
            <a:off x="822960" y="484632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contact@evergreen-ecosorb.com · 821 Chemin des Clapiers, 83220 Le Pradet, France</a:t>
            </a:r>
            <a:endParaRPr lang="en-US" sz="1400" dirty="0"/>
          </a:p>
        </p:txBody>
      </p:sp>
      <p:pic>
        <p:nvPicPr>
          <p:cNvPr id="6" name="Image 1" descr="C:\Users\Utilisateur\dev\green-solutions-web\scripts\dossiers\sceau-aim-clair.png">    </p:cNvPr>
          <p:cNvPicPr>
            <a:picLocks noChangeAspect="1"/>
          </p:cNvPicPr>
          <p:nvPr/>
        </p:nvPicPr>
        <p:blipFill>
          <a:blip r:embed="rId2">
            <a:alphaModFix amt="85000"/>
          </a:blip>
          <a:stretch>
            <a:fillRect/>
          </a:stretch>
        </p:blipFill>
        <p:spPr>
          <a:xfrm>
            <a:off x="10637215" y="5193792"/>
            <a:ext cx="1051560" cy="105156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FFFFFF">
                    <a:alpha val="55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· South Africa market dossier</a:t>
            </a:r>
            <a:endParaRPr lang="en-US" sz="950" dirty="0"/>
          </a:p>
        </p:txBody>
      </p:sp>
      <p:sp>
        <p:nvSpPr>
          <p:cNvPr id="8" name="Text 4"/>
          <p:cNvSpPr txBox="1"/>
          <p:nvPr/>
        </p:nvSpPr>
        <p:spPr>
          <a:xfrm>
            <a:off x="1114013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FFFFF">
                    <a:alpha val="55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2026-09-15T12:53:08Z</dcterms:created>
  <dcterms:modified xsi:type="dcterms:W3CDTF">2026-09-15T12:53:08Z</dcterms:modified>
</cp:coreProperties>
</file>