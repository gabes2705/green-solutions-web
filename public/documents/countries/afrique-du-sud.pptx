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Water withdrawals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6B2A44"/>
              </a:solidFill>
              <a:effectLst/>
            </c:spPr>
          </c:dPt>
          <c:dPt>
            <c:idx val="1"/>
            <c:bubble3D val="0"/>
            <c:spPr>
              <a:solidFill>
                <a:srgbClr val="C9A227"/>
              </a:solidFill>
              <a:effectLst/>
            </c:spPr>
          </c:dPt>
          <c:dPt>
            <c:idx val="2"/>
            <c:bubble3D val="0"/>
            <c:spPr>
              <a:solidFill>
                <a:srgbClr val="9E6079"/>
              </a:solidFill>
              <a:effectLst/>
            </c:spPr>
          </c:dPt>
          <c:dLbls>
            <c:dLbl>
              <c:idx val="0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9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Municipal &amp; domestic</c:v>
                </c:pt>
                <c:pt idx="2">
                  <c:v>Industry, mining &amp; other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27</c:v>
                </c:pt>
                <c:pt idx="2">
                  <c:v>13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production (million tonnes)</c:v>
                </c:pt>
              </c:strCache>
            </c:strRef>
          </c:tx>
          <c:spPr>
            <a:solidFill>
              <a:srgbClr val="6B2A44"/>
            </a:solidFill>
            <a:effectLst/>
          </c:spPr>
          <c:invertIfNegative val="0"/>
          <c:dLbls>
            <c:numFmt formatCode="[$-409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2A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E607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C7D5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8724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Sugar cane</c:v>
                  </c:pt>
                  <c:pt idx="1">
                    <c:v>Maize*</c:v>
                  </c:pt>
                  <c:pt idx="2">
                    <c:v>Citrus</c:v>
                  </c:pt>
                  <c:pt idx="3">
                    <c:v>Potatoes</c:v>
                  </c:pt>
                  <c:pt idx="4">
                    <c:v>Grapes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</c:v>
                </c:pt>
                <c:pt idx="1">
                  <c:v>15</c:v>
                </c:pt>
                <c:pt idx="2">
                  <c:v>3.3</c:v>
                </c:pt>
                <c:pt idx="3">
                  <c:v>2.5</c:v>
                </c:pt>
                <c:pt idx="4">
                  <c:v>1.8</c:v>
                </c:pt>
              </c:numCache>
            </c:numRef>
          </c:val>
        </c:ser>
        <c:dLbls>
          <c:numFmt formatCode="[$-409]0.0" sourceLinked="0"/>
          <c:txPr>
            <a:bodyPr/>
            <a:lstStyle/>
            <a:p>
              <a:pPr>
                <a:defRPr b="0" i="0" strike="noStrike" sz="1100" u="none">
                  <a:solidFill>
                    <a:srgbClr val="3F16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5D9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end of range (%)</c:v>
                </c:pt>
              </c:strCache>
            </c:strRef>
          </c:tx>
          <c:spPr>
            <a:solidFill>
              <a:srgbClr val="6B2A44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Micro-sprinkler</c:v>
                  </c:pt>
                  <c:pt idx="2">
                    <c:v>Centre pivot</c:v>
                  </c:pt>
                  <c:pt idx="3">
                    <c:v>Flood / furrow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end of range (%)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Micro-sprinkler</c:v>
                  </c:pt>
                  <c:pt idx="2">
                    <c:v>Centre pivot</c:v>
                  </c:pt>
                  <c:pt idx="3">
                    <c:v>Flood / furrow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9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3F16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5D9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afrique-du-su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REPUBLIC OF SOUTH AFRICA</a:t>
            </a:r>
            <a:endParaRPr lang="en-US" sz="24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Pretoria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deciduous fruit and wine grapes grown on half the world's average rainfall.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hydro-retention changes for an export-led sector.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· Confidential · For the sole use of the recipient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IN BRIEF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small share of GDP, a large export earner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2.5 %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GDP from agriculture, forestry and fishing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1.6 M ha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irrigation, out of some 12 M ha of arable land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465 mm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rain a year, about half the world average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US$ 13 bn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farm exports a year — a consistent net exporter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 is a modest share of national output but employs roughly 5 % of the workforce, close to 900,000 people, and feeds an agro-processing chain worth several times the farm-gate value. Output comes from some 40,000 commercial farms alongside a much larger smallholder base.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dry country, and rainfall it cannot count on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Orchards and vineyards, Western Cape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annual rainfall is around 465 mm, roughly half the world average, and potential evaporation exceeds it across most of the interior.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Irrigation takes about 60 % of the water withdrawn each year: when the resource tightens, the restriction reaches the field before it reaches the city.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 is unevenly spread — under 200 mm a year in the Northern Cape, more than 1,000 mm on the KwaZulu-Natal coast — and it arrives in short, intense events.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Drought is a recurring line item: the 2015/16 El Niño season cut the commercial maize crop to under 8 million tonnes; the 2015-2018 Western Cape drought forced irrigation quota cuts.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plans — new dams, water reuse, coastal desalination — act on supply. Hydro-retention acts on demand, in the root zone, block by block.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WATER GOES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Irrigation takes six litres in every ten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implies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10 % cut in irrigation demand releases close to half the volume used by industry, mining and every other non-municipal use combined.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why the effort belongs in the field rather than in the other uses.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CROPS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crops carry the volume and the value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and grapes are irrigated, export-bound and priced per carton: there, a litre saved converts into margin. The country ships about 2.6 million tonnes of citrus a year, second only to Spain.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Maize is mostly rain-fed and swings by several million tonnes between seasons.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technologies, two different constraints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holding the water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potassium-based hydro-retainer placed in the root zone at planting or at replant.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captures rain and irrigation water and releases it back to the plant gradually, removing water stress through the critical stages.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Absorbs on the order of 300 times its own weight; useful effect of 3 to 4 years in the soil.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down by 20 to 25 % a year, with no build-up and no risk of overdosing.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feeding without depleting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micro-dose fertiliser of amino acids, nitrogen, phosphorus and potassium, made from renewable resources.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Non-chelating: it does not strip the clay-humus complex and adds neither salinity nor nitrate load.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SOHISCERT and EU Bio, in use in 60 countries — the entry condition for European buyers' specifications.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to 4 bottles of 140 ml per hectare, compatible with existing fertigation equipment.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products are sold separately but were designed to reinforce each other: the hydro-retainer extends how long water stays available, the fertiliser puts that water to work without degrading the soil.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OF MAGNITUDE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water saving by irrigation method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with caution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ranges are indicative and based on the savings documented for our hydro-retainers.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result depends on the soil, the climate and the crop. They give an order of magnitude and are in no case a guaranteed, contractual or absolute value.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PRIORITY AREAS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run the first trials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Western Cape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F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90,000 ha of vineyard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all of the national vineyard, plus the deciduous fruit of the Breede and Olifants valleys.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rainfall of 250 to 400 mm inland, and the 2015-2018 quota cuts are a live memory.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blocks already on drip or micro-sprinkler, with buyers asking for organic certification.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Limpopo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F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450 mm of rain a year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leading citrus province, with macadamia and avocado on sandy, low-retention soils.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summer evaporation and a long dry winter: irrigation carries the whole season.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Orchards planted for twenty years or more — planting is exactly when the retainer goes in.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KwaZulu-Natal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F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300,000 ha of cane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sugar belt from the North Coast to Zululand, carrying most of a national crop of roughly 18 million tonnes.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Largely rain-fed: the gain is in holding the rain that falls, not in trimming a dose.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twenty thousand growers organised around mills — one route to a coordinated trial.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staged rollout, measured at every step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Soil, irrigation method and crop are reviewed. No commitment at this stage.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Trial block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comparative trial block, against a control block managed identically.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Measurement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use and yield recorded over a full growing season.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rollout to the remaining blocks, on the basis of what was measured.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dosing rule is the same everywhere: 3 grams per litre of useful soil. What changes from one site to the next is the volume of soil the roots actually explore.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ANTICIPATE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Identified risks and our answers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 variability: one good La Niña season is enough to mask the value of the product.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Registration: fertilisers and soil amendments fall under Act 36 of 1947 and must be registered before commercial sale.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memory of cheap sodium-based polymers, which left a poor reputation in several regions.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 cash flow after successive droughts, high input costs and a rand that raises the price of every imported input.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answers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trial over a full season against a control block, so the gain is measurable even in a favourable year.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registration file in parallel with the first trials rather than after them.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formulation: potassium, never sodium, and compatible with food crops.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the commitment: a useful life of 3 to 4 years amortises the cost over several seasons.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Acrylamide analysis (Polymex laboratory, ISO 9001, content below 3.0 µg/g) and REACH / SVHC screening (SGS) are available on request, together with the SOHISCERT certificate valid until 4 September 2027.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 us about your block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Crop, irrigation method, soil type, the volume of water you use today. We come back with the matching combination of technologies, the dosing, and the trials already run in comparable situations.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conversation commits you to nothing.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2026-09-14T18:05:55Z</dcterms:created>
  <dcterms:modified xsi:type="dcterms:W3CDTF">2026-09-14T18:05:55Z</dcterms:modified>
</cp:coreProperties>
</file>