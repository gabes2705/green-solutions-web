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bubble3D val="0"/>
            <c:spPr>
              <a:solidFill>
                <a:srgbClr val="9E6079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 &amp; domestic</c:v>
                </c:pt>
                <c:pt idx="2">
                  <c:v>Industry, mining &amp; other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27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production (million tonnes)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E607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C7D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8724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Sugar cane</c:v>
                  </c:pt>
                  <c:pt idx="1">
                    <c:v>Maize*</c:v>
                  </c:pt>
                  <c:pt idx="2">
                    <c:v>Citrus</c:v>
                  </c:pt>
                  <c:pt idx="3">
                    <c:v>Potatoes</c:v>
                  </c:pt>
                  <c:pt idx="4">
                    <c:v>Grapes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15</c:v>
                </c:pt>
                <c:pt idx="2">
                  <c:v>3.3</c:v>
                </c:pt>
                <c:pt idx="3">
                  <c:v>2.5</c:v>
                </c:pt>
                <c:pt idx="4">
                  <c:v>1.8</c:v>
                </c:pt>
              </c:numCache>
            </c:numRef>
          </c:val>
        </c:ser>
        <c:dLbls>
          <c:numFmt formatCode="[$-409]0.0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Grapes</c:v>
                  </c:pt>
                  <c:pt idx="1">
                    <c:v>Citrus</c:v>
                  </c:pt>
                  <c:pt idx="2">
                    <c:v>Sugar cane</c:v>
                  </c:pt>
                  <c:pt idx="3">
                    <c:v>Potatoes</c:v>
                  </c:pt>
                  <c:pt idx="4">
                    <c:v>Avocados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Grapes</c:v>
                  </c:pt>
                  <c:pt idx="1">
                    <c:v>Citrus</c:v>
                  </c:pt>
                  <c:pt idx="2">
                    <c:v>Sugar cane</c:v>
                  </c:pt>
                  <c:pt idx="3">
                    <c:v>Potatoes</c:v>
                  </c:pt>
                  <c:pt idx="4">
                    <c:v>Avocados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20</c:v>
                </c:pt>
                <c:pt idx="3">
                  <c:v>40</c:v>
                </c:pt>
                <c:pt idx="4">
                  <c:v>25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frique-du-s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991" y="1389888"/>
            <a:ext cx="1964425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9991" y="1389888"/>
            <a:ext cx="1964425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REPUBLIC OF SOUTH AFRICA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Pretoria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deciduous fruit and wine grapes grown on half the world's average rainfall.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an export-led sector.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share of GDP, a large export earner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agriculture, forestry and fishing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1.6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out of some 12 M ha of arable land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465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year, about half the world average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 bn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farm exports a year — a consistent net exporter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is a modest share of national output but employs roughly 5 % of the workforce, close to 900,000 people, and feeds an agro-processing chain worth several times the farm-gate value. Output comes from some 40,000 commercial farms alongside a much larger smallholder base.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dry country, and rainfall it cannot count 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and vineyards, Western Cape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annual rainfall is around 465 mm, roughly half the world average, and potential evaporation exceeds it across most of the interior.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takes about 60 % of the water withdrawn each year: when the resource tightens, the restriction reaches the field before it reaches the city.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is unevenly spread — under 200 mm a year in the Northern Cape, more than 1,000 mm on the KwaZulu-Natal coast — and it arrives in short, intense events.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is a recurring line item: the 2015/16 El Niño season cut the commercial maize crop to under 8 million tonnes; the 2015-2018 Western Cape drought forced irrigation quota cuts.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plans — new dams, water reuse, coastal desalination — act on supply. Hydro-retention acts on demand, in the root zone, block by block.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six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releases close to half the volume used by industry, mining and every other non-municipal use combined.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 rather than in the other uses.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 AND FOOD SECURITY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net food exporter with a two-speed farm economy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No. 2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 of fresh citrus in the world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0.9 M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employed in primary agriculture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40,000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farming units in the latest census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2.3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farming on a small scale, mostly for their own food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agriculture earns foreign exchange from fruit, wine, nuts and sugar, while millions of households farm small plots with little access to water. Water-use licensing, electricity load-shedding and land reform all weigh on investment decisions.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crops carry the volume and the value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and grapes are irrigated, export-bound and priced per carton: there, a litre saved converts into margin. The country ships about 2.6 million tonnes of citrus a year, second only to Spain.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Maize is mostly rain-fed and swings by several million tonnes between seasons.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Citrus: an export leader on a tight water allocation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is grown in Limpopo, the Eastern Cape, Mpumalanga and the Western Cape, mostly under micro-irrigation.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draw on allocated river and dam water, which is cut back in drought years.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Load-shedding interrupts pumping schedules, so trees can miss irrigations during hot, dry spells.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markets pay for size and appearance: steady soil moisture protects both at fruit set and sizing.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NAPEMA® treats pests without residue, which matters under strict European maximum residue limits.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Wine and table grapes in the Western Cape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Western Cape holds most of the vineyard area, from Stellenbosch to the Breede and Olifants river valleys.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2015–2018 drought brought Cape Town close to 'Day Zero', and farms lost much of their water allocation.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Table-grape growers in the Hex and Orange River valleys depend on long, hot seasons and dependable 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Replanting a vineyard costs several years of income: young vines must be kept free of water stress to establish.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placed in the planting furrow holds water around young roots between irrigations.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potential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yield gain by crop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 used by our dose calculator, for a normally managed crop with EVERGREEN® applied at planting.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 depend on soil, climate and management. For cereals, no gain is claimed without a field trial.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rain and irrigation water and releases it back to the plant gradually, removing water stress through the critical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the entry condition for European buyers' specifications.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range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Protecting crops, holding soils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protection without residue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diseases, parasites, fungi and pests, with no synthetic molecule.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and root spraying, working both preventively and curatively.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residue in soil, plant or air: pollinators and beneficial insects are spared.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Formulated for one precise problem: mealybug, citrus greening (HLB), nematodes.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the tree for hot regions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to 15 m in six to eight years, with a wide trunk.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100 g of EVERGREEN® per plant, irrigation needs drop by 50%.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Withstands −25 °C to +45 °C; the wood only ignites above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Windbreak, protection against soil erosion, 400 to 700 kg of honey per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delivered potted (25 to 30 cm), certified disease-free and replaced under warranty in case of loss. First harvest at the end of year six, with wood valued at around €400 to €450 per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Western Cape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90,000 ha of vineyard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of the national vineyard, plus the deciduous fruit of the Breede and Olifants valleys.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rainfall of 250 to 400 mm inland, and the 2015-2018 quota cuts are a live memory.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blocks already on drip or micro-sprinkler, with buyers asking for organic certification.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Limpopo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450 mm of rain a year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leading citrus province, with macadamia and avocado on sandy, low-retention soils.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summer evaporation and a long dry winter: irrigation carries the whole season.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planted for twenty years or more — planting is exactly when the retainer goes in.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KwaZulu-Natal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300,000 ha of cane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sugar belt from the North Coast to Zululand, carrying most of a national crop of roughly 18 million tonnes.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rain-fed: the gain is in holding the rain that falls, not in trimming a dose.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twenty thousand growers organised around mills — one route to a coordinated trial.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growing season.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together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local partner for South Africa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exclusivity and launch stock for the first commercial season.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training for field teams, dosing protocols and seasonal updates.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Joint trials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plots with a control, results shared with growers.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with the Ministry of Agriculture and food-security programmes.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adapts to the territory: an importer, an input distributor or a growers' group can lead the partnership.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variability: one good La Niña season is enough to mask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fertilisers and soil amendments fall under Act 36 of 1947 and must be registered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of cheap sodium-based polymers, which left a poor reputation in several regions.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cash flow after successive droughts, high input costs and a rand that raises the price of every imported input.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season against a control block, so the gain is measurable even in a favourable year.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registration file in parallel with the first trials rather than after them.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and compatible with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commitment: a useful life of 3 to 4 years amortises the cost over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working assumptions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sources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South Africa: GDP by industry, Quarterly Labour Force Survey, Census of Commercial Agriculture.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Agriculture: Abstract of Agricultural Statistics.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Growers' Association; SAWIS for vineyard area.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Water and Sanitation; FAO (FAOSTAT, AQUASTAT); World Bank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Photographs: Amada44 (Public domain), Barry haynes (CC BY-SA 4.0), Haytam123258 (CC BY-SA 4.0), Ossewa (CC BY-SA 4.0) — via Wikimedia Commons.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assumptions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rounded orders of magnitude, taken from the latest public data available.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yield gains are indicative and vary with soil, climate and crop.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working document: figures to be refreshed before any official submission.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reports, certificates (SOHISCERT, Polymex and SGS analyses) and technical sheets: available on request.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block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Switzerland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2026-09-17T07:58:54Z</dcterms:created>
  <dcterms:modified xsi:type="dcterms:W3CDTF">2026-09-17T07:58:54Z</dcterms:modified>
</cp:coreProperties>
</file>