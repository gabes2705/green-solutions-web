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Water withdrawals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C6E49"/>
              </a:solidFill>
              <a:effectLst/>
            </c:spPr>
          </c:dPt>
          <c:dPt>
            <c:idx val="1"/>
            <c:bubble3D val="0"/>
            <c:spPr>
              <a:solidFill>
                <a:srgbClr val="D9A441"/>
              </a:solidFill>
              <a:effectLst/>
            </c:spPr>
          </c:dPt>
          <c:dPt>
            <c:idx val="2"/>
            <c:bubble3D val="0"/>
            <c:spPr>
              <a:solidFill>
                <a:srgbClr val="7FA88C"/>
              </a:solidFill>
              <a:effectLst/>
            </c:spPr>
          </c:dPt>
          <c:dLbls>
            <c:dLbl>
              <c:idx val="0"/>
              <c:numFmt formatCode="[$-409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09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409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09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Agriculture</c:v>
                </c:pt>
                <c:pt idx="1">
                  <c:v>Municipal</c:v>
                </c:pt>
                <c:pt idx="2">
                  <c:v>Industry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83</c:v>
                </c:pt>
                <c:pt idx="1">
                  <c:v>15</c:v>
                </c:pt>
                <c:pt idx="2">
                  <c:v>2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cropped area (%)</c:v>
                </c:pt>
              </c:strCache>
            </c:strRef>
          </c:tx>
          <c:spPr>
            <a:solidFill>
              <a:srgbClr val="2C6E49"/>
            </a:solidFill>
            <a:effectLst/>
          </c:spPr>
          <c:invertIfNegative val="0"/>
          <c:dLbls>
            <c:numFmt formatCode="[$-409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C6E4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A44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FA88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E7A3C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Date palms</c:v>
                  </c:pt>
                  <c:pt idx="1">
                    <c:v>Fodder</c:v>
                  </c:pt>
                  <c:pt idx="2">
                    <c:v>Vegetables</c:v>
                  </c:pt>
                  <c:pt idx="3">
                    <c:v>Other fruit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</c:v>
                </c:pt>
                <c:pt idx="1">
                  <c:v>25</c:v>
                </c:pt>
                <c:pt idx="2">
                  <c:v>15</c:v>
                </c:pt>
                <c:pt idx="3">
                  <c:v>10</c:v>
                </c:pt>
              </c:numCache>
            </c:numRef>
          </c:val>
        </c:ser>
        <c:dLbls>
          <c:numFmt formatCode="[$-409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641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0DF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Low end of range (%)</c:v>
                </c:pt>
              </c:strCache>
            </c:strRef>
          </c:tx>
          <c:spPr>
            <a:solidFill>
              <a:srgbClr val="2C6E49"/>
            </a:solidFill>
            <a:effectLst/>
          </c:spPr>
          <c:invertIfNegative val="0"/>
          <c:dLbls>
            <c:numFmt formatCode="[$-409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Drip</c:v>
                  </c:pt>
                  <c:pt idx="1">
                    <c:v>Bubbler</c:v>
                  </c:pt>
                  <c:pt idx="2">
                    <c:v>Sprinkler</c:v>
                  </c:pt>
                  <c:pt idx="3">
                    <c:v>Basin / falaj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45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end of range (%)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[$-409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Drip</c:v>
                  </c:pt>
                  <c:pt idx="1">
                    <c:v>Bubbler</c:v>
                  </c:pt>
                  <c:pt idx="2">
                    <c:v>Sprinkler</c:v>
                  </c:pt>
                  <c:pt idx="3">
                    <c:v>Basin / falaj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60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[$-409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641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0DF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jpeg"/><Relationship Id="rId3" Type="http://schemas.openxmlformats.org/officeDocument/2006/relationships/image" Target="../media/image-11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0"/>
            <a:ext cx="591891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8368" y="56692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GROUP</a:t>
            </a:r>
            <a:endParaRPr lang="en-US" sz="1100" dirty="0"/>
          </a:p>
        </p:txBody>
      </p:sp>
      <p:pic>
        <p:nvPicPr>
          <p:cNvPr id="5" name="Image 1" descr="C:\Users\Utilisateur\dev\green-solutions-web\public\images\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457200"/>
            <a:ext cx="603504" cy="603504"/>
          </a:xfrm>
          <a:prstGeom prst="rect">
            <a:avLst/>
          </a:prstGeom>
        </p:spPr>
      </p:pic>
      <p:pic>
        <p:nvPicPr>
          <p:cNvPr id="6" name="Image 2" descr="C:\Users\Utilisateur\dev\green-solutions-web\scripts\dossiers\drapeaux\oma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8456" y="1483066"/>
            <a:ext cx="1965960" cy="1124283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3648456" y="1483066"/>
            <a:ext cx="1965960" cy="1124283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8368" y="1298448"/>
            <a:ext cx="27614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SULTANATE OF OMAN</a:t>
            </a:r>
            <a:endParaRPr lang="en-US" sz="2800" dirty="0"/>
          </a:p>
        </p:txBody>
      </p:sp>
      <p:sp>
        <p:nvSpPr>
          <p:cNvPr id="9" name="Shape 4"/>
          <p:cNvSpPr/>
          <p:nvPr/>
        </p:nvSpPr>
        <p:spPr>
          <a:xfrm>
            <a:off x="658368" y="2889504"/>
            <a:ext cx="2788920" cy="4572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58368" y="316382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Muscat · 2026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58368" y="376732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Dates, vegetables and fodder grown on shrinking aquifers and under 100 mm of rain.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hydro-retention changes when every cubic metre is pumped.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658368" y="4892040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ECOSORB® · ECOFERT® · NAPEMA® · PAULOWNIA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58368" y="6053328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 · Confidential · For the sole use of the recipient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IN BRIEF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Irrigated farming on a very tight water budget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GDP from agriculture and fisheries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83 %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water withdrawals go to agriculture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100 mm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rain a year across most of the country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370,000 t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dates harvested a year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Farming is concentrated on the Al Batinah coastal plain, the interior oases and the monsoon-fed Dhofar region. Most irrigation water comes from aquifers and from some 3,000 active aflaj, traditional channels that are themselves fed by groundwater.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Oman market dossier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CONSTRAINT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Groundwater is the farm, and it is running down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Dhofar and the Hajar mountains, rainfall averages well under 100 mm a year, while potential evaporation is many times higher.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Agriculture draws the large majority of the water withdrawn each year, almost all of it from aquifers and aflaj.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Along Al Batinah, decades of pumping have lowered water tables and let seawater intrude: salinity has taken farmland out of production.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long droughts many aflaj run weaker or dry up, and the oasis date groves they feed suffer first.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Desalination supplies the cities, but its cost rules it out for most irrigation. Hydro-retention works on demand, in the root zone, where every pumped cubic metre is paid for.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Oman market dossier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WATER GOES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Irrigation takes eight litres in every ten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implies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10 % cut in irrigation demand saves several times the volume used by the whole of industry.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why the effort belongs in the field: dates, fodder and vegetables on the coastal plain.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Oman market dossier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ECONOMY AND FOOD SECURITY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Strong purchasing power, a narrow food base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 M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residents, with food demand rising every year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 100 %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self-sufficiency in dates and in fresh fish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3,000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aflaj, five of them on the UNESCO World Heritage list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2040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of Oman Vision, with food security as a priority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Oman imports most of its cereals, sugar, dairy and meat, and part of its vegetables. Food security plans favour local production of high-value crops and a more efficient use of every cubic metre of groundwater.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Oman market dossier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CROPS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Date palms hold half of the cropped area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palms occupy about half of the cropped area and carry cultural as well as economic weight.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Fodder, mostly Rhodes grass and alfalfa, is the thirstiest use per hectare and the first target of water rationing. Shares are rounded orders of magnitude.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Oman market dossier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SECTOR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Dates: a heritage crop with a modern water problem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palms cover about half of Oman's cropped area, from the Al Batinah coast to the interior oases.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groves are still irrigated in basins, with high losses on sandy soils in summer heat.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Saline groundwater along the coast lowers yields and fruit quality, and weakens young palms.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programmes distribute offshoots of premium varieties: planting is the moment to act on water.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EVERGREEN® placed in the planting pit holds irrigation water around the roots through the first hot season.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Oman market dossier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RESPONSE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technologies, two different constraints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holding the water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potassium-based hydro-retainer placed in the root zone at planting or at replant.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captures irrigation water and releases it back to the plant gradually, removing water stress through the hottest months.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Absorbs on the order of 300 times its own weight; useful effect of 3 to 4 years in the soil.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Breaks down by 20 to 25 % a year, with no build-up and no risk of overdosing.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feeding without depleting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micro-dose fertiliser of amino acids, nitrogen, phosphorus and potassium, made from renewable resources.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Non-chelating: it does not strip the clay-humus complex and adds neither salinity nor nitrate load.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Certified SOHISCERT and EU Bio, in use in 60 countries — an entry condition for premium buyers.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to 4 bottles of 140 ml per hectare, compatible with existing fertigation equipment.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products are sold separately but were designed to reinforce each other: the hydro-retainer extends how long water stays available, the fertiliser puts that water to work without degrading the soil.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Oman market dossier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of the range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Protecting crops, holding soils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NAPEMA® — protection without residue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diseases, parasites, fungi and pests, with no synthetic molecule.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Foliar and root spraying, working both preventively and curatively.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residue in soil, plant or air: pollinators and beneficial insects are spared.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Formulated for one precise problem: mealybug, citrus greening (HLB), nematodes.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Paulownia ALTIFOLIA® — the tree for hot regions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to 15 m in six to eight years, with a wide trunk.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with 100 g of EVERGREEN® per plant, irrigation needs drop by 50%.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Withstands −25 °C to +45 °C; the wood only ignites above 426 °C.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Windbreak, protection against soil erosion, 400 to 700 kg of honey per hectare.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Plants delivered potted (25 to 30 cm), certified disease-free and replaced under warranty in case of loss. First harvest at the end of year six, with wood valued at around €400 to €450 per m³.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Oman market dossier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OF MAGNITUDE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water saving by irrigation method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with caution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ranges are indicative and based on the savings documented for our hydro-retainers.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result depends on the soil, the climate and the crop. They give an order of magnitude and are in no case a guaranteed, contractual or absolute value.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Oman market dossier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PRIORITY AREAS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run the first trials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 Batinah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C6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Oman's main farm belt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Vegetables, dates and fodder on a coastal plain where aquifers are over-drawn and turning saline.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Farms already on drip, with pumps running daily: the saving shows on the power bill.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commercial farms able to host a trial block quickly.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Interior oases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C6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Aflaj-fed date groves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 date groves around Nizwa and Bahla, irrigated by shared falaj rotations.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Weaker flows in drought years mean longer intervals between turns.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Young offshoots planted with a retainer establish before the summer heat.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Dhofar — Salalah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C6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Monsoon from June to September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region with a monsoon: coconut, banana, papaya and vegetables near Salalah.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dry months outside the khareef: holding the monsoon water in the soil is the whole question.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Soils poor in organic matter, where ECOFERT® adds value alongside the retainer.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Oman market dossier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WORK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staged rollout, measured at every step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Assessment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Soil, irrigation method and crop are reviewed. No commitment at this stage.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Trial block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comparative trial block, against a control block managed identically.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Measurement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use and yield recorded over a full season, summer included.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Gradual rollout to the remaining blocks, on the basis of what was measured.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dosing rule is the same everywhere: 3 grams per litre of useful soil. What changes from one site to the next is the volume of soil the roots actually explore.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Oman market dossier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ANTICIPATE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Identified risks and our answers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Summer heat above 45 °C and sandy soils: results vary strongly from one block to the next.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Saline irrigation water in coastal areas, and caution toward any new soil input.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of fertilisers and soil conditioners before commercial sale.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decision cycles at large agricultural companies and public bodies.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answers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trials over a full season against a control block, so the gain is documented in figures.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potassium formulation, never sodium: it adds no salinity and is safe for food crops.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the regulatory file early: analyses and certificates before negotiation starts.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through farmer associations and model farms to reach many growers at once.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Acrylamide analysis (Polymex laboratory, ISO 9001, content below 3.0 µg/g) and REACH / SVHC screening (SGS) are available on request, together with the SOHISCERT certificate valid until 4 September 2027.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Oman market dossier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 us about your farm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Crop, irrigation method, soil type, the volume of water you use today. We come back with the matching combination of technologies, the dosing, and the trials already run in comparable situations.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conversation commits you to nothing.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Green Solutions Groupe AIM SA, 46, route de la Condémine, 1475 Forel, Switzerland</a:t>
            </a:r>
            <a:endParaRPr lang="en-US" sz="1400" dirty="0"/>
          </a:p>
        </p:txBody>
      </p:sp>
      <p:pic>
        <p:nvPicPr>
          <p:cNvPr id="6" name="Image 1" descr="C:\Users\Utilisateur\dev\green-solutions-web\scripts\dossiers\sceau-aim-clair.png">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0637215" y="5193792"/>
            <a:ext cx="1051560" cy="1051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Oman market dossier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2026-09-17T08:00:19Z</dcterms:created>
  <dcterms:modified xsi:type="dcterms:W3CDTF">2026-09-17T08:00:19Z</dcterms:modified>
</cp:coreProperties>
</file>