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8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8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8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2.xlsx"/></Relationships>
</file>

<file path=ppt/charts/_rels/chart8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3.xlsx"/></Relationships>
</file>

<file path=ppt/charts/chart8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Índice de superficie, base histórica = 100</c:v>
                </c:pt>
              </c:strCache>
            </c:strRef>
          </c:tx>
          <c:spPr>
            <a:solidFill>
              <a:srgbClr val="1F5C3A"/>
            </a:solidFill>
            <a:effectLst/>
          </c:spPr>
          <c:invertIfNegative val="0"/>
          <c:dLbls>
            <c:numFmt formatCode="[$-C0A]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332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5C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3B23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Base histórica</c:v>
                  </c:pt>
                  <c:pt idx="1">
                    <c:v>Inventario 2023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44</c:v>
                </c:pt>
              </c:numCache>
            </c:numRef>
          </c:val>
        </c:ser>
        <c:dLbls>
          <c:numFmt formatCode="[$-C0A]0.0" sourceLinked="0"/>
          <c:txPr>
            <a:bodyPr/>
            <a:lstStyle/>
            <a:p>
              <a:pPr>
                <a:defRPr b="0" i="0" strike="noStrike" sz="1100" u="none">
                  <a:solidFill>
                    <a:srgbClr val="12332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CE4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Exportaciones 2024, US$ millones</c:v>
                </c:pt>
              </c:strCache>
            </c:strRef>
          </c:tx>
          <c:spPr>
            <a:solidFill>
              <a:srgbClr val="1F5C3A"/>
            </a:solidFill>
            <a:effectLst/>
          </c:spPr>
          <c:invertIfNegative val="0"/>
          <c:dLbls>
            <c:numFmt formatCode="[$-C0A]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332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5C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3B2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6A48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772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Arándanos</c:v>
                  </c:pt>
                  <c:pt idx="1">
                    <c:v>Uvas</c:v>
                  </c:pt>
                  <c:pt idx="2">
                    <c:v>Paltas</c:v>
                  </c:pt>
                  <c:pt idx="3">
                    <c:v>Cacao en grano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2270</c:v>
                </c:pt>
                <c:pt idx="1">
                  <c:v>1705</c:v>
                </c:pt>
                <c:pt idx="2">
                  <c:v>1248</c:v>
                </c:pt>
                <c:pt idx="3">
                  <c:v>740</c:v>
                </c:pt>
              </c:numCache>
            </c:numRef>
          </c:val>
        </c:ser>
        <c:dLbls>
          <c:numFmt formatCode="[$-C0A]0.0" sourceLinked="0"/>
          <c:txPr>
            <a:bodyPr/>
            <a:lstStyle/>
            <a:p>
              <a:pPr>
                <a:defRPr b="0" i="0" strike="noStrike" sz="1100" u="none">
                  <a:solidFill>
                    <a:srgbClr val="12332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CE4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https://commons.wikimedia.org/wiki/File:Oasis_de_Huacachina,_Ica,_Per%C3%BA,_2015-07-29,_DD_18.JPG
https://creativecommons.org/licenses/by-sa/4.0/
Redimensionado y recortado para la presentación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[1] MIDAGRI. Cierre de agroexportaciones 2025, publicado en febrero de 2026. https://www.gob.pe/institucion/midagri/noticias/1350416-midagri-peru-supero-ventas-por-agroexportaciones-en-mas-de-usd-15-mil-millones-al-cierre-del-2025
[2] Banco Mundial. Peru: Strategic Actions Toward Water Security, 2023. https://www.worldbank.org/en/topic/water/publication/peru-strategic-actions-toward-water-security
[3] INAIGEM. Inventario Nacional de Glaciares y Lagunas de Origen Glaciar, 2023. https://repositorio.inaigem.gob.pe/items/7029db53-5118-4e93-8b2a-71e6e26db5f6
[4] MIDAGRI. Cierre de agroexportaciones 2024, publicado en febrero de 2025. Valores por producto. https://www.gob.pe/institucion/midagri/noticias/1107223-record-historico-gobierno-agroexportaciones-cierran-el-2024-con-un-record-de-us-12-700-mil-millones-en-ventas
[5] SENASA. Ica, Piura y Lambayeque: principales regiones productoras de uva, 2024. https://www.gob.pe/institucion/senasa/noticias/962524-ica-piura-y-lambayeque-son-las-principales-regiones-productoras-de-uva
[6] MIDAGRI. Crecimiento del sector agropecuario en 2024. https://www.gob.pe/institucion/midagri/noticias/1103728-midagri-sector-agropecuario-crecio-4-9-el-2024-impulsado-por-el-subsector-agricola-y-pecuario
Consulta: 28/09/2026. Las prioridades comerciales y el protocolo son propuestas de Green Solutions.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[1] MIDAGRI. Cierre de agroexportaciones 2025, publicado en febrero de 2026. https://www.gob.pe/institucion/midagri/noticias/1350416-midagri-peru-supero-ventas-por-agroexportaciones-en-mas-de-usd-15-mil-millones-al-cierre-del-2025
[2] Banco Mundial. Peru: Strategic Actions Toward Water Security, 2023. https://www.worldbank.org/en/topic/water/publication/peru-strategic-actions-toward-water-security
[3] INAIGEM. Inventario Nacional de Glaciares y Lagunas de Origen Glaciar, 2023. https://repositorio.inaigem.gob.pe/items/7029db53-5118-4e93-8b2a-71e6e26db5f6
[4] MIDAGRI. Cierre de agroexportaciones 2024, publicado en febrero de 2025. Valores por producto. https://www.gob.pe/institucion/midagri/noticias/1107223-record-historico-gobierno-agroexportaciones-cierran-el-2024-con-un-record-de-us-12-700-mil-millones-en-ventas
[5] SENASA. Ica, Piura y Lambayeque: principales regiones productoras de uva, 2024. https://www.gob.pe/institucion/senasa/noticias/962524-ica-piura-y-lambayeque-son-las-principales-regiones-productoras-de-uva
[6] MIDAGRI. Crecimiento del sector agropecuario en 2024. https://www.gob.pe/institucion/midagri/noticias/1103728-midagri-sector-agropecuario-crecio-4-9-el-2024-impulsado-por-el-subsector-agricola-y-pecuario
Consulta: 28/09/2026. Las prioridades comerciales y el protocolo son propuestas de Green Solutions.
https://commons.wikimedia.org/wiki/File:Terrace_farming_in_the_Ande_mountains_Pisac_Peru.jpg
https://creativecommons.org/publicdomain/zero/1.0/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[1] MIDAGRI. Cierre de agroexportaciones 2025, publicado en febrero de 2026. https://www.gob.pe/institucion/midagri/noticias/1350416-midagri-peru-supero-ventas-por-agroexportaciones-en-mas-de-usd-15-mil-millones-al-cierre-del-2025
[2] Banco Mundial. Peru: Strategic Actions Toward Water Security, 2023. https://www.worldbank.org/en/topic/water/publication/peru-strategic-actions-toward-water-security
[3] INAIGEM. Inventario Nacional de Glaciares y Lagunas de Origen Glaciar, 2023. https://repositorio.inaigem.gob.pe/items/7029db53-5118-4e93-8b2a-71e6e26db5f6
[4] MIDAGRI. Cierre de agroexportaciones 2024, publicado en febrero de 2025. Valores por producto. https://www.gob.pe/institucion/midagri/noticias/1107223-record-historico-gobierno-agroexportaciones-cierran-el-2024-con-un-record-de-us-12-700-mil-millones-en-ventas
[5] SENASA. Ica, Piura y Lambayeque: principales regiones productoras de uva, 2024. https://www.gob.pe/institucion/senasa/noticias/962524-ica-piura-y-lambayeque-son-las-principales-regiones-productoras-de-uva
[6] MIDAGRI. Crecimiento del sector agropecuario en 2024. https://www.gob.pe/institucion/midagri/noticias/1103728-midagri-sector-agropecuario-crecio-4-9-el-2024-impulsado-por-el-subsector-agricola-y-pecuario
Consulta: 28/09/2026. Las prioridades comerciales y el protocolo son propuestas de Green Solutions.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[1] MIDAGRI. Cierre de agroexportaciones 2025, publicado en febrero de 2026. https://www.gob.pe/institucion/midagri/noticias/1350416-midagri-peru-supero-ventas-por-agroexportaciones-en-mas-de-usd-15-mil-millones-al-cierre-del-2025
[2] Banco Mundial. Peru: Strategic Actions Toward Water Security, 2023. https://www.worldbank.org/en/topic/water/publication/peru-strategic-actions-toward-water-security
[3] INAIGEM. Inventario Nacional de Glaciares y Lagunas de Origen Glaciar, 2023. https://repositorio.inaigem.gob.pe/items/7029db53-5118-4e93-8b2a-71e6e26db5f6
[4] MIDAGRI. Cierre de agroexportaciones 2024, publicado en febrero de 2025. Valores por producto. https://www.gob.pe/institucion/midagri/noticias/1107223-record-historico-gobierno-agroexportaciones-cierran-el-2024-con-un-record-de-us-12-700-mil-millones-en-ventas
[5] SENASA. Ica, Piura y Lambayeque: principales regiones productoras de uva, 2024. https://www.gob.pe/institucion/senasa/noticias/962524-ica-piura-y-lambayeque-son-las-principales-regiones-productoras-de-uva
[6] MIDAGRI. Crecimiento del sector agropecuario en 2024. https://www.gob.pe/institucion/midagri/noticias/1103728-midagri-sector-agropecuario-crecio-4-9-el-2024-impulsado-por-el-subsector-agricola-y-pecuario
Consulta: 28/09/2026. Las prioridades comerciales y el protocolo son propuestas de Green Solutions.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[1] MIDAGRI. Cierre de agroexportaciones 2025, publicado en febrero de 2026. https://www.gob.pe/institucion/midagri/noticias/1350416-midagri-peru-supero-ventas-por-agroexportaciones-en-mas-de-usd-15-mil-millones-al-cierre-del-2025
[2] Banco Mundial. Peru: Strategic Actions Toward Water Security, 2023. https://www.worldbank.org/en/topic/water/publication/peru-strategic-actions-toward-water-security
[3] INAIGEM. Inventario Nacional de Glaciares y Lagunas de Origen Glaciar, 2023. https://repositorio.inaigem.gob.pe/items/7029db53-5118-4e93-8b2a-71e6e26db5f6
[4] MIDAGRI. Cierre de agroexportaciones 2024, publicado en febrero de 2025. Valores por producto. https://www.gob.pe/institucion/midagri/noticias/1107223-record-historico-gobierno-agroexportaciones-cierran-el-2024-con-un-record-de-us-12-700-mil-millones-en-ventas
[5] SENASA. Ica, Piura y Lambayeque: principales regiones productoras de uva, 2024. https://www.gob.pe/institucion/senasa/noticias/962524-ica-piura-y-lambayeque-son-las-principales-regiones-productoras-de-uva
[6] MIDAGRI. Crecimiento del sector agropecuario en 2024. https://www.gob.pe/institucion/midagri/noticias/1103728-midagri-sector-agropecuario-crecio-4-9-el-2024-impulsado-por-el-subsector-agricola-y-pecuario
Consulta: 28/09/2026. Las prioridades comerciales y el protocolo son propuestas de Green Solutions.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[1] MIDAGRI. Cierre de agroexportaciones 2025, publicado en febrero de 2026. https://www.gob.pe/institucion/midagri/noticias/1350416-midagri-peru-supero-ventas-por-agroexportaciones-en-mas-de-usd-15-mil-millones-al-cierre-del-2025
[2] Banco Mundial. Peru: Strategic Actions Toward Water Security, 2023. https://www.worldbank.org/en/topic/water/publication/peru-strategic-actions-toward-water-security
[3] INAIGEM. Inventario Nacional de Glaciares y Lagunas de Origen Glaciar, 2023. https://repositorio.inaigem.gob.pe/items/7029db53-5118-4e93-8b2a-71e6e26db5f6
[4] MIDAGRI. Cierre de agroexportaciones 2024, publicado en febrero de 2025. Valores por producto. https://www.gob.pe/institucion/midagri/noticias/1107223-record-historico-gobierno-agroexportaciones-cierran-el-2024-con-un-record-de-us-12-700-mil-millones-en-ventas
[5] SENASA. Ica, Piura y Lambayeque: principales regiones productoras de uva, 2024. https://www.gob.pe/institucion/senasa/noticias/962524-ica-piura-y-lambayeque-son-las-principales-regiones-productoras-de-uva
[6] MIDAGRI. Crecimiento del sector agropecuario en 2024. https://www.gob.pe/institucion/midagri/noticias/1103728-midagri-sector-agropecuario-crecio-4-9-el-2024-impulsado-por-el-subsector-agricola-y-pecuario
Consulta: 28/09/2026. Las prioridades comerciales y el protocolo son propuestas de Green Solutions.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[1] MIDAGRI. Cierre de agroexportaciones 2025, publicado en febrero de 2026. https://www.gob.pe/institucion/midagri/noticias/1350416-midagri-peru-supero-ventas-por-agroexportaciones-en-mas-de-usd-15-mil-millones-al-cierre-del-2025
[2] Banco Mundial. Peru: Strategic Actions Toward Water Security, 2023. https://www.worldbank.org/en/topic/water/publication/peru-strategic-actions-toward-water-security
[3] INAIGEM. Inventario Nacional de Glaciares y Lagunas de Origen Glaciar, 2023. https://repositorio.inaigem.gob.pe/items/7029db53-5118-4e93-8b2a-71e6e26db5f6
[4] MIDAGRI. Cierre de agroexportaciones 2024, publicado en febrero de 2025. Valores por producto. https://www.gob.pe/institucion/midagri/noticias/1107223-record-historico-gobierno-agroexportaciones-cierran-el-2024-con-un-record-de-us-12-700-mil-millones-en-ventas
[5] SENASA. Ica, Piura y Lambayeque: principales regiones productoras de uva, 2024. https://www.gob.pe/institucion/senasa/noticias/962524-ica-piura-y-lambayeque-son-las-principales-regiones-productoras-de-uva
[6] MIDAGRI. Crecimiento del sector agropecuario en 2024. https://www.gob.pe/institucion/midagri/noticias/1103728-midagri-sector-agropecuario-crecio-4-9-el-2024-impulsado-por-el-subsector-agricola-y-pecuario
Consulta: 28/09/2026. Las prioridades comerciales y el protocolo son propuestas de Green Solutions.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[1] MIDAGRI. Cierre de agroexportaciones 2025, publicado en febrero de 2026. https://www.gob.pe/institucion/midagri/noticias/1350416-midagri-peru-supero-ventas-por-agroexportaciones-en-mas-de-usd-15-mil-millones-al-cierre-del-2025
[2] Banco Mundial. Peru: Strategic Actions Toward Water Security, 2023. https://www.worldbank.org/en/topic/water/publication/peru-strategic-actions-toward-water-security
[3] INAIGEM. Inventario Nacional de Glaciares y Lagunas de Origen Glaciar, 2023. https://repositorio.inaigem.gob.pe/items/7029db53-5118-4e93-8b2a-71e6e26db5f6
[4] MIDAGRI. Cierre de agroexportaciones 2024, publicado en febrero de 2025. Valores por producto. https://www.gob.pe/institucion/midagri/noticias/1107223-record-historico-gobierno-agroexportaciones-cierran-el-2024-con-un-record-de-us-12-700-mil-millones-en-ventas
[5] SENASA. Ica, Piura y Lambayeque: principales regiones productoras de uva, 2024. https://www.gob.pe/institucion/senasa/noticias/962524-ica-piura-y-lambayeque-son-las-principales-regiones-productoras-de-uva
[6] MIDAGRI. Crecimiento del sector agropecuario en 2024. https://www.gob.pe/institucion/midagri/noticias/1103728-midagri-sector-agropecuario-crecio-4-9-el-2024-impulsado-por-el-subsector-agricola-y-pecuario
Consulta: 28/09/2026. Las prioridades comerciales y el protocolo son propuestas de Green Solutions.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[1] MIDAGRI. Cierre de agroexportaciones 2025, publicado en febrero de 2026. https://www.gob.pe/institucion/midagri/noticias/1350416-midagri-peru-supero-ventas-por-agroexportaciones-en-mas-de-usd-15-mil-millones-al-cierre-del-2025
[2] Banco Mundial. Peru: Strategic Actions Toward Water Security, 2023. https://www.worldbank.org/en/topic/water/publication/peru-strategic-actions-toward-water-security
[3] INAIGEM. Inventario Nacional de Glaciares y Lagunas de Origen Glaciar, 2023. https://repositorio.inaigem.gob.pe/items/7029db53-5118-4e93-8b2a-71e6e26db5f6
[4] MIDAGRI. Cierre de agroexportaciones 2024, publicado en febrero de 2025. Valores por producto. https://www.gob.pe/institucion/midagri/noticias/1107223-record-historico-gobierno-agroexportaciones-cierran-el-2024-con-un-record-de-us-12-700-mil-millones-en-ventas
[5] SENASA. Ica, Piura y Lambayeque: principales regiones productoras de uva, 2024. https://www.gob.pe/institucion/senasa/noticias/962524-ica-piura-y-lambayeque-son-las-principales-regiones-productoras-de-uva
[6] MIDAGRI. Crecimiento del sector agropecuario en 2024. https://www.gob.pe/institucion/midagri/noticias/1103728-midagri-sector-agropecuario-crecio-4-9-el-2024-impulsado-por-el-subsector-agricola-y-pecuario
Consulta: 28/09/2026. Las prioridades comerciales y el protocolo son propuestas de Green Solutions.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[1] MIDAGRI. Cierre de agroexportaciones 2025, publicado en febrero de 2026. https://www.gob.pe/institucion/midagri/noticias/1350416-midagri-peru-supero-ventas-por-agroexportaciones-en-mas-de-usd-15-mil-millones-al-cierre-del-2025
[2] Banco Mundial. Peru: Strategic Actions Toward Water Security, 2023. https://www.worldbank.org/en/topic/water/publication/peru-strategic-actions-toward-water-security
[3] INAIGEM. Inventario Nacional de Glaciares y Lagunas de Origen Glaciar, 2023. https://repositorio.inaigem.gob.pe/items/7029db53-5118-4e93-8b2a-71e6e26db5f6
[4] MIDAGRI. Cierre de agroexportaciones 2024, publicado en febrero de 2025. Valores por producto. https://www.gob.pe/institucion/midagri/noticias/1107223-record-historico-gobierno-agroexportaciones-cierran-el-2024-con-un-record-de-us-12-700-mil-millones-en-ventas
[5] SENASA. Ica, Piura y Lambayeque: principales regiones productoras de uva, 2024. https://www.gob.pe/institucion/senasa/noticias/962524-ica-piura-y-lambayeque-son-las-principales-regiones-productoras-de-uva
[6] MIDAGRI. Crecimiento del sector agropecuario en 2024. https://www.gob.pe/institucion/midagri/noticias/1103728-midagri-sector-agropecuario-crecio-4-9-el-2024-impulsado-por-el-subsector-agricola-y-pecuario
Consulta: 28/09/2026. Las prioridades comerciales y el protocolo son propuestas de Green Solutions.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[1] MIDAGRI. Cierre de agroexportaciones 2025, publicado en febrero de 2026. https://www.gob.pe/institucion/midagri/noticias/1350416-midagri-peru-supero-ventas-por-agroexportaciones-en-mas-de-usd-15-mil-millones-al-cierre-del-2025
[2] Banco Mundial. Peru: Strategic Actions Toward Water Security, 2023. https://www.worldbank.org/en/topic/water/publication/peru-strategic-actions-toward-water-security
[3] INAIGEM. Inventario Nacional de Glaciares y Lagunas de Origen Glaciar, 2023. https://repositorio.inaigem.gob.pe/items/7029db53-5118-4e93-8b2a-71e6e26db5f6
[4] MIDAGRI. Cierre de agroexportaciones 2024, publicado en febrero de 2025. Valores por producto. https://www.gob.pe/institucion/midagri/noticias/1107223-record-historico-gobierno-agroexportaciones-cierran-el-2024-con-un-record-de-us-12-700-mil-millones-en-ventas
[5] SENASA. Ica, Piura y Lambayeque: principales regiones productoras de uva, 2024. https://www.gob.pe/institucion/senasa/noticias/962524-ica-piura-y-lambayeque-son-las-principales-regiones-productoras-de-uva
[6] MIDAGRI. Crecimiento del sector agropecuario en 2024. https://www.gob.pe/institucion/midagri/noticias/1103728-midagri-sector-agropecuario-crecio-4-9-el-2024-impulsado-por-el-subsector-agricola-y-pecuario
Consulta: 28/09/2026. Las prioridades comerciales y el protocolo son propuestas de Green Solutions.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https://commons.wikimedia.org/wiki/File:Oasis_de_Huacachina,_Ica,_Per%C3%BA,_2015-07-29,_DD_18.JPG
https://creativecommons.org/licenses/by-sa/4.0/
https://commons.wikimedia.org/wiki/File:Terrace_farming_in_the_Ande_mountains_Pisac_Peru.jpg
https://creativecommons.org/publicdomain/zero/1.0/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[1] MIDAGRI. Cierre de agroexportaciones 2025, publicado en febrero de 2026. https://www.gob.pe/institucion/midagri/noticias/1350416-midagri-peru-supero-ventas-por-agroexportaciones-en-mas-de-usd-15-mil-millones-al-cierre-del-2025
[2] Banco Mundial. Peru: Strategic Actions Toward Water Security, 2023. https://www.worldbank.org/en/topic/water/publication/peru-strategic-actions-toward-water-security
[3] INAIGEM. Inventario Nacional de Glaciares y Lagunas de Origen Glaciar, 2023. https://repositorio.inaigem.gob.pe/items/7029db53-5118-4e93-8b2a-71e6e26db5f6
[4] MIDAGRI. Cierre de agroexportaciones 2024, publicado en febrero de 2025. Valores por producto. https://www.gob.pe/institucion/midagri/noticias/1107223-record-historico-gobierno-agroexportaciones-cierran-el-2024-con-un-record-de-us-12-700-mil-millones-en-ventas
[5] SENASA. Ica, Piura y Lambayeque: principales regiones productoras de uva, 2024. https://www.gob.pe/institucion/senasa/noticias/962524-ica-piura-y-lambayeque-son-las-principales-regiones-productoras-de-uva
[6] MIDAGRI. Crecimiento del sector agropecuario en 2024. https://www.gob.pe/institucion/midagri/noticias/1103728-midagri-sector-agropecuario-crecio-4-9-el-2024-impulsado-por-el-subsector-agricola-y-pecuario
Consulta: 28/09/2026. Las prioridades comerciales y el protocolo son propuestas de Green Solutions.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ob.pe/institucion/midagri/noticias/1350416-midagri-peru-supero-ventas-por-agroexportaciones-en-mas-de-usd-15-mil-millones-al-cierre-del-2025" TargetMode="External"/><Relationship Id="rId2" Type="http://schemas.openxmlformats.org/officeDocument/2006/relationships/hyperlink" Target="https://www.worldbank.org/en/topic/water/publication/peru-strategic-actions-toward-water-security" TargetMode="External"/><Relationship Id="rId3" Type="http://schemas.openxmlformats.org/officeDocument/2006/relationships/hyperlink" Target="https://repositorio.inaigem.gob.pe/items/7029db53-5118-4e93-8b2a-71e6e26db5f6" TargetMode="External"/><Relationship Id="rId4" Type="http://schemas.openxmlformats.org/officeDocument/2006/relationships/hyperlink" Target="https://www.gob.pe/institucion/midagri/noticias/1107223-record-historico-gobierno-agroexportaciones-cierran-el-2024-con-un-record-de-us-12-700-mil-millones-en-ventas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ob.pe/institucion/senasa/noticias/962524-ica-piura-y-lambayeque-son-las-principales-regiones-productoras-de-uva" TargetMode="External"/><Relationship Id="rId2" Type="http://schemas.openxmlformats.org/officeDocument/2006/relationships/hyperlink" Target="https://www.gob.pe/institucion/midagri/noticias/1103728-midagri-sector-agropecuario-crecio-4-9-el-2024-impulsado-por-el-subsector-agricola-y-pecuario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commons.wikimedia.org/wiki/File:Oasis_de_Huacachina,_Ica,_Per%C3%BA,_2015-07-29,_DD_18.JPG" TargetMode="External"/><Relationship Id="rId2" Type="http://schemas.openxmlformats.org/officeDocument/2006/relationships/hyperlink" Target="https://creativecommons.org/licenses/by-sa/4.0/" TargetMode="External"/><Relationship Id="rId3" Type="http://schemas.openxmlformats.org/officeDocument/2006/relationships/hyperlink" Target="https://commons.wikimedia.org/wiki/File:Terrace_farming_in_the_Ande_mountains_Pisac_Peru.jpg" TargetMode="External"/><Relationship Id="rId4" Type="http://schemas.openxmlformats.org/officeDocument/2006/relationships/hyperlink" Target="https://creativecommons.org/publicdomain/zero/1.0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2784" y="0"/>
            <a:ext cx="5918911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272784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58368" y="566928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GROUP</a:t>
            </a:r>
            <a:endParaRPr lang="en-US" sz="1100" dirty="0"/>
          </a:p>
        </p:txBody>
      </p:sp>
      <p:pic>
        <p:nvPicPr>
          <p:cNvPr id="5" name="Image 1" descr="/home/claude/green-solutions-web/public/images/logo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457200"/>
            <a:ext cx="603504" cy="603504"/>
          </a:xfrm>
          <a:prstGeom prst="rect">
            <a:avLst/>
          </a:prstGeom>
        </p:spPr>
      </p:pic>
      <p:pic>
        <p:nvPicPr>
          <p:cNvPr id="6" name="Image 2" descr="/home/claude/green-solutions-web/scripts/dossiers/drapeaux/pero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9438" y="1389888"/>
            <a:ext cx="1964978" cy="131064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3649438" y="1389888"/>
            <a:ext cx="1964978" cy="1310640"/>
          </a:xfrm>
          <a:prstGeom prst="rect">
            <a:avLst/>
          </a:prstGeom>
          <a:ln w="9525">
            <a:solidFill>
              <a:srgbClr val="3A3A3A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658368" y="1298448"/>
            <a:ext cx="27614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REPÚBLICA DEL PERÚ</a:t>
            </a:r>
            <a:endParaRPr lang="en-US" sz="2800" dirty="0"/>
          </a:p>
        </p:txBody>
      </p:sp>
      <p:sp>
        <p:nvSpPr>
          <p:cNvPr id="9" name="Shape 4"/>
          <p:cNvSpPr/>
          <p:nvPr/>
        </p:nvSpPr>
        <p:spPr>
          <a:xfrm>
            <a:off x="658368" y="2889504"/>
            <a:ext cx="2788920" cy="45720"/>
          </a:xfrm>
          <a:prstGeom prst="rect">
            <a:avLst/>
          </a:prstGeom>
          <a:solidFill>
            <a:srgbClr val="E3B23C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58368" y="3163824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Lima · 2026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658368" y="3767328"/>
            <a:ext cx="4956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Agroexportación y seguridad hídrica.</a:t>
            </a:r>
            <a:endParaRPr lang="en-US" sz="14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propuesta para evaluar la eficiencia del agua en cada predio.</a:t>
            </a:r>
            <a:endParaRPr lang="en-US" sz="1450" dirty="0"/>
          </a:p>
        </p:txBody>
      </p:sp>
      <p:sp>
        <p:nvSpPr>
          <p:cNvPr id="12" name="Text 7"/>
          <p:cNvSpPr txBox="1"/>
          <p:nvPr/>
        </p:nvSpPr>
        <p:spPr>
          <a:xfrm>
            <a:off x="658368" y="4892040"/>
            <a:ext cx="4956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EVERGREEN® · ECOSORB® · ECOFERT®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658368" y="6053328"/>
            <a:ext cx="4956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 de 2026 · Propuesta de cooperación agrícola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Exportaciones agrícolas y exposición climática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3484778" cy="2514600"/>
          </a:xfrm>
          <a:prstGeom prst="roundRect">
            <a:avLst>
              <a:gd name="adj" fmla="val 3636"/>
            </a:avLst>
          </a:prstGeom>
          <a:solidFill>
            <a:srgbClr val="F1F4EF"/>
          </a:solidFill>
          <a:ln w="9525">
            <a:solidFill>
              <a:srgbClr val="DCE4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48840"/>
            <a:ext cx="31190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US$ 15 013 M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3154680"/>
            <a:ext cx="308244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agroexportaciones al cierre de 2025 [1]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53458" y="1874520"/>
            <a:ext cx="3484778" cy="2514600"/>
          </a:xfrm>
          <a:prstGeom prst="roundRect">
            <a:avLst>
              <a:gd name="adj" fmla="val 3636"/>
            </a:avLst>
          </a:prstGeom>
          <a:solidFill>
            <a:srgbClr val="F1F4EF"/>
          </a:solidFill>
          <a:ln w="9525">
            <a:solidFill>
              <a:srgbClr val="DCE4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36338" y="2148840"/>
            <a:ext cx="31190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+17,3 %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4554626" y="3154680"/>
            <a:ext cx="308244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nominal frente a 2024, según MIDAGRI [1]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12557" y="1874520"/>
            <a:ext cx="3484778" cy="2514600"/>
          </a:xfrm>
          <a:prstGeom prst="roundRect">
            <a:avLst>
              <a:gd name="adj" fmla="val 3636"/>
            </a:avLst>
          </a:prstGeom>
          <a:solidFill>
            <a:srgbClr val="F1F4EF"/>
          </a:solidFill>
          <a:ln w="9525">
            <a:solidFill>
              <a:srgbClr val="DCE4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95437" y="2148840"/>
            <a:ext cx="31190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46 %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8313725" y="3154680"/>
            <a:ext cx="308244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territorio con vulnerabilidad alta o muy alta a El Niño y al cambio climático [2]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4709160"/>
            <a:ext cx="110029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cifra comercial corresponde a 2025. El indicador territorial procede del informe del Banco Mundial de 2023 y no representa el porcentaje de cultivos afectados en una campaña concreta.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Perú · Septiembre de 2026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RESTRICCIÓN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Costa árida, riego y variabilidad del agua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2415" y="1783080"/>
            <a:ext cx="5074920" cy="3794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522415" y="568756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Terrazas históricas de Písac. James Santangelo, CC0. Fotografía de contexto.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783080"/>
            <a:ext cx="5379415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Banco Mundial identifica la seguridad hídrica como un factor decisivo para la economía y la agricultura peruanas [2].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costa concentra agricultura irrigada en un entorno árido. El diagnóstico debe considerar la cuenca y el acceso real al agua de cada predio.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inventario INAIGEM de 2023 registra una pérdida del 56 % de la superficie glaciar en unas seis décadas [3].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retroceso glaciar no se traduce directamente en el mismo porcentaje de reducción de agua de riego. Se requieren datos de la cuenca.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Perú · Septiembre de 2026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EN LA CRIÓSFERA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Pérdida de superficie glaciar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7360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8308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F1F4EF"/>
          </a:solidFill>
          <a:ln w="9525">
            <a:solidFill>
              <a:srgbClr val="DCE4D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del indicador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44 se calcula como 100 − 56, a partir de la pérdida comunicada por INAIGEM [3] para unas seis décadas. Es una comparación de superficie glaciar, no una serie anual ni una medida de caudal o ahorro agrícola.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Perú · Septiembre de 2026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40080" y="149961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superficie, base histórica = 100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DE EXPORTACIÓN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productos de alto valor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7360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8308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F1F4EF"/>
          </a:solidFill>
          <a:ln w="9525">
            <a:solidFill>
              <a:srgbClr val="DCE4D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selección, no el total nacional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MIDAGRI, cierre de 2024 [4]. Valores redondeados de cuatro productos. Sirven para identificar posibles interlocutores comerciales. No representan ventas ni rendimientos de Green Solutions.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Perú · Septiembre de 2026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40080" y="149961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Exportaciones 2024, US$ millones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CADENA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Uva en Ica, Piura y Lambayeque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y oportunidad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522716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SENASA identifica Ica, Piura y Lambayeque como las principales regiones productoras de uva [5].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Proponemos seleccionar un predio con medición de caudal y registros de calidad comercial.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70168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Aplicación propuesta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70168" y="2286000"/>
            <a:ext cx="522716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evaluación debe observar calibre, rendimiento comercial y agua aplicada, además del costo de incorporación.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localización se plantea para prospección. No se anuncia una alianza ni un ensayo ya instalado.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Perú · Septiembre de 2026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CADENA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Arándanos y nuevas plantaciones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y oportunidad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522716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MIDAGRI menciona La Libertad, Lambayeque e Ica entre las regiones vinculadas al crecimiento del arándano en 2024 [6].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arándanos lideran la selección de productos exportados presentada en este dossier [4].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70168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Aplicación propuesta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70168" y="2286000"/>
            <a:ext cx="522716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plantaciones nuevas, proponemos medir establecimiento de plantas y uniformidad de humedad.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sistemas en suelo y en sustrato requieren protocolos separados. La compatibilidad debe comprobarse antes de extender el tratamiento.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Perú · Septiembre de 2026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GREEN SOLUTIONS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complemento al manejo del predio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EVERGREEN® / ECOSORB®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la retención de agua en la zona de raíces, con dosis ajustadas al sustrato y al volumen radicular.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tratamientos con el programa de riego existente, manteniendo una parcela testigo.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plantaciones nuevas y viveros donde la aplicación pueda documentarse.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70168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ECOFERT®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70168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su incorporación al programa nutricional según análisis de suelo, agua y tejido vegetal.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los tratamientos para identificar el aporte de cada producto.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compatibilidad con el sistema de aplicación y documentación para el uso previsto.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4846320"/>
            <a:ext cx="11002975" cy="960120"/>
          </a:xfrm>
          <a:prstGeom prst="roundRect">
            <a:avLst>
              <a:gd name="adj" fmla="val 7619"/>
            </a:avLst>
          </a:prstGeom>
          <a:solidFill>
            <a:srgbClr val="F1F4EF"/>
          </a:solidFill>
          <a:ln w="9525">
            <a:solidFill>
              <a:srgbClr val="DCE4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983480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propuestas para ensayos locales. Este dossier no presenta resultados Green Solutions obtenidos en Perú ni promete una reducción fija del riego.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Perú · Septiembre de 2026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TRABAJO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ensayo que permita decidir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F1F4EF"/>
          </a:solidFill>
          <a:ln w="9525">
            <a:solidFill>
              <a:srgbClr val="DCE4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566928" cy="566928"/>
          </a:xfrm>
          <a:prstGeom prst="ellipse">
            <a:avLst/>
          </a:prstGeom>
          <a:solidFill>
            <a:srgbClr val="1F5C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Selección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predio y cultivo. Caracterizar suelo, salinidad, sistema de riego y costo del agua.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3684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F1F4EF"/>
          </a:solidFill>
          <a:ln w="9525">
            <a:solidFill>
              <a:srgbClr val="DCE4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42284" y="2103120"/>
            <a:ext cx="566928" cy="566928"/>
          </a:xfrm>
          <a:prstGeom prst="ellipse">
            <a:avLst/>
          </a:prstGeom>
          <a:solidFill>
            <a:srgbClr val="1F5C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42284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42284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42284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Acordar testigos, repeticiones y criterios de éxito con el responsable agronómico.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33008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F1F4EF"/>
          </a:solidFill>
          <a:ln w="9525">
            <a:solidFill>
              <a:srgbClr val="DCE4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61608" y="2103120"/>
            <a:ext cx="566928" cy="566928"/>
          </a:xfrm>
          <a:prstGeom prst="ellipse">
            <a:avLst/>
          </a:prstGeom>
          <a:solidFill>
            <a:srgbClr val="1F5C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61608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61608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Seguimiento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61608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m³/ha, rendimiento comercial, calibre, calidad y costo durante una campaña completa.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331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F1F4EF"/>
          </a:solidFill>
          <a:ln w="9525">
            <a:solidFill>
              <a:srgbClr val="DCE4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0931" y="2103120"/>
            <a:ext cx="566928" cy="566928"/>
          </a:xfrm>
          <a:prstGeom prst="ellipse">
            <a:avLst/>
          </a:prstGeom>
          <a:solidFill>
            <a:srgbClr val="1F5C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80931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280931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280931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costo por kilogramo comercializable y margen. Ampliar según resultados comprobados.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4983480"/>
            <a:ext cx="11002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B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protocolo debe respetar la disponibilidad de agua del predio. Una mayor eficiencia por hectárea no implica automáticamente un ahorro de agua a escala de cuenca.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Perú · Septiembre de 2026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 DE ÉXITO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Aspectos que deben resolverse en campo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 a evaluar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Salinidad y variabilidad de suelos o sustratos.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de clima y disponibilidad de agua entre campañas.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de aplicación y exigencias del comprador.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70168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Respuesta propuesta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70168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previo y prueba de compatibilidad.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climático, testigos y seguimiento de una campaña completa.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integral y control de calidad de la cosecha.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4846320"/>
            <a:ext cx="11002975" cy="960120"/>
          </a:xfrm>
          <a:prstGeom prst="roundRect">
            <a:avLst>
              <a:gd name="adj" fmla="val 7619"/>
            </a:avLst>
          </a:prstGeom>
          <a:solidFill>
            <a:srgbClr val="F1F4EF"/>
          </a:solidFill>
          <a:ln w="9525">
            <a:solidFill>
              <a:srgbClr val="DCE4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983480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revisión documental y de los requisitos locales precede a cualquier suministro. Las instituciones citadas aportan datos de contexto y no avalan los productos.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Perú · Septiembre de 2026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 y fechas de referencia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Perú · Septiembre de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MIDAGRI. Cierre de agroexportaciones 2025, publicado en febrero de 2026.</a:t>
            </a:r>
            <a:endParaRPr lang="en-US" sz="15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685800" y="207568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5C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www.gob.pe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532888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Banco Mundial. Peru: Strategic Actions Toward Water Security, 2023.</a:t>
            </a:r>
            <a:endParaRPr lang="en-US" sz="1500" dirty="0"/>
          </a:p>
        </p:txBody>
      </p:sp>
      <p:sp>
        <p:nvSpPr>
          <p:cNvPr id="7" name="Text 5">
            <a:hlinkClick r:id="rId2" tooltip=""/>
          </p:cNvPr>
          <p:cNvSpPr/>
          <p:nvPr/>
        </p:nvSpPr>
        <p:spPr>
          <a:xfrm>
            <a:off x="685800" y="3099816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5C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www.worldbank.org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3557016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INAIGEM. Inventario Nacional de Glaciares y Lagunas de Origen Glaciar, 2023.</a:t>
            </a:r>
            <a:endParaRPr lang="en-US" sz="1500" dirty="0"/>
          </a:p>
        </p:txBody>
      </p:sp>
      <p:sp>
        <p:nvSpPr>
          <p:cNvPr id="9" name="Text 7">
            <a:hlinkClick r:id="rId3" tooltip=""/>
          </p:cNvPr>
          <p:cNvSpPr/>
          <p:nvPr/>
        </p:nvSpPr>
        <p:spPr>
          <a:xfrm>
            <a:off x="685800" y="412394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5C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repositorio.inaigem.gob.pe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58114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MIDAGRI. Cierre de agroexportaciones 2024, publicado en febrero de 2025. Valores por producto.</a:t>
            </a:r>
            <a:endParaRPr lang="en-US" sz="1500" dirty="0"/>
          </a:p>
        </p:txBody>
      </p:sp>
      <p:sp>
        <p:nvSpPr>
          <p:cNvPr id="11" name="Text 9">
            <a:hlinkClick r:id="rId4" tooltip=""/>
          </p:cNvPr>
          <p:cNvSpPr/>
          <p:nvPr/>
        </p:nvSpPr>
        <p:spPr>
          <a:xfrm>
            <a:off x="685800" y="514807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5C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www.gob.pe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587044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Consulta: 28/09/2026. Las prioridades comerciales y el protocolo son propuestas de Green Solutions.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 y fechas de referencia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Perú · Septiembre de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SENASA. Ica, Piura y Lambayeque: principales regiones productoras de uva, 2024.</a:t>
            </a:r>
            <a:endParaRPr lang="en-US" sz="15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685800" y="207568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5C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www.gob.pe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532888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MIDAGRI. Crecimiento del sector agropecuario en 2024.</a:t>
            </a:r>
            <a:endParaRPr lang="en-US" sz="1500" dirty="0"/>
          </a:p>
        </p:txBody>
      </p:sp>
      <p:sp>
        <p:nvSpPr>
          <p:cNvPr id="7" name="Text 5">
            <a:hlinkClick r:id="rId2" tooltip=""/>
          </p:cNvPr>
          <p:cNvSpPr/>
          <p:nvPr/>
        </p:nvSpPr>
        <p:spPr>
          <a:xfrm>
            <a:off x="685800" y="3099816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5C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www.gob.pe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587044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Consulta: 28/09/2026. Las prioridades comerciales y el protocolo son propuestas de Green Solutions.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Fotografías y derechos de uso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Perú · Septiembre de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de Huacachina, Ica, Perú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Delso, delso.photo · CC BY-SA 4.0</a:t>
            </a:r>
            <a:endParaRPr lang="en-US" sz="17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685800" y="23042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5C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Wikimedia Commons</a:t>
            </a:r>
            <a:endParaRPr lang="en-US" sz="1200" dirty="0"/>
          </a:p>
        </p:txBody>
      </p:sp>
      <p:sp>
        <p:nvSpPr>
          <p:cNvPr id="6" name="Text 4">
            <a:hlinkClick r:id="rId2" tooltip=""/>
          </p:cNvPr>
          <p:cNvSpPr/>
          <p:nvPr/>
        </p:nvSpPr>
        <p:spPr>
          <a:xfrm>
            <a:off x="4114800" y="23042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5C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 4.0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30175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Terrace farming in the Ande mountains Pisac Peru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Santangelo · CC0</a:t>
            </a:r>
            <a:endParaRPr lang="en-US" sz="1700" dirty="0"/>
          </a:p>
        </p:txBody>
      </p:sp>
      <p:sp>
        <p:nvSpPr>
          <p:cNvPr id="8" name="Text 6">
            <a:hlinkClick r:id="rId3" tooltip=""/>
          </p:cNvPr>
          <p:cNvSpPr/>
          <p:nvPr/>
        </p:nvSpPr>
        <p:spPr>
          <a:xfrm>
            <a:off x="685800" y="376732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5C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Wikimedia Commons</a:t>
            </a:r>
            <a:endParaRPr lang="en-US" sz="1200" dirty="0"/>
          </a:p>
        </p:txBody>
      </p:sp>
      <p:sp>
        <p:nvSpPr>
          <p:cNvPr id="9" name="Text 7">
            <a:hlinkClick r:id="rId4" tooltip=""/>
          </p:cNvPr>
          <p:cNvSpPr/>
          <p:nvPr/>
        </p:nvSpPr>
        <p:spPr>
          <a:xfrm>
            <a:off x="4114800" y="37673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5C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8463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Fotografías de contexto. Redimensionado y recortado para la presentación, bajo las licencias indicadas. No documentan ensayos ni predios Green Solutions.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3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Hablemos de su predio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8961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Cultivo, superficie, origen del agua, tipo de suelo y objetivo económico. Con esos datos podemos preparar una propuesta de ensayo y un presupuesto verificable.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partida es concreto: medir el agua utilizada por kilogramo comercializable y la rentabilidad del manejo.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846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contact@green-solutions-group.com · Green Solutions Groupe AIM SA, 46, route de la Condémine, 1475 Forel, Suisse</a:t>
            </a:r>
            <a:endParaRPr lang="en-US" sz="1400" dirty="0"/>
          </a:p>
        </p:txBody>
      </p:sp>
      <p:pic>
        <p:nvPicPr>
          <p:cNvPr id="5" name="Image 0" descr="/home/claude/green-solutions-web/scripts/dossiers/sceau-aim-clair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10637215" y="5193792"/>
            <a:ext cx="1051560" cy="1051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Perú · Septiembre de 2026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2026-10-07T08:26:14Z</dcterms:created>
  <dcterms:modified xsi:type="dcterms:W3CDTF">2026-10-07T08:26:14Z</dcterms:modified>
</cp:coreProperties>
</file>