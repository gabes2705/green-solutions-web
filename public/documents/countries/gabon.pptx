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5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5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52.xml.rels><?xml version="1.0" encoding="UTF-8" standalone="yes"?><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Relationships xmlns="http://schemas.openxmlformats.org/package/2006/relationships"><Relationship Id="rId1" Type="http://schemas.openxmlformats.org/officeDocument/2006/relationships/package" Target="../embeddings/Microsoft_Excel_Worksheet56.xlsx"/></Relationships>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Indice mondial du nombre et de la durée des sécheresses</c:v>
                </c:pt>
              </c:strCache>
            </c:strRef>
          </c:tx>
          <c:spPr>
            <a:solidFill>
              <a:srgbClr val="1C5A73"/>
            </a:solidFill>
            <a:effectLst/>
          </c:spPr>
          <c:invertIfNegative val="0"/>
          <c:dLbls>
            <c:numFmt formatCode="[$-40C]0"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dPt>
            <c:idx val="0"/>
            <c:invertIfNegative val="0"/>
            <c:bubble3D val="0"/>
            <c:spPr>
              <a:solidFill>
                <a:srgbClr val="1C5A73"/>
              </a:solidFill>
              <a:effectLst/>
            </c:spPr>
          </c:dPt>
          <c:dPt>
            <c:idx val="1"/>
            <c:invertIfNegative val="0"/>
            <c:bubble3D val="0"/>
            <c:spPr>
              <a:solidFill>
                <a:srgbClr val="E0A33E"/>
              </a:solidFill>
              <a:effectLst/>
            </c:spPr>
          </c:dPt>
          <c:cat>
            <c:multiLvlStrRef>
              <c:f>Sheet1!$A$2:$A$3</c:f>
              <c:multiLvlStrCache>
                <c:ptCount val="2"/>
                <c:lvl>
                  <c:pt idx="0">
                    <c:v>1980–1999</c:v>
                  </c:pt>
                  <c:pt idx="1">
                    <c:v>Depuis 2000</c:v>
                  </c:pt>
                </c:lvl>
              </c:multiLvlStrCache>
            </c:multiLvlStrRef>
          </c:cat>
          <c:val>
            <c:numRef>
              <c:f>Sheet1!$B$2:$B$3</c:f>
              <c:numCache>
                <c:formatCode>General</c:formatCode>
                <c:ptCount val="2"/>
                <c:pt idx="0">
                  <c:v>100</c:v>
                </c:pt>
                <c:pt idx="1">
                  <c:v>129</c:v>
                </c:pt>
              </c:numCache>
            </c:numRef>
          </c:val>
        </c:ser>
        <c:dLbls>
          <c:numFmt formatCode="[$-40C]0"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D6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Prélèvements</c:v>
                </c:pt>
              </c:strCache>
            </c:strRef>
          </c:tx>
          <c:spPr>
            <a:solidFill>
              <a:schemeClr val="accent1"/>
            </a:solidFill>
            <a:ln w="9525" cap="flat">
              <a:solidFill>
                <a:srgbClr val="F9F9F9"/>
              </a:solidFill>
              <a:prstDash val="solid"/>
              <a:round/>
            </a:ln>
            <a:effectLst/>
          </c:spPr>
          <c:dPt>
            <c:idx val="0"/>
            <c:bubble3D val="0"/>
            <c:spPr>
              <a:solidFill>
                <a:srgbClr val="1C5A73"/>
              </a:solidFill>
              <a:effectLst/>
            </c:spPr>
          </c:dPt>
          <c:dPt>
            <c:idx val="1"/>
            <c:bubble3D val="0"/>
            <c:spPr>
              <a:solidFill>
                <a:srgbClr val="E0A33E"/>
              </a:solidFill>
              <a:effectLst/>
            </c:spPr>
          </c:dPt>
          <c:dPt>
            <c:idx val="2"/>
            <c:bubble3D val="0"/>
            <c:spPr>
              <a:solidFill>
                <a:srgbClr val="5E93A8"/>
              </a:solidFill>
              <a:effectLst/>
            </c:spPr>
          </c:dPt>
          <c:dLbls>
            <c:dLbl>
              <c:idx val="0"/>
              <c:numFmt formatCode="[$-40C]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40C]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40C]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40C]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Agriculture</c:v>
                </c:pt>
                <c:pt idx="1">
                  <c:v>Eau potable</c:v>
                </c:pt>
                <c:pt idx="2">
                  <c:v>Industrie</c:v>
                </c:pt>
              </c:strCache>
            </c:strRef>
          </c:cat>
          <c:val>
            <c:numRef>
              <c:f>Sheet1!$B$2:$B$4</c:f>
              <c:numCache>
                <c:ptCount val="3"/>
                <c:pt idx="0">
                  <c:v>40</c:v>
                </c:pt>
                <c:pt idx="1">
                  <c:v>50</c:v>
                </c:pt>
                <c:pt idx="2">
                  <c:v>10</c:v>
                </c:pt>
              </c:numCache>
            </c:numRef>
          </c:val>
        </c:ser>
        <c:firstSliceAng val="0"/>
        <c:holeSize val="55"/>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Production annuelle (milliers de tonnes)</c:v>
                </c:pt>
              </c:strCache>
            </c:strRef>
          </c:tx>
          <c:spPr>
            <a:solidFill>
              <a:srgbClr val="1C5A73"/>
            </a:solidFill>
            <a:effectLst/>
          </c:spPr>
          <c:invertIfNegative val="0"/>
          <c:dLbls>
            <c:numFmt formatCode="[$-40C]0"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dPt>
            <c:idx val="0"/>
            <c:invertIfNegative val="0"/>
            <c:bubble3D val="0"/>
            <c:spPr>
              <a:solidFill>
                <a:srgbClr val="1C5A73"/>
              </a:solidFill>
              <a:effectLst/>
            </c:spPr>
          </c:dPt>
          <c:dPt>
            <c:idx val="1"/>
            <c:invertIfNegative val="0"/>
            <c:bubble3D val="0"/>
            <c:spPr>
              <a:solidFill>
                <a:srgbClr val="E0A33E"/>
              </a:solidFill>
              <a:effectLst/>
            </c:spPr>
          </c:dPt>
          <c:dPt>
            <c:idx val="2"/>
            <c:invertIfNegative val="0"/>
            <c:bubble3D val="0"/>
            <c:spPr>
              <a:solidFill>
                <a:srgbClr val="5E93A8"/>
              </a:solidFill>
              <a:effectLst/>
            </c:spPr>
          </c:dPt>
          <c:dPt>
            <c:idx val="3"/>
            <c:invertIfNegative val="0"/>
            <c:bubble3D val="0"/>
            <c:spPr>
              <a:solidFill>
                <a:srgbClr val="C2703A"/>
              </a:solidFill>
              <a:effectLst/>
            </c:spPr>
          </c:dPt>
          <c:dPt>
            <c:idx val="4"/>
            <c:invertIfNegative val="0"/>
            <c:bubble3D val="0"/>
            <c:spPr>
              <a:solidFill>
                <a:srgbClr val="3C7285"/>
              </a:solidFill>
              <a:effectLst/>
            </c:spPr>
          </c:dPt>
          <c:cat>
            <c:multiLvlStrRef>
              <c:f>Sheet1!$A$2:$A$6</c:f>
              <c:multiLvlStrCache>
                <c:ptCount val="5"/>
                <c:lvl>
                  <c:pt idx="0">
                    <c:v>Manioc</c:v>
                  </c:pt>
                  <c:pt idx="1">
                    <c:v>Banane plantain</c:v>
                  </c:pt>
                  <c:pt idx="2">
                    <c:v>Canne à sucre</c:v>
                  </c:pt>
                  <c:pt idx="3">
                    <c:v>Huile de palme</c:v>
                  </c:pt>
                  <c:pt idx="4">
                    <c:v>Caoutchouc</c:v>
                  </c:pt>
                </c:lvl>
              </c:multiLvlStrCache>
            </c:multiLvlStrRef>
          </c:cat>
          <c:val>
            <c:numRef>
              <c:f>Sheet1!$B$2:$B$6</c:f>
              <c:numCache>
                <c:formatCode>General</c:formatCode>
                <c:ptCount val="5"/>
                <c:pt idx="0">
                  <c:v>330</c:v>
                </c:pt>
                <c:pt idx="1">
                  <c:v>300</c:v>
                </c:pt>
                <c:pt idx="2">
                  <c:v>250</c:v>
                </c:pt>
                <c:pt idx="3">
                  <c:v>80</c:v>
                </c:pt>
                <c:pt idx="4">
                  <c:v>30</c:v>
                </c:pt>
              </c:numCache>
            </c:numRef>
          </c:val>
        </c:ser>
        <c:dLbls>
          <c:numFmt formatCode="[$-40C]0"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6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 de fourchette (%)</c:v>
                </c:pt>
              </c:strCache>
            </c:strRef>
          </c:tx>
          <c:spPr>
            <a:solidFill>
              <a:srgbClr val="1C5A73"/>
            </a:solidFill>
            <a:effectLst/>
          </c:spPr>
          <c:invertIfNegative val="0"/>
          <c:dLbls>
            <c:numFmt formatCode="[$-40C]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cat>
            <c:multiLvlStrRef>
              <c:f>Sheet1!$A$2:$A$6</c:f>
              <c:multiLvlStrCache>
                <c:ptCount val="5"/>
                <c:lvl>
                  <c:pt idx="0">
                    <c:v>Bananes</c:v>
                  </c:pt>
                  <c:pt idx="1">
                    <c:v>Tomates</c:v>
                  </c:pt>
                  <c:pt idx="2">
                    <c:v>Manioc</c:v>
                  </c:pt>
                  <c:pt idx="3">
                    <c:v>Aubergines</c:v>
                  </c:pt>
                  <c:pt idx="4">
                    <c:v>Canne à sucre</c:v>
                  </c:pt>
                </c:lvl>
              </c:multiLvlStrCache>
            </c:multiLvlStrRef>
          </c:cat>
          <c:val>
            <c:numRef>
              <c:f>Sheet1!$B$2:$B$6</c:f>
              <c:numCache>
                <c:formatCode>General</c:formatCode>
                <c:ptCount val="5"/>
                <c:pt idx="0">
                  <c:v>15</c:v>
                </c:pt>
                <c:pt idx="1">
                  <c:v>30</c:v>
                </c:pt>
                <c:pt idx="2">
                  <c:v>20</c:v>
                </c:pt>
                <c:pt idx="3">
                  <c:v>20</c:v>
                </c:pt>
                <c:pt idx="4">
                  <c:v>10</c:v>
                </c:pt>
              </c:numCache>
            </c:numRef>
          </c:val>
        </c:ser>
        <c:ser>
          <c:idx val="1"/>
          <c:order val="1"/>
          <c:tx>
            <c:strRef>
              <c:f>Sheet1!$C$1</c:f>
              <c:strCache>
                <c:ptCount val="1"/>
                <c:pt idx="0">
                  <c:v>Haut de fourchette (%)</c:v>
                </c:pt>
              </c:strCache>
            </c:strRef>
          </c:tx>
          <c:spPr>
            <a:solidFill>
              <a:srgbClr val="E0A33E"/>
            </a:solidFill>
            <a:effectLst/>
          </c:spPr>
          <c:invertIfNegative val="0"/>
          <c:dLbls>
            <c:numFmt formatCode="[$-40C]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cat>
            <c:multiLvlStrRef>
              <c:f>Sheet1!$A$2:$A$6</c:f>
              <c:multiLvlStrCache>
                <c:ptCount val="5"/>
                <c:lvl>
                  <c:pt idx="0">
                    <c:v>Bananes</c:v>
                  </c:pt>
                  <c:pt idx="1">
                    <c:v>Tomates</c:v>
                  </c:pt>
                  <c:pt idx="2">
                    <c:v>Manioc</c:v>
                  </c:pt>
                  <c:pt idx="3">
                    <c:v>Aubergines</c:v>
                  </c:pt>
                  <c:pt idx="4">
                    <c:v>Canne à sucre</c:v>
                  </c:pt>
                </c:lvl>
              </c:multiLvlStrCache>
            </c:multiLvlStrRef>
          </c:cat>
          <c:val>
            <c:numRef>
              <c:f>Sheet1!$C$2:$C$6</c:f>
              <c:numCache>
                <c:formatCode>General</c:formatCode>
                <c:ptCount val="5"/>
                <c:pt idx="0">
                  <c:v>30</c:v>
                </c:pt>
                <c:pt idx="1">
                  <c:v>50</c:v>
                </c:pt>
                <c:pt idx="2">
                  <c:v>40</c:v>
                </c:pt>
                <c:pt idx="3">
                  <c:v>35</c:v>
                </c:pt>
                <c:pt idx="4">
                  <c:v>20</c:v>
                </c:pt>
              </c:numCache>
            </c:numRef>
          </c:val>
        </c:ser>
        <c:dLbls>
          <c:numFmt formatCode="[$-40C]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6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Fourchette basse (%)</c:v>
                </c:pt>
              </c:strCache>
            </c:strRef>
          </c:tx>
          <c:spPr>
            <a:solidFill>
              <a:srgbClr val="1C5A73"/>
            </a:solidFill>
            <a:effectLst/>
          </c:spPr>
          <c:invertIfNegative val="0"/>
          <c:dLbls>
            <c:numFmt formatCode="[$-40C]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Goutte-à-goutte</c:v>
                  </c:pt>
                  <c:pt idx="1">
                    <c:v>Micro-aspersion</c:v>
                  </c:pt>
                  <c:pt idx="2">
                    <c:v>Aspersion</c:v>
                  </c:pt>
                  <c:pt idx="3">
                    <c:v>Arrosage manuel</c:v>
                  </c:pt>
                </c:lvl>
              </c:multiLvlStrCache>
            </c:multiLvlStrRef>
          </c:cat>
          <c:val>
            <c:numRef>
              <c:f>Sheet1!$B$2:$B$5</c:f>
              <c:numCache>
                <c:formatCode>General</c:formatCode>
                <c:ptCount val="4"/>
                <c:pt idx="0">
                  <c:v>40</c:v>
                </c:pt>
                <c:pt idx="1">
                  <c:v>45</c:v>
                </c:pt>
                <c:pt idx="2">
                  <c:v>50</c:v>
                </c:pt>
                <c:pt idx="3">
                  <c:v>55</c:v>
                </c:pt>
              </c:numCache>
            </c:numRef>
          </c:val>
        </c:ser>
        <c:ser>
          <c:idx val="1"/>
          <c:order val="1"/>
          <c:tx>
            <c:strRef>
              <c:f>Sheet1!$C$1</c:f>
              <c:strCache>
                <c:ptCount val="1"/>
                <c:pt idx="0">
                  <c:v>Fourchette haute (%)</c:v>
                </c:pt>
              </c:strCache>
            </c:strRef>
          </c:tx>
          <c:spPr>
            <a:solidFill>
              <a:srgbClr val="E0A33E"/>
            </a:solidFill>
            <a:effectLst/>
          </c:spPr>
          <c:invertIfNegative val="0"/>
          <c:dLbls>
            <c:numFmt formatCode="[$-40C]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cat>
            <c:multiLvlStrRef>
              <c:f>Sheet1!$A$2:$A$5</c:f>
              <c:multiLvlStrCache>
                <c:ptCount val="4"/>
                <c:lvl>
                  <c:pt idx="0">
                    <c:v>Goutte-à-goutte</c:v>
                  </c:pt>
                  <c:pt idx="1">
                    <c:v>Micro-aspersion</c:v>
                  </c:pt>
                  <c:pt idx="2">
                    <c:v>Aspersion</c:v>
                  </c:pt>
                  <c:pt idx="3">
                    <c:v>Arrosage manuel</c:v>
                  </c:pt>
                </c:lvl>
              </c:multiLvlStrCache>
            </c:multiLvlStrRef>
          </c:cat>
          <c:val>
            <c:numRef>
              <c:f>Sheet1!$C$2:$C$5</c:f>
              <c:numCache>
                <c:formatCode>General</c:formatCode>
                <c:ptCount val="4"/>
                <c:pt idx="0">
                  <c:v>55</c:v>
                </c:pt>
                <c:pt idx="1">
                  <c:v>60</c:v>
                </c:pt>
                <c:pt idx="2">
                  <c:v>65</c:v>
                </c:pt>
                <c:pt idx="3">
                  <c:v>70</c:v>
                </c:pt>
              </c:numCache>
            </c:numRef>
          </c:val>
        </c:ser>
        <c:dLbls>
          <c:numFmt formatCode="[$-40C]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6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5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6.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272784" y="0"/>
            <a:ext cx="5918911" cy="6858000"/>
          </a:xfrm>
          <a:prstGeom prst="rect">
            <a:avLst/>
          </a:prstGeom>
        </p:spPr>
      </p:pic>
      <p:sp>
        <p:nvSpPr>
          <p:cNvPr id="3" name="Shape 0"/>
          <p:cNvSpPr/>
          <p:nvPr/>
        </p:nvSpPr>
        <p:spPr>
          <a:xfrm>
            <a:off x="0" y="0"/>
            <a:ext cx="6272784" cy="6858000"/>
          </a:xfrm>
          <a:prstGeom prst="rect">
            <a:avLst/>
          </a:prstGeom>
          <a:solidFill>
            <a:srgbClr val="0D0D0D"/>
          </a:solidFill>
          <a:ln/>
        </p:spPr>
      </p:sp>
      <p:sp>
        <p:nvSpPr>
          <p:cNvPr id="4" name="Text 1"/>
          <p:cNvSpPr txBox="1"/>
          <p:nvPr/>
        </p:nvSpPr>
        <p:spPr>
          <a:xfrm>
            <a:off x="658368" y="566928"/>
            <a:ext cx="4041648" cy="292608"/>
          </a:xfrm>
          <a:prstGeom prst="rect">
            <a:avLst/>
          </a:prstGeom>
          <a:noFill/>
          <a:ln/>
        </p:spPr>
        <p:txBody>
          <a:bodyPr wrap="square" lIns="0" tIns="0" rIns="0" bIns="0" rtlCol="0" anchor="ctr"/>
          <a:lstStyle/>
          <a:p>
            <a:pPr algn="l" indent="0" marL="0">
              <a:buNone/>
            </a:pPr>
            <a:r>
              <a:rPr lang="en-US" sz="1100" b="1" spc="80" kern="0" dirty="0">
                <a:solidFill>
                  <a:srgbClr val="8BC34A"/>
                </a:solidFill>
                <a:latin typeface="Calibri" pitchFamily="34" charset="0"/>
                <a:ea typeface="Calibri" pitchFamily="34" charset="-122"/>
                <a:cs typeface="Calibri"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5010912" y="457200"/>
            <a:ext cx="603504" cy="603504"/>
          </a:xfrm>
          <a:prstGeom prst="rect">
            <a:avLst/>
          </a:prstGeom>
        </p:spPr>
      </p:pic>
      <p:pic>
        <p:nvPicPr>
          <p:cNvPr id="6" name="Image 2" descr="/home/claude/green-solutions-web/scripts/dossiers/drapeaux/gabon.png">    </p:cNvPr>
          <p:cNvPicPr>
            <a:picLocks noChangeAspect="1"/>
          </p:cNvPicPr>
          <p:nvPr/>
        </p:nvPicPr>
        <p:blipFill>
          <a:blip r:embed="rId3"/>
          <a:stretch>
            <a:fillRect/>
          </a:stretch>
        </p:blipFill>
        <p:spPr>
          <a:xfrm>
            <a:off x="3866896" y="1389888"/>
            <a:ext cx="1747520" cy="1310640"/>
          </a:xfrm>
          <a:prstGeom prst="rect">
            <a:avLst/>
          </a:prstGeom>
        </p:spPr>
      </p:pic>
      <p:sp>
        <p:nvSpPr>
          <p:cNvPr id="7" name="Shape 2"/>
          <p:cNvSpPr/>
          <p:nvPr/>
        </p:nvSpPr>
        <p:spPr>
          <a:xfrm>
            <a:off x="3866896" y="1389888"/>
            <a:ext cx="1747520" cy="1310640"/>
          </a:xfrm>
          <a:prstGeom prst="rect">
            <a:avLst/>
          </a:prstGeom>
          <a:ln w="9525">
            <a:solidFill>
              <a:srgbClr val="3A3A3A"/>
            </a:solidFill>
            <a:prstDash val="solid"/>
          </a:ln>
        </p:spPr>
      </p:sp>
      <p:sp>
        <p:nvSpPr>
          <p:cNvPr id="8" name="Text 3"/>
          <p:cNvSpPr txBox="1"/>
          <p:nvPr/>
        </p:nvSpPr>
        <p:spPr>
          <a:xfrm>
            <a:off x="658368" y="1298448"/>
            <a:ext cx="2761488" cy="1234440"/>
          </a:xfrm>
          <a:prstGeom prst="rect">
            <a:avLst/>
          </a:prstGeom>
          <a:noFill/>
          <a:ln/>
        </p:spPr>
        <p:txBody>
          <a:bodyPr wrap="square" lIns="0" tIns="0" rIns="0" bIns="0" rtlCol="0" anchor="t"/>
          <a:lstStyle/>
          <a:p>
            <a:pPr algn="l" indent="0" marL="0">
              <a:lnSpc>
                <a:spcPct val="110000"/>
              </a:lnSpc>
              <a:buNone/>
            </a:pPr>
            <a:r>
              <a:rPr lang="en-US" sz="2800" b="1" dirty="0">
                <a:solidFill>
                  <a:srgbClr val="FFFFFF"/>
                </a:solidFill>
                <a:latin typeface="Cambria" pitchFamily="34" charset="0"/>
                <a:ea typeface="Cambria" pitchFamily="34" charset="-122"/>
                <a:cs typeface="Cambria" pitchFamily="34" charset="-120"/>
              </a:rPr>
              <a:t>RÉPUBLIQUE GABONAISE</a:t>
            </a:r>
            <a:endParaRPr lang="en-US" sz="2800" dirty="0"/>
          </a:p>
        </p:txBody>
      </p:sp>
      <p:sp>
        <p:nvSpPr>
          <p:cNvPr id="9" name="Shape 4"/>
          <p:cNvSpPr/>
          <p:nvPr/>
        </p:nvSpPr>
        <p:spPr>
          <a:xfrm>
            <a:off x="658368" y="2889504"/>
            <a:ext cx="2788920" cy="45720"/>
          </a:xfrm>
          <a:prstGeom prst="rect">
            <a:avLst/>
          </a:prstGeom>
          <a:solidFill>
            <a:srgbClr val="E0A33E"/>
          </a:solidFill>
          <a:ln/>
        </p:spPr>
      </p:sp>
      <p:sp>
        <p:nvSpPr>
          <p:cNvPr id="10" name="Text 5"/>
          <p:cNvSpPr txBox="1"/>
          <p:nvPr/>
        </p:nvSpPr>
        <p:spPr>
          <a:xfrm>
            <a:off x="658368" y="3163824"/>
            <a:ext cx="4956048" cy="384048"/>
          </a:xfrm>
          <a:prstGeom prst="rect">
            <a:avLst/>
          </a:prstGeom>
          <a:noFill/>
          <a:ln/>
        </p:spPr>
        <p:txBody>
          <a:bodyPr wrap="square" lIns="0" tIns="0" rIns="0" bIns="0" rtlCol="0" anchor="ctr"/>
          <a:lstStyle/>
          <a:p>
            <a:pPr algn="l" indent="0" marL="0">
              <a:buNone/>
            </a:pPr>
            <a:r>
              <a:rPr lang="en-US" sz="1600" b="1" dirty="0">
                <a:solidFill>
                  <a:srgbClr val="E0A33E"/>
                </a:solidFill>
                <a:latin typeface="Cambria" pitchFamily="34" charset="0"/>
                <a:ea typeface="Cambria" pitchFamily="34" charset="-122"/>
                <a:cs typeface="Cambria" pitchFamily="34" charset="-120"/>
              </a:rPr>
              <a:t>Libreville · 2026</a:t>
            </a:r>
            <a:endParaRPr lang="en-US" sz="1600" dirty="0"/>
          </a:p>
        </p:txBody>
      </p:sp>
      <p:sp>
        <p:nvSpPr>
          <p:cNvPr id="11" name="Text 6"/>
          <p:cNvSpPr txBox="1"/>
          <p:nvPr/>
        </p:nvSpPr>
        <p:spPr>
          <a:xfrm>
            <a:off x="658368" y="3767328"/>
            <a:ext cx="4956048" cy="914400"/>
          </a:xfrm>
          <a:prstGeom prst="rect">
            <a:avLst/>
          </a:prstGeom>
          <a:noFill/>
          <a:ln/>
        </p:spPr>
        <p:txBody>
          <a:bodyPr wrap="square" lIns="0" tIns="0" rIns="0" bIns="0" rtlCol="0" anchor="t"/>
          <a:lstStyle/>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Vivrier, maraîchage péri-urbain et plantations industrielles sur sols lessivés.</a:t>
            </a:r>
            <a:endParaRPr lang="en-US" sz="1450" dirty="0"/>
          </a:p>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Ce que l'hydro-rétention change quand la pluie s'arrête quatre mois.</a:t>
            </a:r>
            <a:endParaRPr lang="en-US" sz="1450" dirty="0"/>
          </a:p>
        </p:txBody>
      </p:sp>
      <p:sp>
        <p:nvSpPr>
          <p:cNvPr id="12" name="Text 7"/>
          <p:cNvSpPr txBox="1"/>
          <p:nvPr/>
        </p:nvSpPr>
        <p:spPr>
          <a:xfrm>
            <a:off x="658368" y="4892040"/>
            <a:ext cx="4956048" cy="347472"/>
          </a:xfrm>
          <a:prstGeom prst="rect">
            <a:avLst/>
          </a:prstGeom>
          <a:noFill/>
          <a:ln/>
        </p:spPr>
        <p:txBody>
          <a:bodyPr wrap="square" lIns="0" tIns="0" rIns="0" bIns="0" rtlCol="0" anchor="ctr"/>
          <a:lstStyle/>
          <a:p>
            <a:pPr algn="l" indent="0" marL="0">
              <a:buNone/>
            </a:pPr>
            <a:r>
              <a:rPr lang="en-US" sz="1100" b="1" dirty="0">
                <a:solidFill>
                  <a:srgbClr val="8BC34A"/>
                </a:solidFill>
                <a:latin typeface="Calibri" pitchFamily="34" charset="0"/>
                <a:ea typeface="Calibri" pitchFamily="34" charset="-122"/>
                <a:cs typeface="Calibri" pitchFamily="34" charset="-120"/>
              </a:rPr>
              <a:t>ECOSORB® · ECOFERT® · NAPEMA® · PAULOWNIA</a:t>
            </a:r>
            <a:endParaRPr lang="en-US" sz="1100" dirty="0"/>
          </a:p>
        </p:txBody>
      </p:sp>
      <p:sp>
        <p:nvSpPr>
          <p:cNvPr id="13" name="Text 8"/>
          <p:cNvSpPr txBox="1"/>
          <p:nvPr/>
        </p:nvSpPr>
        <p:spPr>
          <a:xfrm>
            <a:off x="658368" y="6053328"/>
            <a:ext cx="4956048" cy="310896"/>
          </a:xfrm>
          <a:prstGeom prst="rect">
            <a:avLst/>
          </a:prstGeom>
          <a:noFill/>
          <a:ln/>
        </p:spPr>
        <p:txBody>
          <a:bodyPr wrap="square" lIns="0" tIns="0" rIns="0" bIns="0" rtlCol="0" anchor="ctr"/>
          <a:lstStyle/>
          <a:p>
            <a:pPr algn="l" indent="0" marL="0">
              <a:buNone/>
            </a:pPr>
            <a:r>
              <a:rPr lang="en-US" sz="850" dirty="0">
                <a:solidFill>
                  <a:srgbClr val="9A9A9A"/>
                </a:solidFill>
                <a:latin typeface="Calibri" pitchFamily="34" charset="0"/>
                <a:ea typeface="Calibri" pitchFamily="34" charset="-122"/>
                <a:cs typeface="Calibri" pitchFamily="34" charset="-120"/>
              </a:rPr>
              <a:t>Septembre 2026 · Document confidentiel · À l'usage exclusif du destinataire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LE MARCHÉ EN BREF</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Un pays forestier qui importe sa nourriture</a:t>
            </a:r>
            <a:endParaRPr lang="en-US" sz="3000" dirty="0"/>
          </a:p>
        </p:txBody>
      </p:sp>
      <p:sp>
        <p:nvSpPr>
          <p:cNvPr id="4" name="Shape 2"/>
          <p:cNvSpPr/>
          <p:nvPr/>
        </p:nvSpPr>
        <p:spPr>
          <a:xfrm>
            <a:off x="594360" y="1874520"/>
            <a:ext cx="2545004" cy="2514600"/>
          </a:xfrm>
          <a:prstGeom prst="roundRect">
            <a:avLst>
              <a:gd name="adj" fmla="val 3636"/>
            </a:avLst>
          </a:prstGeom>
          <a:solidFill>
            <a:srgbClr val="EDF3F5"/>
          </a:solidFill>
          <a:ln w="9525">
            <a:solidFill>
              <a:srgbClr val="D6E2E7"/>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 5 %</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du PIB provient de l'agriculture</a:t>
            </a:r>
            <a:endParaRPr lang="en-US" sz="1250" dirty="0"/>
          </a:p>
        </p:txBody>
      </p:sp>
      <p:sp>
        <p:nvSpPr>
          <p:cNvPr id="7" name="Shape 5"/>
          <p:cNvSpPr/>
          <p:nvPr/>
        </p:nvSpPr>
        <p:spPr>
          <a:xfrm>
            <a:off x="3413684" y="1874520"/>
            <a:ext cx="2545004" cy="2514600"/>
          </a:xfrm>
          <a:prstGeom prst="roundRect">
            <a:avLst>
              <a:gd name="adj" fmla="val 3636"/>
            </a:avLst>
          </a:prstGeom>
          <a:solidFill>
            <a:srgbClr val="EDF3F5"/>
          </a:solidFill>
          <a:ln w="9525">
            <a:solidFill>
              <a:srgbClr val="D6E2E7"/>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 80 %</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des produits alimentaires consommés sont importés</a:t>
            </a:r>
            <a:endParaRPr lang="en-US" sz="1250" dirty="0"/>
          </a:p>
        </p:txBody>
      </p:sp>
      <p:sp>
        <p:nvSpPr>
          <p:cNvPr id="10" name="Shape 8"/>
          <p:cNvSpPr/>
          <p:nvPr/>
        </p:nvSpPr>
        <p:spPr>
          <a:xfrm>
            <a:off x="6233008" y="1874520"/>
            <a:ext cx="2545004" cy="2514600"/>
          </a:xfrm>
          <a:prstGeom prst="roundRect">
            <a:avLst>
              <a:gd name="adj" fmla="val 3636"/>
            </a:avLst>
          </a:prstGeom>
          <a:solidFill>
            <a:srgbClr val="EDF3F5"/>
          </a:solidFill>
          <a:ln w="9525">
            <a:solidFill>
              <a:srgbClr val="D6E2E7"/>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 25 %</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de la population active vit du secteur agricole</a:t>
            </a:r>
            <a:endParaRPr lang="en-US" sz="1250" dirty="0"/>
          </a:p>
        </p:txBody>
      </p:sp>
      <p:sp>
        <p:nvSpPr>
          <p:cNvPr id="13" name="Shape 11"/>
          <p:cNvSpPr/>
          <p:nvPr/>
        </p:nvSpPr>
        <p:spPr>
          <a:xfrm>
            <a:off x="9052331" y="1874520"/>
            <a:ext cx="2545004" cy="2514600"/>
          </a:xfrm>
          <a:prstGeom prst="roundRect">
            <a:avLst>
              <a:gd name="adj" fmla="val 3636"/>
            </a:avLst>
          </a:prstGeom>
          <a:solidFill>
            <a:srgbClr val="EDF3F5"/>
          </a:solidFill>
          <a:ln w="9525">
            <a:solidFill>
              <a:srgbClr val="D6E2E7"/>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000" b="1" dirty="0">
                <a:solidFill>
                  <a:srgbClr val="1C5A73"/>
                </a:solidFill>
                <a:latin typeface="Cambria" pitchFamily="34" charset="0"/>
                <a:ea typeface="Cambria" pitchFamily="34" charset="-122"/>
                <a:cs typeface="Cambria" pitchFamily="34" charset="-120"/>
              </a:rPr>
              <a:t>≈ 1 800 mm</a:t>
            </a:r>
            <a:endParaRPr lang="en-US" sz="30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de pluie par an, mais concentrés sur huit mois</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1424A"/>
                </a:solidFill>
                <a:latin typeface="Calibri" pitchFamily="34" charset="0"/>
                <a:ea typeface="Calibri" pitchFamily="34" charset="-122"/>
                <a:cs typeface="Calibri" pitchFamily="34" charset="-120"/>
              </a:rPr>
              <a:t>Moins de 2 % du territoire est cultivé, alors que la forêt en couvre près de 88 %. La réduction de la facture alimentaire est un objectif public constant depuis dix ans : elle suppose de sécuriser des rendements sur des sols pauvres, avec très peu d'irrigation installée.</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LA CONTRAINTE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Beaucoup de pluie, des sols qui ne la retiennent pas</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6522415" y="5687568"/>
            <a:ext cx="5074920" cy="457200"/>
          </a:xfrm>
          <a:prstGeom prst="rect">
            <a:avLst/>
          </a:prstGeom>
          <a:noFill/>
          <a:ln/>
        </p:spPr>
        <p:txBody>
          <a:bodyPr wrap="square" lIns="0" tIns="0" rIns="0" bIns="0" rtlCol="0" anchor="ctr"/>
          <a:lstStyle/>
          <a:p>
            <a:pPr algn="r" indent="0" marL="0">
              <a:buNone/>
            </a:pPr>
            <a:r>
              <a:rPr lang="en-US" sz="1000" i="1" dirty="0">
                <a:solidFill>
                  <a:srgbClr val="6C8089"/>
                </a:solidFill>
                <a:latin typeface="Calibri" pitchFamily="34" charset="0"/>
                <a:ea typeface="Calibri" pitchFamily="34" charset="-122"/>
                <a:cs typeface="Calibri" pitchFamily="34" charset="-120"/>
              </a:rPr>
              <a:t>Parcelle vivrière en lisière de forêt</a:t>
            </a:r>
            <a:endParaRPr lang="en-US" sz="1000" dirty="0"/>
          </a:p>
        </p:txBody>
      </p:sp>
      <p:sp>
        <p:nvSpPr>
          <p:cNvPr id="6" name="Text 3"/>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Le pays reçoit de 1 500 à 3 000 mm de pluie par an, mais la grande saison sèche court de juin à septembre : trois à quatre mois quasiment sans précipitations sur la côte et le nord.</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Les sols ferralitiques du littoral et les sables des plateaux Batéké retiennent peu l'eau : une averse forte percole sous la zone racinaire en quelques heures.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Cette percolation lessive aussi les éléments nutritifs. Les sols sont acides, pauvres en matière organique, et la fertilisation classique s'y dilue rapidement.</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Hors plantations industrielles, la production vivrière est presque entièrement pluviale : la campagne s'interrompt quand la pluie s'arrête.</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La contrainte n'est donc pas le volume d'eau reçu, mais sa disponibilité dans la zone racinaire au moment où la plante en a besoin. C'est précisément ce que corrige l'hydro-rétention.</a:t>
            </a:r>
            <a:endParaRPr lang="en-US" sz="1400" dirty="0"/>
          </a:p>
        </p:txBody>
      </p:sp>
      <p:sp>
        <p:nvSpPr>
          <p:cNvPr id="7" name="Text 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8" name="Text 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SÉCHERESSE ET STRESS HYDRIQUE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La pression augmente, mais le risque se lit localement</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C5A73"/>
                </a:solidFill>
                <a:latin typeface="Cambria" pitchFamily="34" charset="0"/>
                <a:ea typeface="Cambria" pitchFamily="34" charset="-122"/>
                <a:cs typeface="Cambria" pitchFamily="34" charset="-120"/>
              </a:rPr>
              <a:t>Deux indicateurs, pas un raccourci</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À l’échelle mondiale, le nombre et la durée des sécheresses ont augmenté de 29 % depuis 2000 par rapport aux deux décennies précédentes.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Le stress hydrique mesure autre chose : les prélèvements rapportés aux ressources renouvelables disponibles après les besoins environnementaux. Ce signal mondial n’est donc pas une prévision nationale ; il doit être confronté aux pluies, aux nappes, aux saisons et aux usages locaux.</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OÙ PART L'EAU</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L'agriculture n'est pas le premier usage de l'eau</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C5A73"/>
                </a:solidFill>
                <a:latin typeface="Cambria" pitchFamily="34" charset="0"/>
                <a:ea typeface="Cambria" pitchFamily="34" charset="-122"/>
                <a:cs typeface="Cambria" pitchFamily="34" charset="-120"/>
              </a:rPr>
              <a:t>Ce que cela implique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Le Gabon n'est pas en pénurie d'eau : la ressource est abondante et l'agriculture n'en prélève qu'une part limitée.</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L'argument n'est donc pas d'économiser un volume national, mais de maintenir l'eau disponible à la racine pendant la saison sèche, et de réduire le coût du pompage.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ÉCONOMIE ET SÉCURITÉ ALIMENTAIRE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Une économie pétrolière qui veut nourrir ses villes</a:t>
            </a:r>
            <a:endParaRPr lang="en-US" sz="3000" dirty="0"/>
          </a:p>
        </p:txBody>
      </p:sp>
      <p:sp>
        <p:nvSpPr>
          <p:cNvPr id="4" name="Shape 2"/>
          <p:cNvSpPr/>
          <p:nvPr/>
        </p:nvSpPr>
        <p:spPr>
          <a:xfrm>
            <a:off x="594360" y="1874520"/>
            <a:ext cx="2545004" cy="2514600"/>
          </a:xfrm>
          <a:prstGeom prst="roundRect">
            <a:avLst>
              <a:gd name="adj" fmla="val 3636"/>
            </a:avLst>
          </a:prstGeom>
          <a:solidFill>
            <a:srgbClr val="EDF3F5"/>
          </a:solidFill>
          <a:ln w="9525">
            <a:solidFill>
              <a:srgbClr val="D6E2E7"/>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 90 %</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de la population vit en ville, près de la moitié à Libreville</a:t>
            </a:r>
            <a:endParaRPr lang="en-US" sz="1250" dirty="0"/>
          </a:p>
        </p:txBody>
      </p:sp>
      <p:sp>
        <p:nvSpPr>
          <p:cNvPr id="7" name="Shape 5"/>
          <p:cNvSpPr/>
          <p:nvPr/>
        </p:nvSpPr>
        <p:spPr>
          <a:xfrm>
            <a:off x="3413684" y="1874520"/>
            <a:ext cx="2545004" cy="2514600"/>
          </a:xfrm>
          <a:prstGeom prst="roundRect">
            <a:avLst>
              <a:gd name="adj" fmla="val 3636"/>
            </a:avLst>
          </a:prstGeom>
          <a:solidFill>
            <a:srgbClr val="EDF3F5"/>
          </a:solidFill>
          <a:ln w="9525">
            <a:solidFill>
              <a:srgbClr val="D6E2E7"/>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 88 %</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du territoire couvert par la forêt</a:t>
            </a:r>
            <a:endParaRPr lang="en-US" sz="1250" dirty="0"/>
          </a:p>
        </p:txBody>
      </p:sp>
      <p:sp>
        <p:nvSpPr>
          <p:cNvPr id="10" name="Shape 8"/>
          <p:cNvSpPr/>
          <p:nvPr/>
        </p:nvSpPr>
        <p:spPr>
          <a:xfrm>
            <a:off x="6233008" y="1874520"/>
            <a:ext cx="2545004" cy="2514600"/>
          </a:xfrm>
          <a:prstGeom prst="roundRect">
            <a:avLst>
              <a:gd name="adj" fmla="val 3636"/>
            </a:avLst>
          </a:prstGeom>
          <a:solidFill>
            <a:srgbClr val="EDF3F5"/>
          </a:solidFill>
          <a:ln w="9525">
            <a:solidFill>
              <a:srgbClr val="D6E2E7"/>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 500 Md</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de francs CFA d'importations alimentaires par an</a:t>
            </a:r>
            <a:endParaRPr lang="en-US" sz="1250" dirty="0"/>
          </a:p>
        </p:txBody>
      </p:sp>
      <p:sp>
        <p:nvSpPr>
          <p:cNvPr id="13" name="Shape 11"/>
          <p:cNvSpPr/>
          <p:nvPr/>
        </p:nvSpPr>
        <p:spPr>
          <a:xfrm>
            <a:off x="9052331" y="1874520"/>
            <a:ext cx="2545004" cy="2514600"/>
          </a:xfrm>
          <a:prstGeom prst="roundRect">
            <a:avLst>
              <a:gd name="adj" fmla="val 3636"/>
            </a:avLst>
          </a:prstGeom>
          <a:solidFill>
            <a:srgbClr val="EDF3F5"/>
          </a:solidFill>
          <a:ln w="9525">
            <a:solidFill>
              <a:srgbClr val="D6E2E7"/>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1C5A73"/>
                </a:solidFill>
                <a:latin typeface="Cambria" pitchFamily="34" charset="0"/>
                <a:ea typeface="Cambria" pitchFamily="34" charset="-122"/>
                <a:cs typeface="Cambria" pitchFamily="34" charset="-120"/>
              </a:rPr>
              <a:t>2014</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31424A"/>
                </a:solidFill>
                <a:latin typeface="Calibri" pitchFamily="34" charset="0"/>
                <a:ea typeface="Calibri" pitchFamily="34" charset="-122"/>
                <a:cs typeface="Calibri" pitchFamily="34" charset="-120"/>
              </a:rPr>
              <a:t>lancement du programme GRAINE de relance agricole</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31424A"/>
                </a:solidFill>
                <a:latin typeface="Calibri" pitchFamily="34" charset="0"/>
                <a:ea typeface="Calibri" pitchFamily="34" charset="-122"/>
                <a:cs typeface="Calibri" pitchFamily="34" charset="-120"/>
              </a:rPr>
              <a:t>Le pétrole, le manganèse et le bois font l'essentiel des exportations, tandis que l'assiette des Gabonais vient largement de l'étranger. Les plans de diversification et le programme GRAINE misent sur une agriculture vivrière et périurbaine capable de réduire cette dépendance.</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LES FILIÈRES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Cinq productions structurent l'offre nationale</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C5A73"/>
                </a:solidFill>
                <a:latin typeface="Cambria" pitchFamily="34" charset="0"/>
                <a:ea typeface="Cambria" pitchFamily="34" charset="-122"/>
                <a:cs typeface="Cambria" pitchFamily="34" charset="-120"/>
              </a:rPr>
              <a:t>Lecture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Manioc et banane plantain forment la base alimentaire, cultivés en petites parcelles pluviales.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Huile de palme, canne et hévéa sont conduits en plantations industrielles, sur des périmètres suivis et équipés : ce sont les interlocuteurs les plus rapides à convaincre par la mesure.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PREMIÈRE FILIÈRE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Banane plantain et manioc : la base de l'assiette</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Manioc et banane plantain sont les deux aliments de base, cultivés surtout en petites parcelles familiales.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Les sols ferralitiques, lessivés par les fortes pluies, retiennent mal l'eau et les éléments nutritifs.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La saison sèche, de juin à septembre, suffit à faire chuter la production des parcelles non arrosées.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Une part importante de la banane plantain vendue à Libreville arrive encore du Cameroun.</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EVERGREEN® à la plantation garde l'humidité au pied pendant la saison sèche ; ECOFERT® apporte ce que la pluie emporte.</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DEUXIÈME FILIÈRE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Maraîchage autour de Libreville : produire là où l'on mange</a:t>
            </a:r>
            <a:endParaRPr lang="en-US" sz="3000" dirty="0"/>
          </a:p>
        </p:txBody>
      </p:sp>
      <p:pic>
        <p:nvPicPr>
          <p:cNvPr id="4" name="Image 0" descr="preencoded.png">    </p:cNvPr>
          <p:cNvPicPr>
            <a:picLocks noChangeAspect="1"/>
          </p:cNvPicPr>
          <p:nvPr/>
        </p:nvPicPr>
        <p:blipFill>
          <a:blip r:embed="rId1"/>
          <a:stretch>
            <a:fillRect/>
          </a:stretch>
        </p:blipFill>
        <p:spPr>
          <a:xfrm>
            <a:off x="594360" y="1783080"/>
            <a:ext cx="5074920" cy="3794760"/>
          </a:xfrm>
          <a:prstGeom prst="rect">
            <a:avLst/>
          </a:prstGeom>
        </p:spPr>
      </p:pic>
      <p:sp>
        <p:nvSpPr>
          <p:cNvPr id="5" name="Text 2"/>
          <p:cNvSpPr txBox="1"/>
          <p:nvPr/>
        </p:nvSpPr>
        <p:spPr>
          <a:xfrm>
            <a:off x="621792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Tomates, piments, oseille et légumes-feuilles sont cultivés en ceinture de Libreville, d'Owendo et de Ntoum.</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Les légumes importés arrivent chers et souvent abîmés : la production locale a un marché immédiat.</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Sur sol sableux ou très lessivé, l'arrosage manuel ne suffit plus dès que la pluie s'interrompt quelques jours.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Les maladies fongiques profitent de l'humidité : NAPEMA® les traite sans résidu sur des légumes vendus frais.</a:t>
            </a:r>
            <a:endParaRPr lang="en-US" sz="1400" dirty="0"/>
          </a:p>
          <a:p>
            <a:pPr algn="l" marL="342900" indent="-342900">
              <a:lnSpc>
                <a:spcPct val="122000"/>
              </a:lnSpc>
              <a:spcAft>
                <a:spcPts val="1100"/>
              </a:spcAft>
              <a:buSzPct val="100000"/>
              <a:buChar char="•"/>
            </a:pPr>
            <a:r>
              <a:rPr lang="en-US" sz="1400" dirty="0">
                <a:solidFill>
                  <a:srgbClr val="31424A"/>
                </a:solidFill>
                <a:latin typeface="Calibri" pitchFamily="34" charset="0"/>
                <a:ea typeface="Calibri" pitchFamily="34" charset="-122"/>
                <a:cs typeface="Calibri" pitchFamily="34" charset="-120"/>
              </a:rPr>
              <a:t>Retenir l'eau au niveau des racines réduit les arrosages et stabilise les récoltes entre deux pluies.</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Potentiel de rendement</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Gain de rendement attendu par culture</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C5A73"/>
                </a:solidFill>
                <a:latin typeface="Cambria" pitchFamily="34" charset="0"/>
                <a:ea typeface="Cambria" pitchFamily="34" charset="-122"/>
                <a:cs typeface="Cambria" pitchFamily="34" charset="-120"/>
              </a:rPr>
              <a:t>À lire avec prudence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Fourchettes retenues par notre calculateur de dose, pour une culture conduite normalement avec EVERGREEN® à la plantation.</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Le résultat réel dépend du sol, du climat et de la conduite. Pour les céréales, aucun gain n'est avancé sans essai de terrain.</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NOTRE RÉPONSE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Retenir l'eau, nourrir sans lessiver</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EVERGREEN® — retenir l'eau</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Hydro-rétenteur à base de potassium, placé dans la zone racinaire à la plantation ou à la reprise.</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Capte l'eau de pluie ou d'irrigation et la restitue progressivement, ce qui lisse l'écart entre une averse tropicale et quatre mois sans pluie.</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Capacité d'absorption de l'ordre de 300 fois son poids ; durée d'effet utile de 3 à 4 ans dans le sol.</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Se dégrade de 20 à 25 % par an, sans accumulation ni risque de surdosage.</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ECOFERT® — nourrir sans épuiser</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Fertilisant en microdoses d'acides aminés, azote, phosphore et potassium, issu de ressources renouvelables.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Non chélatant : il n'appauvrit pas le complexe argilo-humique, déjà fragile sur sols ferralitiques acides.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Certifié SOHISCERT et EU Bio, utilisé dans 60 pays — argument utile pour les filières palme et hévéa exportatrices.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1 à 4 flacons de 140 ml par hectare, compatibles avec un pulvérisateur à dos comme avec la fertirrigation.</a:t>
            </a:r>
            <a:endParaRPr lang="en-US" sz="1350" dirty="0"/>
          </a:p>
        </p:txBody>
      </p:sp>
      <p:sp>
        <p:nvSpPr>
          <p:cNvPr id="8" name="Shape 6"/>
          <p:cNvSpPr/>
          <p:nvPr/>
        </p:nvSpPr>
        <p:spPr>
          <a:xfrm>
            <a:off x="594360" y="4846320"/>
            <a:ext cx="11002975" cy="960120"/>
          </a:xfrm>
          <a:prstGeom prst="roundRect">
            <a:avLst>
              <a:gd name="adj" fmla="val 7619"/>
            </a:avLst>
          </a:prstGeom>
          <a:solidFill>
            <a:srgbClr val="EDF3F5"/>
          </a:solidFill>
          <a:ln w="9525">
            <a:solidFill>
              <a:srgbClr val="D6E2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C8089"/>
                </a:solidFill>
                <a:latin typeface="Calibri" pitchFamily="34" charset="0"/>
                <a:ea typeface="Calibri" pitchFamily="34" charset="-122"/>
                <a:cs typeface="Calibri" pitchFamily="34" charset="-120"/>
              </a:rPr>
              <a:t>Les deux produits se vendent séparément mais ont été conçus pour se renforcer : l'hydro-rétenteur prolonge la disponibilité de l'eau, le fertilisant valorise cette eau sans ajouter à la charge saline d'un sol déjà lessivé.</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Le reste de la gamme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Protéger les cultures, fixer les sols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NAPEMA® — protéger sans résidu</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Lutte contre maladies, parasites, champignons et ravageurs, sans molécule de synthèse.</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Pulvérisation foliaire et racinaire, à effet préventif comme curatif.</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Aucun résidu dans le sol, la plante ou l'air : pollinisateurs et auxiliaires préservés.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Formulé sur mesure pour un problème précis : cochenille, HLB des agrumes, nématodes.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Paulownia ALTIFOLIA® — l'arbre des régions chaudes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13 à 15 m en six à huit ans, avec un tronc de gros diamètre.</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Associé à 100 g d'EVERGREEN® par plant, l'irrigation nécessaire diminue de 50 %.</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Résiste de −25 °C à +45 °C ; son bois ne s'enflamme qu'à partir de 426 °C.</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Brise-vent, protection des sols contre l'érosion, 400 à 700 kg de miel par hectare.</a:t>
            </a:r>
            <a:endParaRPr lang="en-US" sz="1350" dirty="0"/>
          </a:p>
        </p:txBody>
      </p:sp>
      <p:sp>
        <p:nvSpPr>
          <p:cNvPr id="8" name="Shape 6"/>
          <p:cNvSpPr/>
          <p:nvPr/>
        </p:nvSpPr>
        <p:spPr>
          <a:xfrm>
            <a:off x="594360" y="4846320"/>
            <a:ext cx="11002975" cy="960120"/>
          </a:xfrm>
          <a:prstGeom prst="roundRect">
            <a:avLst>
              <a:gd name="adj" fmla="val 7619"/>
            </a:avLst>
          </a:prstGeom>
          <a:solidFill>
            <a:srgbClr val="EDF3F5"/>
          </a:solidFill>
          <a:ln w="9525">
            <a:solidFill>
              <a:srgbClr val="D6E2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C8089"/>
                </a:solidFill>
                <a:latin typeface="Calibri" pitchFamily="34" charset="0"/>
                <a:ea typeface="Calibri" pitchFamily="34" charset="-122"/>
                <a:cs typeface="Calibri" pitchFamily="34" charset="-120"/>
              </a:rPr>
              <a:t>Plants livrés en pot (25 à 30 cm), certifiés indemnes de maladies et remplacés sous garantie en cas de perte. Première coupe à la fin de la sixième année, bois valorisé autour de 400 à 450 € le m³.</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ORDRES DE GRANDEUR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Économie d'eau attendue selon le mode d'arrosage</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C5A73"/>
                </a:solidFill>
                <a:latin typeface="Cambria" pitchFamily="34" charset="0"/>
                <a:ea typeface="Cambria" pitchFamily="34" charset="-122"/>
                <a:cs typeface="Cambria" pitchFamily="34" charset="-120"/>
              </a:rPr>
              <a:t>À lire avec prudence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Ces fourchettes sont indicatives et fondées sur les gains documentés de nos hydro-rétenteurs.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31424A"/>
                </a:solidFill>
                <a:latin typeface="Calibri" pitchFamily="34" charset="0"/>
                <a:ea typeface="Calibri" pitchFamily="34" charset="-122"/>
                <a:cs typeface="Calibri" pitchFamily="34" charset="-120"/>
              </a:rPr>
              <a:t>Le résultat réel dépend du sol, du climat et de la culture. Ces chiffres donnent un ordre de grandeur : ils ne constituent en aucun cas une valeur garantie, contractuelle ou absolue.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TROIS TERRAINS PRIORITAIRES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Où engager les premiers essais</a:t>
            </a:r>
            <a:endParaRPr lang="en-US" sz="3000" dirty="0"/>
          </a:p>
        </p:txBody>
      </p:sp>
      <p:sp>
        <p:nvSpPr>
          <p:cNvPr id="4" name="Shape 2"/>
          <p:cNvSpPr/>
          <p:nvPr/>
        </p:nvSpPr>
        <p:spPr>
          <a:xfrm>
            <a:off x="594360" y="1783080"/>
            <a:ext cx="3472586" cy="4069080"/>
          </a:xfrm>
          <a:prstGeom prst="roundRect">
            <a:avLst>
              <a:gd name="adj" fmla="val 2633"/>
            </a:avLst>
          </a:prstGeom>
          <a:solidFill>
            <a:srgbClr val="EDF3F5"/>
          </a:solidFill>
          <a:ln w="9525">
            <a:solidFill>
              <a:srgbClr val="D6E2E7"/>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algn="l" indent="0" marL="0">
              <a:buNone/>
            </a:pPr>
            <a:r>
              <a:rPr lang="en-US" sz="1500" b="1" dirty="0">
                <a:solidFill>
                  <a:srgbClr val="1C5A73"/>
                </a:solidFill>
                <a:latin typeface="Cambria" pitchFamily="34" charset="0"/>
                <a:ea typeface="Cambria" pitchFamily="34" charset="-122"/>
                <a:cs typeface="Cambria" pitchFamily="34" charset="-120"/>
              </a:rPr>
              <a:t>Estuaire — Libreville</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algn="l" indent="0" marL="0">
              <a:buNone/>
            </a:pPr>
            <a:r>
              <a:rPr lang="en-US" sz="1250" b="1" dirty="0">
                <a:solidFill>
                  <a:srgbClr val="A3701A"/>
                </a:solidFill>
                <a:latin typeface="Calibri" pitchFamily="34" charset="0"/>
                <a:ea typeface="Calibri" pitchFamily="34" charset="-122"/>
                <a:cs typeface="Calibri" pitchFamily="34" charset="-120"/>
              </a:rPr>
              <a:t>≈ 900 000 consommateurs</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Ceinture maraîchère de Ntoum et Kango, qui approvisionne la capitale toute l'année.</a:t>
            </a:r>
            <a:endParaRPr lang="en-US" sz="1150" dirty="0"/>
          </a:p>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Sols sableux littoraux, arrosage manuel ou goutte-à-goutte : l'eau y coûte cher en main-d'œuvre.</a:t>
            </a:r>
            <a:endParaRPr lang="en-US" sz="1150" dirty="0"/>
          </a:p>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Cultures à cycle court et à forte valeur, où un essai se conclut en une saison.</a:t>
            </a:r>
            <a:endParaRPr lang="en-US" sz="1150" dirty="0"/>
          </a:p>
        </p:txBody>
      </p:sp>
      <p:sp>
        <p:nvSpPr>
          <p:cNvPr id="9" name="Shape 6"/>
          <p:cNvSpPr/>
          <p:nvPr/>
        </p:nvSpPr>
        <p:spPr>
          <a:xfrm>
            <a:off x="4359554" y="1783080"/>
            <a:ext cx="3472586" cy="4069080"/>
          </a:xfrm>
          <a:prstGeom prst="roundRect">
            <a:avLst>
              <a:gd name="adj" fmla="val 2633"/>
            </a:avLst>
          </a:prstGeom>
          <a:solidFill>
            <a:srgbClr val="EDF3F5"/>
          </a:solidFill>
          <a:ln w="9525">
            <a:solidFill>
              <a:srgbClr val="D6E2E7"/>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algn="l" indent="0" marL="0">
              <a:buNone/>
            </a:pPr>
            <a:r>
              <a:rPr lang="en-US" sz="1500" b="1" dirty="0">
                <a:solidFill>
                  <a:srgbClr val="1C5A73"/>
                </a:solidFill>
                <a:latin typeface="Cambria" pitchFamily="34" charset="0"/>
                <a:ea typeface="Cambria" pitchFamily="34" charset="-122"/>
                <a:cs typeface="Cambria" pitchFamily="34" charset="-120"/>
              </a:rPr>
              <a:t>Woleu-Ntem — Oyem</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algn="l" indent="0" marL="0">
              <a:buNone/>
            </a:pPr>
            <a:r>
              <a:rPr lang="en-US" sz="1250" b="1" dirty="0">
                <a:solidFill>
                  <a:srgbClr val="A3701A"/>
                </a:solidFill>
                <a:latin typeface="Calibri" pitchFamily="34" charset="0"/>
                <a:ea typeface="Calibri" pitchFamily="34" charset="-122"/>
                <a:cs typeface="Calibri" pitchFamily="34" charset="-120"/>
              </a:rPr>
              <a:t>Premier bassin vivrier</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Manioc, banane plantain et arachide sur de petites parcelles familiales, presque toutes pluviales.</a:t>
            </a:r>
            <a:endParaRPr lang="en-US" sz="1150" dirty="0"/>
          </a:p>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Cacaoyers et caféiers en replantation, cultures pérennes où l'effet de 3 à 4 ans est décisif à la reprise.</a:t>
            </a:r>
            <a:endParaRPr lang="en-US" sz="1150" dirty="0"/>
          </a:p>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Coopératives déjà structurées : la décision d'achat peut être groupée.</a:t>
            </a:r>
            <a:endParaRPr lang="en-US" sz="1150" dirty="0"/>
          </a:p>
        </p:txBody>
      </p:sp>
      <p:sp>
        <p:nvSpPr>
          <p:cNvPr id="14" name="Shape 10"/>
          <p:cNvSpPr/>
          <p:nvPr/>
        </p:nvSpPr>
        <p:spPr>
          <a:xfrm>
            <a:off x="8124749" y="1783080"/>
            <a:ext cx="3472586" cy="4069080"/>
          </a:xfrm>
          <a:prstGeom prst="roundRect">
            <a:avLst>
              <a:gd name="adj" fmla="val 2633"/>
            </a:avLst>
          </a:prstGeom>
          <a:solidFill>
            <a:srgbClr val="EDF3F5"/>
          </a:solidFill>
          <a:ln w="9525">
            <a:solidFill>
              <a:srgbClr val="D6E2E7"/>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algn="l" indent="0" marL="0">
              <a:buNone/>
            </a:pPr>
            <a:r>
              <a:rPr lang="en-US" sz="1500" b="1" dirty="0">
                <a:solidFill>
                  <a:srgbClr val="1C5A73"/>
                </a:solidFill>
                <a:latin typeface="Cambria" pitchFamily="34" charset="0"/>
                <a:ea typeface="Cambria" pitchFamily="34" charset="-122"/>
                <a:cs typeface="Cambria" pitchFamily="34" charset="-120"/>
              </a:rPr>
              <a:t>Ngounié — Mouila</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algn="l" indent="0" marL="0">
              <a:buNone/>
            </a:pPr>
            <a:r>
              <a:rPr lang="en-US" sz="1250" b="1" dirty="0">
                <a:solidFill>
                  <a:srgbClr val="A3701A"/>
                </a:solidFill>
                <a:latin typeface="Calibri" pitchFamily="34" charset="0"/>
                <a:ea typeface="Calibri" pitchFamily="34" charset="-122"/>
                <a:cs typeface="Calibri" pitchFamily="34" charset="-120"/>
              </a:rPr>
              <a:t>≈ 40 000 ha de palmier</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Plantations industrielles de palmier à huile, suivies agronomiquement bloc par bloc.</a:t>
            </a:r>
            <a:endParaRPr lang="en-US" sz="1150" dirty="0"/>
          </a:p>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Forte mortalité des jeunes plants en saison sèche : l'hydro-rétenteur se juge au taux de reprise.</a:t>
            </a:r>
            <a:endParaRPr lang="en-US" sz="1150" dirty="0"/>
          </a:p>
          <a:p>
            <a:pPr algn="l" marL="342900" indent="-342900">
              <a:lnSpc>
                <a:spcPct val="116000"/>
              </a:lnSpc>
              <a:spcAft>
                <a:spcPts val="700"/>
              </a:spcAft>
              <a:buSzPct val="100000"/>
              <a:buChar char="•"/>
            </a:pPr>
            <a:r>
              <a:rPr lang="en-US" sz="1150" dirty="0">
                <a:solidFill>
                  <a:srgbClr val="31424A"/>
                </a:solidFill>
                <a:latin typeface="Calibri" pitchFamily="34" charset="0"/>
                <a:ea typeface="Calibri" pitchFamily="34" charset="-122"/>
                <a:cs typeface="Calibri" pitchFamily="34" charset="-120"/>
              </a:rPr>
              <a:t>Volumes contractualisables et protocole d'essai facile à tenir sur un bloc homogène.</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COMMENT NOUS PROCÉDONS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Un déploiement par étapes, mesuré à chaque palier</a:t>
            </a:r>
            <a:endParaRPr lang="en-US" sz="3000" dirty="0"/>
          </a:p>
        </p:txBody>
      </p:sp>
      <p:sp>
        <p:nvSpPr>
          <p:cNvPr id="4" name="Shape 2"/>
          <p:cNvSpPr/>
          <p:nvPr/>
        </p:nvSpPr>
        <p:spPr>
          <a:xfrm>
            <a:off x="594360" y="1874520"/>
            <a:ext cx="2545004" cy="2834640"/>
          </a:xfrm>
          <a:prstGeom prst="roundRect">
            <a:avLst>
              <a:gd name="adj" fmla="val 3593"/>
            </a:avLst>
          </a:prstGeom>
          <a:solidFill>
            <a:srgbClr val="EDF3F5"/>
          </a:solidFill>
          <a:ln w="9525">
            <a:solidFill>
              <a:srgbClr val="D6E2E7"/>
            </a:solidFill>
            <a:prstDash val="solid"/>
          </a:ln>
        </p:spPr>
      </p:sp>
      <p:sp>
        <p:nvSpPr>
          <p:cNvPr id="5" name="Shape 3"/>
          <p:cNvSpPr/>
          <p:nvPr/>
        </p:nvSpPr>
        <p:spPr>
          <a:xfrm>
            <a:off x="822960" y="2103120"/>
            <a:ext cx="566928" cy="566928"/>
          </a:xfrm>
          <a:prstGeom prst="ellipse">
            <a:avLst/>
          </a:prstGeom>
          <a:solidFill>
            <a:srgbClr val="1C5A73"/>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1C5A73"/>
                </a:solidFill>
                <a:latin typeface="Cambria" pitchFamily="34" charset="0"/>
                <a:ea typeface="Cambria" pitchFamily="34" charset="-122"/>
                <a:cs typeface="Cambria" pitchFamily="34" charset="-120"/>
              </a:rPr>
              <a:t>Diagnostic</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1424A"/>
                </a:solidFill>
                <a:latin typeface="Calibri" pitchFamily="34" charset="0"/>
                <a:ea typeface="Calibri" pitchFamily="34" charset="-122"/>
                <a:cs typeface="Calibri" pitchFamily="34" charset="-120"/>
              </a:rPr>
              <a:t>Analyse du sol, du mode d'arrosage et de la culture. Aucun engagement à ce stade.</a:t>
            </a:r>
            <a:endParaRPr lang="en-US" sz="1200" dirty="0"/>
          </a:p>
        </p:txBody>
      </p:sp>
      <p:sp>
        <p:nvSpPr>
          <p:cNvPr id="9" name="Shape 7"/>
          <p:cNvSpPr/>
          <p:nvPr/>
        </p:nvSpPr>
        <p:spPr>
          <a:xfrm>
            <a:off x="3413684" y="1874520"/>
            <a:ext cx="2545004" cy="2834640"/>
          </a:xfrm>
          <a:prstGeom prst="roundRect">
            <a:avLst>
              <a:gd name="adj" fmla="val 3593"/>
            </a:avLst>
          </a:prstGeom>
          <a:solidFill>
            <a:srgbClr val="EDF3F5"/>
          </a:solidFill>
          <a:ln w="9525">
            <a:solidFill>
              <a:srgbClr val="D6E2E7"/>
            </a:solidFill>
            <a:prstDash val="solid"/>
          </a:ln>
        </p:spPr>
      </p:sp>
      <p:sp>
        <p:nvSpPr>
          <p:cNvPr id="10" name="Shape 8"/>
          <p:cNvSpPr/>
          <p:nvPr/>
        </p:nvSpPr>
        <p:spPr>
          <a:xfrm>
            <a:off x="3642284" y="2103120"/>
            <a:ext cx="566928" cy="566928"/>
          </a:xfrm>
          <a:prstGeom prst="ellipse">
            <a:avLst/>
          </a:prstGeom>
          <a:solidFill>
            <a:srgbClr val="1C5A73"/>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1C5A73"/>
                </a:solidFill>
                <a:latin typeface="Cambria" pitchFamily="34" charset="0"/>
                <a:ea typeface="Cambria" pitchFamily="34" charset="-122"/>
                <a:cs typeface="Cambria" pitchFamily="34" charset="-120"/>
              </a:rPr>
              <a:t>Parcelle témoin</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1424A"/>
                </a:solidFill>
                <a:latin typeface="Calibri" pitchFamily="34" charset="0"/>
                <a:ea typeface="Calibri" pitchFamily="34" charset="-122"/>
                <a:cs typeface="Calibri" pitchFamily="34" charset="-120"/>
              </a:rPr>
              <a:t>Un essai comparatif sur un bloc, avec parcelle témoin conduite à l'identique.</a:t>
            </a:r>
            <a:endParaRPr lang="en-US" sz="1200" dirty="0"/>
          </a:p>
        </p:txBody>
      </p:sp>
      <p:sp>
        <p:nvSpPr>
          <p:cNvPr id="14" name="Shape 12"/>
          <p:cNvSpPr/>
          <p:nvPr/>
        </p:nvSpPr>
        <p:spPr>
          <a:xfrm>
            <a:off x="6233008" y="1874520"/>
            <a:ext cx="2545004" cy="2834640"/>
          </a:xfrm>
          <a:prstGeom prst="roundRect">
            <a:avLst>
              <a:gd name="adj" fmla="val 3593"/>
            </a:avLst>
          </a:prstGeom>
          <a:solidFill>
            <a:srgbClr val="EDF3F5"/>
          </a:solidFill>
          <a:ln w="9525">
            <a:solidFill>
              <a:srgbClr val="D6E2E7"/>
            </a:solidFill>
            <a:prstDash val="solid"/>
          </a:ln>
        </p:spPr>
      </p:sp>
      <p:sp>
        <p:nvSpPr>
          <p:cNvPr id="15" name="Shape 13"/>
          <p:cNvSpPr/>
          <p:nvPr/>
        </p:nvSpPr>
        <p:spPr>
          <a:xfrm>
            <a:off x="6461608" y="2103120"/>
            <a:ext cx="566928" cy="566928"/>
          </a:xfrm>
          <a:prstGeom prst="ellipse">
            <a:avLst/>
          </a:prstGeom>
          <a:solidFill>
            <a:srgbClr val="1C5A73"/>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1C5A73"/>
                </a:solidFill>
                <a:latin typeface="Cambria" pitchFamily="34" charset="0"/>
                <a:ea typeface="Cambria" pitchFamily="34" charset="-122"/>
                <a:cs typeface="Cambria" pitchFamily="34" charset="-120"/>
              </a:rPr>
              <a:t>Mesure</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1424A"/>
                </a:solidFill>
                <a:latin typeface="Calibri" pitchFamily="34" charset="0"/>
                <a:ea typeface="Calibri" pitchFamily="34" charset="-122"/>
                <a:cs typeface="Calibri" pitchFamily="34" charset="-120"/>
              </a:rPr>
              <a:t>Relevés de reprise, de consommation et de rendement à cheval sur la saison sèche.</a:t>
            </a:r>
            <a:endParaRPr lang="en-US" sz="1200" dirty="0"/>
          </a:p>
        </p:txBody>
      </p:sp>
      <p:sp>
        <p:nvSpPr>
          <p:cNvPr id="19" name="Shape 17"/>
          <p:cNvSpPr/>
          <p:nvPr/>
        </p:nvSpPr>
        <p:spPr>
          <a:xfrm>
            <a:off x="9052331" y="1874520"/>
            <a:ext cx="2545004" cy="2834640"/>
          </a:xfrm>
          <a:prstGeom prst="roundRect">
            <a:avLst>
              <a:gd name="adj" fmla="val 3593"/>
            </a:avLst>
          </a:prstGeom>
          <a:solidFill>
            <a:srgbClr val="EDF3F5"/>
          </a:solidFill>
          <a:ln w="9525">
            <a:solidFill>
              <a:srgbClr val="D6E2E7"/>
            </a:solidFill>
            <a:prstDash val="solid"/>
          </a:ln>
        </p:spPr>
      </p:sp>
      <p:sp>
        <p:nvSpPr>
          <p:cNvPr id="20" name="Shape 18"/>
          <p:cNvSpPr/>
          <p:nvPr/>
        </p:nvSpPr>
        <p:spPr>
          <a:xfrm>
            <a:off x="9280931" y="2103120"/>
            <a:ext cx="566928" cy="566928"/>
          </a:xfrm>
          <a:prstGeom prst="ellipse">
            <a:avLst/>
          </a:prstGeom>
          <a:solidFill>
            <a:srgbClr val="1C5A73"/>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1C5A73"/>
                </a:solidFill>
                <a:latin typeface="Cambria" pitchFamily="34" charset="0"/>
                <a:ea typeface="Cambria" pitchFamily="34" charset="-122"/>
                <a:cs typeface="Cambria" pitchFamily="34" charset="-120"/>
              </a:rPr>
              <a:t>Extension</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1424A"/>
                </a:solidFill>
                <a:latin typeface="Calibri" pitchFamily="34" charset="0"/>
                <a:ea typeface="Calibri" pitchFamily="34" charset="-122"/>
                <a:cs typeface="Calibri" pitchFamily="34" charset="-120"/>
              </a:rPr>
              <a:t>Généralisation progressive aux autres parcelles sur la base des résultats constatés.</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6C8089"/>
                </a:solidFill>
                <a:latin typeface="Calibri" pitchFamily="34" charset="0"/>
                <a:ea typeface="Calibri" pitchFamily="34" charset="-122"/>
                <a:cs typeface="Calibri" pitchFamily="34" charset="-120"/>
              </a:rPr>
              <a:t>La règle de dosage est la même partout : 3 grammes par litre de terre utile. Ce qui change d'un terrain à l'autre, c'est le volume de terre effectivement exploré par les racines.</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Travailler ensemble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Un partenaire local pour le Gabon</a:t>
            </a:r>
            <a:endParaRPr lang="en-US" sz="3000" dirty="0"/>
          </a:p>
        </p:txBody>
      </p:sp>
      <p:sp>
        <p:nvSpPr>
          <p:cNvPr id="4" name="Shape 2"/>
          <p:cNvSpPr/>
          <p:nvPr/>
        </p:nvSpPr>
        <p:spPr>
          <a:xfrm>
            <a:off x="594360" y="1874520"/>
            <a:ext cx="2545004" cy="2834640"/>
          </a:xfrm>
          <a:prstGeom prst="roundRect">
            <a:avLst>
              <a:gd name="adj" fmla="val 3593"/>
            </a:avLst>
          </a:prstGeom>
          <a:solidFill>
            <a:srgbClr val="EDF3F5"/>
          </a:solidFill>
          <a:ln w="9525">
            <a:solidFill>
              <a:srgbClr val="D6E2E7"/>
            </a:solidFill>
            <a:prstDash val="solid"/>
          </a:ln>
        </p:spPr>
      </p:sp>
      <p:sp>
        <p:nvSpPr>
          <p:cNvPr id="5" name="Shape 3"/>
          <p:cNvSpPr/>
          <p:nvPr/>
        </p:nvSpPr>
        <p:spPr>
          <a:xfrm>
            <a:off x="822960" y="2103120"/>
            <a:ext cx="566928" cy="566928"/>
          </a:xfrm>
          <a:prstGeom prst="ellipse">
            <a:avLst/>
          </a:prstGeom>
          <a:solidFill>
            <a:srgbClr val="1C5A73"/>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1C5A73"/>
                </a:solidFill>
                <a:latin typeface="Cambria" pitchFamily="34" charset="0"/>
                <a:ea typeface="Cambria" pitchFamily="34" charset="-122"/>
                <a:cs typeface="Cambria" pitchFamily="34" charset="-120"/>
              </a:rPr>
              <a:t>Distribution</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1424A"/>
                </a:solidFill>
                <a:latin typeface="Calibri" pitchFamily="34" charset="0"/>
                <a:ea typeface="Calibri" pitchFamily="34" charset="-122"/>
                <a:cs typeface="Calibri" pitchFamily="34" charset="-120"/>
              </a:rPr>
              <a:t>Exclusivité territoriale et stock de lancement pour la première saison commerciale.</a:t>
            </a:r>
            <a:endParaRPr lang="en-US" sz="1200" dirty="0"/>
          </a:p>
        </p:txBody>
      </p:sp>
      <p:sp>
        <p:nvSpPr>
          <p:cNvPr id="9" name="Shape 7"/>
          <p:cNvSpPr/>
          <p:nvPr/>
        </p:nvSpPr>
        <p:spPr>
          <a:xfrm>
            <a:off x="3413684" y="1874520"/>
            <a:ext cx="2545004" cy="2834640"/>
          </a:xfrm>
          <a:prstGeom prst="roundRect">
            <a:avLst>
              <a:gd name="adj" fmla="val 3593"/>
            </a:avLst>
          </a:prstGeom>
          <a:solidFill>
            <a:srgbClr val="EDF3F5"/>
          </a:solidFill>
          <a:ln w="9525">
            <a:solidFill>
              <a:srgbClr val="D6E2E7"/>
            </a:solidFill>
            <a:prstDash val="solid"/>
          </a:ln>
        </p:spPr>
      </p:sp>
      <p:sp>
        <p:nvSpPr>
          <p:cNvPr id="10" name="Shape 8"/>
          <p:cNvSpPr/>
          <p:nvPr/>
        </p:nvSpPr>
        <p:spPr>
          <a:xfrm>
            <a:off x="3642284" y="2103120"/>
            <a:ext cx="566928" cy="566928"/>
          </a:xfrm>
          <a:prstGeom prst="ellipse">
            <a:avLst/>
          </a:prstGeom>
          <a:solidFill>
            <a:srgbClr val="1C5A73"/>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1C5A73"/>
                </a:solidFill>
                <a:latin typeface="Cambria" pitchFamily="34" charset="0"/>
                <a:ea typeface="Cambria" pitchFamily="34" charset="-122"/>
                <a:cs typeface="Cambria" pitchFamily="34" charset="-120"/>
              </a:rPr>
              <a:t>Formation</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1424A"/>
                </a:solidFill>
                <a:latin typeface="Calibri" pitchFamily="34" charset="0"/>
                <a:ea typeface="Calibri" pitchFamily="34" charset="-122"/>
                <a:cs typeface="Calibri" pitchFamily="34" charset="-120"/>
              </a:rPr>
              <a:t>Formation technique des équipes, protocoles de dosage et mises à jour à chaque saison.</a:t>
            </a:r>
            <a:endParaRPr lang="en-US" sz="1200" dirty="0"/>
          </a:p>
        </p:txBody>
      </p:sp>
      <p:sp>
        <p:nvSpPr>
          <p:cNvPr id="14" name="Shape 12"/>
          <p:cNvSpPr/>
          <p:nvPr/>
        </p:nvSpPr>
        <p:spPr>
          <a:xfrm>
            <a:off x="6233008" y="1874520"/>
            <a:ext cx="2545004" cy="2834640"/>
          </a:xfrm>
          <a:prstGeom prst="roundRect">
            <a:avLst>
              <a:gd name="adj" fmla="val 3593"/>
            </a:avLst>
          </a:prstGeom>
          <a:solidFill>
            <a:srgbClr val="EDF3F5"/>
          </a:solidFill>
          <a:ln w="9525">
            <a:solidFill>
              <a:srgbClr val="D6E2E7"/>
            </a:solidFill>
            <a:prstDash val="solid"/>
          </a:ln>
        </p:spPr>
      </p:sp>
      <p:sp>
        <p:nvSpPr>
          <p:cNvPr id="15" name="Shape 13"/>
          <p:cNvSpPr/>
          <p:nvPr/>
        </p:nvSpPr>
        <p:spPr>
          <a:xfrm>
            <a:off x="6461608" y="2103120"/>
            <a:ext cx="566928" cy="566928"/>
          </a:xfrm>
          <a:prstGeom prst="ellipse">
            <a:avLst/>
          </a:prstGeom>
          <a:solidFill>
            <a:srgbClr val="1C5A73"/>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1C5A73"/>
                </a:solidFill>
                <a:latin typeface="Cambria" pitchFamily="34" charset="0"/>
                <a:ea typeface="Cambria" pitchFamily="34" charset="-122"/>
                <a:cs typeface="Cambria" pitchFamily="34" charset="-120"/>
              </a:rPr>
              <a:t>Essais conjoints</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1424A"/>
                </a:solidFill>
                <a:latin typeface="Calibri" pitchFamily="34" charset="0"/>
                <a:ea typeface="Calibri" pitchFamily="34" charset="-122"/>
                <a:cs typeface="Calibri" pitchFamily="34" charset="-120"/>
              </a:rPr>
              <a:t>Parcelles de démonstration avec témoin, résultats partagés avec les producteurs.</a:t>
            </a:r>
            <a:endParaRPr lang="en-US" sz="1200" dirty="0"/>
          </a:p>
        </p:txBody>
      </p:sp>
      <p:sp>
        <p:nvSpPr>
          <p:cNvPr id="19" name="Shape 17"/>
          <p:cNvSpPr/>
          <p:nvPr/>
        </p:nvSpPr>
        <p:spPr>
          <a:xfrm>
            <a:off x="9052331" y="1874520"/>
            <a:ext cx="2545004" cy="2834640"/>
          </a:xfrm>
          <a:prstGeom prst="roundRect">
            <a:avLst>
              <a:gd name="adj" fmla="val 3593"/>
            </a:avLst>
          </a:prstGeom>
          <a:solidFill>
            <a:srgbClr val="EDF3F5"/>
          </a:solidFill>
          <a:ln w="9525">
            <a:solidFill>
              <a:srgbClr val="D6E2E7"/>
            </a:solidFill>
            <a:prstDash val="solid"/>
          </a:ln>
        </p:spPr>
      </p:sp>
      <p:sp>
        <p:nvSpPr>
          <p:cNvPr id="20" name="Shape 18"/>
          <p:cNvSpPr/>
          <p:nvPr/>
        </p:nvSpPr>
        <p:spPr>
          <a:xfrm>
            <a:off x="9280931" y="2103120"/>
            <a:ext cx="566928" cy="566928"/>
          </a:xfrm>
          <a:prstGeom prst="ellipse">
            <a:avLst/>
          </a:prstGeom>
          <a:solidFill>
            <a:srgbClr val="1C5A73"/>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1C5A73"/>
                </a:solidFill>
                <a:latin typeface="Cambria" pitchFamily="34" charset="0"/>
                <a:ea typeface="Cambria" pitchFamily="34" charset="-122"/>
                <a:cs typeface="Cambria" pitchFamily="34" charset="-120"/>
              </a:rPr>
              <a:t>Institutions</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31424A"/>
                </a:solidFill>
                <a:latin typeface="Calibri" pitchFamily="34" charset="0"/>
                <a:ea typeface="Calibri" pitchFamily="34" charset="-122"/>
                <a:cs typeface="Calibri" pitchFamily="34" charset="-120"/>
              </a:rPr>
              <a:t>Dialogue avec le ministère de l'Agriculture et les programmes de sécurité alimentaire.</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6C8089"/>
                </a:solidFill>
                <a:latin typeface="Calibri" pitchFamily="34" charset="0"/>
                <a:ea typeface="Calibri" pitchFamily="34" charset="-122"/>
                <a:cs typeface="Calibri" pitchFamily="34" charset="-120"/>
              </a:rPr>
              <a:t>Le cadre s'adapte au territoire : un importateur, un distributeur d'intrants ou un groupement de producteurs peut porter le partenariat.</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CE QU'IL FAUT ANTICIPER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Risques identifiés et réponses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Risques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Marché intérieur étroit : environ 2,4 millions d'habitants et des exploitations vivrières de très petite taille.</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Logistique intérieure difficile en saison des pluies, qui renchérit la distribution hors des axes principaux.</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Pluviométrie abondante : un essai conduit hors saison sèche masque l'intérêt du produit.</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Produit peu connu, parfois confondu avec les polymères à base de sodium vendus en jardinerie.</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Réponses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Concentrer les premiers volumes sur les plantations industrielles et les coopératives maraîchères péri-urbaines.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Grouper les commandes sur un conteneur via le port d'Owendo, avec un stock tampon à Libreville.</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Programmer systématiquement l'essai de mai à octobre, pour couvrir la grande saison sèche.</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Documenter la formulation potassique, sans sodium, compatible avec les cultures alimentaires.</a:t>
            </a:r>
            <a:endParaRPr lang="en-US" sz="1350" dirty="0"/>
          </a:p>
        </p:txBody>
      </p:sp>
      <p:sp>
        <p:nvSpPr>
          <p:cNvPr id="8" name="Shape 6"/>
          <p:cNvSpPr/>
          <p:nvPr/>
        </p:nvSpPr>
        <p:spPr>
          <a:xfrm>
            <a:off x="594360" y="4846320"/>
            <a:ext cx="11002975" cy="960120"/>
          </a:xfrm>
          <a:prstGeom prst="roundRect">
            <a:avLst>
              <a:gd name="adj" fmla="val 7619"/>
            </a:avLst>
          </a:prstGeom>
          <a:solidFill>
            <a:srgbClr val="EDF3F5"/>
          </a:solidFill>
          <a:ln w="9525">
            <a:solidFill>
              <a:srgbClr val="D6E2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C8089"/>
                </a:solidFill>
                <a:latin typeface="Calibri" pitchFamily="34" charset="0"/>
                <a:ea typeface="Calibri" pitchFamily="34" charset="-122"/>
                <a:cs typeface="Calibri" pitchFamily="34" charset="-120"/>
              </a:rPr>
              <a:t>Analyse acrylamide (laboratoire Polymex, ISO 9001, teneur inférieure à 3,0 µg/g) et screening REACH / SVHC (SGS) disponibles sur demande, ainsi que le certificat SOHISCERT valable jusqu'au 4 septembre 2027.</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E0A33E"/>
                </a:solidFill>
                <a:latin typeface="Calibri" pitchFamily="34" charset="0"/>
                <a:ea typeface="Calibri" pitchFamily="34" charset="-122"/>
                <a:cs typeface="Calibri" pitchFamily="34" charset="-120"/>
              </a:rPr>
              <a:t>Sources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E3546"/>
                </a:solidFill>
                <a:latin typeface="Cambria" pitchFamily="34" charset="0"/>
                <a:ea typeface="Cambria" pitchFamily="34" charset="-122"/>
                <a:cs typeface="Cambria" pitchFamily="34" charset="-120"/>
              </a:rPr>
              <a:t>Sources et hypothèses de travail</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Sources principales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Direction générale de la statistique : comptes nationaux, commerce extérieur.</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Ministère de l'Agriculture : programme GRAINE, statistiques agricoles.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Banque africaine de développement : profil agricole du Gabon.</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FAO (FAOSTAT, AQUASTAT) et Banque mondiale (WDI).</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UNCCD, Drought in Numbers 2022 : nombre et durée des sécheresses, +29 % depuis 2000 par rapport à 1980–1999.</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ONU-Eau / FAO AQUASTAT, indicateur ODD 6.4.2 : définition et seuils du stress hydrique.</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C5A73"/>
                </a:solidFill>
                <a:latin typeface="Cambria" pitchFamily="34" charset="0"/>
                <a:ea typeface="Cambria" pitchFamily="34" charset="-122"/>
                <a:cs typeface="Cambria" pitchFamily="34" charset="-120"/>
              </a:rPr>
              <a:t>Hypothèses de travail</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Les chiffres sont des ordres de grandeur arrondis, tirés des dernières données publiques disponibles.</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Les gains d'eau et de rendement sont indicatifs et varient selon le sol, le climat et la culture.</a:t>
            </a:r>
            <a:endParaRPr lang="en-US" sz="1350" dirty="0"/>
          </a:p>
          <a:p>
            <a:pPr algn="l" marL="342900" indent="-342900">
              <a:lnSpc>
                <a:spcPct val="122000"/>
              </a:lnSpc>
              <a:spcAft>
                <a:spcPts val="1000"/>
              </a:spcAft>
              <a:buSzPct val="100000"/>
              <a:buChar char="•"/>
            </a:pPr>
            <a:r>
              <a:rPr lang="en-US" sz="1350" dirty="0">
                <a:solidFill>
                  <a:srgbClr val="31424A"/>
                </a:solidFill>
                <a:latin typeface="Calibri" pitchFamily="34" charset="0"/>
                <a:ea typeface="Calibri" pitchFamily="34" charset="-122"/>
                <a:cs typeface="Calibri" pitchFamily="34" charset="-120"/>
              </a:rPr>
              <a:t>Document de travail commercial : chiffres à actualiser avant toute soumission officielle.</a:t>
            </a:r>
            <a:endParaRPr lang="en-US" sz="1350" dirty="0"/>
          </a:p>
        </p:txBody>
      </p:sp>
      <p:sp>
        <p:nvSpPr>
          <p:cNvPr id="8" name="Shape 6"/>
          <p:cNvSpPr/>
          <p:nvPr/>
        </p:nvSpPr>
        <p:spPr>
          <a:xfrm>
            <a:off x="594360" y="4846320"/>
            <a:ext cx="11002975" cy="960120"/>
          </a:xfrm>
          <a:prstGeom prst="roundRect">
            <a:avLst>
              <a:gd name="adj" fmla="val 7619"/>
            </a:avLst>
          </a:prstGeom>
          <a:solidFill>
            <a:srgbClr val="EDF3F5"/>
          </a:solidFill>
          <a:ln w="9525">
            <a:solidFill>
              <a:srgbClr val="D6E2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C8089"/>
                </a:solidFill>
                <a:latin typeface="Calibri" pitchFamily="34" charset="0"/>
                <a:ea typeface="Calibri" pitchFamily="34" charset="-122"/>
                <a:cs typeface="Calibri" pitchFamily="34" charset="-120"/>
              </a:rPr>
              <a:t>Rapports d'essais, certificats (SOHISCERT, analyses Polymex et SGS) et fiches techniques : disponibles sur demande.</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C8089">
                    <a:alpha val="80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C8089">
                    <a:alpha val="80000"/>
                  </a:srgbClr>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Dites-nous votre parcelle</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Culture, mode d'arrosage, nature du sol, volume d'eau consommé aujourd'hui. Nous revenons avec la combinaison de technologies correspondante, les dosages, et les essais déjà conduits dans des situations comparables.</a:t>
            </a:r>
            <a:endParaRPr lang="en-US" sz="1500" dirty="0"/>
          </a:p>
          <a:p>
            <a:pPr algn="l" indent="0" marL="0">
              <a:lnSpc>
                <a:spcPct val="130000"/>
              </a:lnSpc>
              <a:buNone/>
            </a:pPr>
            <a:endParaRPr lang="en-US" sz="1500" dirty="0"/>
          </a:p>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Un premier échange n'engage à rien.</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algn="l" indent="0" marL="0">
              <a:buNone/>
            </a:pPr>
            <a:r>
              <a:rPr lang="en-US" sz="1400" b="1" dirty="0">
                <a:solidFill>
                  <a:srgbClr val="E0A33E"/>
                </a:solidFill>
                <a:latin typeface="Calibri" pitchFamily="34" charset="0"/>
                <a:ea typeface="Calibri" pitchFamily="34" charset="-122"/>
                <a:cs typeface="Calibri" pitchFamily="34" charset="-120"/>
              </a:rPr>
              <a:t>contact@green-solutions-group.com · Green Solutions Groupe AIM SA, 46, route de la Condémine, 1475 Forel, Suisse</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10637215"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FFFFFF">
                    <a:alpha val="55000"/>
                  </a:srgbClr>
                </a:solidFill>
                <a:latin typeface="Calibri" pitchFamily="34" charset="0"/>
                <a:ea typeface="Calibri" pitchFamily="34" charset="-122"/>
                <a:cs typeface="Calibri" pitchFamily="34" charset="-120"/>
              </a:rPr>
              <a:t>Green Solutions · Dossier marché Gabon</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FFFFFF">
                    <a:alpha val="55000"/>
                  </a:srgbClr>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2026-10-07T08:25:49Z</dcterms:created>
  <dcterms:modified xsi:type="dcterms:W3CDTF">2026-10-07T08:25:49Z</dcterms:modified>
</cp:coreProperties>
</file>