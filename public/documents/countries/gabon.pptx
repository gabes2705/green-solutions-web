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5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6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Prélèvements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C5A73"/>
              </a:solidFill>
              <a:effectLst/>
            </c:spPr>
          </c:dPt>
          <c:dPt>
            <c:idx val="1"/>
            <c:bubble3D val="0"/>
            <c:spPr>
              <a:solidFill>
                <a:srgbClr val="E0A33E"/>
              </a:solidFill>
              <a:effectLst/>
            </c:spPr>
          </c:dPt>
          <c:dPt>
            <c:idx val="2"/>
            <c:bubble3D val="0"/>
            <c:spPr>
              <a:solidFill>
                <a:srgbClr val="5E93A8"/>
              </a:solidFill>
              <a:effectLst/>
            </c:spPr>
          </c:dPt>
          <c:dLbls>
            <c:dLbl>
              <c:idx val="0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0C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Agriculture</c:v>
                </c:pt>
                <c:pt idx="1">
                  <c:v>Eau potable</c:v>
                </c:pt>
                <c:pt idx="2">
                  <c:v>Industrie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40</c:v>
                </c:pt>
                <c:pt idx="1">
                  <c:v>50</c:v>
                </c:pt>
                <c:pt idx="2">
                  <c:v>10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Production annuelle (milliers de tonnes)</c:v>
                </c:pt>
              </c:strCache>
            </c:strRef>
          </c:tx>
          <c:spPr>
            <a:solidFill>
              <a:srgbClr val="1C5A73"/>
            </a:solidFill>
            <a:effectLst/>
          </c:spPr>
          <c:invertIfNegative val="0"/>
          <c:dLbls>
            <c:numFmt formatCode="[$-40C]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E35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C5A7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0A33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E93A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2703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C7285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Manioc</c:v>
                  </c:pt>
                  <c:pt idx="1">
                    <c:v>Banane plantain</c:v>
                  </c:pt>
                  <c:pt idx="2">
                    <c:v>Canne à sucre</c:v>
                  </c:pt>
                  <c:pt idx="3">
                    <c:v>Huile de palme</c:v>
                  </c:pt>
                  <c:pt idx="4">
                    <c:v>Caoutchouc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330</c:v>
                </c:pt>
                <c:pt idx="1">
                  <c:v>300</c:v>
                </c:pt>
                <c:pt idx="2">
                  <c:v>250</c:v>
                </c:pt>
                <c:pt idx="3">
                  <c:v>80</c:v>
                </c:pt>
                <c:pt idx="4">
                  <c:v>30</c:v>
                </c:pt>
              </c:numCache>
            </c:numRef>
          </c:val>
        </c:ser>
        <c:dLbls>
          <c:numFmt formatCode="[$-40C]0" sourceLinked="0"/>
          <c:txPr>
            <a:bodyPr/>
            <a:lstStyle/>
            <a:p>
              <a:pPr>
                <a:defRPr b="0" i="0" strike="noStrike" sz="1100" u="none">
                  <a:solidFill>
                    <a:srgbClr val="0E354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6E2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Fourchette basse (%)</c:v>
                </c:pt>
              </c:strCache>
            </c:strRef>
          </c:tx>
          <c:spPr>
            <a:solidFill>
              <a:srgbClr val="1C5A73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E35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Goutte-à-goutte</c:v>
                  </c:pt>
                  <c:pt idx="1">
                    <c:v>Micro-aspersion</c:v>
                  </c:pt>
                  <c:pt idx="2">
                    <c:v>Aspersion</c:v>
                  </c:pt>
                  <c:pt idx="3">
                    <c:v>Arrosage manuel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45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Fourchette haute (%)</c:v>
                </c:pt>
              </c:strCache>
            </c:strRef>
          </c:tx>
          <c:spPr>
            <a:solidFill>
              <a:srgbClr val="E0A33E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E35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Goutte-à-goutte</c:v>
                  </c:pt>
                  <c:pt idx="1">
                    <c:v>Micro-aspersion</c:v>
                  </c:pt>
                  <c:pt idx="2">
                    <c:v>Aspersion</c:v>
                  </c:pt>
                  <c:pt idx="3">
                    <c:v>Arrosage manuel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60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[$-40C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E354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6E2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0"/>
            <a:ext cx="5918911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58368" y="566928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GROUP</a:t>
            </a:r>
            <a:endParaRPr lang="en-US" sz="1100" dirty="0"/>
          </a:p>
        </p:txBody>
      </p:sp>
      <p:pic>
        <p:nvPicPr>
          <p:cNvPr id="5" name="Image 1" descr="C:\Users\Utilisateur\dev\green-solutions-web\public\images\logo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457200"/>
            <a:ext cx="603504" cy="603504"/>
          </a:xfrm>
          <a:prstGeom prst="rect">
            <a:avLst/>
          </a:prstGeom>
        </p:spPr>
      </p:pic>
      <p:pic>
        <p:nvPicPr>
          <p:cNvPr id="6" name="Image 2" descr="C:\Users\Utilisateur\dev\green-solutions-web\scripts\dossiers\drapeaux\gab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8456" y="1389888"/>
            <a:ext cx="1965960" cy="13106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3648456" y="1389888"/>
            <a:ext cx="1965960" cy="131064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8368" y="1298448"/>
            <a:ext cx="27614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RÉPUBLIQUE GABONAISE</a:t>
            </a:r>
            <a:endParaRPr lang="en-US" sz="2800" dirty="0"/>
          </a:p>
        </p:txBody>
      </p:sp>
      <p:sp>
        <p:nvSpPr>
          <p:cNvPr id="9" name="Shape 4"/>
          <p:cNvSpPr/>
          <p:nvPr/>
        </p:nvSpPr>
        <p:spPr>
          <a:xfrm>
            <a:off x="658368" y="2889504"/>
            <a:ext cx="2788920" cy="45720"/>
          </a:xfrm>
          <a:prstGeom prst="rect">
            <a:avLst/>
          </a:prstGeom>
          <a:solidFill>
            <a:srgbClr val="E0A33E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58368" y="3163824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0A3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Libreville · 2026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658368" y="376732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Vivrier, maraîchage péri-urbain et plantations industrielles sur sols lessivés.</a:t>
            </a:r>
            <a:endParaRPr lang="en-US" sz="14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l'hydro-rétention change quand la pluie s'arrête quatre mois.</a:t>
            </a:r>
            <a:endParaRPr lang="en-US" sz="1450" dirty="0"/>
          </a:p>
        </p:txBody>
      </p:sp>
      <p:sp>
        <p:nvSpPr>
          <p:cNvPr id="12" name="Text 7"/>
          <p:cNvSpPr txBox="1"/>
          <p:nvPr/>
        </p:nvSpPr>
        <p:spPr>
          <a:xfrm>
            <a:off x="658368" y="4892040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ECOSORB® · ECOFERT® · NAPEMA® · PAULOWNIA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58368" y="6053328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Septembre 2026 · Document confidentiel · À l'usage exclusif du destinataire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MARCHÉ EN BREF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pays forestier qui importe sa nourriture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PIB provient de l'agriculture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80 %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produits alimentaires consommés sont importés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25 %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population active vit du secteur agricole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1 800 mm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pluie par an, mais concentrés sur huit mois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Moins de 2 % du territoire est cultivé, alors que la forêt en couvre près de 88 %. La réduction de la facture alimentaire est un objectif public constant depuis dix ans : elle suppose de sécuriser des rendements sur des sols pauvres, avec très peu d'irrigation installée.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Gabon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CONTRAINTE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Beaucoup de pluie, des sols qui ne la retiennent pas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Parcelle vivrière en lisière de forêt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pays reçoit de 1 500 à 3 000 mm de pluie par an, mais la grande saison sèche court de juin à septembre : trois à quatre mois quasiment sans précipitations sur la côte et le nord.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sols ferralitiques du littoral et les sables des plateaux Batéké retiennent peu l'eau : une averse forte percole sous la zone racinaire en quelques heures.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Cette percolation lessive aussi les éléments nutritifs. Les sols sont acides, pauvres en matière organique, et la fertilisation classique s'y dilue rapidement.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Hors plantations industrielles, la production vivrière est presque entièrement pluviale : la campagne s'interrompt quand la pluie s'arrête.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contrainte n'est donc pas le volume d'eau reçu, mais sa disponibilité dans la zone racinaire au moment où la plante en a besoin. C'est précisément ce que corrige l'hydro-rétention.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Gabon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PART L'EAU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L'agriculture n'est pas le premier usage de l'eau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cela implique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Gabon n'est pas en pénurie d'eau : la ressource est abondante et l'agriculture n'en prélève qu'une part limitée.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L'argument n'est donc pas d'économiser un volume national, mais de maintenir l'eau disponible à la racine pendant la saison sèche, et de réduire le coût du pompage.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Gabon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FILIÈRES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Cinq productions structurent l'offre nationale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Manioc et banane plantain forment la base alimentaire, cultivés en petites parcelles pluviales.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Huile de palme, canne et hévéa sont conduits en plantations industrielles, sur des périmètres suivis et équipés : ce sont les interlocuteurs les plus rapides à convaincre par la mesure.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Gabon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RÉPONSE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Retenir l'eau, nourrir sans lessiver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retenir l'eau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Hydro-rétenteur à base de potassium, placé dans la zone racinaire à la plantation ou à la reprise.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Capte l'eau de pluie ou d'irrigation et la restitue progressivement, ce qui lisse l'écart entre une averse tropicale et quatre mois sans pluie.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 d'absorption de l'ordre de 300 fois son poids ; durée d'effet utile de 3 à 4 ans dans le sol.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dégrade de 20 à 25 % par an, sans accumulation ni risque de surdosage.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nourrir sans épuiser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Fertilisant en microdoses d'acides aminés, azote, phosphore et potassium, issu de ressources renouvelables.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chélatant : il n'appauvrit pas le complexe argilo-humique, déjà fragile sur sols ferralitiques acides.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Certifié SOHISCERT et EU Bio, utilisé dans 60 pays — argument utile pour les filières palme et hévéa exportatrices.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à 4 flacons de 140 ml par hectare, compatibles avec un pulvérisateur à dos comme avec la fertirrigation.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deux produits se vendent séparément mais ont été conçus pour se renforcer : l'hydro-rétenteur prolonge la disponibilité de l'eau, le fertilisant valorise cette eau sans ajouter à la charge saline d'un sol déjà lessivé.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Gabon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ORDRES DE GRANDEUR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Économie d'eau attendue selon le mode d'arrosage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lire avec prudence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fourchettes sont indicatives et fondées sur les gains documentés de nos hydro-rétenteurs.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résultat réel dépend du sol, du climat et de la culture. Ces chiffres donnent un ordre de grandeur : ils ne constituent en aucun cas une valeur garantie, contractuelle ou absolue.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Gabon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TERRAINS PRIORITAIRES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Où engager les premiers essais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Estuaire — Libreville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3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900 000 consommateurs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Ceinture maraîchère de Ntoum et Kango, qui approvisionne la capitale toute l'année.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Sols sableux littoraux, arrosage manuel ou goutte-à-goutte : l'eau y coûte cher en main-d'œuvre.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Cultures à cycle court et à forte valeur, où un essai se conclut en une saison.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Woleu-Ntem — Oyem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3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bassin vivrier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Manioc, banane plantain et arachide sur de petites parcelles familiales, presque toutes pluviales.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Cacaoyers et caféiers en replantation, cultures pérennes où l'effet de 3 à 4 ans est décisif à la reprise.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Coopératives déjà structurées : la décision d'achat peut être groupée.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Ngounié — Mouila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3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40 000 ha de palmier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Plantations industrielles de palmier à huile, suivies agronomiquement bloc par bloc.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 mortalité des jeunes plants en saison sèche : l'hydro-rétenteur se juge au taux de reprise.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Volumes contractualisables et protocole d'essai facile à tenir sur un bloc homogène.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Gabon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NOUS PROCÉDONS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déploiement par étapes, mesuré à chaque palier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Diagnostic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du sol, du mode d'arrosage et de la culture. Aucun engagement à ce stade.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Parcelle témoin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essai comparatif sur un bloc, avec parcelle témoin conduite à l'identique.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Mesure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Relevés de reprise, de consommation et de rendement à cheval sur la saison sèche.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Généralisation progressive aux autres parcelles sur la base des résultats constatés.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règle de dosage est la même partout : 3 grammes par litre de terre utile. Ce qui change d'un terrain à l'autre, c'est le volume de terre effectivement exploré par les racines.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Gabon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QU'IL FAUT ANTICIPER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 identifiés et réponses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Marché intérieur étroit : environ 2,4 millions d'habitants et des exploitations vivrières de très petite taille.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Logistique intérieure difficile en saison des pluies, qui renchérit la distribution hors des axes principaux.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Pluviométrie abondante : un essai conduit hors saison sèche masque l'intérêt du produit.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 peu connu, parfois confondu avec les polymères à base de sodium vendus en jardinerie.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Réponses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Concentrer les premiers volumes sur les plantations industrielles et les coopératives maraîchères péri-urbaines.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Grouper les commandes sur un conteneur via le port d'Owendo, avec un stock tampon à Libreville.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Programmer systématiquement l'essai de mai à octobre, pour couvrir la grande saison sèche.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Documenter la formulation potassique, sans sodium, compatible avec les cultures alimentaires.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acrylamide (laboratoire Polymex, ISO 9001, teneur inférieure à 3,0 µg/g) et screening REACH / SVHC (SGS) disponibles sur demande, ainsi que le certificat SOHISCERT valable jusqu'au 4 septembre 2027.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Gabon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Dites-nous votre parcelle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Culture, mode d'arrosage, nature du sol, volume d'eau consommé aujourd'hui. Nous revenons avec la combinaison de technologies correspondante, les dosages, et les essais déjà conduits dans des situations comparables.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premier échange n'engage à rien.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821 Chemin des Clapiers, 83220 Le Pradet, France</a:t>
            </a:r>
            <a:endParaRPr lang="en-US" sz="1400" dirty="0"/>
          </a:p>
        </p:txBody>
      </p:sp>
      <p:pic>
        <p:nvPicPr>
          <p:cNvPr id="6" name="Image 1" descr="C:\Users\Utilisateur\dev\green-solutions-web\scripts\dossiers\sceau-aim-clair.png">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0637215" y="5193792"/>
            <a:ext cx="1051560" cy="10515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Gabon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2026-09-15T12:53:38Z</dcterms:created>
  <dcterms:modified xsi:type="dcterms:W3CDTF">2026-09-15T12:53:38Z</dcterms:modified>
</cp:coreProperties>
</file>