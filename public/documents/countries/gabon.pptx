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3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40</c:v>
                </c:pt>
                <c:pt idx="1">
                  <c:v>50</c:v>
                </c:pt>
                <c:pt idx="2">
                  <c:v>10</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(milliers de tonnes)</c:v>
                </c:pt>
              </c:strCache>
            </c:strRef>
          </c:tx>
          <c:spPr>
            <a:solidFill>
              <a:srgbClr val="1C5A73"/>
            </a:solidFill>
            <a:effectLst/>
          </c:spPr>
          <c:invertIfNegative val="0"/>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Manioc</c:v>
                  </c:pt>
                  <c:pt idx="1">
                    <c:v>Banane plantain</c:v>
                  </c:pt>
                  <c:pt idx="2">
                    <c:v>Canne à sucre</c:v>
                  </c:pt>
                  <c:pt idx="3">
                    <c:v>Huile de palme</c:v>
                  </c:pt>
                  <c:pt idx="4">
                    <c:v>Caoutchouc</c:v>
                  </c:pt>
                </c:lvl>
              </c:multiLvlStrCache>
            </c:multiLvlStrRef>
          </c:cat>
          <c:val>
            <c:numRef>
              <c:f>Sheet1!$B$2:$B$6</c:f>
              <c:numCache>
                <c:formatCode>General</c:formatCode>
                <c:ptCount val="5"/>
                <c:pt idx="0">
                  <c:v>330</c:v>
                </c:pt>
                <c:pt idx="1">
                  <c:v>300</c:v>
                </c:pt>
                <c:pt idx="2">
                  <c:v>250</c:v>
                </c:pt>
                <c:pt idx="3">
                  <c:v>80</c:v>
                </c:pt>
                <c:pt idx="4">
                  <c:v>30</c:v>
                </c:pt>
              </c:numCache>
            </c:numRef>
          </c:val>
        </c:ser>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1C5A73"/>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Bananes</c:v>
                  </c:pt>
                  <c:pt idx="1">
                    <c:v>Tomates</c:v>
                  </c:pt>
                  <c:pt idx="2">
                    <c:v>Manioc</c:v>
                  </c:pt>
                  <c:pt idx="3">
                    <c:v>Aubergines</c:v>
                  </c:pt>
                  <c:pt idx="4">
                    <c:v>Canne à sucre</c:v>
                  </c:pt>
                </c:lvl>
              </c:multiLvlStrCache>
            </c:multiLvlStrRef>
          </c:cat>
          <c:val>
            <c:numRef>
              <c:f>Sheet1!$B$2:$B$6</c:f>
              <c:numCache>
                <c:formatCode>General</c:formatCode>
                <c:ptCount val="5"/>
                <c:pt idx="0">
                  <c:v>15</c:v>
                </c:pt>
                <c:pt idx="1">
                  <c:v>30</c:v>
                </c:pt>
                <c:pt idx="2">
                  <c:v>20</c:v>
                </c:pt>
                <c:pt idx="3">
                  <c:v>20</c:v>
                </c:pt>
                <c:pt idx="4">
                  <c:v>10</c:v>
                </c:pt>
              </c:numCache>
            </c:numRef>
          </c:val>
        </c:ser>
        <c:ser>
          <c:idx val="1"/>
          <c:order val="1"/>
          <c:tx>
            <c:strRef>
              <c:f>Sheet1!$C$1</c:f>
              <c:strCache>
                <c:ptCount val="1"/>
                <c:pt idx="0">
                  <c:v>Haut de fourchette (%)</c:v>
                </c:pt>
              </c:strCache>
            </c:strRef>
          </c:tx>
          <c:spPr>
            <a:solidFill>
              <a:srgbClr val="E0A33E"/>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Bananes</c:v>
                  </c:pt>
                  <c:pt idx="1">
                    <c:v>Tomates</c:v>
                  </c:pt>
                  <c:pt idx="2">
                    <c:v>Manioc</c:v>
                  </c:pt>
                  <c:pt idx="3">
                    <c:v>Aubergines</c:v>
                  </c:pt>
                  <c:pt idx="4">
                    <c:v>Canne à sucre</c:v>
                  </c:pt>
                </c:lvl>
              </c:multiLvlStrCache>
            </c:multiLvlStrRef>
          </c:cat>
          <c:val>
            <c:numRef>
              <c:f>Sheet1!$C$2:$C$6</c:f>
              <c:numCache>
                <c:formatCode>General</c:formatCode>
                <c:ptCount val="5"/>
                <c:pt idx="0">
                  <c:v>30</c:v>
                </c:pt>
                <c:pt idx="1">
                  <c:v>50</c:v>
                </c:pt>
                <c:pt idx="2">
                  <c:v>40</c:v>
                </c:pt>
                <c:pt idx="3">
                  <c:v>35</c:v>
                </c:pt>
                <c:pt idx="4">
                  <c:v>20</c:v>
                </c:pt>
              </c:numCache>
            </c:numRef>
          </c:val>
        </c:ser>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C5A73"/>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Fourchette haute (%)</c:v>
                </c:pt>
              </c:strCache>
            </c:strRef>
          </c:tx>
          <c:spPr>
            <a:solidFill>
              <a:srgbClr val="E0A33E"/>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Sheet1!$C$2:$C$5</c:f>
              <c:numCache>
                <c:formatCode>General</c:formatCode>
                <c:ptCount val="4"/>
                <c:pt idx="0">
                  <c:v>55</c:v>
                </c:pt>
                <c:pt idx="1">
                  <c:v>60</c:v>
                </c:pt>
                <c:pt idx="2">
                  <c:v>65</c:v>
                </c:pt>
                <c:pt idx="3">
                  <c:v>70</c:v>
                </c:pt>
              </c:numCache>
            </c:numRef>
          </c:val>
        </c:ser>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sw-dossiers\scripts\dossiers\drapeaux\gabon.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RÉPUBLIQUE GABONAISE</a:t>
            </a:r>
            <a:endParaRPr lang="en-US" sz="2800" dirty="0"/>
          </a:p>
        </p:txBody>
      </p:sp>
      <p:sp>
        <p:nvSpPr>
          <p:cNvPr id="9" name="Shape 4"/>
          <p:cNvSpPr/>
          <p:nvPr/>
        </p:nvSpPr>
        <p:spPr>
          <a:xfrm>
            <a:off x="658368" y="2889504"/>
            <a:ext cx="2788920" cy="45720"/>
          </a:xfrm>
          <a:prstGeom prst="rect">
            <a:avLst/>
          </a:prstGeom>
          <a:solidFill>
            <a:srgbClr val="E0A33E"/>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0A33E"/>
                </a:solidFill>
                <a:latin typeface="Cambria" pitchFamily="34" charset="0"/>
                <a:ea typeface="Cambria" pitchFamily="34" charset="-122"/>
                <a:cs typeface="Cambria" pitchFamily="34" charset="-120"/>
              </a:rPr>
              <a:t>Libreville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Vivrier, maraîchage péri-urbain et plantations industrielles sur sols lessivés.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quand la pluie s'arrête quatre mois.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pays forestier qui importe sa nourriture</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80 %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des produits alimentaires consommés sont importés</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25 %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la population active vit du secteur agricole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000" b="1" dirty="0">
                <a:solidFill>
                  <a:srgbClr val="1C5A73"/>
                </a:solidFill>
                <a:latin typeface="Cambria" pitchFamily="34" charset="0"/>
                <a:ea typeface="Cambria" pitchFamily="34" charset="-122"/>
                <a:cs typeface="Cambria" pitchFamily="34" charset="-120"/>
              </a:rPr>
              <a:t>≈ 1 800 mm</a:t>
            </a:r>
            <a:endParaRPr lang="en-US" sz="30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pluie par an, mais concentrés sur huit mois</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Moins de 2 % du territoire est cultivé, alors que la forêt en couvre près de 88 %. La réduction de la facture alimentaire est un objectif public constant depuis dix ans : elle suppose de sécuriser des rendements sur des sols pauvres, avec très peu d'irrigation installée.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Beaucoup de pluie, des sols qui ne la retiennent pas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C8089"/>
                </a:solidFill>
                <a:latin typeface="Calibri" pitchFamily="34" charset="0"/>
                <a:ea typeface="Calibri" pitchFamily="34" charset="-122"/>
                <a:cs typeface="Calibri" pitchFamily="34" charset="-120"/>
              </a:rPr>
              <a:t>Parcelle vivrière en lisière de forêt</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 pays reçoit de 1 500 à 3 000 mm de pluie par an, mais la grande saison sèche court de juin à septembre : trois à quatre mois quasiment sans précipitations sur la côte et le nord.</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sols ferralitiques du littoral et les sables des plateaux Batéké retiennent peu l'eau : une averse forte percole sous la zone racinaire en quelques heures.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Cette percolation lessive aussi les éléments nutritifs. Les sols sont acides, pauvres en matière organique, et la fertilisation classique s'y dilue rapidement.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Hors plantations industrielles, la production vivrière est presque entièrement pluviale : la campagne s'interrompt quand la pluie s'arrête.</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La contrainte n'est donc pas le volume d'eau reçu, mais sa disponibilité dans la zone racinaire au moment où la plante en a besoin. C'est précisément ce que corrige l'hydro-rétention.</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L'agriculture n'est pas le premier usage de l'eau</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Gabon n'est pas en pénurie d'eau : la ressource est abondante et l'agriculture n'en prélève qu'une part limitée.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L'argument n'est donc pas d'économiser un volume national, mais de maintenir l'eau disponible à la racine pendant la saison sèche, et de réduire le coût du pompage.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Une économie pétrolière qui veut nourrir ses villes</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90 %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la population vit en ville, près de la moitié à Libreville</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88 %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du territoire couvert par la forêt</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500 Md</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francs CFA d'importations alimentaires par an</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2014</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lancement du programme GRAINE de relance agricole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Le pétrole, le manganèse et le bois font l'essentiel des exportations, tandis que l'assiette des Gabonais vient largement de l'étranger. Les plans de diversification et le programme GRAINE misent sur une agriculture vivrière et périurbaine capable de réduire cette dépendance.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Cinq productions structurent l'offre nationale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Manioc et banane plantain forment la base alimentaire, cultivés en petites parcelles pluviales.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Huile de palme, canne et hévéa sont conduits en plantations industrielles, sur des périmètres suivis et équipés : ce sont les interlocuteurs les plus rapides à convaincre par la mesure.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PREMIÈRE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Banane plantain et manioc : la base de l'assiette</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Manioc et banane plantain sont les deux aliments de base, cultivés surtout en petites parcelles familiales.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sols ferralitiques, lessivés par les fortes pluies, retiennent mal l'eau et les éléments nutritifs.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La saison sèche, de juin à septembre, suffit à faire chuter la production des parcelles non arrosées.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Une part importante de la banane plantain vendue à Libreville arrive encore du Cameroun.</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EVERGREEN® à la plantation garde l'humidité au pied pendant la saison sèche ; ECOFERT® apporte ce que la pluie emporte.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Maraîchage autour de Libreville : produire là où l'on mange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Tomates, piments, oseille et légumes-feuilles sont cultivés en ceinture de Libreville, d'Owendo et de Ntoum.</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légumes importés arrivent chers et souvent abîmés : la production locale a un marché immédiat.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Sur sol sableux ou très lessivé, l'arrosage manuel ne suffit plus dès que la pluie s'interrompt quelques jours.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maladies fongiques profitent de l'humidité : NAPEMA® les traite sans résidu sur des légumes vendus frais.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Retenir l'eau au niveau des racines réduit les arrosages et stabilise les récoltes entre deux pluies.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Retenir l'eau, nourrir sans lessiver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Hydro-rétenteur à base de potassium, placé dans la zone racinaire à la plantation ou à la reprise.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Capte l'eau de pluie ou d'irrigation et la restitue progressivement, ce qui lisse l'écart entre une averse tropicale et quatre mois sans pluie.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Non chélatant : il n'appauvrit pas le complexe argilo-humique, déjà fragile sur sols ferralitiques acides.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Certifié SOHISCERT et EU Bio, utilisé dans 60 pays — argument utile pour les filières palme et hévéa exportatrices.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ajouter à la charge saline d'un sol déjà lessivé.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Économie d'eau attendue selon le mode d'arrosage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Estuaire — Libreville</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 900 000 consommateurs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Ceinture maraîchère de Ntoum et Kango, qui approvisionne la capitale toute l'année.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Sols sableux littoraux, arrosage manuel ou goutte-à-goutte : l'eau y coûte cher en main-d'œuvre.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Cultures à cycle court et à forte valeur, où un essai se conclut en une saison.</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Woleu-Ntem — Oyem</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Premier bassin vivrier</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Manioc, banane plantain et arachide sur de petites parcelles familiales, presque toutes pluviales.</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Cacaoyers et caféiers en replantation, cultures pérennes où l'effet de 3 à 4 ans est décisif à la reprise.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Coopératives déjà structurées : la décision d'achat peut être groupée.</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Ngounié — Mouila</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 40 000 ha de palmier</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Plantations industrielles de palmier à huile, suivies agronomiquement bloc par bloc.</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Forte mortalité des jeunes plants en saison sèche : l'hydro-rétenteur se juge au taux de reprise.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Volumes contractualisables et protocole d'essai facile à tenir sur un bloc homogène.</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Relevés de reprise, de consommation et de rendement à cheval sur la saison sèche.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partenaire local pour le Gabon</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Marché intérieur étroit : environ 2,4 millions d'habitants et des exploitations vivrières de très petite taille.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Logistique intérieure difficile en saison des pluies, qui renchérit la distribution hors des axes principaux.</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Pluviométrie abondante : un essai conduit hors saison sèche masque l'intérêt du produit.</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Produit peu connu, parfois confondu avec les polymères à base de sodium vendus en jardinerie.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Concentrer les premiers volumes sur les plantations industrielles et les coopératives maraîchères péri-urbaines.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Grouper les commandes sur un conteneur via le port d'Owendo, avec un stock tampon à Libreville.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Programmer systématiquement l'essai de mai à octobre, pour couvrir la grande saison sèche.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Documenter la formulation potassique, sans sodium, compatible avec les cultures alimentaires.</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Direction générale de la statistique : comptes nationaux, commerce extérieur.</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Ministère de l'Agriculture : programme GRAINE, statistiques agricoles.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Banque africaine de développement : profil agricole du Gabon.</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FAO (FAOSTAT, AQUASTAT) et Banque mondiale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0A33E"/>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2026-09-15T23:09:07Z</dcterms:created>
  <dcterms:modified xsi:type="dcterms:W3CDTF">2026-09-15T23:09:07Z</dcterms:modified>
</cp:coreProperties>
</file>