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7B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Egyptian Market Development Dossier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457200" y="292608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0D4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دراسة تطوير السوق المصرية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457200" y="39319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Agriculture, Water Resources &amp; Sustainability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457200" y="45720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D4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الزراعة والموارد المائية والاستدامة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57200" y="59436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September 2026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0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1B7B4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3657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Overview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029200" y="228600"/>
            <a:ext cx="3657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نظرة عامة على السوق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0" y="1097280"/>
            <a:ext cx="9144000" cy="45720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" y="1463040"/>
            <a:ext cx="1828800" cy="822960"/>
          </a:xfrm>
          <a:prstGeom prst="rect">
            <a:avLst/>
          </a:prstGeom>
          <a:solidFill>
            <a:srgbClr val="3D9E6C"/>
          </a:solidFill>
          <a:ln w="25400">
            <a:solidFill>
              <a:srgbClr val="1B7B4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50876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103M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457200" y="187452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Population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2560320" y="1463040"/>
            <a:ext cx="1828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السكان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57200" y="2468880"/>
            <a:ext cx="1828800" cy="822960"/>
          </a:xfrm>
          <a:prstGeom prst="rect">
            <a:avLst/>
          </a:prstGeom>
          <a:solidFill>
            <a:srgbClr val="3D9E6C"/>
          </a:solidFill>
          <a:ln w="25400">
            <a:solidFill>
              <a:srgbClr val="1B7B4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251460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14%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457200" y="288036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Agriculture % of GDP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2560320" y="2468880"/>
            <a:ext cx="1828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الزراعة من الناتج المحلي الإجمالي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457200" y="3474720"/>
            <a:ext cx="1828800" cy="822960"/>
          </a:xfrm>
          <a:prstGeom prst="rect">
            <a:avLst/>
          </a:prstGeom>
          <a:solidFill>
            <a:srgbClr val="3D9E6C"/>
          </a:solidFill>
          <a:ln w="25400">
            <a:solidFill>
              <a:srgbClr val="1B7B4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52044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97%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457200" y="388620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Water dependency on Nile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2560320" y="3474720"/>
            <a:ext cx="1828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الاعتماد على نهر النيل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457200" y="4480560"/>
            <a:ext cx="1828800" cy="822960"/>
          </a:xfrm>
          <a:prstGeom prst="rect">
            <a:avLst/>
          </a:prstGeom>
          <a:solidFill>
            <a:srgbClr val="3D9E6C"/>
          </a:solidFill>
          <a:ln w="25400">
            <a:solidFill>
              <a:srgbClr val="1B7B4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52628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3.5M ha</a:t>
            </a:r>
            <a:endParaRPr lang="en-US" sz="2800" dirty="0"/>
          </a:p>
        </p:txBody>
      </p:sp>
      <p:sp>
        <p:nvSpPr>
          <p:cNvPr id="20" name="Text 18"/>
          <p:cNvSpPr/>
          <p:nvPr/>
        </p:nvSpPr>
        <p:spPr>
          <a:xfrm>
            <a:off x="457200" y="489204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Cultivated land area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2560320" y="4480560"/>
            <a:ext cx="1828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مساحة الأراضي المزروعة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" y="594360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Egypt represents the largest agricultural market in North Africa with critical water security challenges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0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1B7B4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3657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Agricultural Sectors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029200" y="228600"/>
            <a:ext cx="3657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القطاعات الزراعية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0" y="1097280"/>
            <a:ext cx="9144000" cy="45720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" y="2286000"/>
            <a:ext cx="1188720" cy="2743200"/>
          </a:xfrm>
          <a:prstGeom prst="rect">
            <a:avLst/>
          </a:prstGeom>
          <a:solidFill>
            <a:srgbClr val="1B7B4A"/>
          </a:solidFill>
          <a:ln w="12700">
            <a:solidFill>
              <a:srgbClr val="1B7B4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210312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7B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28%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57200" y="530352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Wheat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562356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القمح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1828800" y="3559629"/>
            <a:ext cx="1188720" cy="1469571"/>
          </a:xfrm>
          <a:prstGeom prst="rect">
            <a:avLst/>
          </a:prstGeom>
          <a:solidFill>
            <a:srgbClr val="3D9E6C"/>
          </a:solidFill>
          <a:ln w="12700">
            <a:solidFill>
              <a:srgbClr val="1B7B4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828800" y="3376749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D9E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15%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828800" y="530352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Cotton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1828800" y="562356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القطن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200400" y="3853543"/>
            <a:ext cx="1188720" cy="1175657"/>
          </a:xfrm>
          <a:prstGeom prst="rect">
            <a:avLst/>
          </a:prstGeom>
          <a:solidFill>
            <a:srgbClr val="00D4AA"/>
          </a:solidFill>
          <a:ln w="12700">
            <a:solidFill>
              <a:srgbClr val="1B7B4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200400" y="3670663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D4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12%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3200400" y="530352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Rice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3200400" y="562356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الأرز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72000" y="4245429"/>
            <a:ext cx="1188720" cy="783771"/>
          </a:xfrm>
          <a:prstGeom prst="rect">
            <a:avLst/>
          </a:prstGeom>
          <a:solidFill>
            <a:srgbClr val="8B4513"/>
          </a:solidFill>
          <a:ln w="12700">
            <a:solidFill>
              <a:srgbClr val="1B7B4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0" y="4062549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8B45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8%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4572000" y="530352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Sugarcane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4572000" y="562356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قصب السكر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5943600" y="2873829"/>
            <a:ext cx="1188720" cy="2155371"/>
          </a:xfrm>
          <a:prstGeom prst="rect">
            <a:avLst/>
          </a:prstGeom>
          <a:solidFill>
            <a:srgbClr val="90EE90"/>
          </a:solidFill>
          <a:ln w="12700">
            <a:solidFill>
              <a:srgbClr val="1B7B4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943600" y="2690949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0EE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22%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943600" y="530352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Vegetables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5943600" y="562356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الخضروات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7315200" y="3559629"/>
            <a:ext cx="1188720" cy="1469571"/>
          </a:xfrm>
          <a:prstGeom prst="rect">
            <a:avLst/>
          </a:prstGeom>
          <a:solidFill>
            <a:srgbClr val="CCCCCC"/>
          </a:solidFill>
          <a:ln w="12700">
            <a:solidFill>
              <a:srgbClr val="1B7B4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315200" y="3376749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15%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7315200" y="530352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Other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7315200" y="562356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أخرى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457200" y="61264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agricultural commodities, with wheat as primary staple crop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0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1B7B4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3657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Water Usage Patterns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029200" y="228600"/>
            <a:ext cx="3657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أنماط استخدام المياه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0" y="1097280"/>
            <a:ext cx="9144000" cy="45720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37160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7B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Water Consumption by Sector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192024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Agriculture / الزراعة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2103120" y="1920240"/>
            <a:ext cx="365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82%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560320" y="1965960"/>
            <a:ext cx="1874520" cy="228600"/>
          </a:xfrm>
          <a:prstGeom prst="rect">
            <a:avLst/>
          </a:prstGeom>
          <a:solidFill>
            <a:srgbClr val="3D9E6C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246888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Industry / الصناعة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2103120" y="2468880"/>
            <a:ext cx="365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12%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2560320" y="2514600"/>
            <a:ext cx="274320" cy="228600"/>
          </a:xfrm>
          <a:prstGeom prst="rect">
            <a:avLst/>
          </a:prstGeom>
          <a:solidFill>
            <a:srgbClr val="3D9E6C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301752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Domestic / الاستهلاك المنزلي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2103120" y="3017520"/>
            <a:ext cx="365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6%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2560320" y="3063240"/>
            <a:ext cx="137160" cy="228600"/>
          </a:xfrm>
          <a:prstGeom prst="rect">
            <a:avLst/>
          </a:prstGeom>
          <a:solidFill>
            <a:srgbClr val="3D9E6C"/>
          </a:solidFill>
          <a:ln/>
        </p:spPr>
      </p:sp>
      <p:sp>
        <p:nvSpPr>
          <p:cNvPr id="16" name="Text 14"/>
          <p:cNvSpPr/>
          <p:nvPr/>
        </p:nvSpPr>
        <p:spPr>
          <a:xfrm>
            <a:off x="457200" y="365760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7B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Critical Water Facts: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40080" y="4114800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55.5 BCM annual water allocation from Nile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40080" y="4434840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Water stress in Upper Egypt increasing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40080" y="4754880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Groundwater being depleted at alarming rate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40080" y="5074920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Irrigation efficiency only ~50-60%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640080" y="5394960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Population growth pressure: 2.4M/year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754880" y="4114800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تخصيص سنوي من النيل: 55.5 مليار متر مكعب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4754880" y="4434840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الضغط المائي في صعيد مصر يتزايد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4754880" y="4754880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استنزاف المياه الجوفية بمعدل مقلق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4754880" y="5074920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كفاءة الري فقط 50-60٪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4754880" y="5394960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النمو السكاني: 2.4 مليون سنويا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0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1B7B4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3657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Climate &amp; Constraints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029200" y="228600"/>
            <a:ext cx="3657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المناخ والقيود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0" y="1097280"/>
            <a:ext cx="9144000" cy="45720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3716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7B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Environmental Challenges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" y="1920240"/>
            <a:ext cx="1828800" cy="914400"/>
          </a:xfrm>
          <a:prstGeom prst="roundRect">
            <a:avLst>
              <a:gd name="adj" fmla="val 15000"/>
            </a:avLst>
          </a:prstGeom>
          <a:solidFill>
            <a:srgbClr val="3D9E6C"/>
          </a:solidFill>
          <a:ln w="12700">
            <a:solidFill>
              <a:srgbClr val="1B7B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201168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Desert Expansion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48640" y="2240280"/>
            <a:ext cx="1645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توسع الصحراء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48640" y="246888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Loss of ~30,000 ha annually to desertification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457200" y="3063240"/>
            <a:ext cx="1828800" cy="914400"/>
          </a:xfrm>
          <a:prstGeom prst="roundRect">
            <a:avLst>
              <a:gd name="adj" fmla="val 15000"/>
            </a:avLst>
          </a:prstGeom>
          <a:solidFill>
            <a:srgbClr val="3D9E6C"/>
          </a:solidFill>
          <a:ln w="12700">
            <a:solidFill>
              <a:srgbClr val="1B7B4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48640" y="315468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Water Scarcity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48640" y="3383280"/>
            <a:ext cx="1645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نقص المياه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48640" y="361188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 capita water availability declining sharply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457200" y="4206240"/>
            <a:ext cx="1828800" cy="914400"/>
          </a:xfrm>
          <a:prstGeom prst="roundRect">
            <a:avLst>
              <a:gd name="adj" fmla="val 15000"/>
            </a:avLst>
          </a:prstGeom>
          <a:solidFill>
            <a:srgbClr val="3D9E6C"/>
          </a:solidFill>
          <a:ln w="12700">
            <a:solidFill>
              <a:srgbClr val="1B7B4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48640" y="429768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Soil Degradation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48640" y="4526280"/>
            <a:ext cx="1645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تدهور التربة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548640" y="475488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Salinization affecting 30% of irrigated land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5029200" y="137160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7B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Impact Metrics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5029200" y="192024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Climate temperature increase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7132320" y="19202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0D4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+1.5°C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5029200" y="2212848"/>
            <a:ext cx="3474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ارتفاع درجة الحرارة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029200" y="26974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Evapotranspiration increase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7132320" y="269748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0D4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+8%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5029200" y="2990088"/>
            <a:ext cx="3474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زيادة البخر-النتح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5029200" y="347472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Rainfall decline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7132320" y="347472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0D4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-25%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5029200" y="3767328"/>
            <a:ext cx="3474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انخفاض الأمطار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5029200" y="425196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Crop yield reduction risk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7132320" y="425196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0D4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15-25%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5029200" y="4544568"/>
            <a:ext cx="3474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خطر تقليل المحاصيل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0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1B7B4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3657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Technology Solutions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029200" y="228600"/>
            <a:ext cx="3657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الحلول التكنولوجية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0" y="1097280"/>
            <a:ext cx="9144000" cy="45720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" y="1463040"/>
            <a:ext cx="1920240" cy="2011680"/>
          </a:xfrm>
          <a:prstGeom prst="roundRect">
            <a:avLst>
              <a:gd name="adj" fmla="val 4762"/>
            </a:avLst>
          </a:prstGeom>
          <a:solidFill>
            <a:srgbClr val="F0F8F4"/>
          </a:solidFill>
          <a:ln w="25400">
            <a:solidFill>
              <a:srgbClr val="3D9E6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1600200"/>
            <a:ext cx="1737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dirty="0">
                <a:solidFill>
                  <a:srgbClr val="000000"/>
                </a:solidFill>
              </a:rPr>
              <a:t>💧</a:t>
            </a:r>
            <a:endParaRPr lang="en-US" sz="3600" dirty="0"/>
          </a:p>
        </p:txBody>
      </p:sp>
      <p:sp>
        <p:nvSpPr>
          <p:cNvPr id="8" name="Text 6"/>
          <p:cNvSpPr/>
          <p:nvPr/>
        </p:nvSpPr>
        <p:spPr>
          <a:xfrm>
            <a:off x="548640" y="2011680"/>
            <a:ext cx="1737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7B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Drip Irrigation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48640" y="2331720"/>
            <a:ext cx="1737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الري بالتنقيط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48640" y="2651760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Save 30-40% water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548640" y="3063240"/>
            <a:ext cx="1737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توفير 30-40٪ من المياه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457200" y="3749040"/>
            <a:ext cx="1920240" cy="2011680"/>
          </a:xfrm>
          <a:prstGeom prst="roundRect">
            <a:avLst>
              <a:gd name="adj" fmla="val 4762"/>
            </a:avLst>
          </a:prstGeom>
          <a:solidFill>
            <a:srgbClr val="F0F8F4"/>
          </a:solidFill>
          <a:ln w="25400">
            <a:solidFill>
              <a:srgbClr val="3D9E6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48640" y="3886200"/>
            <a:ext cx="1737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dirty="0">
                <a:solidFill>
                  <a:srgbClr val="000000"/>
                </a:solidFill>
              </a:rPr>
              <a:t>🤖</a:t>
            </a:r>
            <a:endParaRPr lang="en-US" sz="3600" dirty="0"/>
          </a:p>
        </p:txBody>
      </p:sp>
      <p:sp>
        <p:nvSpPr>
          <p:cNvPr id="14" name="Text 12"/>
          <p:cNvSpPr/>
          <p:nvPr/>
        </p:nvSpPr>
        <p:spPr>
          <a:xfrm>
            <a:off x="548640" y="4297680"/>
            <a:ext cx="1737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7B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Precision Farming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48640" y="4617720"/>
            <a:ext cx="1737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الزراعة الدقيقة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548640" y="4937760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IoT sensors, AI optimization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548640" y="5349240"/>
            <a:ext cx="1737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مستشعرات IoT وتحسين الذكاء الاصطناعي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2560320" y="1463040"/>
            <a:ext cx="1920240" cy="2011680"/>
          </a:xfrm>
          <a:prstGeom prst="roundRect">
            <a:avLst>
              <a:gd name="adj" fmla="val 4762"/>
            </a:avLst>
          </a:prstGeom>
          <a:solidFill>
            <a:srgbClr val="F0F8F4"/>
          </a:solidFill>
          <a:ln w="25400">
            <a:solidFill>
              <a:srgbClr val="3D9E6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651760" y="1600200"/>
            <a:ext cx="1737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dirty="0">
                <a:solidFill>
                  <a:srgbClr val="000000"/>
                </a:solidFill>
              </a:rPr>
              <a:t>🌱</a:t>
            </a:r>
            <a:endParaRPr lang="en-US" sz="3600" dirty="0"/>
          </a:p>
        </p:txBody>
      </p:sp>
      <p:sp>
        <p:nvSpPr>
          <p:cNvPr id="20" name="Text 18"/>
          <p:cNvSpPr/>
          <p:nvPr/>
        </p:nvSpPr>
        <p:spPr>
          <a:xfrm>
            <a:off x="2651760" y="2011680"/>
            <a:ext cx="1737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7B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Crop Rotation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2651760" y="2331720"/>
            <a:ext cx="1737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تناوب المحاصيل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2651760" y="2651760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Soil health, water conservation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2651760" y="3063240"/>
            <a:ext cx="1737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صحة التربة وحفظ المياه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2560320" y="3749040"/>
            <a:ext cx="1920240" cy="2011680"/>
          </a:xfrm>
          <a:prstGeom prst="roundRect">
            <a:avLst>
              <a:gd name="adj" fmla="val 4762"/>
            </a:avLst>
          </a:prstGeom>
          <a:solidFill>
            <a:srgbClr val="F0F8F4"/>
          </a:solidFill>
          <a:ln w="25400">
            <a:solidFill>
              <a:srgbClr val="3D9E6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651760" y="3886200"/>
            <a:ext cx="1737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dirty="0">
                <a:solidFill>
                  <a:srgbClr val="000000"/>
                </a:solidFill>
              </a:rPr>
              <a:t>☀️</a:t>
            </a:r>
            <a:endParaRPr lang="en-US" sz="3600" dirty="0"/>
          </a:p>
        </p:txBody>
      </p:sp>
      <p:sp>
        <p:nvSpPr>
          <p:cNvPr id="26" name="Text 24"/>
          <p:cNvSpPr/>
          <p:nvPr/>
        </p:nvSpPr>
        <p:spPr>
          <a:xfrm>
            <a:off x="2651760" y="4297680"/>
            <a:ext cx="1737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7B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Renewable Energy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2651760" y="4617720"/>
            <a:ext cx="1737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الطاقة المتجددة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2651760" y="4937760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Solar pumps for irrigation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2651760" y="5349240"/>
            <a:ext cx="1737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مضخات شمسية للري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0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1B7B4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3657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Studies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029200" y="228600"/>
            <a:ext cx="3657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دراسات الحالة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0" y="1097280"/>
            <a:ext cx="9144000" cy="45720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" y="1463040"/>
            <a:ext cx="8229600" cy="1097280"/>
          </a:xfrm>
          <a:prstGeom prst="rect">
            <a:avLst/>
          </a:prstGeom>
          <a:solidFill>
            <a:srgbClr val="F0F8F4"/>
          </a:solidFill>
          <a:ln w="12700">
            <a:solidFill>
              <a:srgbClr val="3D9E6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1554480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7B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Kafrelsheikh Governorate / محافظة كفرالشيخ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40080" y="1856232"/>
            <a:ext cx="78638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Project: Rice field conversion to high-value crops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640080" y="2057400"/>
            <a:ext cx="78638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المشروع: تحويل حقول الأرز إلى محاصيل عالية القيمة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640080" y="2286000"/>
            <a:ext cx="78638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0D4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Result: +45% income, -35% water use | +45٪ دخل، -35٪ استخدام المياه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57200" y="2788920"/>
            <a:ext cx="8229600" cy="1097280"/>
          </a:xfrm>
          <a:prstGeom prst="rect">
            <a:avLst/>
          </a:prstGeom>
          <a:solidFill>
            <a:srgbClr val="F0F8F4"/>
          </a:solidFill>
          <a:ln w="12700">
            <a:solidFill>
              <a:srgbClr val="3D9E6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2880360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7B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Minya Governorate / محافظة المنيا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40080" y="3182112"/>
            <a:ext cx="78638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Project: Drip irrigation adoption program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640080" y="3383280"/>
            <a:ext cx="78638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المشروع: برنامج اعتماد الري بالتنقيط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640080" y="3611880"/>
            <a:ext cx="78638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0D4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Result: 10,000 ha converted, 40% efficiency gain | 10,000 هكتار محول، زيادة كفاءة 40٪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457200" y="4114800"/>
            <a:ext cx="8229600" cy="1097280"/>
          </a:xfrm>
          <a:prstGeom prst="rect">
            <a:avLst/>
          </a:prstGeom>
          <a:solidFill>
            <a:srgbClr val="F0F8F4"/>
          </a:solidFill>
          <a:ln w="12700">
            <a:solidFill>
              <a:srgbClr val="3D9E6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0080" y="4206240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7B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 Administrative Capital / العاصمة الإدارية الجديدة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40080" y="4507992"/>
            <a:ext cx="78638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Project: Vertical farming &amp; controlled environment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640080" y="4709160"/>
            <a:ext cx="78638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المشروع: الزراعة الرأسية والبيئات المسيطرة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640080" y="4937760"/>
            <a:ext cx="78638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0D4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Result: Year-round production, 90% water savings | إنتاج على مدار السنة، توفير 90٪ للمياه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0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1B7B4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3657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Regulatory Environment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029200" y="228600"/>
            <a:ext cx="3657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البيئة التنظيمية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0" y="1097280"/>
            <a:ext cx="9144000" cy="45720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" y="1463040"/>
            <a:ext cx="822960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1B7B4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155448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7B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Water Law (1912)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40080" y="1847088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Foundation for water rights and allocations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4754880" y="1554480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B7B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قانون المياه (1912)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754880" y="1847088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أساس حقوق وتوزيع المياه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57200" y="2514600"/>
            <a:ext cx="822960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1B7B4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260604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7B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Agricultural Zoning Law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40080" y="2898648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Protection of agricultural land from urban sprawl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754880" y="2606040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B7B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قانون تقسيم الأراضي الزراعية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754880" y="2898648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حماية الأراضي الزراعية من الزحف العمراني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457200" y="3566160"/>
            <a:ext cx="822960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1B7B4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0080" y="365760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7B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Irrigation Efficiency Standards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40080" y="3950208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Mandatory adoption of modern irrigation technologies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754880" y="3657600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B7B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معايير كفاءة الري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754880" y="3950208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اعتماد إلزامي لتقنيات الري الحديثة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457200" y="4617720"/>
            <a:ext cx="822960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1B7B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0080" y="470916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7B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Environmental Compliance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40080" y="5001768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Pesticide/fertilizer restrictions, water quality standards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4754880" y="4709160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B7B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الامتثال البيئي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4754880" y="5001768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قيود المبيدات والأسمدة، معايير جودة المياه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0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1B7B4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3657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Government Initiatives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029200" y="228600"/>
            <a:ext cx="3657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المبادرات الحكومية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0" y="1097280"/>
            <a:ext cx="9144000" cy="45720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46304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D4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822960" y="146304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2030 Vision for Agricultural Development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822960" y="178308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رؤية 2030 لتطوير الزراعة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457200" y="233172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D4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822960" y="233172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National Water Resource Management Strategy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822960" y="265176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استراتيجية إدارة الموارد المائية الوطنية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457200" y="320040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D4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822960" y="320040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Desert Land Reclamation Program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822960" y="35204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برنامج استصلاح الأراضي الصحراوية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4572000" y="146304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D4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4937760" y="146304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Agricultural Research &amp; Development Centers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937760" y="178308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مراكز البحث والتطوير الزراعي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0" y="233172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D4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4937760" y="233172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Farmer Training &amp; Extension Services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937760" y="265176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خدمات التدريب والإرشاد الزراعي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572000" y="320040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D4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4937760" y="320040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Subsidy Programs for Modern Irrigation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4937760" y="35204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برامج الدعم لتقنيات الري الحديثة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0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1B7B4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3657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Partnership Opportunities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029200" y="228600"/>
            <a:ext cx="3657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فرص الشراكة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0" y="1097280"/>
            <a:ext cx="9144000" cy="45720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" y="1463040"/>
            <a:ext cx="8229600" cy="365760"/>
          </a:xfrm>
          <a:prstGeom prst="rect">
            <a:avLst/>
          </a:prstGeom>
          <a:solidFill>
            <a:srgbClr val="3D9E6C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1508760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Technology Transfer / نقل التكنولوجيا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914400" y="19202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Irrigation systems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914400" y="224028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Water testing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914400" y="2560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Precision agriculture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914400" y="288036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Crop monitoring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57200" y="3383280"/>
            <a:ext cx="8229600" cy="365760"/>
          </a:xfrm>
          <a:prstGeom prst="rect">
            <a:avLst/>
          </a:prstGeom>
          <a:solidFill>
            <a:srgbClr val="3D9E6C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3429000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Capacity Building / بناء القدرات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914400" y="384048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Farmer training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914400" y="41605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Technical expertise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914400" y="448056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Research collaboration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914400" y="48006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Extension services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7200" y="5303520"/>
            <a:ext cx="8229600" cy="365760"/>
          </a:xfrm>
          <a:prstGeom prst="rect">
            <a:avLst/>
          </a:prstGeom>
          <a:solidFill>
            <a:srgbClr val="3D9E6C"/>
          </a:solidFill>
          <a:ln/>
        </p:spPr>
      </p:sp>
      <p:sp>
        <p:nvSpPr>
          <p:cNvPr id="19" name="Text 17"/>
          <p:cNvSpPr/>
          <p:nvPr/>
        </p:nvSpPr>
        <p:spPr>
          <a:xfrm>
            <a:off x="640080" y="5349240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 Opportunities / فرص الاستثمار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914400" y="57607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Agricultural infrastructure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914400" y="608076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Processing facilities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9144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Export logistics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914400" y="67208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Agritech startups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0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1B7B4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3657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Entry Strategy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029200" y="228600"/>
            <a:ext cx="3657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استراتيجية الدخول إلى السوق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0" y="1097280"/>
            <a:ext cx="9144000" cy="45720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" y="1463040"/>
            <a:ext cx="8229600" cy="1325880"/>
          </a:xfrm>
          <a:prstGeom prst="rect">
            <a:avLst/>
          </a:prstGeom>
          <a:solidFill>
            <a:srgbClr val="F0F8F4"/>
          </a:solidFill>
          <a:ln w="25400">
            <a:solidFill>
              <a:srgbClr val="00D4A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1600200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D4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1280160" y="155448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7B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Assessment Phase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280160" y="1856232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مرحلة التقييم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297680" y="1554480"/>
            <a:ext cx="42062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Local partnership formation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297680" y="1801368"/>
            <a:ext cx="42062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تشكيل الشراكات المحلية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4297680" y="2121408"/>
            <a:ext cx="42062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Regulatory mapping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4297680" y="2368296"/>
            <a:ext cx="42062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رسم الخريطة التنظيمية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4297680" y="2688336"/>
            <a:ext cx="42062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Market feasibility study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4297680" y="2935224"/>
            <a:ext cx="42062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دراسة جدوى السوق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457200" y="3017520"/>
            <a:ext cx="8229600" cy="1325880"/>
          </a:xfrm>
          <a:prstGeom prst="rect">
            <a:avLst/>
          </a:prstGeom>
          <a:solidFill>
            <a:srgbClr val="F0F8F4"/>
          </a:solidFill>
          <a:ln w="25400">
            <a:solidFill>
              <a:srgbClr val="00D4A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0080" y="3154680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D4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1280160" y="310896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7B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Pilot Phase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1280160" y="3410712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المرحلة التجريبية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297680" y="3108960"/>
            <a:ext cx="42062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Smallholder farmer engagement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297680" y="3355848"/>
            <a:ext cx="42062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تشرك المزارعين الصغار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4297680" y="3675888"/>
            <a:ext cx="42062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Technology demonstration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4297680" y="3922776"/>
            <a:ext cx="42062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عرض توضيحي للتكنولوجيا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4297680" y="4242816"/>
            <a:ext cx="42062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Local feedback integration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4297680" y="4489704"/>
            <a:ext cx="42062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دمج التغذية الراجعة المحلية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457200" y="4572000"/>
            <a:ext cx="8229600" cy="1325880"/>
          </a:xfrm>
          <a:prstGeom prst="rect">
            <a:avLst/>
          </a:prstGeom>
          <a:solidFill>
            <a:srgbClr val="F0F8F4"/>
          </a:solidFill>
          <a:ln w="25400">
            <a:solidFill>
              <a:srgbClr val="00D4A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" y="4709160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D4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400" dirty="0"/>
          </a:p>
        </p:txBody>
      </p:sp>
      <p:sp>
        <p:nvSpPr>
          <p:cNvPr id="28" name="Text 26"/>
          <p:cNvSpPr/>
          <p:nvPr/>
        </p:nvSpPr>
        <p:spPr>
          <a:xfrm>
            <a:off x="1280160" y="466344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7B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Scale-up Phase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1280160" y="4965192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مرحلة التوسع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4297680" y="4663440"/>
            <a:ext cx="42062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Commercial partnerships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4297680" y="4910328"/>
            <a:ext cx="42062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الشراكات التجارية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4297680" y="5230368"/>
            <a:ext cx="42062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Government support access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4297680" y="5477256"/>
            <a:ext cx="42062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الوصول إلى الدعم الحكومي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4297680" y="5797296"/>
            <a:ext cx="42062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Export chain development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4297680" y="6044184"/>
            <a:ext cx="42062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تطوير سلسلة التصدير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0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1B7B4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3657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Analysis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029200" y="228600"/>
            <a:ext cx="3657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تحليل المخاطر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0" y="1097280"/>
            <a:ext cx="9144000" cy="45720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" y="1463040"/>
            <a:ext cx="8229600" cy="594360"/>
          </a:xfrm>
          <a:prstGeom prst="rect">
            <a:avLst/>
          </a:prstGeom>
          <a:solidFill>
            <a:srgbClr val="FFFFFF"/>
          </a:solidFill>
          <a:ln w="25400">
            <a:solidFill>
              <a:srgbClr val="D32F2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1554480"/>
            <a:ext cx="2286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Water Scarcity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40080" y="1783080"/>
            <a:ext cx="2286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نقص المياه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00400" y="1600200"/>
            <a:ext cx="1097280" cy="320040"/>
          </a:xfrm>
          <a:prstGeom prst="rect">
            <a:avLst/>
          </a:prstGeom>
          <a:solidFill>
            <a:srgbClr val="D32F2F"/>
          </a:solidFill>
          <a:ln/>
        </p:spPr>
      </p:sp>
      <p:sp>
        <p:nvSpPr>
          <p:cNvPr id="10" name="Text 8"/>
          <p:cNvSpPr/>
          <p:nvPr/>
        </p:nvSpPr>
        <p:spPr>
          <a:xfrm>
            <a:off x="3200400" y="1600200"/>
            <a:ext cx="1097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CRITICAL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480560" y="1554480"/>
            <a:ext cx="4023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 in efficient irrigation and water recycling technologies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4480560" y="1783080"/>
            <a:ext cx="4023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الاستثمار في تقنيات الري الفعالة وإعادة تدوير المياه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457200" y="2240280"/>
            <a:ext cx="8229600" cy="594360"/>
          </a:xfrm>
          <a:prstGeom prst="rect">
            <a:avLst/>
          </a:prstGeom>
          <a:solidFill>
            <a:srgbClr val="FFFFFF"/>
          </a:solidFill>
          <a:ln w="25400">
            <a:solidFill>
              <a:srgbClr val="F57C0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2331720"/>
            <a:ext cx="2286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Political Instability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40080" y="2560320"/>
            <a:ext cx="2286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عدم الاستقرار السياسي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200400" y="2377440"/>
            <a:ext cx="1097280" cy="320040"/>
          </a:xfrm>
          <a:prstGeom prst="rect">
            <a:avLst/>
          </a:prstGeom>
          <a:solidFill>
            <a:srgbClr val="F57C00"/>
          </a:solidFill>
          <a:ln/>
        </p:spPr>
      </p:sp>
      <p:sp>
        <p:nvSpPr>
          <p:cNvPr id="17" name="Text 15"/>
          <p:cNvSpPr/>
          <p:nvPr/>
        </p:nvSpPr>
        <p:spPr>
          <a:xfrm>
            <a:off x="3200400" y="2377440"/>
            <a:ext cx="1097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480560" y="2331720"/>
            <a:ext cx="4023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Establish partnerships with government entities for stability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4480560" y="2560320"/>
            <a:ext cx="4023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إنشاء شراكات مع الكيانات الحكومية للاستقرار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457200" y="3017520"/>
            <a:ext cx="8229600" cy="594360"/>
          </a:xfrm>
          <a:prstGeom prst="rect">
            <a:avLst/>
          </a:prstGeom>
          <a:solidFill>
            <a:srgbClr val="FFFFFF"/>
          </a:solidFill>
          <a:ln w="25400">
            <a:solidFill>
              <a:srgbClr val="F57C0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0080" y="3108960"/>
            <a:ext cx="2286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Infrastructure Gap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40080" y="3337560"/>
            <a:ext cx="2286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فجوة البنية التحتية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3200400" y="3154680"/>
            <a:ext cx="1097280" cy="320040"/>
          </a:xfrm>
          <a:prstGeom prst="rect">
            <a:avLst/>
          </a:prstGeom>
          <a:solidFill>
            <a:srgbClr val="F57C00"/>
          </a:solidFill>
          <a:ln/>
        </p:spPr>
      </p:sp>
      <p:sp>
        <p:nvSpPr>
          <p:cNvPr id="24" name="Text 22"/>
          <p:cNvSpPr/>
          <p:nvPr/>
        </p:nvSpPr>
        <p:spPr>
          <a:xfrm>
            <a:off x="3200400" y="3154680"/>
            <a:ext cx="1097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4480560" y="3108960"/>
            <a:ext cx="4023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Coordinate with local authorities on infrastructure development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4480560" y="3337560"/>
            <a:ext cx="4023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التنسيق مع السلطات المحلية في تطوير البنية التحتية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457200" y="3794760"/>
            <a:ext cx="8229600" cy="594360"/>
          </a:xfrm>
          <a:prstGeom prst="rect">
            <a:avLst/>
          </a:prstGeom>
          <a:solidFill>
            <a:srgbClr val="FFFFFF"/>
          </a:solidFill>
          <a:ln w="25400">
            <a:solidFill>
              <a:srgbClr val="FDD835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40080" y="3886200"/>
            <a:ext cx="2286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Farmer Resistance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640080" y="4114800"/>
            <a:ext cx="2286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مقاومة المزارعين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200400" y="3931920"/>
            <a:ext cx="1097280" cy="320040"/>
          </a:xfrm>
          <a:prstGeom prst="rect">
            <a:avLst/>
          </a:prstGeom>
          <a:solidFill>
            <a:srgbClr val="FDD835"/>
          </a:solidFill>
          <a:ln/>
        </p:spPr>
      </p:sp>
      <p:sp>
        <p:nvSpPr>
          <p:cNvPr id="31" name="Text 29"/>
          <p:cNvSpPr/>
          <p:nvPr/>
        </p:nvSpPr>
        <p:spPr>
          <a:xfrm>
            <a:off x="3200400" y="3931920"/>
            <a:ext cx="1097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MEDIUM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4480560" y="3886200"/>
            <a:ext cx="4023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 comprehensive farmer training and incentive programs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4480560" y="4114800"/>
            <a:ext cx="4023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تنفيذ برامج تدريب المزارعين والحوافز الشاملة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457200" y="4572000"/>
            <a:ext cx="8229600" cy="594360"/>
          </a:xfrm>
          <a:prstGeom prst="rect">
            <a:avLst/>
          </a:prstGeom>
          <a:solidFill>
            <a:srgbClr val="FFFFFF"/>
          </a:solidFill>
          <a:ln w="25400">
            <a:solidFill>
              <a:srgbClr val="FDD835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0080" y="4663440"/>
            <a:ext cx="2286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Currency Fluctuation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640080" y="4892040"/>
            <a:ext cx="2286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تقلب العملة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200400" y="4709160"/>
            <a:ext cx="1097280" cy="320040"/>
          </a:xfrm>
          <a:prstGeom prst="rect">
            <a:avLst/>
          </a:prstGeom>
          <a:solidFill>
            <a:srgbClr val="FDD835"/>
          </a:solidFill>
          <a:ln/>
        </p:spPr>
      </p:sp>
      <p:sp>
        <p:nvSpPr>
          <p:cNvPr id="38" name="Text 36"/>
          <p:cNvSpPr/>
          <p:nvPr/>
        </p:nvSpPr>
        <p:spPr>
          <a:xfrm>
            <a:off x="3200400" y="4709160"/>
            <a:ext cx="1097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MEDIUM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4480560" y="4663440"/>
            <a:ext cx="4023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hedging strategies and long-term contracts</a:t>
            </a:r>
            <a:endParaRPr lang="en-US" sz="800" dirty="0"/>
          </a:p>
        </p:txBody>
      </p:sp>
      <p:sp>
        <p:nvSpPr>
          <p:cNvPr id="40" name="Text 38"/>
          <p:cNvSpPr/>
          <p:nvPr/>
        </p:nvSpPr>
        <p:spPr>
          <a:xfrm>
            <a:off x="4480560" y="4892040"/>
            <a:ext cx="4023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استخدام استراتيجيات التحوط والعقود طويلة الأجل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0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1B7B4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3657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Success Factors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029200" y="228600"/>
            <a:ext cx="3657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عوامل النجاح الأساسية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0" y="1097280"/>
            <a:ext cx="9144000" cy="45720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" y="1463040"/>
            <a:ext cx="2651760" cy="2103120"/>
          </a:xfrm>
          <a:prstGeom prst="roundRect">
            <a:avLst>
              <a:gd name="adj" fmla="val 6522"/>
            </a:avLst>
          </a:prstGeom>
          <a:solidFill>
            <a:srgbClr val="F0F8F4"/>
          </a:solidFill>
          <a:ln w="25400">
            <a:solidFill>
              <a:srgbClr val="00D4A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60020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D4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594360" y="201168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7B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Government Support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94360" y="2313432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دعم حكومي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94360" y="2651760"/>
            <a:ext cx="23774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Alignment with national development goals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3291840" y="1463040"/>
            <a:ext cx="2651760" cy="2103120"/>
          </a:xfrm>
          <a:prstGeom prst="roundRect">
            <a:avLst>
              <a:gd name="adj" fmla="val 6522"/>
            </a:avLst>
          </a:prstGeom>
          <a:solidFill>
            <a:srgbClr val="F0F8F4"/>
          </a:solidFill>
          <a:ln w="25400">
            <a:solidFill>
              <a:srgbClr val="00D4A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91840" y="160020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D4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3429000" y="201168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7B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Community Engagement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3429000" y="2313432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تشرك المجتمع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429000" y="2651760"/>
            <a:ext cx="23774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Buy-in from farmers and local stakeholders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6126480" y="1463040"/>
            <a:ext cx="2651760" cy="2103120"/>
          </a:xfrm>
          <a:prstGeom prst="roundRect">
            <a:avLst>
              <a:gd name="adj" fmla="val 6522"/>
            </a:avLst>
          </a:prstGeom>
          <a:solidFill>
            <a:srgbClr val="F0F8F4"/>
          </a:solidFill>
          <a:ln w="25400">
            <a:solidFill>
              <a:srgbClr val="00D4A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126480" y="160020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D4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2800" dirty="0"/>
          </a:p>
        </p:txBody>
      </p:sp>
      <p:sp>
        <p:nvSpPr>
          <p:cNvPr id="18" name="Text 16"/>
          <p:cNvSpPr/>
          <p:nvPr/>
        </p:nvSpPr>
        <p:spPr>
          <a:xfrm>
            <a:off x="6263640" y="201168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7B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Technology Adaptation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263640" y="2313432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تكييف التكنولوجيا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263640" y="2651760"/>
            <a:ext cx="23774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Localization for Egyptian context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457200" y="3749040"/>
            <a:ext cx="2651760" cy="2103120"/>
          </a:xfrm>
          <a:prstGeom prst="roundRect">
            <a:avLst>
              <a:gd name="adj" fmla="val 6522"/>
            </a:avLst>
          </a:prstGeom>
          <a:solidFill>
            <a:srgbClr val="F0F8F4"/>
          </a:solidFill>
          <a:ln w="25400">
            <a:solidFill>
              <a:srgbClr val="00D4A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57200" y="388620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D4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2800" dirty="0"/>
          </a:p>
        </p:txBody>
      </p:sp>
      <p:sp>
        <p:nvSpPr>
          <p:cNvPr id="23" name="Text 21"/>
          <p:cNvSpPr/>
          <p:nvPr/>
        </p:nvSpPr>
        <p:spPr>
          <a:xfrm>
            <a:off x="594360" y="429768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7B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Financial Sustainability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594360" y="4599432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الاستدامة المالية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594360" y="4937760"/>
            <a:ext cx="23774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Clear revenue models and ROI timelines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3291840" y="3749040"/>
            <a:ext cx="2651760" cy="2103120"/>
          </a:xfrm>
          <a:prstGeom prst="roundRect">
            <a:avLst>
              <a:gd name="adj" fmla="val 6522"/>
            </a:avLst>
          </a:prstGeom>
          <a:solidFill>
            <a:srgbClr val="F0F8F4"/>
          </a:solidFill>
          <a:ln w="25400">
            <a:solidFill>
              <a:srgbClr val="00D4A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291840" y="388620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D4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2800" dirty="0"/>
          </a:p>
        </p:txBody>
      </p:sp>
      <p:sp>
        <p:nvSpPr>
          <p:cNvPr id="28" name="Text 26"/>
          <p:cNvSpPr/>
          <p:nvPr/>
        </p:nvSpPr>
        <p:spPr>
          <a:xfrm>
            <a:off x="3429000" y="429768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7B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Environmental Focus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3429000" y="4599432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التركيز البيئي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3429000" y="4937760"/>
            <a:ext cx="23774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Water conservation and soil health priorities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6126480" y="3749040"/>
            <a:ext cx="2651760" cy="2103120"/>
          </a:xfrm>
          <a:prstGeom prst="roundRect">
            <a:avLst>
              <a:gd name="adj" fmla="val 6522"/>
            </a:avLst>
          </a:prstGeom>
          <a:solidFill>
            <a:srgbClr val="F0F8F4"/>
          </a:solidFill>
          <a:ln w="25400">
            <a:solidFill>
              <a:srgbClr val="00D4AA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126480" y="388620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D4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2800" dirty="0"/>
          </a:p>
        </p:txBody>
      </p:sp>
      <p:sp>
        <p:nvSpPr>
          <p:cNvPr id="33" name="Text 31"/>
          <p:cNvSpPr/>
          <p:nvPr/>
        </p:nvSpPr>
        <p:spPr>
          <a:xfrm>
            <a:off x="6263640" y="429768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7B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Capacity Building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6263640" y="4599432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بناء القدرات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6263640" y="4937760"/>
            <a:ext cx="23774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Continuous training and knowledge transfer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0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1B7B4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3657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 &amp; Next Steps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029200" y="228600"/>
            <a:ext cx="3657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الخلاصة والخطوات التالية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0" y="1097280"/>
            <a:ext cx="9144000" cy="45720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" y="1371600"/>
            <a:ext cx="8229600" cy="1097280"/>
          </a:xfrm>
          <a:prstGeom prst="rect">
            <a:avLst/>
          </a:prstGeom>
          <a:solidFill>
            <a:srgbClr val="1B7B4A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1508760"/>
            <a:ext cx="7863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Egypt presents a significant agricultural market opportunity with growing demand for sustainable solutions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40080" y="2606040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D4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مصر تقدم فرصة سوق زراعية كبيرة مع الطلب المتزايد على الحلول المستدامة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3474720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7B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Recommended Next Steps: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40080" y="39319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Schedule reconnaissance mission to key agricultural regions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40080" y="429768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Establish initial meetings with government ministry contacts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40080" y="46634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Conduct detailed financial feasibility analysis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0080" y="50292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Develop detailed market entry roadmap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640080" y="539496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Identify potential local partnership candidates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754880" y="3474720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B7B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الخطوات التالية الموصى بها: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754880" y="3931920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جدولة مهمة استطلاعية للمناطق الزراعية الرئيسية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754880" y="4297680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إنشاء اجتماعات أولية مع جهات الاتصال الحكومية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754880" y="4663440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إجراء تحليل جدوى مالي مفصل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4754880" y="5029200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تطوير خريطة طريق مفصلة لدخول السوق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754880" y="5394960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تحديد المرشحين المحليين للشراكة المحتملين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457200" y="62179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Contact: Green Solutions Development Team | September 2026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2026-09-14T06:51:21Z</dcterms:created>
  <dcterms:modified xsi:type="dcterms:W3CDTF">2026-09-14T06:51:21Z</dcterms:modified>
</cp:coreProperties>
</file>