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4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مؤشر عالمي لعدد فترات الجفاف ومدتها</c:v>
                </c:pt>
              </c:strCache>
            </c:strRef>
          </c:tx>
          <c:spPr>
            <a:solidFill>
              <a:srgbClr val="1C5A73"/>
            </a:solidFill>
            <a:effectLst/>
          </c:spPr>
          <c:invertIfNegative val="0"/>
          <c:dLbls>
            <c:numFmt formatCode="[$-401]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dPt>
            <c:idx val="0"/>
            <c:invertIfNegative val="0"/>
            <c:bubble3D val="0"/>
            <c:spPr>
              <a:solidFill>
                <a:srgbClr val="1C5A73"/>
              </a:solidFill>
              <a:effectLst/>
            </c:spPr>
          </c:dPt>
          <c:dPt>
            <c:idx val="1"/>
            <c:invertIfNegative val="0"/>
            <c:bubble3D val="0"/>
            <c:spPr>
              <a:solidFill>
                <a:srgbClr val="E0A33E"/>
              </a:solidFill>
              <a:effectLst/>
            </c:spPr>
          </c:dPt>
          <c:cat>
            <c:multiLvlStrRef>
              <c:f>Sheet1!$A$2:$A$3</c:f>
              <c:multiLvlStrCache>
                <c:ptCount val="2"/>
                <c:lvl>
                  <c:pt idx="0">
                    <c:v>1980–1999</c:v>
                  </c:pt>
                  <c:pt idx="1">
                    <c:v>منذ 2000</c:v>
                  </c:pt>
                </c:lvl>
              </c:multiLvlStrCache>
            </c:multiLvlStrRef>
          </c:cat>
          <c:val>
            <c:numRef>
              <c:f>Sheet1!$B$2:$B$3</c:f>
              <c:numCache>
                <c:formatCode>General</c:formatCode>
                <c:ptCount val="2"/>
                <c:pt idx="0">
                  <c:v>100</c:v>
                </c:pt>
                <c:pt idx="1">
                  <c:v>129</c:v>
                </c:pt>
              </c:numCache>
            </c:numRef>
          </c:val>
        </c:ser>
        <c:dLbls>
          <c:numFmt formatCode="[$-401]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سحب المياه</c:v>
                </c:pt>
              </c:strCache>
            </c:strRef>
          </c:tx>
          <c:spPr>
            <a:solidFill>
              <a:schemeClr val="accent1"/>
            </a:solidFill>
            <a:ln w="9525" cap="flat">
              <a:solidFill>
                <a:srgbClr val="F9F9F9"/>
              </a:solidFill>
              <a:prstDash val="solid"/>
              <a:round/>
            </a:ln>
            <a:effectLst/>
          </c:spPr>
          <c:dPt>
            <c:idx val="0"/>
            <c:bubble3D val="0"/>
            <c:spPr>
              <a:solidFill>
                <a:srgbClr val="1C5A73"/>
              </a:solidFill>
              <a:effectLst/>
            </c:spPr>
          </c:dPt>
          <c:dPt>
            <c:idx val="1"/>
            <c:bubble3D val="0"/>
            <c:spPr>
              <a:solidFill>
                <a:srgbClr val="E0A33E"/>
              </a:solidFill>
              <a:effectLst/>
            </c:spPr>
          </c:dPt>
          <c:dPt>
            <c:idx val="2"/>
            <c:bubble3D val="0"/>
            <c:spPr>
              <a:solidFill>
                <a:srgbClr val="5E93A8"/>
              </a:solidFill>
              <a:effectLst/>
            </c:spPr>
          </c:dPt>
          <c:dLbls>
            <c:dLbl>
              <c:idx val="0"/>
              <c:numFmt formatCode="[$-401]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401]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401]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401]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الزراعة</c:v>
                </c:pt>
                <c:pt idx="1">
                  <c:v>مياه الشرب</c:v>
                </c:pt>
                <c:pt idx="2">
                  <c:v>الصناعة</c:v>
                </c:pt>
              </c:strCache>
            </c:strRef>
          </c:cat>
          <c:val>
            <c:numRef>
              <c:f>Sheet1!$B$2:$B$4</c:f>
              <c:numCache>
                <c:ptCount val="3"/>
                <c:pt idx="0">
                  <c:v>80</c:v>
                </c:pt>
                <c:pt idx="1">
                  <c:v>12</c:v>
                </c:pt>
                <c:pt idx="2">
                  <c:v>8</c:v>
                </c:pt>
              </c:numCache>
            </c:numRef>
          </c:val>
        </c:ser>
        <c:firstSliceAng val="0"/>
        <c:holeSize val="55"/>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الإنتاج السنوي (مليون طن)</c:v>
                </c:pt>
              </c:strCache>
            </c:strRef>
          </c:tx>
          <c:spPr>
            <a:solidFill>
              <a:srgbClr val="1C5A73"/>
            </a:solidFill>
            <a:effectLst/>
          </c:spPr>
          <c:invertIfNegative val="0"/>
          <c:dLbls>
            <c:numFmt formatCode="[$-401]0.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dPt>
            <c:idx val="0"/>
            <c:invertIfNegative val="0"/>
            <c:bubble3D val="0"/>
            <c:spPr>
              <a:solidFill>
                <a:srgbClr val="1C5A73"/>
              </a:solidFill>
              <a:effectLst/>
            </c:spPr>
          </c:dPt>
          <c:dPt>
            <c:idx val="1"/>
            <c:invertIfNegative val="0"/>
            <c:bubble3D val="0"/>
            <c:spPr>
              <a:solidFill>
                <a:srgbClr val="E0A33E"/>
              </a:solidFill>
              <a:effectLst/>
            </c:spPr>
          </c:dPt>
          <c:dPt>
            <c:idx val="2"/>
            <c:invertIfNegative val="0"/>
            <c:bubble3D val="0"/>
            <c:spPr>
              <a:solidFill>
                <a:srgbClr val="5E93A8"/>
              </a:solidFill>
              <a:effectLst/>
            </c:spPr>
          </c:dPt>
          <c:dPt>
            <c:idx val="3"/>
            <c:invertIfNegative val="0"/>
            <c:bubble3D val="0"/>
            <c:spPr>
              <a:solidFill>
                <a:srgbClr val="C2703A"/>
              </a:solidFill>
              <a:effectLst/>
            </c:spPr>
          </c:dPt>
          <c:dPt>
            <c:idx val="4"/>
            <c:invertIfNegative val="0"/>
            <c:bubble3D val="0"/>
            <c:spPr>
              <a:solidFill>
                <a:srgbClr val="3C7285"/>
              </a:solidFill>
              <a:effectLst/>
            </c:spPr>
          </c:dPt>
          <c:cat>
            <c:multiLvlStrRef>
              <c:f>Sheet1!$A$2:$A$6</c:f>
              <c:multiLvlStrCache>
                <c:ptCount val="5"/>
                <c:lvl>
                  <c:pt idx="0">
                    <c:v>قصب السكر</c:v>
                  </c:pt>
                  <c:pt idx="1">
                    <c:v>القمح</c:v>
                  </c:pt>
                  <c:pt idx="2">
                    <c:v>الذرة</c:v>
                  </c:pt>
                  <c:pt idx="3">
                    <c:v>الطماطم</c:v>
                  </c:pt>
                  <c:pt idx="4">
                    <c:v>الموالح</c:v>
                  </c:pt>
                </c:lvl>
              </c:multiLvlStrCache>
            </c:multiLvlStrRef>
          </c:cat>
          <c:val>
            <c:numRef>
              <c:f>Sheet1!$B$2:$B$6</c:f>
              <c:numCache>
                <c:formatCode>General</c:formatCode>
                <c:ptCount val="5"/>
                <c:pt idx="0">
                  <c:v>16</c:v>
                </c:pt>
                <c:pt idx="1">
                  <c:v>9</c:v>
                </c:pt>
                <c:pt idx="2">
                  <c:v>7.5</c:v>
                </c:pt>
                <c:pt idx="3">
                  <c:v>6.3</c:v>
                </c:pt>
                <c:pt idx="4">
                  <c:v>4</c:v>
                </c:pt>
              </c:numCache>
            </c:numRef>
          </c:val>
        </c:ser>
        <c:dLbls>
          <c:numFmt formatCode="[$-401]0.0"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الحد الأدنى (%)</c:v>
                </c:pt>
              </c:strCache>
            </c:strRef>
          </c:tx>
          <c:spPr>
            <a:solidFill>
              <a:srgbClr val="1C5A73"/>
            </a:solidFill>
            <a:effectLst/>
          </c:spPr>
          <c:invertIfNegative val="0"/>
          <c:dLbls>
            <c:numFmt formatCode="[$-401]0&quot;%&quot;" sourceLinked="0"/>
            <c:txPr>
              <a:bodyPr/>
              <a:lstStyle/>
              <a:p>
                <a:pPr>
                  <a:defRPr b="0" i="0" strike="noStrike" sz="1100" u="none">
                    <a:solidFill>
                      <a:srgbClr val="0E3546"/>
                    </a:solidFill>
                    <a:latin typeface="Arial"/>
                  </a:defRPr>
                </a:pPr>
              </a:p>
            </c:txPr>
            <c:showLegendKey val="0"/>
            <c:showVal val="1"/>
            <c:showCatName val="0"/>
            <c:showSerName val="0"/>
            <c:showPercent val="0"/>
            <c:showBubbleSize val="0"/>
            <c:showLeaderLines val="0"/>
          </c:dLbls>
          <c:cat>
            <c:multiLvlStrRef>
              <c:f>Sheet1!$A$2:$A$6</c:f>
              <c:multiLvlStrCache>
                <c:ptCount val="5"/>
                <c:lvl>
                  <c:pt idx="0">
                    <c:v>الطماطم</c:v>
                  </c:pt>
                  <c:pt idx="1">
                    <c:v>البطاطس</c:v>
                  </c:pt>
                  <c:pt idx="2">
                    <c:v>الحمضيات</c:v>
                  </c:pt>
                  <c:pt idx="3">
                    <c:v>العنب</c:v>
                  </c:pt>
                  <c:pt idx="4">
                    <c:v>قصب السكر</c:v>
                  </c:pt>
                </c:lvl>
              </c:multiLvlStrCache>
            </c:multiLvlStrRef>
          </c:cat>
          <c:val>
            <c:numRef>
              <c:f>Sheet1!$B$2:$B$6</c:f>
              <c:numCache>
                <c:formatCode>General</c:formatCode>
                <c:ptCount val="5"/>
                <c:pt idx="0">
                  <c:v>30</c:v>
                </c:pt>
                <c:pt idx="1">
                  <c:v>20</c:v>
                </c:pt>
                <c:pt idx="2">
                  <c:v>20</c:v>
                </c:pt>
                <c:pt idx="3">
                  <c:v>20</c:v>
                </c:pt>
                <c:pt idx="4">
                  <c:v>10</c:v>
                </c:pt>
              </c:numCache>
            </c:numRef>
          </c:val>
        </c:ser>
        <c:ser>
          <c:idx val="1"/>
          <c:order val="1"/>
          <c:tx>
            <c:strRef>
              <c:f>Sheet1!$C$1</c:f>
              <c:strCache>
                <c:ptCount val="1"/>
                <c:pt idx="0">
                  <c:v>الحد الأعلى (%)</c:v>
                </c:pt>
              </c:strCache>
            </c:strRef>
          </c:tx>
          <c:spPr>
            <a:solidFill>
              <a:srgbClr val="E0A33E"/>
            </a:solidFill>
            <a:effectLst/>
          </c:spPr>
          <c:invertIfNegative val="0"/>
          <c:dLbls>
            <c:numFmt formatCode="[$-401]0&quot;%&quot;" sourceLinked="0"/>
            <c:txPr>
              <a:bodyPr/>
              <a:lstStyle/>
              <a:p>
                <a:pPr>
                  <a:defRPr b="0" i="0" strike="noStrike" sz="1100" u="none">
                    <a:solidFill>
                      <a:srgbClr val="0E3546"/>
                    </a:solidFill>
                    <a:latin typeface="Arial"/>
                  </a:defRPr>
                </a:pPr>
              </a:p>
            </c:txPr>
            <c:showLegendKey val="0"/>
            <c:showVal val="1"/>
            <c:showCatName val="0"/>
            <c:showSerName val="0"/>
            <c:showPercent val="0"/>
            <c:showBubbleSize val="0"/>
            <c:showLeaderLines val="0"/>
          </c:dLbls>
          <c:cat>
            <c:multiLvlStrRef>
              <c:f>Sheet1!$A$2:$A$6</c:f>
              <c:multiLvlStrCache>
                <c:ptCount val="5"/>
                <c:lvl>
                  <c:pt idx="0">
                    <c:v>الطماطم</c:v>
                  </c:pt>
                  <c:pt idx="1">
                    <c:v>البطاطس</c:v>
                  </c:pt>
                  <c:pt idx="2">
                    <c:v>الحمضيات</c:v>
                  </c:pt>
                  <c:pt idx="3">
                    <c:v>العنب</c:v>
                  </c:pt>
                  <c:pt idx="4">
                    <c:v>قصب السكر</c:v>
                  </c:pt>
                </c:lvl>
              </c:multiLvlStrCache>
            </c:multiLvlStrRef>
          </c:cat>
          <c:val>
            <c:numRef>
              <c:f>Sheet1!$C$2:$C$6</c:f>
              <c:numCache>
                <c:formatCode>General</c:formatCode>
                <c:ptCount val="5"/>
                <c:pt idx="0">
                  <c:v>50</c:v>
                </c:pt>
                <c:pt idx="1">
                  <c:v>40</c:v>
                </c:pt>
                <c:pt idx="2">
                  <c:v>40</c:v>
                </c:pt>
                <c:pt idx="3">
                  <c:v>40</c:v>
                </c:pt>
                <c:pt idx="4">
                  <c:v>20</c:v>
                </c:pt>
              </c:numCache>
            </c:numRef>
          </c:val>
        </c:ser>
        <c:dLbls>
          <c:numFmt formatCode="[$-401]0&quot;%&quot;" sourceLinked="0"/>
          <c:txPr>
            <a:bodyPr/>
            <a:lstStyle/>
            <a:p>
              <a:pPr>
                <a:defRPr b="0" i="0" strike="noStrike" sz="1100" u="none">
                  <a:solidFill>
                    <a:srgbClr val="0E354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الحد الأدنى (%)</c:v>
                </c:pt>
              </c:strCache>
            </c:strRef>
          </c:tx>
          <c:spPr>
            <a:solidFill>
              <a:srgbClr val="1C5A73"/>
            </a:solidFill>
            <a:effectLst/>
          </c:spPr>
          <c:invertIfNegative val="0"/>
          <c:dLbls>
            <c:numFmt formatCode="[$-401]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cat>
            <c:multiLvlStrRef>
              <c:f>Sheet1!$A$2:$A$5</c:f>
              <c:multiLvlStrCache>
                <c:ptCount val="4"/>
                <c:lvl>
                  <c:pt idx="0">
                    <c:v>الري بالغمر</c:v>
                  </c:pt>
                  <c:pt idx="1">
                    <c:v>الري بالتنقيط</c:v>
                  </c:pt>
                  <c:pt idx="2">
                    <c:v>الري بالرش</c:v>
                  </c:pt>
                  <c:pt idx="3">
                    <c:v>الري بالمحاور</c:v>
                  </c:pt>
                </c:lvl>
              </c:multiLvlStrCache>
            </c:multiLvlStrRef>
          </c:cat>
          <c:val>
            <c:numRef>
              <c:f>Sheet1!$B$2:$B$5</c:f>
              <c:numCache>
                <c:formatCode>General</c:formatCode>
                <c:ptCount val="4"/>
                <c:pt idx="0">
                  <c:v>55</c:v>
                </c:pt>
                <c:pt idx="1">
                  <c:v>40</c:v>
                </c:pt>
                <c:pt idx="2">
                  <c:v>50</c:v>
                </c:pt>
                <c:pt idx="3">
                  <c:v>50</c:v>
                </c:pt>
              </c:numCache>
            </c:numRef>
          </c:val>
        </c:ser>
        <c:ser>
          <c:idx val="1"/>
          <c:order val="1"/>
          <c:tx>
            <c:strRef>
              <c:f>Sheet1!$C$1</c:f>
              <c:strCache>
                <c:ptCount val="1"/>
                <c:pt idx="0">
                  <c:v>الحد الأعلى (%)</c:v>
                </c:pt>
              </c:strCache>
            </c:strRef>
          </c:tx>
          <c:spPr>
            <a:solidFill>
              <a:srgbClr val="E0A33E"/>
            </a:solidFill>
            <a:effectLst/>
          </c:spPr>
          <c:invertIfNegative val="0"/>
          <c:dLbls>
            <c:numFmt formatCode="[$-401]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cat>
            <c:multiLvlStrRef>
              <c:f>Sheet1!$A$2:$A$5</c:f>
              <c:multiLvlStrCache>
                <c:ptCount val="4"/>
                <c:lvl>
                  <c:pt idx="0">
                    <c:v>الري بالغمر</c:v>
                  </c:pt>
                  <c:pt idx="1">
                    <c:v>الري بالتنقيط</c:v>
                  </c:pt>
                  <c:pt idx="2">
                    <c:v>الري بالرش</c:v>
                  </c:pt>
                  <c:pt idx="3">
                    <c:v>الري بالمحاور</c:v>
                  </c:pt>
                </c:lvl>
              </c:multiLvlStrCache>
            </c:multiLvlStrRef>
          </c:cat>
          <c:val>
            <c:numRef>
              <c:f>Sheet1!$C$2:$C$5</c:f>
              <c:numCache>
                <c:formatCode>General</c:formatCode>
                <c:ptCount val="4"/>
                <c:pt idx="0">
                  <c:v>70</c:v>
                </c:pt>
                <c:pt idx="1">
                  <c:v>55</c:v>
                </c:pt>
                <c:pt idx="2">
                  <c:v>65</c:v>
                </c:pt>
                <c:pt idx="3">
                  <c:v>65</c:v>
                </c:pt>
              </c:numCache>
            </c:numRef>
          </c:val>
        </c:ser>
        <c:dLbls>
          <c:numFmt formatCode="[$-401]0&quot;%&quot;" sourceLinked="0"/>
          <c:txPr>
            <a:bodyPr/>
            <a:lstStyle/>
            <a:p>
              <a:pPr>
                <a:defRPr b="0" i="0" strike="noStrike" sz="1100" u="none">
                  <a:solidFill>
                    <a:srgbClr val="0E3546"/>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6E2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089"/>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6.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918911" cy="6858000"/>
          </a:xfrm>
          <a:prstGeom prst="rect">
            <a:avLst/>
          </a:prstGeom>
        </p:spPr>
      </p:pic>
      <p:sp>
        <p:nvSpPr>
          <p:cNvPr id="3" name="Shape 0"/>
          <p:cNvSpPr/>
          <p:nvPr/>
        </p:nvSpPr>
        <p:spPr>
          <a:xfrm>
            <a:off x="5918911" y="0"/>
            <a:ext cx="6272784" cy="6858000"/>
          </a:xfrm>
          <a:prstGeom prst="rect">
            <a:avLst/>
          </a:prstGeom>
          <a:solidFill>
            <a:srgbClr val="0D0D0D"/>
          </a:solidFill>
          <a:ln/>
        </p:spPr>
      </p:sp>
      <p:sp>
        <p:nvSpPr>
          <p:cNvPr id="4" name="Text 1"/>
          <p:cNvSpPr txBox="1"/>
          <p:nvPr/>
        </p:nvSpPr>
        <p:spPr>
          <a:xfrm>
            <a:off x="6577279" y="566928"/>
            <a:ext cx="4041648" cy="292608"/>
          </a:xfrm>
          <a:prstGeom prst="rect">
            <a:avLst/>
          </a:prstGeom>
          <a:noFill/>
          <a:ln/>
        </p:spPr>
        <p:txBody>
          <a:bodyPr wrap="square" lIns="0" tIns="0" rIns="0" bIns="0" rtlCol="0" anchor="ctr"/>
          <a:lstStyle/>
          <a:p>
            <a:pPr rtl="1" algn="r" indent="0" marL="0">
              <a:buNone/>
            </a:pPr>
            <a:r>
              <a:rPr lang="en-US" sz="1100" b="1" spc="80" kern="0" dirty="0">
                <a:solidFill>
                  <a:srgbClr val="8BC34A"/>
                </a:solidFill>
                <a:latin typeface="Arial" pitchFamily="34" charset="0"/>
                <a:ea typeface="Arial" pitchFamily="34" charset="-122"/>
                <a:cs typeface="Arial"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6577279" y="457200"/>
            <a:ext cx="603504" cy="603504"/>
          </a:xfrm>
          <a:prstGeom prst="rect">
            <a:avLst/>
          </a:prstGeom>
        </p:spPr>
      </p:pic>
      <p:pic>
        <p:nvPicPr>
          <p:cNvPr id="6" name="Image 2" descr="/home/claude/green-solutions-web/scripts/dossiers/drapeaux/egypte.png">    </p:cNvPr>
          <p:cNvPicPr>
            <a:picLocks noChangeAspect="1"/>
          </p:cNvPicPr>
          <p:nvPr/>
        </p:nvPicPr>
        <p:blipFill>
          <a:blip r:embed="rId3"/>
          <a:stretch>
            <a:fillRect/>
          </a:stretch>
        </p:blipFill>
        <p:spPr>
          <a:xfrm>
            <a:off x="6577279" y="1389888"/>
            <a:ext cx="1964425" cy="1310640"/>
          </a:xfrm>
          <a:prstGeom prst="rect">
            <a:avLst/>
          </a:prstGeom>
        </p:spPr>
      </p:pic>
      <p:sp>
        <p:nvSpPr>
          <p:cNvPr id="7" name="Shape 2"/>
          <p:cNvSpPr/>
          <p:nvPr/>
        </p:nvSpPr>
        <p:spPr>
          <a:xfrm>
            <a:off x="6577279" y="1389888"/>
            <a:ext cx="1964425" cy="1310640"/>
          </a:xfrm>
          <a:prstGeom prst="rect">
            <a:avLst/>
          </a:prstGeom>
          <a:ln w="9525">
            <a:solidFill>
              <a:srgbClr val="3A3A3A"/>
            </a:solidFill>
            <a:prstDash val="solid"/>
          </a:ln>
        </p:spPr>
      </p:sp>
      <p:sp>
        <p:nvSpPr>
          <p:cNvPr id="8" name="Text 3"/>
          <p:cNvSpPr txBox="1"/>
          <p:nvPr/>
        </p:nvSpPr>
        <p:spPr>
          <a:xfrm>
            <a:off x="8771839" y="1298448"/>
            <a:ext cx="2761488" cy="1234440"/>
          </a:xfrm>
          <a:prstGeom prst="rect">
            <a:avLst/>
          </a:prstGeom>
          <a:noFill/>
          <a:ln/>
        </p:spPr>
        <p:txBody>
          <a:bodyPr wrap="square" lIns="0" tIns="0" rIns="0" bIns="0" rtlCol="0" anchor="t"/>
          <a:lstStyle/>
          <a:p>
            <a:pPr rtl="1" algn="r" indent="0" marL="0">
              <a:lnSpc>
                <a:spcPct val="110000"/>
              </a:lnSpc>
              <a:buNone/>
            </a:pPr>
            <a:r>
              <a:rPr lang="en-US" sz="2800" b="1" dirty="0">
                <a:solidFill>
                  <a:srgbClr val="FFFFFF"/>
                </a:solidFill>
                <a:latin typeface="Arial" pitchFamily="34" charset="0"/>
                <a:ea typeface="Arial" pitchFamily="34" charset="-122"/>
                <a:cs typeface="Arial" pitchFamily="34" charset="-120"/>
              </a:rPr>
              <a:t>جمهورية مصر العربية</a:t>
            </a:r>
            <a:endParaRPr lang="en-US" sz="2800" dirty="0"/>
          </a:p>
        </p:txBody>
      </p:sp>
      <p:sp>
        <p:nvSpPr>
          <p:cNvPr id="9" name="Shape 4"/>
          <p:cNvSpPr/>
          <p:nvPr/>
        </p:nvSpPr>
        <p:spPr>
          <a:xfrm>
            <a:off x="8744407" y="2889504"/>
            <a:ext cx="2788920" cy="45720"/>
          </a:xfrm>
          <a:prstGeom prst="rect">
            <a:avLst/>
          </a:prstGeom>
          <a:solidFill>
            <a:srgbClr val="E0A33E"/>
          </a:solidFill>
          <a:ln/>
        </p:spPr>
      </p:sp>
      <p:sp>
        <p:nvSpPr>
          <p:cNvPr id="10" name="Text 5"/>
          <p:cNvSpPr txBox="1"/>
          <p:nvPr/>
        </p:nvSpPr>
        <p:spPr>
          <a:xfrm>
            <a:off x="6577279" y="3163824"/>
            <a:ext cx="4956048" cy="384048"/>
          </a:xfrm>
          <a:prstGeom prst="rect">
            <a:avLst/>
          </a:prstGeom>
          <a:noFill/>
          <a:ln/>
        </p:spPr>
        <p:txBody>
          <a:bodyPr wrap="square" lIns="0" tIns="0" rIns="0" bIns="0" rtlCol="0" anchor="ctr"/>
          <a:lstStyle/>
          <a:p>
            <a:pPr rtl="1" algn="r" indent="0" marL="0">
              <a:buNone/>
            </a:pPr>
            <a:r>
              <a:rPr lang="en-US" sz="1600" b="1" dirty="0">
                <a:solidFill>
                  <a:srgbClr val="E0A33E"/>
                </a:solidFill>
                <a:latin typeface="Arial" pitchFamily="34" charset="0"/>
                <a:ea typeface="Arial" pitchFamily="34" charset="-122"/>
                <a:cs typeface="Arial" pitchFamily="34" charset="-120"/>
              </a:rPr>
              <a:t>القاهرة · 2026</a:t>
            </a:r>
            <a:endParaRPr lang="en-US" sz="1600" dirty="0"/>
          </a:p>
        </p:txBody>
      </p:sp>
      <p:sp>
        <p:nvSpPr>
          <p:cNvPr id="11" name="Text 6"/>
          <p:cNvSpPr txBox="1"/>
          <p:nvPr/>
        </p:nvSpPr>
        <p:spPr>
          <a:xfrm>
            <a:off x="6577279" y="3767328"/>
            <a:ext cx="4956048" cy="914400"/>
          </a:xfrm>
          <a:prstGeom prst="rect">
            <a:avLst/>
          </a:prstGeom>
          <a:noFill/>
          <a:ln/>
        </p:spPr>
        <p:txBody>
          <a:bodyPr wrap="square" lIns="0" tIns="0" rIns="0" bIns="0" rtlCol="0" anchor="t"/>
          <a:lstStyle/>
          <a:p>
            <a:pPr rtl="1" algn="r" indent="0" marL="0">
              <a:lnSpc>
                <a:spcPct val="128000"/>
              </a:lnSpc>
              <a:buNone/>
            </a:pPr>
            <a:r>
              <a:rPr lang="en-US" sz="1450" dirty="0">
                <a:solidFill>
                  <a:srgbClr val="FFFFFF"/>
                </a:solidFill>
                <a:latin typeface="Arial" pitchFamily="34" charset="0"/>
                <a:ea typeface="Arial" pitchFamily="34" charset="-122"/>
                <a:cs typeface="Arial" pitchFamily="34" charset="-120"/>
              </a:rPr>
              <a:t>زراعة مروية بالكامل تعتمد على نهر واحد وحصة مائية ثابتة.</a:t>
            </a:r>
            <a:endParaRPr lang="en-US" sz="1450" dirty="0"/>
          </a:p>
          <a:p>
            <a:pPr rtl="1" algn="r" indent="0" marL="0">
              <a:lnSpc>
                <a:spcPct val="128000"/>
              </a:lnSpc>
              <a:buNone/>
            </a:pPr>
            <a:r>
              <a:rPr lang="en-US" sz="1450" dirty="0">
                <a:solidFill>
                  <a:srgbClr val="FFFFFF"/>
                </a:solidFill>
                <a:latin typeface="Arial" pitchFamily="34" charset="0"/>
                <a:ea typeface="Arial" pitchFamily="34" charset="-122"/>
                <a:cs typeface="Arial" pitchFamily="34" charset="-120"/>
              </a:rPr>
              <a:t>ما الذي يغيّره احتباس الماء في التربة لمنتج يصدّر إلى أوروبا والخليج.</a:t>
            </a:r>
            <a:endParaRPr lang="en-US" sz="1450" dirty="0"/>
          </a:p>
        </p:txBody>
      </p:sp>
      <p:sp>
        <p:nvSpPr>
          <p:cNvPr id="12" name="Text 7"/>
          <p:cNvSpPr txBox="1"/>
          <p:nvPr/>
        </p:nvSpPr>
        <p:spPr>
          <a:xfrm>
            <a:off x="6577279" y="4892040"/>
            <a:ext cx="4956048" cy="347472"/>
          </a:xfrm>
          <a:prstGeom prst="rect">
            <a:avLst/>
          </a:prstGeom>
          <a:noFill/>
          <a:ln/>
        </p:spPr>
        <p:txBody>
          <a:bodyPr wrap="square" lIns="0" tIns="0" rIns="0" bIns="0" rtlCol="0" anchor="ctr"/>
          <a:lstStyle/>
          <a:p>
            <a:pPr rtl="1" algn="r" indent="0" marL="0">
              <a:buNone/>
            </a:pPr>
            <a:r>
              <a:rPr lang="en-US" sz="1100" b="1" dirty="0">
                <a:solidFill>
                  <a:srgbClr val="8BC34A"/>
                </a:solidFill>
                <a:latin typeface="Arial" pitchFamily="34" charset="0"/>
                <a:ea typeface="Arial" pitchFamily="34" charset="-122"/>
                <a:cs typeface="Arial" pitchFamily="34" charset="-120"/>
              </a:rPr>
              <a:t>ECOSORB® · ECOFERT® · NAPEMA® · PAULOWNIA</a:t>
            </a:r>
            <a:endParaRPr lang="en-US" sz="1100" dirty="0"/>
          </a:p>
        </p:txBody>
      </p:sp>
      <p:sp>
        <p:nvSpPr>
          <p:cNvPr id="13" name="Text 8"/>
          <p:cNvSpPr txBox="1"/>
          <p:nvPr/>
        </p:nvSpPr>
        <p:spPr>
          <a:xfrm>
            <a:off x="6577279" y="6053328"/>
            <a:ext cx="4956048" cy="310896"/>
          </a:xfrm>
          <a:prstGeom prst="rect">
            <a:avLst/>
          </a:prstGeom>
          <a:noFill/>
          <a:ln/>
        </p:spPr>
        <p:txBody>
          <a:bodyPr wrap="square" lIns="0" tIns="0" rIns="0" bIns="0" rtlCol="0" anchor="ctr"/>
          <a:lstStyle/>
          <a:p>
            <a:pPr rtl="1" algn="r" indent="0" marL="0">
              <a:buNone/>
            </a:pPr>
            <a:r>
              <a:rPr lang="en-US" sz="850" dirty="0">
                <a:solidFill>
                  <a:srgbClr val="9A9A9A"/>
                </a:solidFill>
                <a:latin typeface="Arial" pitchFamily="34" charset="0"/>
                <a:ea typeface="Arial" pitchFamily="34" charset="-122"/>
                <a:cs typeface="Arial" pitchFamily="34" charset="-120"/>
              </a:rPr>
              <a:t>سبتمبر 2026 · وثيقة سرية · للاستخدام الحصري للمرسل إليه</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السوق في سطور</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بلد زراعي كبير على حصة مائية ثابتة</a:t>
            </a:r>
            <a:endParaRPr lang="en-US" sz="3000" dirty="0"/>
          </a:p>
        </p:txBody>
      </p:sp>
      <p:sp>
        <p:nvSpPr>
          <p:cNvPr id="4" name="Shape 2"/>
          <p:cNvSpPr/>
          <p:nvPr/>
        </p:nvSpPr>
        <p:spPr>
          <a:xfrm>
            <a:off x="594360" y="1874520"/>
            <a:ext cx="2545004" cy="2514600"/>
          </a:xfrm>
          <a:prstGeom prst="roundRect">
            <a:avLst>
              <a:gd name="adj" fmla="val 3636"/>
            </a:avLst>
          </a:prstGeom>
          <a:solidFill>
            <a:srgbClr val="EDF3F5"/>
          </a:solidFill>
          <a:ln w="9525">
            <a:solidFill>
              <a:srgbClr val="D6E2E7"/>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rtl="1" algn="ctr" indent="0" marL="0">
              <a:buNone/>
            </a:pPr>
            <a:r>
              <a:rPr lang="en-US" sz="3800" b="1" dirty="0">
                <a:solidFill>
                  <a:srgbClr val="1C5A73"/>
                </a:solidFill>
                <a:latin typeface="Arial" pitchFamily="34" charset="0"/>
                <a:ea typeface="Arial" pitchFamily="34" charset="-122"/>
                <a:cs typeface="Arial" pitchFamily="34" charset="-120"/>
              </a:rPr>
              <a:t>≈ 11 %</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1424A"/>
                </a:solidFill>
                <a:latin typeface="Arial" pitchFamily="34" charset="0"/>
                <a:ea typeface="Arial" pitchFamily="34" charset="-122"/>
                <a:cs typeface="Arial" pitchFamily="34" charset="-120"/>
              </a:rPr>
              <a:t>من الناتج المحلي الإجمالي مصدره القطاع الزراعي</a:t>
            </a:r>
            <a:endParaRPr lang="en-US" sz="1250" dirty="0"/>
          </a:p>
        </p:txBody>
      </p:sp>
      <p:sp>
        <p:nvSpPr>
          <p:cNvPr id="7" name="Shape 5"/>
          <p:cNvSpPr/>
          <p:nvPr/>
        </p:nvSpPr>
        <p:spPr>
          <a:xfrm>
            <a:off x="3413684" y="1874520"/>
            <a:ext cx="2545004" cy="2514600"/>
          </a:xfrm>
          <a:prstGeom prst="roundRect">
            <a:avLst>
              <a:gd name="adj" fmla="val 3636"/>
            </a:avLst>
          </a:prstGeom>
          <a:solidFill>
            <a:srgbClr val="EDF3F5"/>
          </a:solidFill>
          <a:ln w="9525">
            <a:solidFill>
              <a:srgbClr val="D6E2E7"/>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rtl="1" algn="ctr" indent="0" marL="0">
              <a:buNone/>
            </a:pPr>
            <a:r>
              <a:rPr lang="en-US" sz="3000" b="1" dirty="0">
                <a:solidFill>
                  <a:srgbClr val="1C5A73"/>
                </a:solidFill>
                <a:latin typeface="Arial" pitchFamily="34" charset="0"/>
                <a:ea typeface="Arial" pitchFamily="34" charset="-122"/>
                <a:cs typeface="Arial" pitchFamily="34" charset="-120"/>
              </a:rPr>
              <a:t>≈ 4 ملايين</a:t>
            </a:r>
            <a:endParaRPr lang="en-US" sz="30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1424A"/>
                </a:solidFill>
                <a:latin typeface="Arial" pitchFamily="34" charset="0"/>
                <a:ea typeface="Arial" pitchFamily="34" charset="-122"/>
                <a:cs typeface="Arial" pitchFamily="34" charset="-120"/>
              </a:rPr>
              <a:t>هكتار مزروعة، أي نحو 9,5 مليون فدان</a:t>
            </a:r>
            <a:endParaRPr lang="en-US" sz="1250" dirty="0"/>
          </a:p>
        </p:txBody>
      </p:sp>
      <p:sp>
        <p:nvSpPr>
          <p:cNvPr id="10" name="Shape 8"/>
          <p:cNvSpPr/>
          <p:nvPr/>
        </p:nvSpPr>
        <p:spPr>
          <a:xfrm>
            <a:off x="6233008" y="1874520"/>
            <a:ext cx="2545004" cy="2514600"/>
          </a:xfrm>
          <a:prstGeom prst="roundRect">
            <a:avLst>
              <a:gd name="adj" fmla="val 3636"/>
            </a:avLst>
          </a:prstGeom>
          <a:solidFill>
            <a:srgbClr val="EDF3F5"/>
          </a:solidFill>
          <a:ln w="9525">
            <a:solidFill>
              <a:srgbClr val="D6E2E7"/>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rtl="1" algn="ctr" indent="0" marL="0">
              <a:buNone/>
            </a:pPr>
            <a:r>
              <a:rPr lang="en-US" sz="3000" b="1" dirty="0">
                <a:solidFill>
                  <a:srgbClr val="1C5A73"/>
                </a:solidFill>
                <a:latin typeface="Arial" pitchFamily="34" charset="0"/>
                <a:ea typeface="Arial" pitchFamily="34" charset="-122"/>
                <a:cs typeface="Arial" pitchFamily="34" charset="-120"/>
              </a:rPr>
              <a:t>55,5 مليار</a:t>
            </a:r>
            <a:endParaRPr lang="en-US" sz="30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1424A"/>
                </a:solidFill>
                <a:latin typeface="Arial" pitchFamily="34" charset="0"/>
                <a:ea typeface="Arial" pitchFamily="34" charset="-122"/>
                <a:cs typeface="Arial" pitchFamily="34" charset="-120"/>
              </a:rPr>
              <a:t>متر مكعب: حصة مصر السنوية من مياه النيل</a:t>
            </a:r>
            <a:endParaRPr lang="en-US" sz="1250" dirty="0"/>
          </a:p>
        </p:txBody>
      </p:sp>
      <p:sp>
        <p:nvSpPr>
          <p:cNvPr id="13" name="Shape 11"/>
          <p:cNvSpPr/>
          <p:nvPr/>
        </p:nvSpPr>
        <p:spPr>
          <a:xfrm>
            <a:off x="9052331" y="1874520"/>
            <a:ext cx="2545004" cy="2514600"/>
          </a:xfrm>
          <a:prstGeom prst="roundRect">
            <a:avLst>
              <a:gd name="adj" fmla="val 3636"/>
            </a:avLst>
          </a:prstGeom>
          <a:solidFill>
            <a:srgbClr val="EDF3F5"/>
          </a:solidFill>
          <a:ln w="9525">
            <a:solidFill>
              <a:srgbClr val="D6E2E7"/>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rtl="1" algn="ctr" indent="0" marL="0">
              <a:buNone/>
            </a:pPr>
            <a:r>
              <a:rPr lang="en-US" sz="3800" b="1" dirty="0">
                <a:solidFill>
                  <a:srgbClr val="1C5A73"/>
                </a:solidFill>
                <a:latin typeface="Arial" pitchFamily="34" charset="0"/>
                <a:ea typeface="Arial" pitchFamily="34" charset="-122"/>
                <a:cs typeface="Arial" pitchFamily="34" charset="-120"/>
              </a:rPr>
              <a:t>≈ 20 %</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1424A"/>
                </a:solidFill>
                <a:latin typeface="Arial" pitchFamily="34" charset="0"/>
                <a:ea typeface="Arial" pitchFamily="34" charset="-122"/>
                <a:cs typeface="Arial" pitchFamily="34" charset="-120"/>
              </a:rPr>
              <a:t>من قوة العمل تشتغل في الزراعة</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rtl="1" algn="r" indent="0" marL="0">
              <a:lnSpc>
                <a:spcPct val="130000"/>
              </a:lnSpc>
              <a:buNone/>
            </a:pPr>
            <a:r>
              <a:rPr lang="en-US" sz="1350" dirty="0">
                <a:solidFill>
                  <a:srgbClr val="31424A"/>
                </a:solidFill>
                <a:latin typeface="Arial" pitchFamily="34" charset="0"/>
                <a:ea typeface="Arial" pitchFamily="34" charset="-122"/>
                <a:cs typeface="Arial" pitchFamily="34" charset="-120"/>
              </a:rPr>
              <a:t>الزراعة المصرية مروية بالكامل تقريبًا: الأمطار لا تكاد تُذكر خارج الساحل الشمالي، والنيل هو المورد الوحيد عمليًا. حصة المياه لم تتغير منذ 1959 بينما تجاوز السكان 105 ملايين نسمة. هذا الفارق بين مورد ثابت وطلب متزايد هو ما يجعل مصر سوقًا ذات أولوية لتقنياتنا.</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القيد الأساسي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مورد ثابت أمام طلب يتضاعف</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6522415" y="5687568"/>
            <a:ext cx="5074920" cy="457200"/>
          </a:xfrm>
          <a:prstGeom prst="rect">
            <a:avLst/>
          </a:prstGeom>
          <a:noFill/>
          <a:ln/>
        </p:spPr>
        <p:txBody>
          <a:bodyPr wrap="square" lIns="0" tIns="0" rIns="0" bIns="0" rtlCol="0" anchor="ctr"/>
          <a:lstStyle/>
          <a:p>
            <a:pPr rtl="1" algn="r" indent="0" marL="0">
              <a:buNone/>
            </a:pPr>
            <a:r>
              <a:rPr lang="en-US" sz="1000" dirty="0">
                <a:solidFill>
                  <a:srgbClr val="6C8089"/>
                </a:solidFill>
                <a:latin typeface="Arial" pitchFamily="34" charset="0"/>
                <a:ea typeface="Arial" pitchFamily="34" charset="-122"/>
                <a:cs typeface="Arial" pitchFamily="34" charset="-120"/>
              </a:rPr>
              <a:t>أرض مروية في دلتا النيل</a:t>
            </a:r>
            <a:endParaRPr lang="en-US" sz="1000" dirty="0"/>
          </a:p>
        </p:txBody>
      </p:sp>
      <p:sp>
        <p:nvSpPr>
          <p:cNvPr id="6" name="Text 3"/>
          <p:cNvSpPr txBox="1"/>
          <p:nvPr/>
        </p:nvSpPr>
        <p:spPr>
          <a:xfrm>
            <a:off x="594360" y="1783080"/>
            <a:ext cx="5379415" cy="4251960"/>
          </a:xfrm>
          <a:prstGeom prst="rect">
            <a:avLst/>
          </a:prstGeom>
          <a:noFill/>
          <a:ln/>
        </p:spPr>
        <p:txBody>
          <a:bodyPr wrap="square" lIns="0" tIns="0" rIns="0" bIns="0" rtlCol="0" anchor="t"/>
          <a:lstStyle/>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حصة مصر من مياه النيل ثابتة عند نحو 55,5 مليار متر مكعب سنويًا منذ اتفاقية 1959، بينما تجاوز عدد السكان 105 ملايين نسمة.</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نصيب الفرد من المياه العذبة نزل إلى نحو 500 إلى 600 متر مكعب في السنة، أي أقل بكثير من خط الفقر المائي المتعارف عليه دوليًا عند 1000 متر مكعب.</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الأمطار شبه معدومة: أقل من 5 ملم سنويًا في الصعيد، ونحو 100 إلى 200 ملم على الساحل الشمالي وحده. كل زراعة تقريبًا مروية.</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الغالبية العظمى من الأراضي القديمة ما زالت تُروى بالغمر، بينما تُستصلح أراضٍ رملية جديدة ضعيفة الاحتفاظ بالماء: الحالتان تفقدان الماء قبل وصوله إلى الجذر.</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المشروعات العامة — تبطين الترع، إعادة استخدام مياه الصرف، التحلية — تعالج جانب العرض. احتباس الماء في التربة يعمل على جانب الطلب، داخل الحقل نفسه.</a:t>
            </a:r>
            <a:endParaRPr lang="en-US" sz="1400" dirty="0"/>
          </a:p>
        </p:txBody>
      </p:sp>
      <p:sp>
        <p:nvSpPr>
          <p:cNvPr id="7" name="Text 4"/>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8" name="Text 5"/>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الجفاف والإجهاد المائي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الضغط يتزايد، لكن المخاطر تبقى محلية</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1C5A73"/>
                </a:solidFill>
                <a:latin typeface="Arial" pitchFamily="34" charset="0"/>
                <a:ea typeface="Arial" pitchFamily="34" charset="-122"/>
                <a:cs typeface="Arial" pitchFamily="34" charset="-120"/>
              </a:rPr>
              <a:t>مؤشران مختلفان</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1424A"/>
                </a:solidFill>
                <a:latin typeface="Arial" pitchFamily="34" charset="0"/>
                <a:ea typeface="Arial" pitchFamily="34" charset="-122"/>
                <a:cs typeface="Arial" pitchFamily="34" charset="-120"/>
              </a:rPr>
              <a:t>عالمياً، ارتفع عدد فترات الجفاف ومدتها بنسبة 29٪ منذ عام 2000 مقارنة بالعقدين السابقين.</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1424A"/>
                </a:solidFill>
                <a:latin typeface="Arial" pitchFamily="34" charset="0"/>
                <a:ea typeface="Arial" pitchFamily="34" charset="-122"/>
                <a:cs typeface="Arial" pitchFamily="34" charset="-120"/>
              </a:rPr>
              <a:t>أما الإجهاد المائي فيقيس نسبة السحب إلى الموارد المتجددة المتاحة بعد الاحتياجات البيئية. لذلك لا تمثل هذه الإشارة العالمية توقعاً خاصاً بالدولة، بل يجب قراءتها مع الأمطار والمياه الجوفية والمواسم والاستخدامات المحلية.</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أين تذهب المياه</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الري يستهلك أربعة أخماس المسحوب</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1C5A73"/>
                </a:solidFill>
                <a:latin typeface="Arial" pitchFamily="34" charset="0"/>
                <a:ea typeface="Arial" pitchFamily="34" charset="-122"/>
                <a:cs typeface="Arial" pitchFamily="34" charset="-120"/>
              </a:rPr>
              <a:t>ماذا يعني ذلك</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1424A"/>
                </a:solidFill>
                <a:latin typeface="Arial" pitchFamily="34" charset="0"/>
                <a:ea typeface="Arial" pitchFamily="34" charset="-122"/>
                <a:cs typeface="Arial" pitchFamily="34" charset="-120"/>
              </a:rPr>
              <a:t>خفض الاستهلاك الزراعي بنسبة 10 % يوفّر حجمًا من الماء يعادل الاستخدام الصناعي كله تقريبًا.</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1424A"/>
                </a:solidFill>
                <a:latin typeface="Arial" pitchFamily="34" charset="0"/>
                <a:ea typeface="Arial" pitchFamily="34" charset="-122"/>
                <a:cs typeface="Arial" pitchFamily="34" charset="-120"/>
              </a:rPr>
              <a:t>لذلك ينصبّ الجهد أولًا على الحقل، لا على الاستخدامات الأخرى.</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الاقتصاد والأمن الغذائي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من أكبر مستوردي القمح، وأول مصدّر للبرتقال</a:t>
            </a:r>
            <a:endParaRPr lang="en-US" sz="3000" dirty="0"/>
          </a:p>
        </p:txBody>
      </p:sp>
      <p:sp>
        <p:nvSpPr>
          <p:cNvPr id="4" name="Shape 2"/>
          <p:cNvSpPr/>
          <p:nvPr/>
        </p:nvSpPr>
        <p:spPr>
          <a:xfrm>
            <a:off x="594360" y="1874520"/>
            <a:ext cx="3484778" cy="2514600"/>
          </a:xfrm>
          <a:prstGeom prst="roundRect">
            <a:avLst>
              <a:gd name="adj" fmla="val 3636"/>
            </a:avLst>
          </a:prstGeom>
          <a:solidFill>
            <a:srgbClr val="EDF3F5"/>
          </a:solidFill>
          <a:ln w="9525">
            <a:solidFill>
              <a:srgbClr val="D6E2E7"/>
            </a:solidFill>
            <a:prstDash val="solid"/>
          </a:ln>
        </p:spPr>
      </p:sp>
      <p:sp>
        <p:nvSpPr>
          <p:cNvPr id="5" name="Text 3"/>
          <p:cNvSpPr txBox="1"/>
          <p:nvPr/>
        </p:nvSpPr>
        <p:spPr>
          <a:xfrm>
            <a:off x="777240" y="2148840"/>
            <a:ext cx="3119018" cy="960120"/>
          </a:xfrm>
          <a:prstGeom prst="rect">
            <a:avLst/>
          </a:prstGeom>
          <a:noFill/>
          <a:ln/>
        </p:spPr>
        <p:txBody>
          <a:bodyPr wrap="square" lIns="0" tIns="0" rIns="0" bIns="0" rtlCol="0" anchor="ctr"/>
          <a:lstStyle/>
          <a:p>
            <a:pPr rtl="1" algn="ctr" indent="0" marL="0">
              <a:buNone/>
            </a:pPr>
            <a:r>
              <a:rPr lang="en-US" sz="3000" b="1" dirty="0">
                <a:solidFill>
                  <a:srgbClr val="1C5A73"/>
                </a:solidFill>
                <a:latin typeface="Arial" pitchFamily="34" charset="0"/>
                <a:ea typeface="Arial" pitchFamily="34" charset="-122"/>
                <a:cs typeface="Arial" pitchFamily="34" charset="-120"/>
              </a:rPr>
              <a:t>≈ 12 مليون</a:t>
            </a:r>
            <a:endParaRPr lang="en-US" sz="3000" dirty="0"/>
          </a:p>
        </p:txBody>
      </p:sp>
      <p:sp>
        <p:nvSpPr>
          <p:cNvPr id="6" name="Text 4"/>
          <p:cNvSpPr txBox="1"/>
          <p:nvPr/>
        </p:nvSpPr>
        <p:spPr>
          <a:xfrm>
            <a:off x="795528" y="3154680"/>
            <a:ext cx="3082442"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1424A"/>
                </a:solidFill>
                <a:latin typeface="Arial" pitchFamily="34" charset="0"/>
                <a:ea typeface="Arial" pitchFamily="34" charset="-122"/>
                <a:cs typeface="Arial" pitchFamily="34" charset="-120"/>
              </a:rPr>
              <a:t>طن من القمح مستوردة سنوياً، من الأعلى عالمياً</a:t>
            </a:r>
            <a:endParaRPr lang="en-US" sz="1250" dirty="0"/>
          </a:p>
        </p:txBody>
      </p:sp>
      <p:sp>
        <p:nvSpPr>
          <p:cNvPr id="7" name="Shape 5"/>
          <p:cNvSpPr/>
          <p:nvPr/>
        </p:nvSpPr>
        <p:spPr>
          <a:xfrm>
            <a:off x="4353458" y="1874520"/>
            <a:ext cx="3484778" cy="2514600"/>
          </a:xfrm>
          <a:prstGeom prst="roundRect">
            <a:avLst>
              <a:gd name="adj" fmla="val 3636"/>
            </a:avLst>
          </a:prstGeom>
          <a:solidFill>
            <a:srgbClr val="EDF3F5"/>
          </a:solidFill>
          <a:ln w="9525">
            <a:solidFill>
              <a:srgbClr val="D6E2E7"/>
            </a:solidFill>
            <a:prstDash val="solid"/>
          </a:ln>
        </p:spPr>
      </p:sp>
      <p:sp>
        <p:nvSpPr>
          <p:cNvPr id="8" name="Text 6"/>
          <p:cNvSpPr txBox="1"/>
          <p:nvPr/>
        </p:nvSpPr>
        <p:spPr>
          <a:xfrm>
            <a:off x="4536338" y="2148840"/>
            <a:ext cx="3119018" cy="960120"/>
          </a:xfrm>
          <a:prstGeom prst="rect">
            <a:avLst/>
          </a:prstGeom>
          <a:noFill/>
          <a:ln/>
        </p:spPr>
        <p:txBody>
          <a:bodyPr wrap="square" lIns="0" tIns="0" rIns="0" bIns="0" rtlCol="0" anchor="ctr"/>
          <a:lstStyle/>
          <a:p>
            <a:pPr rtl="1" algn="ctr" indent="0" marL="0">
              <a:buNone/>
            </a:pPr>
            <a:r>
              <a:rPr lang="en-US" sz="3800" b="1" dirty="0">
                <a:solidFill>
                  <a:srgbClr val="1C5A73"/>
                </a:solidFill>
                <a:latin typeface="Arial" pitchFamily="34" charset="0"/>
                <a:ea typeface="Arial" pitchFamily="34" charset="-122"/>
                <a:cs typeface="Arial" pitchFamily="34" charset="-120"/>
              </a:rPr>
              <a:t>الأول</a:t>
            </a:r>
            <a:endParaRPr lang="en-US" sz="3800" dirty="0"/>
          </a:p>
        </p:txBody>
      </p:sp>
      <p:sp>
        <p:nvSpPr>
          <p:cNvPr id="9" name="Text 7"/>
          <p:cNvSpPr txBox="1"/>
          <p:nvPr/>
        </p:nvSpPr>
        <p:spPr>
          <a:xfrm>
            <a:off x="4554626" y="3154680"/>
            <a:ext cx="3082442"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1424A"/>
                </a:solidFill>
                <a:latin typeface="Arial" pitchFamily="34" charset="0"/>
                <a:ea typeface="Arial" pitchFamily="34" charset="-122"/>
                <a:cs typeface="Arial" pitchFamily="34" charset="-120"/>
              </a:rPr>
              <a:t>عالمياً في تصدير البرتقال</a:t>
            </a:r>
            <a:endParaRPr lang="en-US" sz="1250" dirty="0"/>
          </a:p>
        </p:txBody>
      </p:sp>
      <p:sp>
        <p:nvSpPr>
          <p:cNvPr id="10" name="Shape 8"/>
          <p:cNvSpPr/>
          <p:nvPr/>
        </p:nvSpPr>
        <p:spPr>
          <a:xfrm>
            <a:off x="8112557" y="1874520"/>
            <a:ext cx="3484778" cy="2514600"/>
          </a:xfrm>
          <a:prstGeom prst="roundRect">
            <a:avLst>
              <a:gd name="adj" fmla="val 3636"/>
            </a:avLst>
          </a:prstGeom>
          <a:solidFill>
            <a:srgbClr val="EDF3F5"/>
          </a:solidFill>
          <a:ln w="9525">
            <a:solidFill>
              <a:srgbClr val="D6E2E7"/>
            </a:solidFill>
            <a:prstDash val="solid"/>
          </a:ln>
        </p:spPr>
      </p:sp>
      <p:sp>
        <p:nvSpPr>
          <p:cNvPr id="11" name="Text 9"/>
          <p:cNvSpPr txBox="1"/>
          <p:nvPr/>
        </p:nvSpPr>
        <p:spPr>
          <a:xfrm>
            <a:off x="8295437" y="2148840"/>
            <a:ext cx="3119018" cy="960120"/>
          </a:xfrm>
          <a:prstGeom prst="rect">
            <a:avLst/>
          </a:prstGeom>
          <a:noFill/>
          <a:ln/>
        </p:spPr>
        <p:txBody>
          <a:bodyPr wrap="square" lIns="0" tIns="0" rIns="0" bIns="0" rtlCol="0" anchor="ctr"/>
          <a:lstStyle/>
          <a:p>
            <a:pPr rtl="1" algn="ctr" indent="0" marL="0">
              <a:buNone/>
            </a:pPr>
            <a:r>
              <a:rPr lang="en-US" sz="3000" b="1" dirty="0">
                <a:solidFill>
                  <a:srgbClr val="1C5A73"/>
                </a:solidFill>
                <a:latin typeface="Arial" pitchFamily="34" charset="0"/>
                <a:ea typeface="Arial" pitchFamily="34" charset="-122"/>
                <a:cs typeface="Arial" pitchFamily="34" charset="-120"/>
              </a:rPr>
              <a:t>≈ 107 مليون</a:t>
            </a:r>
            <a:endParaRPr lang="en-US" sz="3000" dirty="0"/>
          </a:p>
        </p:txBody>
      </p:sp>
      <p:sp>
        <p:nvSpPr>
          <p:cNvPr id="12" name="Text 10"/>
          <p:cNvSpPr txBox="1"/>
          <p:nvPr/>
        </p:nvSpPr>
        <p:spPr>
          <a:xfrm>
            <a:off x="8313725" y="3154680"/>
            <a:ext cx="3082442" cy="1051560"/>
          </a:xfrm>
          <a:prstGeom prst="rect">
            <a:avLst/>
          </a:prstGeom>
          <a:noFill/>
          <a:ln/>
        </p:spPr>
        <p:txBody>
          <a:bodyPr wrap="square" lIns="0" tIns="0" rIns="0" bIns="0" rtlCol="0" anchor="t"/>
          <a:lstStyle/>
          <a:p>
            <a:pPr rtl="1" algn="ctr" indent="0" marL="0">
              <a:lnSpc>
                <a:spcPct val="118000"/>
              </a:lnSpc>
              <a:buNone/>
            </a:pPr>
            <a:r>
              <a:rPr lang="en-US" sz="1250" dirty="0">
                <a:solidFill>
                  <a:srgbClr val="31424A"/>
                </a:solidFill>
                <a:latin typeface="Arial" pitchFamily="34" charset="0"/>
                <a:ea typeface="Arial" pitchFamily="34" charset="-122"/>
                <a:cs typeface="Arial" pitchFamily="34" charset="-120"/>
              </a:rPr>
              <a:t>نسمة يعيشون على نحو 5 % من مساحة البلاد</a:t>
            </a:r>
            <a:endParaRPr lang="en-US" sz="1250" dirty="0"/>
          </a:p>
        </p:txBody>
      </p:sp>
      <p:sp>
        <p:nvSpPr>
          <p:cNvPr id="13" name="Text 11"/>
          <p:cNvSpPr txBox="1"/>
          <p:nvPr/>
        </p:nvSpPr>
        <p:spPr>
          <a:xfrm>
            <a:off x="594360" y="4709160"/>
            <a:ext cx="11002975" cy="1097280"/>
          </a:xfrm>
          <a:prstGeom prst="rect">
            <a:avLst/>
          </a:prstGeom>
          <a:noFill/>
          <a:ln/>
        </p:spPr>
        <p:txBody>
          <a:bodyPr wrap="square" lIns="0" tIns="0" rIns="0" bIns="0" rtlCol="0" anchor="t"/>
          <a:lstStyle/>
          <a:p>
            <a:pPr rtl="1" algn="r" indent="0" marL="0">
              <a:lnSpc>
                <a:spcPct val="130000"/>
              </a:lnSpc>
              <a:buNone/>
            </a:pPr>
            <a:r>
              <a:rPr lang="en-US" sz="1350" dirty="0">
                <a:solidFill>
                  <a:srgbClr val="31424A"/>
                </a:solidFill>
                <a:latin typeface="Arial" pitchFamily="34" charset="0"/>
                <a:ea typeface="Arial" pitchFamily="34" charset="-122"/>
                <a:cs typeface="Arial" pitchFamily="34" charset="-120"/>
              </a:rPr>
              <a:t>يستهلك الخبز المدعوم جزءاً كبيراً من القمح المستورد، ما يربط فاتورة الغذاء مباشرة بسعر الصرف. في المقابل تتوسع صادرات الموالح والبطاطس والعنب والفراولة، ومعظمها يأتي من الأراضي الجديدة المستصلحة المروية بالتنقيط.</a:t>
            </a:r>
            <a:endParaRPr lang="en-US" sz="1350" dirty="0"/>
          </a:p>
        </p:txBody>
      </p:sp>
      <p:sp>
        <p:nvSpPr>
          <p:cNvPr id="14" name="Text 12"/>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15" name="Text 13"/>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المحاصيل الرئيسية</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خمسة محاصيل تحمل عمود الإنتاج</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1C5A73"/>
                </a:solidFill>
                <a:latin typeface="Arial" pitchFamily="34" charset="0"/>
                <a:ea typeface="Arial" pitchFamily="34" charset="-122"/>
                <a:cs typeface="Arial" pitchFamily="34" charset="-120"/>
              </a:rPr>
              <a:t>قراءة الرسم</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1424A"/>
                </a:solidFill>
                <a:latin typeface="Arial" pitchFamily="34" charset="0"/>
                <a:ea typeface="Arial" pitchFamily="34" charset="-122"/>
                <a:cs typeface="Arial" pitchFamily="34" charset="-120"/>
              </a:rPr>
              <a:t>قصب السكر أعلى المحاصيل استهلاكًا للماء لكل هكتار، وهو مركّز في الصعيد.</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1424A"/>
                </a:solidFill>
                <a:latin typeface="Arial" pitchFamily="34" charset="0"/>
                <a:ea typeface="Arial" pitchFamily="34" charset="-122"/>
                <a:cs typeface="Arial" pitchFamily="34" charset="-120"/>
              </a:rPr>
              <a:t>الموالح والطماطم هما محصولا التصدير: أكثر من 1,5 مليون طن من البرتقال تُشحن سنويًا. هنا يتحوّل توفير الماء مباشرة إلى هامش ربح.</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القطاع الأول</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الموالح: ريادة تصديرية على أراضٍ رملية</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تتركز بساتين البرتقال في النوبارية والبحيرة والإسماعيلية والقليوبية، ويتجه جزء كبير من المحصول إلى التصدير.</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الأراضي الجديدة رملية وفقيرة، تفقد ماء الري بسرعة وتحتاج إلى ريّات متقاربة.</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مع ارتفاع الحرارة تزداد حاجة الأشجار إلى الماء في الصيف، بينما تبقى الحصص محدودة في أطراف الدلتا.</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تشترط أسواق التصدير حدوداً صارمة للمتبقيات: NAPEMA® يعالج الآفات دون أن يترك أثراً.</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وضع EVERGREEN® عند الغرس أو في خط التنقيط يطيل بقاء الماء حول الجذور بين الريّات.</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القطاع الثاني</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البطاطس والخضروات: من الدلتا إلى الصحراء المستصلحة</a:t>
            </a:r>
            <a:endParaRPr lang="en-US" sz="3000" dirty="0"/>
          </a:p>
        </p:txBody>
      </p:sp>
      <p:pic>
        <p:nvPicPr>
          <p:cNvPr id="4" name="Image 0" descr="preencoded.png">    </p:cNvPr>
          <p:cNvPicPr>
            <a:picLocks noChangeAspect="1"/>
          </p:cNvPicPr>
          <p:nvPr/>
        </p:nvPicPr>
        <p:blipFill>
          <a:blip r:embed="rId1"/>
          <a:stretch>
            <a:fillRect/>
          </a:stretch>
        </p:blipFill>
        <p:spPr>
          <a:xfrm>
            <a:off x="594360" y="1783080"/>
            <a:ext cx="5074920" cy="3794760"/>
          </a:xfrm>
          <a:prstGeom prst="rect">
            <a:avLst/>
          </a:prstGeom>
        </p:spPr>
      </p:pic>
      <p:sp>
        <p:nvSpPr>
          <p:cNvPr id="5" name="Text 2"/>
          <p:cNvSpPr txBox="1"/>
          <p:nvPr/>
        </p:nvSpPr>
        <p:spPr>
          <a:xfrm>
            <a:off x="6217920" y="1783080"/>
            <a:ext cx="5379415" cy="4251960"/>
          </a:xfrm>
          <a:prstGeom prst="rect">
            <a:avLst/>
          </a:prstGeom>
          <a:noFill/>
          <a:ln/>
        </p:spPr>
        <p:txBody>
          <a:bodyPr wrap="square" lIns="0" tIns="0" rIns="0" bIns="0" rtlCol="0" anchor="t"/>
          <a:lstStyle/>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مصر من أكبر منتجي البطاطس في أفريقيا، وتصدّر جزءاً مهماً منها إلى أوروبا والخليج.</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تُزرع بطاطس التصدير في المنيا والنوبارية والصالحية، تحت الري المحوري أو بالتنقيط على تربة رملية.</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في الأراضي القديمة بالدلتا ما زال الري بالغمر شائعاً، مع فواقد كبيرة وارتفاع في ملوحة التربة.</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تشجع الدولة التحول إلى الري الحديث في الأراضي القديمة لتوفير جزء من حصة النيل.</a:t>
            </a:r>
            <a:endParaRPr lang="en-US" sz="1400" dirty="0"/>
          </a:p>
          <a:p>
            <a:pPr algn="r" marL="342900" indent="-342900">
              <a:lnSpc>
                <a:spcPct val="122000"/>
              </a:lnSpc>
              <a:spcAft>
                <a:spcPts val="1100"/>
              </a:spcAft>
              <a:buSzPct val="100000"/>
              <a:buChar char="•"/>
            </a:pPr>
            <a:r>
              <a:rPr lang="en-US" sz="1400" dirty="0">
                <a:solidFill>
                  <a:srgbClr val="31424A"/>
                </a:solidFill>
                <a:latin typeface="Arial" pitchFamily="34" charset="0"/>
                <a:ea typeface="Arial" pitchFamily="34" charset="-122"/>
                <a:cs typeface="Arial" pitchFamily="34" charset="-120"/>
              </a:rPr>
              <a:t>تستفيد الطماطم والبطاطس مباشرة من احتباس الماء في منطقة الجذور، خصوصاً على التربة الرملية.</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إمكانات الإنتاج</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الزيادة المتوقعة في الإنتاج حسب المحصول</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1C5A73"/>
                </a:solidFill>
                <a:latin typeface="Arial" pitchFamily="34" charset="0"/>
                <a:ea typeface="Arial" pitchFamily="34" charset="-122"/>
                <a:cs typeface="Arial" pitchFamily="34" charset="-120"/>
              </a:rPr>
              <a:t>تُقرأ بتحفّظ</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1424A"/>
                </a:solidFill>
                <a:latin typeface="Arial" pitchFamily="34" charset="0"/>
                <a:ea typeface="Arial" pitchFamily="34" charset="-122"/>
                <a:cs typeface="Arial" pitchFamily="34" charset="-120"/>
              </a:rPr>
              <a:t>نطاقات يعتمدها حاسب الجرعات على موقعنا، لمحصول يُدار إدارة عادية مع وضع EVERGREEN® عند الزراعة.</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1424A"/>
                </a:solidFill>
                <a:latin typeface="Arial" pitchFamily="34" charset="0"/>
                <a:ea typeface="Arial" pitchFamily="34" charset="-122"/>
                <a:cs typeface="Arial" pitchFamily="34" charset="-120"/>
              </a:rPr>
              <a:t>النتيجة الفعلية تتوقف على التربة والمناخ وأسلوب الإدارة. أما الحبوب فلا نعلن فيها أي زيادة دون تجربة ميدانية.</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ما نقترحه</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تقنيتان لقيدين مختلفين</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1C5A73"/>
                </a:solidFill>
                <a:latin typeface="Arial" pitchFamily="34" charset="0"/>
                <a:ea typeface="Arial" pitchFamily="34" charset="-122"/>
                <a:cs typeface="Arial" pitchFamily="34" charset="-120"/>
              </a:rPr>
              <a:t>EVERGREEN® — الاحتفاظ بالماء</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مادة حابسة للماء أساسها البوتاسيوم، تُوضع في منطقة الجذور عند الزراعة أو عند تجديد الغرس.</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تلتقط ماء الري وتعيده إلى النبات تدريجيًا، فتلغي الإجهاد المائي في المراحل الحرجة بين ريّتين.</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قدرة امتصاص تبلغ نحو 300 ضعف وزنها، ومفعول مفيد يمتد من 3 إلى 4 سنوات في التربة.</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تتحلل بنسبة 20 إلى 25 % سنويًا، دون تراكم في التربة ودون خطر جرعة زائدة.</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1C5A73"/>
                </a:solidFill>
                <a:latin typeface="Arial" pitchFamily="34" charset="0"/>
                <a:ea typeface="Arial" pitchFamily="34" charset="-122"/>
                <a:cs typeface="Arial" pitchFamily="34" charset="-120"/>
              </a:rPr>
              <a:t>ECOFERT® — التغذية دون إنهاك التربة</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سماد بجرعات دقيقة من الأحماض الأمينية والنيتروجين والفوسفور والبوتاسيوم، من موارد متجددة.</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غير مخلّب: لا يستنزف المركّب الطيني الدبالي ولا يرفع الملوحة ولا نسبة النترات — نقطة حاسمة في شمال الدلتا.</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حاصل على شهادتي SOHISCERT والعضوية الأوروبية، وهو شرط دخول دفاتر شروط المشترين الأوروبيين.</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من 1 إلى 4 عبوات سعة 140 مل للهكتار، متوافق مع معدات التسميد بالري القائمة.</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C8089"/>
                </a:solidFill>
                <a:latin typeface="Arial" pitchFamily="34" charset="0"/>
                <a:ea typeface="Arial" pitchFamily="34" charset="-122"/>
                <a:cs typeface="Arial" pitchFamily="34" charset="-120"/>
              </a:rPr>
              <a:t>المنتجان يُباعان منفصلين لكنهما صُمّما ليعزّز كل منهما الآخر: المادة الحابسة تطيل بقاء الماء متاحًا، والسماد يثمّر هذا الماء المتاح دون إضعاف التربة.</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بقية المنتجات</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حماية المحاصيل وتثبيت التربة</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1C5A73"/>
                </a:solidFill>
                <a:latin typeface="Arial" pitchFamily="34" charset="0"/>
                <a:ea typeface="Arial" pitchFamily="34" charset="-122"/>
                <a:cs typeface="Arial" pitchFamily="34" charset="-120"/>
              </a:rPr>
              <a:t>NAPEMA® — حماية دون متبقيات</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مكافحة الأمراض والطفيليات والفطريات والآفات، دون أي جزيء كيميائي مُصنَّع.</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رشّ على الأوراق والجذور، بمفعول وقائي وعلاجي في آن واحد.</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لا متبقيات في التربة ولا في النبات ولا في الهواء، مع الحفاظ على الملقِّحات والحشرات النافعة.</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تركيبة مصمَّمة لمشكلة محددة: البق الدقيقي، واخضرار الحمضيات (HLB)، والنيماتودا.</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1C5A73"/>
                </a:solidFill>
                <a:latin typeface="Arial" pitchFamily="34" charset="0"/>
                <a:ea typeface="Arial" pitchFamily="34" charset="-122"/>
                <a:cs typeface="Arial" pitchFamily="34" charset="-120"/>
              </a:rPr>
              <a:t>Paulownia ALTIFOLIA® — شجرة المناطق الحارة</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من 13 إلى 15 متراً خلال ست إلى ثماني سنوات، بجذع كبير القطر.</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مع 100 غرام من EVERGREEN® لكل شتلة، تنخفض حاجة الري بنسبة 50 %.</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تتحمّل من −25 إلى +45 درجة مئوية، ولا يشتعل خشبها قبل 426 درجة.</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مصدّ للرياح، وحماية للتربة من التعرية، و400 إلى 700 كغ من العسل للهكتار.</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C8089"/>
                </a:solidFill>
                <a:latin typeface="Arial" pitchFamily="34" charset="0"/>
                <a:ea typeface="Arial" pitchFamily="34" charset="-122"/>
                <a:cs typeface="Arial" pitchFamily="34" charset="-120"/>
              </a:rPr>
              <a:t>تُسلَّم الشتلات في أصص (25 إلى 30 سم)، معتمدة خالية من الأمراض، وتُستبدل بالضمان عند تلفها. أول قطع في نهاية السنة السادسة، ويُقدَّر الخشب بنحو 400 إلى 450 يورو للمتر المكعب.</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ترتيب الحجم المتوقع</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توفير الماء المتوقع حسب أسلوب الري</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DF3F5"/>
          </a:solidFill>
          <a:ln w="9525">
            <a:solidFill>
              <a:srgbClr val="D6E2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rtl="1" algn="r" indent="0" marL="0">
              <a:buNone/>
            </a:pPr>
            <a:r>
              <a:rPr lang="en-US" sz="1300" b="1" dirty="0">
                <a:solidFill>
                  <a:srgbClr val="1C5A73"/>
                </a:solidFill>
                <a:latin typeface="Arial" pitchFamily="34" charset="0"/>
                <a:ea typeface="Arial" pitchFamily="34" charset="-122"/>
                <a:cs typeface="Arial" pitchFamily="34" charset="-120"/>
              </a:rPr>
              <a:t>تُقرأ بتحفّظ</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rtl="1" algn="r" indent="0" marL="0">
              <a:lnSpc>
                <a:spcPct val="125000"/>
              </a:lnSpc>
              <a:buNone/>
            </a:pPr>
            <a:r>
              <a:rPr lang="en-US" sz="1200" dirty="0">
                <a:solidFill>
                  <a:srgbClr val="31424A"/>
                </a:solidFill>
                <a:latin typeface="Arial" pitchFamily="34" charset="0"/>
                <a:ea typeface="Arial" pitchFamily="34" charset="-122"/>
                <a:cs typeface="Arial" pitchFamily="34" charset="-120"/>
              </a:rPr>
              <a:t>هذه النطاقات تقديرية إرشادية، مبنية على المكاسب الموثقة لموادنا الحابسة للماء.</a:t>
            </a:r>
            <a:endParaRPr lang="en-US" sz="1200" dirty="0"/>
          </a:p>
          <a:p>
            <a:pPr rtl="1" algn="r" indent="0" marL="0">
              <a:lnSpc>
                <a:spcPct val="125000"/>
              </a:lnSpc>
              <a:buNone/>
            </a:pPr>
            <a:endParaRPr lang="en-US" sz="1200" dirty="0"/>
          </a:p>
          <a:p>
            <a:pPr rtl="1" algn="r" indent="0" marL="0">
              <a:lnSpc>
                <a:spcPct val="125000"/>
              </a:lnSpc>
              <a:buNone/>
            </a:pPr>
            <a:r>
              <a:rPr lang="en-US" sz="1200" dirty="0">
                <a:solidFill>
                  <a:srgbClr val="31424A"/>
                </a:solidFill>
                <a:latin typeface="Arial" pitchFamily="34" charset="0"/>
                <a:ea typeface="Arial" pitchFamily="34" charset="-122"/>
                <a:cs typeface="Arial" pitchFamily="34" charset="-120"/>
              </a:rPr>
              <a:t>النتيجة الفعلية تتوقف على التربة والمناخ والمحصول. الأرقام تعطي ترتيب حجم فقط، وهي ليست بأي حال قيمة مضمونة أو تعاقدية أو مطلقة.</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ثلاثة ميادين أولوية</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أين نبدأ التجارب الأولى</a:t>
            </a:r>
            <a:endParaRPr lang="en-US" sz="3000" dirty="0"/>
          </a:p>
        </p:txBody>
      </p:sp>
      <p:sp>
        <p:nvSpPr>
          <p:cNvPr id="4" name="Shape 2"/>
          <p:cNvSpPr/>
          <p:nvPr/>
        </p:nvSpPr>
        <p:spPr>
          <a:xfrm>
            <a:off x="594360" y="1783080"/>
            <a:ext cx="3472586" cy="4069080"/>
          </a:xfrm>
          <a:prstGeom prst="roundRect">
            <a:avLst>
              <a:gd name="adj" fmla="val 2633"/>
            </a:avLst>
          </a:prstGeom>
          <a:solidFill>
            <a:srgbClr val="EDF3F5"/>
          </a:solidFill>
          <a:ln w="9525">
            <a:solidFill>
              <a:srgbClr val="D6E2E7"/>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rtl="1" algn="r" indent="0" marL="0">
              <a:buNone/>
            </a:pPr>
            <a:r>
              <a:rPr lang="en-US" sz="1500" b="1" dirty="0">
                <a:solidFill>
                  <a:srgbClr val="1C5A73"/>
                </a:solidFill>
                <a:latin typeface="Arial" pitchFamily="34" charset="0"/>
                <a:ea typeface="Arial" pitchFamily="34" charset="-122"/>
                <a:cs typeface="Arial" pitchFamily="34" charset="-120"/>
              </a:rPr>
              <a:t>شمال الدلتا</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rtl="1" algn="r" indent="0" marL="0">
              <a:buNone/>
            </a:pPr>
            <a:r>
              <a:rPr lang="en-US" sz="1250" b="1" dirty="0">
                <a:solidFill>
                  <a:srgbClr val="A3701A"/>
                </a:solidFill>
                <a:latin typeface="Arial" pitchFamily="34" charset="0"/>
                <a:ea typeface="Arial" pitchFamily="34" charset="-122"/>
                <a:cs typeface="Arial" pitchFamily="34" charset="-120"/>
              </a:rPr>
              <a:t>أرز وخضر وموالح على أرض قديمة</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r" marL="342900" indent="-342900">
              <a:lnSpc>
                <a:spcPct val="116000"/>
              </a:lnSpc>
              <a:spcAft>
                <a:spcPts val="700"/>
              </a:spcAft>
              <a:buSzPct val="100000"/>
              <a:buChar char="•"/>
            </a:pPr>
            <a:r>
              <a:rPr lang="en-US" sz="1150" dirty="0">
                <a:solidFill>
                  <a:srgbClr val="31424A"/>
                </a:solidFill>
                <a:latin typeface="Arial" pitchFamily="34" charset="0"/>
                <a:ea typeface="Arial" pitchFamily="34" charset="-122"/>
                <a:cs typeface="Arial" pitchFamily="34" charset="-120"/>
              </a:rPr>
              <a:t>خضر وأرز وموالح على أراضٍ قديمة خصبة، لكن الري بالغمر ما زال هو السائد.</a:t>
            </a:r>
            <a:endParaRPr lang="en-US" sz="1150" dirty="0"/>
          </a:p>
          <a:p>
            <a:pPr algn="r" marL="342900" indent="-342900">
              <a:lnSpc>
                <a:spcPct val="116000"/>
              </a:lnSpc>
              <a:spcAft>
                <a:spcPts val="700"/>
              </a:spcAft>
              <a:buSzPct val="100000"/>
              <a:buChar char="•"/>
            </a:pPr>
            <a:r>
              <a:rPr lang="en-US" sz="1150" dirty="0">
                <a:solidFill>
                  <a:srgbClr val="31424A"/>
                </a:solidFill>
                <a:latin typeface="Arial" pitchFamily="34" charset="0"/>
                <a:ea typeface="Arial" pitchFamily="34" charset="-122"/>
                <a:cs typeface="Arial" pitchFamily="34" charset="-120"/>
              </a:rPr>
              <a:t>تداخل مياه البحر يرفع الملوحة: سماد غير مخلّب ميزة مباشرة هنا.</a:t>
            </a:r>
            <a:endParaRPr lang="en-US" sz="1150" dirty="0"/>
          </a:p>
          <a:p>
            <a:pPr algn="r" marL="342900" indent="-342900">
              <a:lnSpc>
                <a:spcPct val="116000"/>
              </a:lnSpc>
              <a:spcAft>
                <a:spcPts val="700"/>
              </a:spcAft>
              <a:buSzPct val="100000"/>
              <a:buChar char="•"/>
            </a:pPr>
            <a:r>
              <a:rPr lang="en-US" sz="1150" dirty="0">
                <a:solidFill>
                  <a:srgbClr val="31424A"/>
                </a:solidFill>
                <a:latin typeface="Arial" pitchFamily="34" charset="0"/>
                <a:ea typeface="Arial" pitchFamily="34" charset="-122"/>
                <a:cs typeface="Arial" pitchFamily="34" charset="-120"/>
              </a:rPr>
              <a:t>كثافة عالية من الجمعيات التعاونية تسمح بالوصول إلى عدد كبير من المزارعين.</a:t>
            </a:r>
            <a:endParaRPr lang="en-US" sz="1150" dirty="0"/>
          </a:p>
        </p:txBody>
      </p:sp>
      <p:sp>
        <p:nvSpPr>
          <p:cNvPr id="9" name="Shape 6"/>
          <p:cNvSpPr/>
          <p:nvPr/>
        </p:nvSpPr>
        <p:spPr>
          <a:xfrm>
            <a:off x="4359554" y="1783080"/>
            <a:ext cx="3472586" cy="4069080"/>
          </a:xfrm>
          <a:prstGeom prst="roundRect">
            <a:avLst>
              <a:gd name="adj" fmla="val 2633"/>
            </a:avLst>
          </a:prstGeom>
          <a:solidFill>
            <a:srgbClr val="EDF3F5"/>
          </a:solidFill>
          <a:ln w="9525">
            <a:solidFill>
              <a:srgbClr val="D6E2E7"/>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rtl="1" algn="r" indent="0" marL="0">
              <a:buNone/>
            </a:pPr>
            <a:r>
              <a:rPr lang="en-US" sz="1500" b="1" dirty="0">
                <a:solidFill>
                  <a:srgbClr val="1C5A73"/>
                </a:solidFill>
                <a:latin typeface="Arial" pitchFamily="34" charset="0"/>
                <a:ea typeface="Arial" pitchFamily="34" charset="-122"/>
                <a:cs typeface="Arial" pitchFamily="34" charset="-120"/>
              </a:rPr>
              <a:t>صعيد مصر</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rtl="1" algn="r" indent="0" marL="0">
              <a:buNone/>
            </a:pPr>
            <a:r>
              <a:rPr lang="en-US" sz="1250" b="1" dirty="0">
                <a:solidFill>
                  <a:srgbClr val="A3701A"/>
                </a:solidFill>
                <a:latin typeface="Arial" pitchFamily="34" charset="0"/>
                <a:ea typeface="Arial" pitchFamily="34" charset="-122"/>
                <a:cs typeface="Arial" pitchFamily="34" charset="-120"/>
              </a:rPr>
              <a:t>≈ 16 مليون طن قصب سنويًا</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r" marL="342900" indent="-342900">
              <a:lnSpc>
                <a:spcPct val="116000"/>
              </a:lnSpc>
              <a:spcAft>
                <a:spcPts val="700"/>
              </a:spcAft>
              <a:buSzPct val="100000"/>
              <a:buChar char="•"/>
            </a:pPr>
            <a:r>
              <a:rPr lang="en-US" sz="1150" dirty="0">
                <a:solidFill>
                  <a:srgbClr val="31424A"/>
                </a:solidFill>
                <a:latin typeface="Arial" pitchFamily="34" charset="0"/>
                <a:ea typeface="Arial" pitchFamily="34" charset="-122"/>
                <a:cs typeface="Arial" pitchFamily="34" charset="-120"/>
              </a:rPr>
              <a:t>قصب السكر مركّز في المنيا وقنا وأسوان، وهو أعلى المحاصيل استهلاكًا للماء.</a:t>
            </a:r>
            <a:endParaRPr lang="en-US" sz="1150" dirty="0"/>
          </a:p>
          <a:p>
            <a:pPr algn="r" marL="342900" indent="-342900">
              <a:lnSpc>
                <a:spcPct val="116000"/>
              </a:lnSpc>
              <a:spcAft>
                <a:spcPts val="700"/>
              </a:spcAft>
              <a:buSzPct val="100000"/>
              <a:buChar char="•"/>
            </a:pPr>
            <a:r>
              <a:rPr lang="en-US" sz="1150" dirty="0">
                <a:solidFill>
                  <a:srgbClr val="31424A"/>
                </a:solidFill>
                <a:latin typeface="Arial" pitchFamily="34" charset="0"/>
                <a:ea typeface="Arial" pitchFamily="34" charset="-122"/>
                <a:cs typeface="Arial" pitchFamily="34" charset="-120"/>
              </a:rPr>
              <a:t>تبخر شديد وصيف يتجاوز 45 درجة: الفاقد بين ريّتين هو الأعلى في البلاد.</a:t>
            </a:r>
            <a:endParaRPr lang="en-US" sz="1150" dirty="0"/>
          </a:p>
          <a:p>
            <a:pPr algn="r" marL="342900" indent="-342900">
              <a:lnSpc>
                <a:spcPct val="116000"/>
              </a:lnSpc>
              <a:spcAft>
                <a:spcPts val="700"/>
              </a:spcAft>
              <a:buSzPct val="100000"/>
              <a:buChar char="•"/>
            </a:pPr>
            <a:r>
              <a:rPr lang="en-US" sz="1150" dirty="0">
                <a:solidFill>
                  <a:srgbClr val="31424A"/>
                </a:solidFill>
                <a:latin typeface="Arial" pitchFamily="34" charset="0"/>
                <a:ea typeface="Arial" pitchFamily="34" charset="-122"/>
                <a:cs typeface="Arial" pitchFamily="34" charset="-120"/>
              </a:rPr>
              <a:t>مصانع السكر مشترٍ منظَّم، يسهّل اتفاقًا على مستوى منطقة كاملة.</a:t>
            </a:r>
            <a:endParaRPr lang="en-US" sz="1150" dirty="0"/>
          </a:p>
        </p:txBody>
      </p:sp>
      <p:sp>
        <p:nvSpPr>
          <p:cNvPr id="14" name="Shape 10"/>
          <p:cNvSpPr/>
          <p:nvPr/>
        </p:nvSpPr>
        <p:spPr>
          <a:xfrm>
            <a:off x="8124749" y="1783080"/>
            <a:ext cx="3472586" cy="4069080"/>
          </a:xfrm>
          <a:prstGeom prst="roundRect">
            <a:avLst>
              <a:gd name="adj" fmla="val 2633"/>
            </a:avLst>
          </a:prstGeom>
          <a:solidFill>
            <a:srgbClr val="EDF3F5"/>
          </a:solidFill>
          <a:ln w="9525">
            <a:solidFill>
              <a:srgbClr val="D6E2E7"/>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rtl="1" algn="r" indent="0" marL="0">
              <a:buNone/>
            </a:pPr>
            <a:r>
              <a:rPr lang="en-US" sz="1500" b="1" dirty="0">
                <a:solidFill>
                  <a:srgbClr val="1C5A73"/>
                </a:solidFill>
                <a:latin typeface="Arial" pitchFamily="34" charset="0"/>
                <a:ea typeface="Arial" pitchFamily="34" charset="-122"/>
                <a:cs typeface="Arial" pitchFamily="34" charset="-120"/>
              </a:rPr>
              <a:t>النوبارية وغرب الدلتا</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rtl="1" algn="r" indent="0" marL="0">
              <a:buNone/>
            </a:pPr>
            <a:r>
              <a:rPr lang="en-US" sz="1250" b="1" dirty="0">
                <a:solidFill>
                  <a:srgbClr val="A3701A"/>
                </a:solidFill>
                <a:latin typeface="Arial" pitchFamily="34" charset="0"/>
                <a:ea typeface="Arial" pitchFamily="34" charset="-122"/>
                <a:cs typeface="Arial" pitchFamily="34" charset="-120"/>
              </a:rPr>
              <a:t>قطب تصدير الموالح والعنب</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r" marL="342900" indent="-342900">
              <a:lnSpc>
                <a:spcPct val="116000"/>
              </a:lnSpc>
              <a:spcAft>
                <a:spcPts val="700"/>
              </a:spcAft>
              <a:buSzPct val="100000"/>
              <a:buChar char="•"/>
            </a:pPr>
            <a:r>
              <a:rPr lang="en-US" sz="1150" dirty="0">
                <a:solidFill>
                  <a:srgbClr val="31424A"/>
                </a:solidFill>
                <a:latin typeface="Arial" pitchFamily="34" charset="0"/>
                <a:ea typeface="Arial" pitchFamily="34" charset="-122"/>
                <a:cs typeface="Arial" pitchFamily="34" charset="-120"/>
              </a:rPr>
              <a:t>أراضٍ مستصلحة رملية: قدرة احتفاظ بالماء ضعيفة، وهي الحالة الأنسب لموادنا.</a:t>
            </a:r>
            <a:endParaRPr lang="en-US" sz="1150" dirty="0"/>
          </a:p>
          <a:p>
            <a:pPr algn="r" marL="342900" indent="-342900">
              <a:lnSpc>
                <a:spcPct val="116000"/>
              </a:lnSpc>
              <a:spcAft>
                <a:spcPts val="700"/>
              </a:spcAft>
              <a:buSzPct val="100000"/>
              <a:buChar char="•"/>
            </a:pPr>
            <a:r>
              <a:rPr lang="en-US" sz="1150" dirty="0">
                <a:solidFill>
                  <a:srgbClr val="31424A"/>
                </a:solidFill>
                <a:latin typeface="Arial" pitchFamily="34" charset="0"/>
                <a:ea typeface="Arial" pitchFamily="34" charset="-122"/>
                <a:cs typeface="Arial" pitchFamily="34" charset="-120"/>
              </a:rPr>
              <a:t>مزارع تصدير كبيرة مجهّزة بالتنقيط والمحاور، وقرار شراء مركزي وسريع.</a:t>
            </a:r>
            <a:endParaRPr lang="en-US" sz="1150" dirty="0"/>
          </a:p>
          <a:p>
            <a:pPr algn="r" marL="342900" indent="-342900">
              <a:lnSpc>
                <a:spcPct val="116000"/>
              </a:lnSpc>
              <a:spcAft>
                <a:spcPts val="700"/>
              </a:spcAft>
              <a:buSzPct val="100000"/>
              <a:buChar char="•"/>
            </a:pPr>
            <a:r>
              <a:rPr lang="en-US" sz="1150" dirty="0">
                <a:solidFill>
                  <a:srgbClr val="31424A"/>
                </a:solidFill>
                <a:latin typeface="Arial" pitchFamily="34" charset="0"/>
                <a:ea typeface="Arial" pitchFamily="34" charset="-122"/>
                <a:cs typeface="Arial" pitchFamily="34" charset="-120"/>
              </a:rPr>
              <a:t>المشترون الأوروبيون يطلبون شهادة عضوية سارية.</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كيف نعمل</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انتشار على مراحل، مُقاس عند كل خطوة</a:t>
            </a:r>
            <a:endParaRPr lang="en-US" sz="3000" dirty="0"/>
          </a:p>
        </p:txBody>
      </p:sp>
      <p:sp>
        <p:nvSpPr>
          <p:cNvPr id="4" name="Shape 2"/>
          <p:cNvSpPr/>
          <p:nvPr/>
        </p:nvSpPr>
        <p:spPr>
          <a:xfrm>
            <a:off x="594360" y="1874520"/>
            <a:ext cx="2545004" cy="2834640"/>
          </a:xfrm>
          <a:prstGeom prst="roundRect">
            <a:avLst>
              <a:gd name="adj" fmla="val 3593"/>
            </a:avLst>
          </a:prstGeom>
          <a:solidFill>
            <a:srgbClr val="EDF3F5"/>
          </a:solidFill>
          <a:ln w="9525">
            <a:solidFill>
              <a:srgbClr val="D6E2E7"/>
            </a:solidFill>
            <a:prstDash val="solid"/>
          </a:ln>
        </p:spPr>
      </p:sp>
      <p:sp>
        <p:nvSpPr>
          <p:cNvPr id="5" name="Shape 3"/>
          <p:cNvSpPr/>
          <p:nvPr/>
        </p:nvSpPr>
        <p:spPr>
          <a:xfrm>
            <a:off x="822960" y="2103120"/>
            <a:ext cx="566928" cy="566928"/>
          </a:xfrm>
          <a:prstGeom prst="ellipse">
            <a:avLst/>
          </a:prstGeom>
          <a:solidFill>
            <a:srgbClr val="1C5A73"/>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rtl="1" algn="r" indent="0" marL="0">
              <a:buNone/>
            </a:pPr>
            <a:r>
              <a:rPr lang="en-US" sz="1400" b="1" dirty="0">
                <a:solidFill>
                  <a:srgbClr val="1C5A73"/>
                </a:solidFill>
                <a:latin typeface="Arial" pitchFamily="34" charset="0"/>
                <a:ea typeface="Arial" pitchFamily="34" charset="-122"/>
                <a:cs typeface="Arial" pitchFamily="34" charset="-120"/>
              </a:rPr>
              <a:t>التشخيص</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1424A"/>
                </a:solidFill>
                <a:latin typeface="Arial" pitchFamily="34" charset="0"/>
                <a:ea typeface="Arial" pitchFamily="34" charset="-122"/>
                <a:cs typeface="Arial" pitchFamily="34" charset="-120"/>
              </a:rPr>
              <a:t>تحليل التربة وأسلوب الري والمحصول. لا التزام على الإطلاق في هذه المرحلة.</a:t>
            </a:r>
            <a:endParaRPr lang="en-US" sz="1200" dirty="0"/>
          </a:p>
        </p:txBody>
      </p:sp>
      <p:sp>
        <p:nvSpPr>
          <p:cNvPr id="9" name="Shape 7"/>
          <p:cNvSpPr/>
          <p:nvPr/>
        </p:nvSpPr>
        <p:spPr>
          <a:xfrm>
            <a:off x="3413684" y="1874520"/>
            <a:ext cx="2545004" cy="2834640"/>
          </a:xfrm>
          <a:prstGeom prst="roundRect">
            <a:avLst>
              <a:gd name="adj" fmla="val 3593"/>
            </a:avLst>
          </a:prstGeom>
          <a:solidFill>
            <a:srgbClr val="EDF3F5"/>
          </a:solidFill>
          <a:ln w="9525">
            <a:solidFill>
              <a:srgbClr val="D6E2E7"/>
            </a:solidFill>
            <a:prstDash val="solid"/>
          </a:ln>
        </p:spPr>
      </p:sp>
      <p:sp>
        <p:nvSpPr>
          <p:cNvPr id="10" name="Shape 8"/>
          <p:cNvSpPr/>
          <p:nvPr/>
        </p:nvSpPr>
        <p:spPr>
          <a:xfrm>
            <a:off x="3642284" y="2103120"/>
            <a:ext cx="566928" cy="566928"/>
          </a:xfrm>
          <a:prstGeom prst="ellipse">
            <a:avLst/>
          </a:prstGeom>
          <a:solidFill>
            <a:srgbClr val="1C5A73"/>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rtl="1" algn="r" indent="0" marL="0">
              <a:buNone/>
            </a:pPr>
            <a:r>
              <a:rPr lang="en-US" sz="1400" b="1" dirty="0">
                <a:solidFill>
                  <a:srgbClr val="1C5A73"/>
                </a:solidFill>
                <a:latin typeface="Arial" pitchFamily="34" charset="0"/>
                <a:ea typeface="Arial" pitchFamily="34" charset="-122"/>
                <a:cs typeface="Arial" pitchFamily="34" charset="-120"/>
              </a:rPr>
              <a:t>قطعة تجريبية</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1424A"/>
                </a:solidFill>
                <a:latin typeface="Arial" pitchFamily="34" charset="0"/>
                <a:ea typeface="Arial" pitchFamily="34" charset="-122"/>
                <a:cs typeface="Arial" pitchFamily="34" charset="-120"/>
              </a:rPr>
              <a:t>تجربة مقارنة على قطعة واحدة، مع قطعة شاهدة تُدار بالطريقة نفسها.</a:t>
            </a:r>
            <a:endParaRPr lang="en-US" sz="1200" dirty="0"/>
          </a:p>
        </p:txBody>
      </p:sp>
      <p:sp>
        <p:nvSpPr>
          <p:cNvPr id="14" name="Shape 12"/>
          <p:cNvSpPr/>
          <p:nvPr/>
        </p:nvSpPr>
        <p:spPr>
          <a:xfrm>
            <a:off x="6233008" y="1874520"/>
            <a:ext cx="2545004" cy="2834640"/>
          </a:xfrm>
          <a:prstGeom prst="roundRect">
            <a:avLst>
              <a:gd name="adj" fmla="val 3593"/>
            </a:avLst>
          </a:prstGeom>
          <a:solidFill>
            <a:srgbClr val="EDF3F5"/>
          </a:solidFill>
          <a:ln w="9525">
            <a:solidFill>
              <a:srgbClr val="D6E2E7"/>
            </a:solidFill>
            <a:prstDash val="solid"/>
          </a:ln>
        </p:spPr>
      </p:sp>
      <p:sp>
        <p:nvSpPr>
          <p:cNvPr id="15" name="Shape 13"/>
          <p:cNvSpPr/>
          <p:nvPr/>
        </p:nvSpPr>
        <p:spPr>
          <a:xfrm>
            <a:off x="6461608" y="2103120"/>
            <a:ext cx="566928" cy="566928"/>
          </a:xfrm>
          <a:prstGeom prst="ellipse">
            <a:avLst/>
          </a:prstGeom>
          <a:solidFill>
            <a:srgbClr val="1C5A73"/>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rtl="1" algn="r" indent="0" marL="0">
              <a:buNone/>
            </a:pPr>
            <a:r>
              <a:rPr lang="en-US" sz="1400" b="1" dirty="0">
                <a:solidFill>
                  <a:srgbClr val="1C5A73"/>
                </a:solidFill>
                <a:latin typeface="Arial" pitchFamily="34" charset="0"/>
                <a:ea typeface="Arial" pitchFamily="34" charset="-122"/>
                <a:cs typeface="Arial" pitchFamily="34" charset="-120"/>
              </a:rPr>
              <a:t>القياس</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1424A"/>
                </a:solidFill>
                <a:latin typeface="Arial" pitchFamily="34" charset="0"/>
                <a:ea typeface="Arial" pitchFamily="34" charset="-122"/>
                <a:cs typeface="Arial" pitchFamily="34" charset="-120"/>
              </a:rPr>
              <a:t>تسجيل الاستهلاك المائي والمحصول على دورة زراعية كاملة.</a:t>
            </a:r>
            <a:endParaRPr lang="en-US" sz="1200" dirty="0"/>
          </a:p>
        </p:txBody>
      </p:sp>
      <p:sp>
        <p:nvSpPr>
          <p:cNvPr id="19" name="Shape 17"/>
          <p:cNvSpPr/>
          <p:nvPr/>
        </p:nvSpPr>
        <p:spPr>
          <a:xfrm>
            <a:off x="9052331" y="1874520"/>
            <a:ext cx="2545004" cy="2834640"/>
          </a:xfrm>
          <a:prstGeom prst="roundRect">
            <a:avLst>
              <a:gd name="adj" fmla="val 3593"/>
            </a:avLst>
          </a:prstGeom>
          <a:solidFill>
            <a:srgbClr val="EDF3F5"/>
          </a:solidFill>
          <a:ln w="9525">
            <a:solidFill>
              <a:srgbClr val="D6E2E7"/>
            </a:solidFill>
            <a:prstDash val="solid"/>
          </a:ln>
        </p:spPr>
      </p:sp>
      <p:sp>
        <p:nvSpPr>
          <p:cNvPr id="20" name="Shape 18"/>
          <p:cNvSpPr/>
          <p:nvPr/>
        </p:nvSpPr>
        <p:spPr>
          <a:xfrm>
            <a:off x="9280931" y="2103120"/>
            <a:ext cx="566928" cy="566928"/>
          </a:xfrm>
          <a:prstGeom prst="ellipse">
            <a:avLst/>
          </a:prstGeom>
          <a:solidFill>
            <a:srgbClr val="1C5A73"/>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rtl="1" algn="r" indent="0" marL="0">
              <a:buNone/>
            </a:pPr>
            <a:r>
              <a:rPr lang="en-US" sz="1400" b="1" dirty="0">
                <a:solidFill>
                  <a:srgbClr val="1C5A73"/>
                </a:solidFill>
                <a:latin typeface="Arial" pitchFamily="34" charset="0"/>
                <a:ea typeface="Arial" pitchFamily="34" charset="-122"/>
                <a:cs typeface="Arial" pitchFamily="34" charset="-120"/>
              </a:rPr>
              <a:t>التوسيع</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1424A"/>
                </a:solidFill>
                <a:latin typeface="Arial" pitchFamily="34" charset="0"/>
                <a:ea typeface="Arial" pitchFamily="34" charset="-122"/>
                <a:cs typeface="Arial" pitchFamily="34" charset="-120"/>
              </a:rPr>
              <a:t>تعميم تدريجي على باقي القطع بناءً على النتائج المسجَّلة فعليًا.</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rtl="1" algn="r" indent="0" marL="0">
              <a:lnSpc>
                <a:spcPct val="125000"/>
              </a:lnSpc>
              <a:buNone/>
            </a:pPr>
            <a:r>
              <a:rPr lang="en-US" sz="1250" dirty="0">
                <a:solidFill>
                  <a:srgbClr val="6C8089"/>
                </a:solidFill>
                <a:latin typeface="Arial" pitchFamily="34" charset="0"/>
                <a:ea typeface="Arial" pitchFamily="34" charset="-122"/>
                <a:cs typeface="Arial" pitchFamily="34" charset="-120"/>
              </a:rPr>
              <a:t>قاعدة الجرعة واحدة في كل مكان: 3 غرامات لكل لتر من التربة النافعة. ما يتغير من أرض إلى أخرى هو حجم التربة الذي تستكشفه الجذور فعليًا.</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العمل معاً</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شريك محلي في مصر</a:t>
            </a:r>
            <a:endParaRPr lang="en-US" sz="3000" dirty="0"/>
          </a:p>
        </p:txBody>
      </p:sp>
      <p:sp>
        <p:nvSpPr>
          <p:cNvPr id="4" name="Shape 2"/>
          <p:cNvSpPr/>
          <p:nvPr/>
        </p:nvSpPr>
        <p:spPr>
          <a:xfrm>
            <a:off x="594360" y="1874520"/>
            <a:ext cx="2545004" cy="2834640"/>
          </a:xfrm>
          <a:prstGeom prst="roundRect">
            <a:avLst>
              <a:gd name="adj" fmla="val 3593"/>
            </a:avLst>
          </a:prstGeom>
          <a:solidFill>
            <a:srgbClr val="EDF3F5"/>
          </a:solidFill>
          <a:ln w="9525">
            <a:solidFill>
              <a:srgbClr val="D6E2E7"/>
            </a:solidFill>
            <a:prstDash val="solid"/>
          </a:ln>
        </p:spPr>
      </p:sp>
      <p:sp>
        <p:nvSpPr>
          <p:cNvPr id="5" name="Shape 3"/>
          <p:cNvSpPr/>
          <p:nvPr/>
        </p:nvSpPr>
        <p:spPr>
          <a:xfrm>
            <a:off x="822960" y="2103120"/>
            <a:ext cx="566928" cy="566928"/>
          </a:xfrm>
          <a:prstGeom prst="ellipse">
            <a:avLst/>
          </a:prstGeom>
          <a:solidFill>
            <a:srgbClr val="1C5A73"/>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rtl="1" algn="r" indent="0" marL="0">
              <a:buNone/>
            </a:pPr>
            <a:r>
              <a:rPr lang="en-US" sz="1400" b="1" dirty="0">
                <a:solidFill>
                  <a:srgbClr val="1C5A73"/>
                </a:solidFill>
                <a:latin typeface="Arial" pitchFamily="34" charset="0"/>
                <a:ea typeface="Arial" pitchFamily="34" charset="-122"/>
                <a:cs typeface="Arial" pitchFamily="34" charset="-120"/>
              </a:rPr>
              <a:t>التوزيع</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1424A"/>
                </a:solidFill>
                <a:latin typeface="Arial" pitchFamily="34" charset="0"/>
                <a:ea typeface="Arial" pitchFamily="34" charset="-122"/>
                <a:cs typeface="Arial" pitchFamily="34" charset="-120"/>
              </a:rPr>
              <a:t>حصرية على مستوى الإقليم ومخزون إطلاق للموسم التجاري الأول.</a:t>
            </a:r>
            <a:endParaRPr lang="en-US" sz="1200" dirty="0"/>
          </a:p>
        </p:txBody>
      </p:sp>
      <p:sp>
        <p:nvSpPr>
          <p:cNvPr id="9" name="Shape 7"/>
          <p:cNvSpPr/>
          <p:nvPr/>
        </p:nvSpPr>
        <p:spPr>
          <a:xfrm>
            <a:off x="3413684" y="1874520"/>
            <a:ext cx="2545004" cy="2834640"/>
          </a:xfrm>
          <a:prstGeom prst="roundRect">
            <a:avLst>
              <a:gd name="adj" fmla="val 3593"/>
            </a:avLst>
          </a:prstGeom>
          <a:solidFill>
            <a:srgbClr val="EDF3F5"/>
          </a:solidFill>
          <a:ln w="9525">
            <a:solidFill>
              <a:srgbClr val="D6E2E7"/>
            </a:solidFill>
            <a:prstDash val="solid"/>
          </a:ln>
        </p:spPr>
      </p:sp>
      <p:sp>
        <p:nvSpPr>
          <p:cNvPr id="10" name="Shape 8"/>
          <p:cNvSpPr/>
          <p:nvPr/>
        </p:nvSpPr>
        <p:spPr>
          <a:xfrm>
            <a:off x="3642284" y="2103120"/>
            <a:ext cx="566928" cy="566928"/>
          </a:xfrm>
          <a:prstGeom prst="ellipse">
            <a:avLst/>
          </a:prstGeom>
          <a:solidFill>
            <a:srgbClr val="1C5A73"/>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rtl="1" algn="r" indent="0" marL="0">
              <a:buNone/>
            </a:pPr>
            <a:r>
              <a:rPr lang="en-US" sz="1400" b="1" dirty="0">
                <a:solidFill>
                  <a:srgbClr val="1C5A73"/>
                </a:solidFill>
                <a:latin typeface="Arial" pitchFamily="34" charset="0"/>
                <a:ea typeface="Arial" pitchFamily="34" charset="-122"/>
                <a:cs typeface="Arial" pitchFamily="34" charset="-120"/>
              </a:rPr>
              <a:t>التدريب</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1424A"/>
                </a:solidFill>
                <a:latin typeface="Arial" pitchFamily="34" charset="0"/>
                <a:ea typeface="Arial" pitchFamily="34" charset="-122"/>
                <a:cs typeface="Arial" pitchFamily="34" charset="-120"/>
              </a:rPr>
              <a:t>تدريب فني للفرق، وبروتوكولات الجرعات، وتحديثها في كل موسم.</a:t>
            </a:r>
            <a:endParaRPr lang="en-US" sz="1200" dirty="0"/>
          </a:p>
        </p:txBody>
      </p:sp>
      <p:sp>
        <p:nvSpPr>
          <p:cNvPr id="14" name="Shape 12"/>
          <p:cNvSpPr/>
          <p:nvPr/>
        </p:nvSpPr>
        <p:spPr>
          <a:xfrm>
            <a:off x="6233008" y="1874520"/>
            <a:ext cx="2545004" cy="2834640"/>
          </a:xfrm>
          <a:prstGeom prst="roundRect">
            <a:avLst>
              <a:gd name="adj" fmla="val 3593"/>
            </a:avLst>
          </a:prstGeom>
          <a:solidFill>
            <a:srgbClr val="EDF3F5"/>
          </a:solidFill>
          <a:ln w="9525">
            <a:solidFill>
              <a:srgbClr val="D6E2E7"/>
            </a:solidFill>
            <a:prstDash val="solid"/>
          </a:ln>
        </p:spPr>
      </p:sp>
      <p:sp>
        <p:nvSpPr>
          <p:cNvPr id="15" name="Shape 13"/>
          <p:cNvSpPr/>
          <p:nvPr/>
        </p:nvSpPr>
        <p:spPr>
          <a:xfrm>
            <a:off x="6461608" y="2103120"/>
            <a:ext cx="566928" cy="566928"/>
          </a:xfrm>
          <a:prstGeom prst="ellipse">
            <a:avLst/>
          </a:prstGeom>
          <a:solidFill>
            <a:srgbClr val="1C5A73"/>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rtl="1" algn="r" indent="0" marL="0">
              <a:buNone/>
            </a:pPr>
            <a:r>
              <a:rPr lang="en-US" sz="1400" b="1" dirty="0">
                <a:solidFill>
                  <a:srgbClr val="1C5A73"/>
                </a:solidFill>
                <a:latin typeface="Arial" pitchFamily="34" charset="0"/>
                <a:ea typeface="Arial" pitchFamily="34" charset="-122"/>
                <a:cs typeface="Arial" pitchFamily="34" charset="-120"/>
              </a:rPr>
              <a:t>تجارب مشتركة</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1424A"/>
                </a:solidFill>
                <a:latin typeface="Arial" pitchFamily="34" charset="0"/>
                <a:ea typeface="Arial" pitchFamily="34" charset="-122"/>
                <a:cs typeface="Arial" pitchFamily="34" charset="-120"/>
              </a:rPr>
              <a:t>قطع إرشادية مع قطعة شاهد، ونتائج تُعرض على المزارعين.</a:t>
            </a:r>
            <a:endParaRPr lang="en-US" sz="1200" dirty="0"/>
          </a:p>
        </p:txBody>
      </p:sp>
      <p:sp>
        <p:nvSpPr>
          <p:cNvPr id="19" name="Shape 17"/>
          <p:cNvSpPr/>
          <p:nvPr/>
        </p:nvSpPr>
        <p:spPr>
          <a:xfrm>
            <a:off x="9052331" y="1874520"/>
            <a:ext cx="2545004" cy="2834640"/>
          </a:xfrm>
          <a:prstGeom prst="roundRect">
            <a:avLst>
              <a:gd name="adj" fmla="val 3593"/>
            </a:avLst>
          </a:prstGeom>
          <a:solidFill>
            <a:srgbClr val="EDF3F5"/>
          </a:solidFill>
          <a:ln w="9525">
            <a:solidFill>
              <a:srgbClr val="D6E2E7"/>
            </a:solidFill>
            <a:prstDash val="solid"/>
          </a:ln>
        </p:spPr>
      </p:sp>
      <p:sp>
        <p:nvSpPr>
          <p:cNvPr id="20" name="Shape 18"/>
          <p:cNvSpPr/>
          <p:nvPr/>
        </p:nvSpPr>
        <p:spPr>
          <a:xfrm>
            <a:off x="9280931" y="2103120"/>
            <a:ext cx="566928" cy="566928"/>
          </a:xfrm>
          <a:prstGeom prst="ellipse">
            <a:avLst/>
          </a:prstGeom>
          <a:solidFill>
            <a:srgbClr val="1C5A73"/>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rtl="1" algn="r" indent="0" marL="0">
              <a:buNone/>
            </a:pPr>
            <a:r>
              <a:rPr lang="en-US" sz="1400" b="1" dirty="0">
                <a:solidFill>
                  <a:srgbClr val="1C5A73"/>
                </a:solidFill>
                <a:latin typeface="Arial" pitchFamily="34" charset="0"/>
                <a:ea typeface="Arial" pitchFamily="34" charset="-122"/>
                <a:cs typeface="Arial" pitchFamily="34" charset="-120"/>
              </a:rPr>
              <a:t>المؤسسات</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rtl="1" algn="r" indent="0" marL="0">
              <a:lnSpc>
                <a:spcPct val="120000"/>
              </a:lnSpc>
              <a:buNone/>
            </a:pPr>
            <a:r>
              <a:rPr lang="en-US" sz="1200" dirty="0">
                <a:solidFill>
                  <a:srgbClr val="31424A"/>
                </a:solidFill>
                <a:latin typeface="Arial" pitchFamily="34" charset="0"/>
                <a:ea typeface="Arial" pitchFamily="34" charset="-122"/>
                <a:cs typeface="Arial" pitchFamily="34" charset="-120"/>
              </a:rPr>
              <a:t>حوار مع وزارة الزراعة وبرامج الأمن الغذائي.</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rtl="1" algn="r" indent="0" marL="0">
              <a:lnSpc>
                <a:spcPct val="125000"/>
              </a:lnSpc>
              <a:buNone/>
            </a:pPr>
            <a:r>
              <a:rPr lang="en-US" sz="1250" dirty="0">
                <a:solidFill>
                  <a:srgbClr val="6C8089"/>
                </a:solidFill>
                <a:latin typeface="Arial" pitchFamily="34" charset="0"/>
                <a:ea typeface="Arial" pitchFamily="34" charset="-122"/>
                <a:cs typeface="Arial" pitchFamily="34" charset="-120"/>
              </a:rPr>
              <a:t>يتكيف الإطار مع الإقليم: يمكن أن يقود الشراكة مستورد أو موزّع مدخلات زراعية أو جمعية منتجين.</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ما ينبغي توقّعه</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مخاطر محدّدة وردود عليها</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1C5A73"/>
                </a:solidFill>
                <a:latin typeface="Arial" pitchFamily="34" charset="0"/>
                <a:ea typeface="Arial" pitchFamily="34" charset="-122"/>
                <a:cs typeface="Arial" pitchFamily="34" charset="-120"/>
              </a:rPr>
              <a:t>المخاطر</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تفتّت الحيازات في الوادي والدلتا: متوسط الحيازة أقل من فدانين، وقرار الشراء مشتّت.</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ماء الري متاح بتكلفة منخفضة جدًا للمزارع، ما يضعف الحافز المالي المباشر للتوفير.</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منافسة مواد رخيصة أساسها الصوديوم تركت انطباعًا سيئًا وأضرّت بتربة مالحة أصلًا.</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سيولة المزارع محدودة وتكلفة المستلزمات المستوردة مرتفعة بفعل تقلبات سعر الصرف.</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1C5A73"/>
                </a:solidFill>
                <a:latin typeface="Arial" pitchFamily="34" charset="0"/>
                <a:ea typeface="Arial" pitchFamily="34" charset="-122"/>
                <a:cs typeface="Arial" pitchFamily="34" charset="-120"/>
              </a:rPr>
              <a:t>الردود</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المرور عبر الجمعيات التعاونية ومصانع السكر ومصدّري الموالح، لا عبر الحيازة الفردية.</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عرض المكسب على المحصول والجودة، لا على فاتورة الماء وحدها: الماء المتاح باستمرار يرفع الإنتاج.</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توثيق فارق التركيبة: بوتاسيوم لا صوديوم، ملائم للمحاصيل الغذائية وللتربة المالحة.</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توزيع الالتزام: مفعول يمتد 3 إلى 4 سنوات يوزّع التكلفة على عدة مواسم.</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C8089"/>
                </a:solidFill>
                <a:latin typeface="Arial" pitchFamily="34" charset="0"/>
                <a:ea typeface="Arial" pitchFamily="34" charset="-122"/>
                <a:cs typeface="Arial" pitchFamily="34" charset="-120"/>
              </a:rPr>
              <a:t>تحليل الأكريلاميد (مختبر Polymex، ISO 9001، بتركيز أقل من 3,0 ميكروغرام/غرام) وفحص REACH / SVHC (SGS) وشهادة SOHISCERT السارية حتى 4 سبتمبر 2027: متاحة جميعها عند الطلب.</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B"/>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rtl="1" algn="r" indent="0" marL="0">
              <a:buNone/>
            </a:pPr>
            <a:r>
              <a:rPr lang="en-US" sz="1150" b="1" spc="200" kern="0" dirty="0">
                <a:solidFill>
                  <a:srgbClr val="E0A33E"/>
                </a:solidFill>
                <a:latin typeface="Arial" pitchFamily="34" charset="0"/>
                <a:ea typeface="Arial" pitchFamily="34" charset="-122"/>
                <a:cs typeface="Arial" pitchFamily="34" charset="-120"/>
              </a:rPr>
              <a:t>المصادر</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rtl="1" algn="r" indent="0" marL="0">
              <a:buNone/>
            </a:pPr>
            <a:r>
              <a:rPr lang="en-US" sz="3000" b="1" dirty="0">
                <a:solidFill>
                  <a:srgbClr val="0E3546"/>
                </a:solidFill>
                <a:latin typeface="Arial" pitchFamily="34" charset="0"/>
                <a:ea typeface="Arial" pitchFamily="34" charset="-122"/>
                <a:cs typeface="Arial" pitchFamily="34" charset="-120"/>
              </a:rPr>
              <a:t>المصادر وافتراضات العمل</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rtl="1" algn="r" indent="0" marL="0">
              <a:buNone/>
            </a:pPr>
            <a:r>
              <a:rPr lang="en-US" sz="1600" b="1" dirty="0">
                <a:solidFill>
                  <a:srgbClr val="1C5A73"/>
                </a:solidFill>
                <a:latin typeface="Arial" pitchFamily="34" charset="0"/>
                <a:ea typeface="Arial" pitchFamily="34" charset="-122"/>
                <a:cs typeface="Arial" pitchFamily="34" charset="-120"/>
              </a:rPr>
              <a:t>المصادر الرئيسية</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الجهاز المركزي للتعبئة العامة والإحصاء: السكان والإنتاج الزراعي والتجارة الخارجية.</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وزارة الزراعة واستصلاح الأراضي: إحصاءات الصادرات الزراعية.</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وزارة الموارد المائية والري: الخطة القومية للموارد المائية.</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منظمة الأغذية والزراعة (FAOSTAT وAQUASTAT) والبنك الدولي (WDI).</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اتفاقية الأمم المتحدة لمكافحة التصحر، الجفاف بالأرقام 2022: ارتفاع عدد فترات الجفاف ومدتها 29٪ منذ 2000 مقارنة بـ1980–1999.</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الأمم المتحدة للمياه / أكواستات الفاو، مؤشر الهدف 6.4.2: تعريف الإجهاد المائي وحدوده.</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rtl="1" algn="r" indent="0" marL="0">
              <a:buNone/>
            </a:pPr>
            <a:r>
              <a:rPr lang="en-US" sz="1600" b="1" dirty="0">
                <a:solidFill>
                  <a:srgbClr val="1C5A73"/>
                </a:solidFill>
                <a:latin typeface="Arial" pitchFamily="34" charset="0"/>
                <a:ea typeface="Arial" pitchFamily="34" charset="-122"/>
                <a:cs typeface="Arial" pitchFamily="34" charset="-120"/>
              </a:rPr>
              <a:t>افتراضات العمل</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الأرقام رتب حجم مقرّبة، مأخوذة من أحدث البيانات العامة المتاحة.</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توفير الماء وزيادة الإنتاج أرقام استرشادية تتغير بحسب التربة والمناخ والمحصول.</a:t>
            </a:r>
            <a:endParaRPr lang="en-US" sz="1350" dirty="0"/>
          </a:p>
          <a:p>
            <a:pPr algn="r" marL="342900" indent="-342900">
              <a:lnSpc>
                <a:spcPct val="122000"/>
              </a:lnSpc>
              <a:spcAft>
                <a:spcPts val="1000"/>
              </a:spcAft>
              <a:buSzPct val="100000"/>
              <a:buChar char="•"/>
            </a:pPr>
            <a:r>
              <a:rPr lang="en-US" sz="1350" dirty="0">
                <a:solidFill>
                  <a:srgbClr val="31424A"/>
                </a:solidFill>
                <a:latin typeface="Arial" pitchFamily="34" charset="0"/>
                <a:ea typeface="Arial" pitchFamily="34" charset="-122"/>
                <a:cs typeface="Arial" pitchFamily="34" charset="-120"/>
              </a:rPr>
              <a:t>وثيقة عمل تجارية: تُحدَّث الأرقام قبل أي تقديم رسمي.</a:t>
            </a:r>
            <a:endParaRPr lang="en-US" sz="1350" dirty="0"/>
          </a:p>
        </p:txBody>
      </p:sp>
      <p:sp>
        <p:nvSpPr>
          <p:cNvPr id="8" name="Shape 6"/>
          <p:cNvSpPr/>
          <p:nvPr/>
        </p:nvSpPr>
        <p:spPr>
          <a:xfrm>
            <a:off x="594360" y="4846320"/>
            <a:ext cx="11002975" cy="960120"/>
          </a:xfrm>
          <a:prstGeom prst="roundRect">
            <a:avLst>
              <a:gd name="adj" fmla="val 7619"/>
            </a:avLst>
          </a:prstGeom>
          <a:solidFill>
            <a:srgbClr val="EDF3F5"/>
          </a:solidFill>
          <a:ln w="9525">
            <a:solidFill>
              <a:srgbClr val="D6E2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rtl="1" algn="r" indent="0" marL="0">
              <a:lnSpc>
                <a:spcPct val="118000"/>
              </a:lnSpc>
              <a:buNone/>
            </a:pPr>
            <a:r>
              <a:rPr lang="en-US" sz="1100" dirty="0">
                <a:solidFill>
                  <a:srgbClr val="6C8089"/>
                </a:solidFill>
                <a:latin typeface="Arial" pitchFamily="34" charset="0"/>
                <a:ea typeface="Arial" pitchFamily="34" charset="-122"/>
                <a:cs typeface="Arial" pitchFamily="34" charset="-120"/>
              </a:rPr>
              <a:t>تقارير التجارب والشهادات (SOHISCERT، وتحاليل Polymex وSGS) والنشرات الفنية متاحة عند الطلب.</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Green Solutions · دراسة سوق مصر</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6C8089">
                    <a:alpha val="80000"/>
                  </a:srgbClr>
                </a:solidFill>
                <a:latin typeface="Arial" pitchFamily="34" charset="0"/>
                <a:ea typeface="Arial" pitchFamily="34" charset="-122"/>
                <a:cs typeface="Arial" pitchFamily="34" charset="-120"/>
              </a:rPr>
              <a:t>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rtl="1" algn="r" indent="0" marL="0">
              <a:buNone/>
            </a:pPr>
            <a:r>
              <a:rPr lang="en-US" sz="3400" b="1" dirty="0">
                <a:solidFill>
                  <a:srgbClr val="FFFFFF"/>
                </a:solidFill>
                <a:latin typeface="Arial" pitchFamily="34" charset="0"/>
                <a:ea typeface="Arial" pitchFamily="34" charset="-122"/>
                <a:cs typeface="Arial" pitchFamily="34" charset="-120"/>
              </a:rPr>
              <a:t>احكِ لنا عن أرضك</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rtl="1" algn="r" indent="0" marL="0">
              <a:lnSpc>
                <a:spcPct val="130000"/>
              </a:lnSpc>
              <a:buNone/>
            </a:pPr>
            <a:r>
              <a:rPr lang="en-US" sz="1500" dirty="0">
                <a:solidFill>
                  <a:srgbClr val="FFFFFF">
                    <a:alpha val="88000"/>
                  </a:srgbClr>
                </a:solidFill>
                <a:latin typeface="Arial" pitchFamily="34" charset="0"/>
                <a:ea typeface="Arial" pitchFamily="34" charset="-122"/>
                <a:cs typeface="Arial" pitchFamily="34" charset="-120"/>
              </a:rPr>
              <a:t>المحصول، أسلوب الري، طبيعة التربة، كمية الماء المستهلكة اليوم. نعود إليك بتركيبة التقنيات المناسبة، والجرعات، والتجارب التي أُجريت في أوضاع مشابهة.</a:t>
            </a:r>
            <a:endParaRPr lang="en-US" sz="1500" dirty="0"/>
          </a:p>
          <a:p>
            <a:pPr rtl="1" algn="r" indent="0" marL="0">
              <a:lnSpc>
                <a:spcPct val="130000"/>
              </a:lnSpc>
              <a:buNone/>
            </a:pPr>
            <a:endParaRPr lang="en-US" sz="1500" dirty="0"/>
          </a:p>
          <a:p>
            <a:pPr rtl="1" algn="r" indent="0" marL="0">
              <a:lnSpc>
                <a:spcPct val="130000"/>
              </a:lnSpc>
              <a:buNone/>
            </a:pPr>
            <a:r>
              <a:rPr lang="en-US" sz="1500" dirty="0">
                <a:solidFill>
                  <a:srgbClr val="FFFFFF">
                    <a:alpha val="88000"/>
                  </a:srgbClr>
                </a:solidFill>
                <a:latin typeface="Arial" pitchFamily="34" charset="0"/>
                <a:ea typeface="Arial" pitchFamily="34" charset="-122"/>
                <a:cs typeface="Arial" pitchFamily="34" charset="-120"/>
              </a:rPr>
              <a:t>أول تبادل لا يلزمك بشيء.</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rtl="1" algn="r" indent="0" marL="0">
              <a:buNone/>
            </a:pPr>
            <a:r>
              <a:rPr lang="en-US" sz="1400" b="1" dirty="0">
                <a:solidFill>
                  <a:srgbClr val="E0A33E"/>
                </a:solidFill>
                <a:latin typeface="Arial" pitchFamily="34" charset="0"/>
                <a:ea typeface="Arial" pitchFamily="34" charset="-122"/>
                <a:cs typeface="Arial" pitchFamily="34" charset="-120"/>
              </a:rPr>
              <a:t>contact@green-solutions-group.com · Green Solutions Groupe AIM SA, 46, route de la Condémine, 1475 Forel, Switzerland</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502920"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rtl="1" algn="r" indent="0" marL="0">
              <a:buNone/>
            </a:pPr>
            <a:r>
              <a:rPr lang="en-US" sz="950" dirty="0">
                <a:solidFill>
                  <a:srgbClr val="FFFFFF">
                    <a:alpha val="55000"/>
                  </a:srgbClr>
                </a:solidFill>
                <a:latin typeface="Arial" pitchFamily="34" charset="0"/>
                <a:ea typeface="Arial" pitchFamily="34" charset="-122"/>
                <a:cs typeface="Arial" pitchFamily="34" charset="-120"/>
              </a:rPr>
              <a:t>Green Solutions · دراسة سوق مصر</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rtl="1" algn="r" indent="0" marL="0">
              <a:buNone/>
            </a:pPr>
            <a:r>
              <a:rPr lang="en-US" sz="950" dirty="0">
                <a:solidFill>
                  <a:srgbClr val="FFFFFF">
                    <a:alpha val="55000"/>
                  </a:srgbClr>
                </a:solidFill>
                <a:latin typeface="Arial" pitchFamily="34" charset="0"/>
                <a:ea typeface="Arial" pitchFamily="34" charset="-122"/>
                <a:cs typeface="Arial"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2026-10-07T08:25:41Z</dcterms:created>
  <dcterms:modified xsi:type="dcterms:W3CDTF">2026-10-07T08:25:41Z</dcterms:modified>
</cp:coreProperties>
</file>