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7.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سحب المياه</c:v>
                </c:pt>
              </c:strCache>
            </c:strRef>
          </c:tx>
          <c:spPr>
            <a:solidFill>
              <a:schemeClr val="accent1"/>
            </a:solidFill>
            <a:ln w="9525" cap="flat">
              <a:solidFill>
                <a:srgbClr val="F9F9F9"/>
              </a:solidFill>
              <a:prstDash val="solid"/>
              <a:round/>
            </a:ln>
            <a:effectLst/>
          </c:spPr>
          <c:dPt>
            <c:idx val="0"/>
            <c:bubble3D val="0"/>
            <c:spPr>
              <a:solidFill>
                <a:srgbClr val="1C5A73"/>
              </a:solidFill>
              <a:effectLst/>
            </c:spPr>
          </c:dPt>
          <c:dPt>
            <c:idx val="1"/>
            <c:bubble3D val="0"/>
            <c:spPr>
              <a:solidFill>
                <a:srgbClr val="E0A33E"/>
              </a:solidFill>
              <a:effectLst/>
            </c:spPr>
          </c:dPt>
          <c:dPt>
            <c:idx val="2"/>
            <c:bubble3D val="0"/>
            <c:spPr>
              <a:solidFill>
                <a:srgbClr val="5E93A8"/>
              </a:solidFill>
              <a:effectLst/>
            </c:spPr>
          </c:dPt>
          <c:dLbls>
            <c:dLbl>
              <c:idx val="0"/>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1]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الزراعة</c:v>
                </c:pt>
                <c:pt idx="1">
                  <c:v>مياه الشرب</c:v>
                </c:pt>
                <c:pt idx="2">
                  <c:v>الصناعة</c:v>
                </c:pt>
              </c:strCache>
            </c:strRef>
          </c:cat>
          <c:val>
            <c:numRef>
              <c:f>Sheet1!$B$2:$B$4</c:f>
              <c:numCache>
                <c:ptCount val="3"/>
                <c:pt idx="0">
                  <c:v>80</c:v>
                </c:pt>
                <c:pt idx="1">
                  <c:v>12</c:v>
                </c:pt>
                <c:pt idx="2">
                  <c:v>8</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الإنتاج السنوي (مليون طن)</c:v>
                </c:pt>
              </c:strCache>
            </c:strRef>
          </c:tx>
          <c:spPr>
            <a:solidFill>
              <a:srgbClr val="1C5A73"/>
            </a:solidFill>
            <a:effectLst/>
          </c:spPr>
          <c:invertIfNegative val="0"/>
          <c:dLbls>
            <c:numFmt formatCode="[$-401]0.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dPt>
            <c:idx val="0"/>
            <c:invertIfNegative val="0"/>
            <c:bubble3D val="0"/>
            <c:spPr>
              <a:solidFill>
                <a:srgbClr val="1C5A73"/>
              </a:solidFill>
              <a:effectLst/>
            </c:spPr>
          </c:dPt>
          <c:dPt>
            <c:idx val="1"/>
            <c:invertIfNegative val="0"/>
            <c:bubble3D val="0"/>
            <c:spPr>
              <a:solidFill>
                <a:srgbClr val="E0A33E"/>
              </a:solidFill>
              <a:effectLst/>
            </c:spPr>
          </c:dPt>
          <c:dPt>
            <c:idx val="2"/>
            <c:invertIfNegative val="0"/>
            <c:bubble3D val="0"/>
            <c:spPr>
              <a:solidFill>
                <a:srgbClr val="5E93A8"/>
              </a:solidFill>
              <a:effectLst/>
            </c:spPr>
          </c:dPt>
          <c:dPt>
            <c:idx val="3"/>
            <c:invertIfNegative val="0"/>
            <c:bubble3D val="0"/>
            <c:spPr>
              <a:solidFill>
                <a:srgbClr val="C2703A"/>
              </a:solidFill>
              <a:effectLst/>
            </c:spPr>
          </c:dPt>
          <c:dPt>
            <c:idx val="4"/>
            <c:invertIfNegative val="0"/>
            <c:bubble3D val="0"/>
            <c:spPr>
              <a:solidFill>
                <a:srgbClr val="3C7285"/>
              </a:solidFill>
              <a:effectLst/>
            </c:spPr>
          </c:dPt>
          <c:cat>
            <c:multiLvlStrRef>
              <c:f>Sheet1!$A$2:$A$6</c:f>
              <c:multiLvlStrCache>
                <c:ptCount val="5"/>
                <c:lvl>
                  <c:pt idx="0">
                    <c:v>قصب السكر</c:v>
                  </c:pt>
                  <c:pt idx="1">
                    <c:v>القمح</c:v>
                  </c:pt>
                  <c:pt idx="2">
                    <c:v>الذرة</c:v>
                  </c:pt>
                  <c:pt idx="3">
                    <c:v>الطماطم</c:v>
                  </c:pt>
                  <c:pt idx="4">
                    <c:v>الموالح</c:v>
                  </c:pt>
                </c:lvl>
              </c:multiLvlStrCache>
            </c:multiLvlStrRef>
          </c:cat>
          <c:val>
            <c:numRef>
              <c:f>Sheet1!$B$2:$B$6</c:f>
              <c:numCache>
                <c:formatCode>General</c:formatCode>
                <c:ptCount val="5"/>
                <c:pt idx="0">
                  <c:v>16</c:v>
                </c:pt>
                <c:pt idx="1">
                  <c:v>9</c:v>
                </c:pt>
                <c:pt idx="2">
                  <c:v>7.5</c:v>
                </c:pt>
                <c:pt idx="3">
                  <c:v>6.3</c:v>
                </c:pt>
                <c:pt idx="4">
                  <c:v>4</c:v>
                </c:pt>
              </c:numCache>
            </c:numRef>
          </c:val>
        </c:ser>
        <c:dLbls>
          <c:numFmt formatCode="[$-401]0.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c:v>
                </c:pt>
              </c:strCache>
            </c:strRef>
          </c:tx>
          <c:spPr>
            <a:solidFill>
              <a:srgbClr val="1C5A73"/>
            </a:solidFill>
            <a:effectLst/>
          </c:spPr>
          <c:invertIfNegative val="0"/>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الري بالغمر</c:v>
                  </c:pt>
                  <c:pt idx="1">
                    <c:v>الري بالتنقيط</c:v>
                  </c:pt>
                  <c:pt idx="2">
                    <c:v>الري بالرش</c:v>
                  </c:pt>
                  <c:pt idx="3">
                    <c:v>الري بالمحاور</c:v>
                  </c:pt>
                </c:lvl>
              </c:multiLvlStrCache>
            </c:multiLvlStrRef>
          </c:cat>
          <c:val>
            <c:numRef>
              <c:f>Sheet1!$B$2:$B$5</c:f>
              <c:numCache>
                <c:formatCode>General</c:formatCode>
                <c:ptCount val="4"/>
                <c:pt idx="0">
                  <c:v>55</c:v>
                </c:pt>
                <c:pt idx="1">
                  <c:v>40</c:v>
                </c:pt>
                <c:pt idx="2">
                  <c:v>50</c:v>
                </c:pt>
                <c:pt idx="3">
                  <c:v>50</c:v>
                </c:pt>
              </c:numCache>
            </c:numRef>
          </c:val>
        </c:ser>
        <c:ser>
          <c:idx val="1"/>
          <c:order val="1"/>
          <c:tx>
            <c:strRef>
              <c:f>Sheet1!$C$1</c:f>
              <c:strCache>
                <c:ptCount val="1"/>
                <c:pt idx="0">
                  <c:v>الحد الأعلى (%)</c:v>
                </c:pt>
              </c:strCache>
            </c:strRef>
          </c:tx>
          <c:spPr>
            <a:solidFill>
              <a:srgbClr val="E0A33E"/>
            </a:solidFill>
            <a:effectLst/>
          </c:spPr>
          <c:invertIfNegative val="0"/>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الري بالغمر</c:v>
                  </c:pt>
                  <c:pt idx="1">
                    <c:v>الري بالتنقيط</c:v>
                  </c:pt>
                  <c:pt idx="2">
                    <c:v>الري بالرش</c:v>
                  </c:pt>
                  <c:pt idx="3">
                    <c:v>الري بالمحاور</c:v>
                  </c:pt>
                </c:lvl>
              </c:multiLvlStrCache>
            </c:multiLvlStrRef>
          </c:cat>
          <c:val>
            <c:numRef>
              <c:f>Sheet1!$C$2:$C$5</c:f>
              <c:numCache>
                <c:formatCode>General</c:formatCode>
                <c:ptCount val="4"/>
                <c:pt idx="0">
                  <c:v>70</c:v>
                </c:pt>
                <c:pt idx="1">
                  <c:v>55</c:v>
                </c:pt>
                <c:pt idx="2">
                  <c:v>65</c:v>
                </c:pt>
                <c:pt idx="3">
                  <c:v>65</c:v>
                </c:pt>
              </c:numCache>
            </c:numRef>
          </c:val>
        </c:ser>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77240" y="1965960"/>
            <a:ext cx="10058400" cy="320040"/>
          </a:xfrm>
          <a:prstGeom prst="rect">
            <a:avLst/>
          </a:prstGeom>
          <a:noFill/>
          <a:ln/>
        </p:spPr>
        <p:txBody>
          <a:bodyPr wrap="square" lIns="0" tIns="0" rIns="0" bIns="0" rtlCol="0" anchor="ctr"/>
          <a:lstStyle/>
          <a:p>
            <a:pPr rtl="1" algn="r" indent="0" marL="0">
              <a:buNone/>
            </a:pPr>
            <a:r>
              <a:rPr lang="en-US" sz="1300" b="1" spc="250" kern="0" dirty="0">
                <a:solidFill>
                  <a:srgbClr val="E0A33E"/>
                </a:solidFill>
                <a:latin typeface="Arial" pitchFamily="34" charset="0"/>
                <a:ea typeface="Arial" pitchFamily="34" charset="-122"/>
                <a:cs typeface="Arial" pitchFamily="34" charset="-120"/>
              </a:rPr>
              <a:t>دراسة سوق</a:t>
            </a:r>
            <a:endParaRPr lang="en-US" sz="1300" dirty="0"/>
          </a:p>
        </p:txBody>
      </p:sp>
      <p:sp>
        <p:nvSpPr>
          <p:cNvPr id="4" name="Text 1"/>
          <p:cNvSpPr txBox="1"/>
          <p:nvPr/>
        </p:nvSpPr>
        <p:spPr>
          <a:xfrm>
            <a:off x="777240" y="2377440"/>
            <a:ext cx="10241280" cy="1371600"/>
          </a:xfrm>
          <a:prstGeom prst="rect">
            <a:avLst/>
          </a:prstGeom>
          <a:noFill/>
          <a:ln/>
        </p:spPr>
        <p:txBody>
          <a:bodyPr wrap="square" lIns="0" tIns="0" rIns="0" bIns="0" rtlCol="0" anchor="ctr"/>
          <a:lstStyle/>
          <a:p>
            <a:pPr rtl="1" algn="r" indent="0" marL="0">
              <a:buNone/>
            </a:pPr>
            <a:r>
              <a:rPr lang="en-US" sz="4200" b="1" dirty="0">
                <a:solidFill>
                  <a:srgbClr val="FFFFFF"/>
                </a:solidFill>
                <a:latin typeface="Arial" pitchFamily="34" charset="0"/>
                <a:ea typeface="Arial" pitchFamily="34" charset="-122"/>
                <a:cs typeface="Arial" pitchFamily="34" charset="-120"/>
              </a:rPr>
              <a:t>مصر</a:t>
            </a:r>
            <a:endParaRPr lang="en-US" sz="4200" dirty="0"/>
          </a:p>
        </p:txBody>
      </p:sp>
      <p:sp>
        <p:nvSpPr>
          <p:cNvPr id="5" name="Text 2"/>
          <p:cNvSpPr txBox="1"/>
          <p:nvPr/>
        </p:nvSpPr>
        <p:spPr>
          <a:xfrm>
            <a:off x="777240" y="3840480"/>
            <a:ext cx="8686800" cy="822960"/>
          </a:xfrm>
          <a:prstGeom prst="rect">
            <a:avLst/>
          </a:prstGeom>
          <a:noFill/>
          <a:ln/>
        </p:spPr>
        <p:txBody>
          <a:bodyPr wrap="square" lIns="0" tIns="0" rIns="0" bIns="0" rtlCol="0" anchor="ctr"/>
          <a:lstStyle/>
          <a:p>
            <a:pPr rtl="1" algn="r" indent="0" marL="0">
              <a:lnSpc>
                <a:spcPct val="125000"/>
              </a:lnSpc>
              <a:buNone/>
            </a:pPr>
            <a:r>
              <a:rPr lang="en-US" sz="1600" dirty="0">
                <a:solidFill>
                  <a:srgbClr val="FFFFFF">
                    <a:alpha val="88000"/>
                  </a:srgbClr>
                </a:solidFill>
                <a:latin typeface="Arial" pitchFamily="34" charset="0"/>
                <a:ea typeface="Arial" pitchFamily="34" charset="-122"/>
                <a:cs typeface="Arial" pitchFamily="34" charset="-120"/>
              </a:rPr>
              <a:t>زراعة مروية بالكامل تعتمد على نهر واحد وحصة مائية ثابتة.</a:t>
            </a:r>
            <a:endParaRPr lang="en-US" sz="1600" dirty="0"/>
          </a:p>
          <a:p>
            <a:pPr rtl="1" algn="r" indent="0" marL="0">
              <a:lnSpc>
                <a:spcPct val="125000"/>
              </a:lnSpc>
              <a:buNone/>
            </a:pPr>
            <a:r>
              <a:rPr lang="en-US" sz="1600" dirty="0">
                <a:solidFill>
                  <a:srgbClr val="FFFFFF">
                    <a:alpha val="88000"/>
                  </a:srgbClr>
                </a:solidFill>
                <a:latin typeface="Arial" pitchFamily="34" charset="0"/>
                <a:ea typeface="Arial" pitchFamily="34" charset="-122"/>
                <a:cs typeface="Arial" pitchFamily="34" charset="-120"/>
              </a:rPr>
              <a:t>ما الذي يغيّره احتباس الماء في التربة لمنتج يصدّر إلى أوروبا والخليج.</a:t>
            </a:r>
            <a:endParaRPr lang="en-US" sz="1600" dirty="0"/>
          </a:p>
        </p:txBody>
      </p:sp>
      <p:sp>
        <p:nvSpPr>
          <p:cNvPr id="6" name="Text 3"/>
          <p:cNvSpPr txBox="1"/>
          <p:nvPr/>
        </p:nvSpPr>
        <p:spPr>
          <a:xfrm>
            <a:off x="777240" y="5989320"/>
            <a:ext cx="10058400" cy="320040"/>
          </a:xfrm>
          <a:prstGeom prst="rect">
            <a:avLst/>
          </a:prstGeom>
          <a:noFill/>
          <a:ln/>
        </p:spPr>
        <p:txBody>
          <a:bodyPr wrap="square" lIns="0" tIns="0" rIns="0" bIns="0" rtlCol="0" anchor="ctr"/>
          <a:lstStyle/>
          <a:p>
            <a:pPr rtl="1" algn="r" indent="0" marL="0">
              <a:buNone/>
            </a:pPr>
            <a:r>
              <a:rPr lang="en-US" sz="1100" dirty="0">
                <a:solidFill>
                  <a:srgbClr val="FFFFFF">
                    <a:alpha val="65000"/>
                  </a:srgbClr>
                </a:solidFill>
                <a:latin typeface="Arial" pitchFamily="34" charset="0"/>
                <a:ea typeface="Arial" pitchFamily="34" charset="-122"/>
                <a:cs typeface="Arial" pitchFamily="34" charset="-120"/>
              </a:rPr>
              <a:t>Green Solutions · contact@evergreen-ecosorb.com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السوق في سطور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بلد زراعي كبير على حصة مائية ثابتة</a:t>
            </a:r>
            <a:endParaRPr lang="en-US" sz="3000" dirty="0"/>
          </a:p>
        </p:txBody>
      </p:sp>
      <p:sp>
        <p:nvSpPr>
          <p:cNvPr id="4" name="Shape 2"/>
          <p:cNvSpPr/>
          <p:nvPr/>
        </p:nvSpPr>
        <p:spPr>
          <a:xfrm>
            <a:off x="594360" y="1874520"/>
            <a:ext cx="2545004"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rtl="1" algn="ctr" indent="0" marL="0">
              <a:buNone/>
            </a:pPr>
            <a:r>
              <a:rPr lang="en-US" sz="3800" b="1" dirty="0">
                <a:solidFill>
                  <a:srgbClr val="1C5A73"/>
                </a:solidFill>
                <a:latin typeface="Arial" pitchFamily="34" charset="0"/>
                <a:ea typeface="Arial" pitchFamily="34" charset="-122"/>
                <a:cs typeface="Arial" pitchFamily="34" charset="-120"/>
              </a:rPr>
              <a:t>≈ 11 %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من الناتج المحلي الإجمالي مصدره القطاع الزراعي</a:t>
            </a:r>
            <a:endParaRPr lang="en-US" sz="1250" dirty="0"/>
          </a:p>
        </p:txBody>
      </p:sp>
      <p:sp>
        <p:nvSpPr>
          <p:cNvPr id="7" name="Shape 5"/>
          <p:cNvSpPr/>
          <p:nvPr/>
        </p:nvSpPr>
        <p:spPr>
          <a:xfrm>
            <a:off x="3413684" y="1874520"/>
            <a:ext cx="2545004"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 4 ملايين</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هكتار مزروعة، أي نحو 9,5 مليون فدان</a:t>
            </a:r>
            <a:endParaRPr lang="en-US" sz="1250" dirty="0"/>
          </a:p>
        </p:txBody>
      </p:sp>
      <p:sp>
        <p:nvSpPr>
          <p:cNvPr id="10" name="Shape 8"/>
          <p:cNvSpPr/>
          <p:nvPr/>
        </p:nvSpPr>
        <p:spPr>
          <a:xfrm>
            <a:off x="6233008" y="1874520"/>
            <a:ext cx="2545004"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55,5 مليار</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متر مكعب: حصة مصر السنوية من مياه النيل</a:t>
            </a:r>
            <a:endParaRPr lang="en-US" sz="1250" dirty="0"/>
          </a:p>
        </p:txBody>
      </p:sp>
      <p:sp>
        <p:nvSpPr>
          <p:cNvPr id="13" name="Shape 11"/>
          <p:cNvSpPr/>
          <p:nvPr/>
        </p:nvSpPr>
        <p:spPr>
          <a:xfrm>
            <a:off x="9052331" y="1874520"/>
            <a:ext cx="2545004" cy="2514600"/>
          </a:xfrm>
          <a:prstGeom prst="roundRect">
            <a:avLst>
              <a:gd name="adj" fmla="val 3636"/>
            </a:avLst>
          </a:prstGeom>
          <a:solidFill>
            <a:srgbClr val="EDF3F5"/>
          </a:solidFill>
          <a:ln w="9525">
            <a:solidFill>
              <a:srgbClr val="D6E2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rtl="1" algn="ctr" indent="0" marL="0">
              <a:buNone/>
            </a:pPr>
            <a:r>
              <a:rPr lang="en-US" sz="3800" b="1" dirty="0">
                <a:solidFill>
                  <a:srgbClr val="1C5A73"/>
                </a:solidFill>
                <a:latin typeface="Arial" pitchFamily="34" charset="0"/>
                <a:ea typeface="Arial" pitchFamily="34" charset="-122"/>
                <a:cs typeface="Arial" pitchFamily="34" charset="-120"/>
              </a:rPr>
              <a:t>≈ 20 %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من قوة العمل تشتغل في الزراعة</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1424A"/>
                </a:solidFill>
                <a:latin typeface="Arial" pitchFamily="34" charset="0"/>
                <a:ea typeface="Arial" pitchFamily="34" charset="-122"/>
                <a:cs typeface="Arial" pitchFamily="34" charset="-120"/>
              </a:rPr>
              <a:t>الزراعة المصرية مروية بالكامل تقريبًا: الأمطار لا تكاد تُذكر خارج الساحل الشمالي، والنيل هو المورد الوحيد عمليًا. حصة المياه لم تتغير منذ 1959 بينما تجاوز السكان 105 ملايين نسمة. هذا الفارق بين مورد ثابت وطلب متزايد هو ما يجعل مصر سوقًا ذات أولوية لتقنياتنا.</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القيد الأساسي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مورد ثابت أمام طلب يتضاعف</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rtl="1" algn="r" indent="0" marL="0">
              <a:buNone/>
            </a:pPr>
            <a:r>
              <a:rPr lang="en-US" sz="1000" i="1" dirty="0">
                <a:solidFill>
                  <a:srgbClr val="6C8089"/>
                </a:solidFill>
                <a:latin typeface="Arial" pitchFamily="34" charset="0"/>
                <a:ea typeface="Arial" pitchFamily="34" charset="-122"/>
                <a:cs typeface="Arial" pitchFamily="34" charset="-120"/>
              </a:rPr>
              <a:t>أرض مروية في دلتا النيل</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حصة مصر من مياه النيل ثابتة عند نحو 55,5 مليار متر مكعب سنويًا منذ اتفاقية 1959، بينما تجاوز عدد السكان 105 ملايين نسمة.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نصيب الفرد من المياه العذبة نزل إلى نحو 500 إلى 600 متر مكعب في السنة، أي أقل بكثير من خط الفقر المائي المتعارف عليه دوليًا عند 1000 متر مكعب.</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الأمطار شبه معدومة: أقل من 5 ملم سنويًا في الصعيد، ونحو 100 إلى 200 ملم على الساحل الشمالي وحده. كل زراعة تقريبًا مروية.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الغالبية العظمى من الأراضي القديمة ما زالت تُروى بالغمر، بينما تُستصلح أراضٍ رملية جديدة ضعيفة الاحتفاظ بالماء: الحالتان تفقدان الماء قبل وصوله إلى الجذر.</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المشروعات العامة — تبطين الترع، إعادة استخدام مياه الصرف، التحلية — تعالج جانب العرض. احتباس الماء في التربة يعمل على جانب الطلب، داخل الحقل نفسه.</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أين تذهب المياه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الري يستهلك أربعة أخماس المسحوب</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ماذا يعني ذلك</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خفض الاستهلاك الزراعي بنسبة 10 % يوفّر حجمًا من الماء يعادل الاستخدام الصناعي كله تقريبًا.</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لذلك ينصبّ الجهد أولًا على الحقل، لا على الاستخدامات الأخرى.</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المحاصيل الرئيسية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خمسة محاصيل تحمل عمود الإنتاج</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قراءة الرسم</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قصب السكر أعلى المحاصيل استهلاكًا للماء لكل هكتار، وهو مركّز في الصعيد.</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الموالح والطماطم هما محصولا التصدير: أكثر من 1,5 مليون طن من البرتقال تُشحن سنويًا. هنا يتحوّل توفير الماء مباشرة إلى هامش ربح.</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ما نقترحه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تقنيتان لقيدين مختلفين</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EVERGREEN® — الاحتفاظ بالماء</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مادة حابسة للماء أساسها البوتاسيوم، تُوضع في منطقة الجذور عند الزراعة أو عند تجديد الغرس.</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تلتقط ماء الري وتعيده إلى النبات تدريجيًا، فتلغي الإجهاد المائي في المراحل الحرجة بين ريّتين.</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قدرة امتصاص تبلغ نحو 300 ضعف وزنها، ومفعول مفيد يمتد من 3 إلى 4 سنوات في التربة.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تتحلل بنسبة 20 إلى 25 % سنويًا، دون تراكم في التربة ودون خطر جرعة زائدة.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ECOFERT® — التغذية دون إنهاك التربة</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سماد بجرعات دقيقة من الأحماض الأمينية والنيتروجين والفوسفور والبوتاسيوم، من موارد متجددة.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غير مخلّب: لا يستنزف المركّب الطيني الدبالي ولا يرفع الملوحة ولا نسبة النترات — نقطة حاسمة في شمال الدلتا.</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حاصل على شهادتي SOHISCERT والعضوية الأوروبية، وهو شرط دخول دفاتر شروط المشترين الأوروبيين.</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 1 إلى 4 عبوات سعة 140 مل للهكتار، متوافق مع معدات التسميد بالري القائمة.</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المنتجان يُباعان منفصلين لكنهما صُمّما ليعزّز كل منهما الآخر: المادة الحابسة تطيل بقاء الماء متاحًا، والسماد يثمّر هذا الماء المتاح دون إضعاف التربة.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ترتيب الحجم المتوقع</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توفير الماء المتوقع حسب أسلوب الري</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تُقرأ بتحفّظ</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هذه النطاقات تقديرية إرشادية، مبنية على المكاسب الموثقة لموادنا الحابسة للماء.</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النتيجة الفعلية تتوقف على التربة والمناخ والمحصول. الأرقام تعطي ترتيب حجم فقط، وهي ليست بأي حال قيمة مضمونة أو تعاقدية أو مطلقة.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ثلاثة ميادين أولوية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أين نبدأ التجارب الأولى</a:t>
            </a:r>
            <a:endParaRPr lang="en-US" sz="3000" dirty="0"/>
          </a:p>
        </p:txBody>
      </p:sp>
      <p:sp>
        <p:nvSpPr>
          <p:cNvPr id="4" name="Shape 2"/>
          <p:cNvSpPr/>
          <p:nvPr/>
        </p:nvSpPr>
        <p:spPr>
          <a:xfrm>
            <a:off x="594360" y="1783080"/>
            <a:ext cx="3472586" cy="4069080"/>
          </a:xfrm>
          <a:prstGeom prst="roundRect">
            <a:avLst>
              <a:gd name="adj" fmla="val 2633"/>
            </a:avLst>
          </a:prstGeom>
          <a:solidFill>
            <a:srgbClr val="EDF3F5"/>
          </a:solidFill>
          <a:ln w="9525">
            <a:solidFill>
              <a:srgbClr val="D6E2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شمال الدلتا</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أرز وخضر وموالح على أرض قديمة</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خضر وأرز وموالح على أراضٍ قديمة خصبة، لكن الري بالغمر ما زال هو السائد.</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تداخل مياه البحر يرفع الملوحة: سماد غير مخلّب ميزة مباشرة هنا.</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كثافة عالية من الجمعيات التعاونية تسمح بالوصول إلى عدد كبير من المزارعين.</a:t>
            </a:r>
            <a:endParaRPr lang="en-US" sz="1150" dirty="0"/>
          </a:p>
        </p:txBody>
      </p:sp>
      <p:sp>
        <p:nvSpPr>
          <p:cNvPr id="9" name="Shape 6"/>
          <p:cNvSpPr/>
          <p:nvPr/>
        </p:nvSpPr>
        <p:spPr>
          <a:xfrm>
            <a:off x="4359554" y="1783080"/>
            <a:ext cx="3472586" cy="4069080"/>
          </a:xfrm>
          <a:prstGeom prst="roundRect">
            <a:avLst>
              <a:gd name="adj" fmla="val 2633"/>
            </a:avLst>
          </a:prstGeom>
          <a:solidFill>
            <a:srgbClr val="EDF3F5"/>
          </a:solidFill>
          <a:ln w="9525">
            <a:solidFill>
              <a:srgbClr val="D6E2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صعيد مصر</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 16 مليون طن قصب سنويًا</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قصب السكر مركّز في المنيا وقنا وأسوان، وهو أعلى المحاصيل استهلاكًا للماء.</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تبخر شديد وصيف يتجاوز 45 درجة: الفاقد بين ريّتين هو الأعلى في البلاد.</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مصانع السكر مشترٍ منظَّم، يسهّل اتفاقًا على مستوى منطقة كاملة.</a:t>
            </a:r>
            <a:endParaRPr lang="en-US" sz="1150" dirty="0"/>
          </a:p>
        </p:txBody>
      </p:sp>
      <p:sp>
        <p:nvSpPr>
          <p:cNvPr id="14" name="Shape 10"/>
          <p:cNvSpPr/>
          <p:nvPr/>
        </p:nvSpPr>
        <p:spPr>
          <a:xfrm>
            <a:off x="8124749" y="1783080"/>
            <a:ext cx="3472586" cy="4069080"/>
          </a:xfrm>
          <a:prstGeom prst="roundRect">
            <a:avLst>
              <a:gd name="adj" fmla="val 2633"/>
            </a:avLst>
          </a:prstGeom>
          <a:solidFill>
            <a:srgbClr val="EDF3F5"/>
          </a:solidFill>
          <a:ln w="9525">
            <a:solidFill>
              <a:srgbClr val="D6E2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النوبارية وغرب الدلتا</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قطب تصدير الموالح والعنب</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أراضٍ مستصلحة رملية: قدرة احتفاظ بالماء ضعيفة، وهي الحالة الأنسب لموادنا.</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مزارع تصدير كبيرة مجهّزة بالتنقيط والمحاور، وقرار شراء مركزي وسريع.</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المشترون الأوروبيون يطلبون شهادة عضوية سارية.</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كيف نعمل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انتشار على مراحل، مُقاس عند كل خطوة</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التشخيص</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تحليل التربة وأسلوب الري والمحصول. لا التزام على الإطلاق في هذه المرحلة.</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قطعة تجريبية</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تجربة مقارنة على قطعة واحدة، مع قطعة شاهدة تُدار بالطريقة نفسها.</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القياس</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تسجيل الاستهلاك المائي والمحصول على دورة زراعية كاملة.</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التوسيع</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تعميم تدريجي على باقي القطع بناءً على النتائج المسجَّلة فعليًا.</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i="1" dirty="0">
                <a:solidFill>
                  <a:srgbClr val="6C8089"/>
                </a:solidFill>
                <a:latin typeface="Arial" pitchFamily="34" charset="0"/>
                <a:ea typeface="Arial" pitchFamily="34" charset="-122"/>
                <a:cs typeface="Arial" pitchFamily="34" charset="-120"/>
              </a:rPr>
              <a:t>قاعدة الجرعة واحدة في كل مكان: 3 غرامات لكل لتر من التربة النافعة. ما يتغير من أرض إلى أخرى هو حجم التربة الذي تستكشفه الجذور فعليًا.</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ما ينبغي توقّعه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مخاطر محدّدة وردود عليها</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المخاطر</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تفتّت الحيازات في الوادي والدلتا: متوسط الحيازة أقل من فدانين، وقرار الشراء مشتّت.</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ماء الري متاح بتكلفة منخفضة جدًا للمزارع، ما يضعف الحافز المالي المباشر للتوفير.</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منافسة مواد رخيصة أساسها الصوديوم تركت انطباعًا سيئًا وأضرّت بتربة مالحة أصلًا.</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سيولة المزارع محدودة وتكلفة المستلزمات المستوردة مرتفعة بفعل تقلبات سعر الصرف.</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الردود</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المرور عبر الجمعيات التعاونية ومصانع السكر ومصدّري الموالح، لا عبر الحيازة الفردية.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عرض المكسب على المحصول والجودة، لا على فاتورة الماء وحدها: الماء المتاح باستمرار يرفع الإنتاج.</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توثيق فارق التركيبة: بوتاسيوم لا صوديوم، ملائم للمحاصيل الغذائية وللتربة المالحة.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توزيع الالتزام: مفعول يمتد 3 إلى 4 سنوات يوزّع التكلفة على عدة مواسم.</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تحليل الأكريلاميد (مختبر Polymex، ISO 9001) وفحص REACH / SVHC (SGS) متاحان عند الطلب، إضافة إلى شهادة SOHISCERT السارية المفعول.</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rtl="1" algn="r" indent="0" marL="0">
              <a:buNone/>
            </a:pPr>
            <a:r>
              <a:rPr lang="en-US" sz="3400" b="1" dirty="0">
                <a:solidFill>
                  <a:srgbClr val="FFFFFF"/>
                </a:solidFill>
                <a:latin typeface="Arial" pitchFamily="34" charset="0"/>
                <a:ea typeface="Arial" pitchFamily="34" charset="-122"/>
                <a:cs typeface="Arial" pitchFamily="34" charset="-120"/>
              </a:rPr>
              <a:t>احكِ لنا عن أرضك</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المحصول، أسلوب الري، طبيعة التربة، كمية الماء المستهلكة اليوم. نعود إليك بتركيبة التقنيات المناسبة، والجرعات، والتجارب التي أُجريت في أوضاع مشابهة.</a:t>
            </a:r>
            <a:endParaRPr lang="en-US" sz="1500" dirty="0"/>
          </a:p>
          <a:p>
            <a:pPr rtl="1" algn="r" indent="0" marL="0">
              <a:lnSpc>
                <a:spcPct val="130000"/>
              </a:lnSpc>
              <a:buNone/>
            </a:pPr>
            <a:endParaRPr lang="en-US" sz="1500" dirty="0"/>
          </a:p>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أول تبادل لا يلزمك بشيء.</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rtl="1" algn="r" indent="0" marL="0">
              <a:buNone/>
            </a:pPr>
            <a:r>
              <a:rPr lang="en-US" sz="1400" b="1" dirty="0">
                <a:solidFill>
                  <a:srgbClr val="E0A33E"/>
                </a:solidFill>
                <a:latin typeface="Arial" pitchFamily="34" charset="0"/>
                <a:ea typeface="Arial" pitchFamily="34" charset="-122"/>
                <a:cs typeface="Arial" pitchFamily="34" charset="-120"/>
              </a:rPr>
              <a:t>contact@evergreen-ecosorb.com · 821 Chemin des Clapiers, 83220 Le Pradet, France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Green Solutions · دراسة سوق مصر</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2026-09-14T17:35:38Z</dcterms:created>
  <dcterms:modified xsi:type="dcterms:W3CDTF">2026-09-14T17:35:38Z</dcterms:modified>
</cp:coreProperties>
</file>