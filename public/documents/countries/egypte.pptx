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Sheet1!$B$2:$B$6</c:f>
              <c:numCache>
                <c:formatCode>General</c:formatCode>
                <c:ptCount val="5"/>
                <c:pt idx="0">
                  <c:v>30</c:v>
                </c:pt>
                <c:pt idx="1">
                  <c:v>20</c:v>
                </c:pt>
                <c:pt idx="2">
                  <c:v>20</c:v>
                </c:pt>
                <c:pt idx="3">
                  <c:v>20</c:v>
                </c:pt>
                <c:pt idx="4">
                  <c:v>10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Sheet1!$C$2:$C$6</c:f>
              <c:numCache>
                <c:formatCode>General</c:formatCode>
                <c:ptCount val="5"/>
                <c:pt idx="0">
                  <c:v>50</c:v>
                </c:pt>
                <c:pt idx="1">
                  <c:v>40</c:v>
                </c:pt>
                <c:pt idx="2">
                  <c:v>40</c:v>
                </c:pt>
                <c:pt idx="3">
                  <c:v>40</c:v>
                </c:pt>
                <c:pt idx="4">
                  <c:v>20</c:v>
                </c:pt>
              </c:numCache>
            </c:numRef>
          </c:val>
        </c:ser>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egypte.png">    </p:cNvPr>
          <p:cNvPicPr>
            <a:picLocks noChangeAspect="1"/>
          </p:cNvPicPr>
          <p:nvPr/>
        </p:nvPicPr>
        <p:blipFill>
          <a:blip r:embed="rId3"/>
          <a:stretch>
            <a:fillRect/>
          </a:stretch>
        </p:blipFill>
        <p:spPr>
          <a:xfrm>
            <a:off x="6577279" y="1389888"/>
            <a:ext cx="1964425" cy="1310640"/>
          </a:xfrm>
          <a:prstGeom prst="rect">
            <a:avLst/>
          </a:prstGeom>
        </p:spPr>
      </p:pic>
      <p:sp>
        <p:nvSpPr>
          <p:cNvPr id="7" name="Shape 2"/>
          <p:cNvSpPr/>
          <p:nvPr/>
        </p:nvSpPr>
        <p:spPr>
          <a:xfrm>
            <a:off x="6577279" y="1389888"/>
            <a:ext cx="1964425"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من أكبر مستوردي القمح، وأول مصدّر للبرتقال</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12 مليون</a:t>
            </a:r>
            <a:endParaRPr lang="en-US" sz="30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طن من القمح مستوردة سنوياً، من الأعلى عالمياً</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الأول</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عالمياً في تصدير البرتقال</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107 مليون</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نسمة يعيشون على نحو 5 % من مساحة البلاد</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يستهلك الخبز المدعوم جزءاً كبيراً من القمح المستورد، ما يربط فاتورة الغذاء مباشرة بسعر الصرف. في المقابل تتوسع صادرات الموالح والبطاطس والعنب والفراولة، ومعظمها يأتي من الأراضي الجديدة المستصلحة المروية بالتنقيط.</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الموالح: ريادة تصديرية على أراضٍ رملية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تتركز بساتين البرتقال في النوبارية والبحيرة والإسماعيلية والقليوبية، ويتجه جزء كبير من المحصول إلى التصدير.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الأراضي الجديدة رملية وفقيرة، تفقد ماء الري بسرعة وتحتاج إلى ريّات متقاربة.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مع ارتفاع الحرارة تزداد حاجة الأشجار إلى الماء في الصيف، بينما تبقى الحصص محدودة في أطراف الدلتا.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تشترط أسواق التصدير حدوداً صارمة للمتبقيات: NAPEMA® يعالج الآفات دون أن يترك أثراً.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وضع EVERGREEN® عند الغرس أو في خط التنقيط يطيل بقاء الماء حول الجذور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البطاطس والخضروات: من الدلتا إلى الصحراء المستصلحة</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مصر من أكبر منتجي البطاطس في أفريقيا، وتصدّر جزءاً مهماً منها إلى أوروبا والخليج.</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تُزرع بطاطس التصدير في المنيا والنوبارية والصالحية، تحت الري المحوري أو بالتنقيط على تربة رملية.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في الأراضي القديمة بالدلتا ما زال الري بالغمر شائعاً، مع فواقد كبيرة وارتفاع في ملوحة التربة.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تشجع الدولة التحول إلى الري الحديث في الأراضي القديمة لتوفير جزء من حصة النيل.</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تستفيد الطماطم والبطاطس مباشرة من احتباس الماء في منطقة الجذور، خصوصاً على التربة الرملية.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شريك محلي في مصر</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الجهاز المركزي للتعبئة العامة والإحصاء: السكان والإنتاج الزراعي والتجارة الخارجية.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الزراعة واستصلاح الأراضي: إحصاءات الصادرات الزراعية.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الموارد المائية والري: الخطة القومية للموارد المائية.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الصور الفوتوغرافية: Myousry6666 (CC BY-SA 4.0) — عبر ويكيميديا كومنز.</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Green Solutions Groupe AIM SA, 46, route de la Condémine, 1475 Forel, Switzerland</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2026-09-17T07:59:23Z</dcterms:created>
  <dcterms:modified xsi:type="dcterms:W3CDTF">2026-09-17T07:59:23Z</dcterms:modified>
</cp:coreProperties>
</file>