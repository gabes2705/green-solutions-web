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سحب المياه</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80</c:v>
                </c:pt>
                <c:pt idx="1">
                  <c:v>12</c:v>
                </c:pt>
                <c:pt idx="2">
                  <c:v>8</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1C5A73"/>
            </a:solidFill>
            <a:effectLst/>
          </c:spPr>
          <c:invertIfNegative val="0"/>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قصب السكر</c:v>
                  </c:pt>
                  <c:pt idx="1">
                    <c:v>القمح</c:v>
                  </c:pt>
                  <c:pt idx="2">
                    <c:v>الذرة</c:v>
                  </c:pt>
                  <c:pt idx="3">
                    <c:v>الطماطم</c:v>
                  </c:pt>
                  <c:pt idx="4">
                    <c:v>الموالح</c:v>
                  </c:pt>
                </c:lvl>
              </c:multiLvlStrCache>
            </c:multiLvlStrRef>
          </c:cat>
          <c:val>
            <c:numRef>
              <c:f>Sheet1!$B$2:$B$6</c:f>
              <c:numCache>
                <c:formatCode>General</c:formatCode>
                <c:ptCount val="5"/>
                <c:pt idx="0">
                  <c:v>16</c:v>
                </c:pt>
                <c:pt idx="1">
                  <c:v>9</c:v>
                </c:pt>
                <c:pt idx="2">
                  <c:v>7.5</c:v>
                </c:pt>
                <c:pt idx="3">
                  <c:v>6.3</c:v>
                </c:pt>
                <c:pt idx="4">
                  <c:v>4</c:v>
                </c:pt>
              </c:numCache>
            </c:numRef>
          </c:val>
        </c:ser>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Sheet1!$B$2:$B$5</c:f>
              <c:numCache>
                <c:formatCode>General</c:formatCode>
                <c:ptCount val="4"/>
                <c:pt idx="0">
                  <c:v>55</c:v>
                </c:pt>
                <c:pt idx="1">
                  <c:v>40</c:v>
                </c:pt>
                <c:pt idx="2">
                  <c:v>50</c:v>
                </c:pt>
                <c:pt idx="3">
                  <c:v>50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Sheet1!$C$2:$C$5</c:f>
              <c:numCache>
                <c:formatCode>General</c:formatCode>
                <c:ptCount val="4"/>
                <c:pt idx="0">
                  <c:v>70</c:v>
                </c:pt>
                <c:pt idx="1">
                  <c:v>55</c:v>
                </c:pt>
                <c:pt idx="2">
                  <c:v>65</c:v>
                </c:pt>
                <c:pt idx="3">
                  <c:v>65</c:v>
                </c:pt>
              </c:numCache>
            </c:numRef>
          </c:val>
        </c:ser>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reen-solutions-web\scripts\dossiers\drapeaux\egypt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800" b="1" dirty="0">
                <a:solidFill>
                  <a:srgbClr val="FFFFFF"/>
                </a:solidFill>
                <a:latin typeface="Arial" pitchFamily="34" charset="0"/>
                <a:ea typeface="Arial" pitchFamily="34" charset="-122"/>
                <a:cs typeface="Arial" pitchFamily="34" charset="-120"/>
              </a:rPr>
              <a:t>جمهورية مصر العربية</a:t>
            </a:r>
            <a:endParaRPr lang="en-US" sz="2800" dirty="0"/>
          </a:p>
        </p:txBody>
      </p:sp>
      <p:sp>
        <p:nvSpPr>
          <p:cNvPr id="9" name="Shape 4"/>
          <p:cNvSpPr/>
          <p:nvPr/>
        </p:nvSpPr>
        <p:spPr>
          <a:xfrm>
            <a:off x="8744407" y="2889504"/>
            <a:ext cx="2788920" cy="45720"/>
          </a:xfrm>
          <a:prstGeom prst="rect">
            <a:avLst/>
          </a:prstGeom>
          <a:solidFill>
            <a:srgbClr val="E0A33E"/>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E0A33E"/>
                </a:solidFill>
                <a:latin typeface="Arial" pitchFamily="34" charset="0"/>
                <a:ea typeface="Arial" pitchFamily="34" charset="-122"/>
                <a:cs typeface="Arial" pitchFamily="34" charset="-120"/>
              </a:rPr>
              <a:t>القاهرة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زراعة مروية بالكامل تعتمد على نهر واحد وحصة مائية ثابتة.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احتباس الماء في التربة لمنتج يصدّر إلى أوروبا والخليج.</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بلد زراعي كبير على حصة مائية ثابتة</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11 %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4 ملايين</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هكتار مزروعة، أي نحو 9,5 مليون فدان</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55,5 مليار</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متر مكعب: حصة مصر السنوية من مياه النيل</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20 %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قوة العمل تشتغل في الزراعة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الزراعة المصرية مروية بالكامل تقريبًا: الأمطار لا تكاد تُذكر خارج الساحل الشمالي، والنيل هو المورد الوحيد عمليًا. حصة المياه لم تتغير منذ 1959 بينما تجاوز السكان 105 ملايين نسمة. هذا الفارق بين مورد ثابت وطلب متزايد هو ما يجعل مصر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مورد ثابت أمام طلب يتضاعف</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i="1" dirty="0">
                <a:solidFill>
                  <a:srgbClr val="6C8089"/>
                </a:solidFill>
                <a:latin typeface="Arial" pitchFamily="34" charset="0"/>
                <a:ea typeface="Arial" pitchFamily="34" charset="-122"/>
                <a:cs typeface="Arial" pitchFamily="34" charset="-120"/>
              </a:rPr>
              <a:t>أرض مروية في دلتا النيل</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حصة مصر من مياه النيل ثابتة عند نحو 55,5 مليار متر مكعب سنويًا منذ اتفاقية 1959، بينما تجاوز عدد السكان 105 ملايين نسمة.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نصيب الفرد من المياه العذبة نزل إلى نحو 500 إلى 600 متر مكعب في السنة، أي أقل بكثير من خط الفقر المائي المتعارف عليه دوليًا عند 1000 متر مكعب.</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الأمطار شبه معدومة: أقل من 5 ملم سنويًا في الصعيد، ونحو 100 إلى 200 ملم على الساحل الشمالي وحده. كل زراعة تقريبًا مروية.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الغالبية العظمى من الأراضي القديمة ما زالت تُروى بالغمر، بينما تُستصلح أراضٍ رملية جديدة ضعيفة الاحتفاظ بالماء: الحالتان تفقدان الماء قبل وصوله إلى الجذر.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المشروعات العامة — تبطين الترع، إعادة استخدام مياه الصرف، التحلية — تعالج جانب العرض. احتباس 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الري يستهلك أربعة أخماس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ماذا يعني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خفض الاستهلاك الزراعي بنسبة 10 % يوفّر حجمًا من الماء يعادل الاستخدام الصناعي كله تقريبًا.</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لذلك ينصبّ الجهد أولًا على الحقل، لا على الاستخدامات الأخرى.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المحاصيل الرئيسية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خمسة محاصيل تحمل عمود الإنتاج</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قراءة الرسم</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قصب السكر أعلى المحاصيل استهلاكًا للماء لكل هكتار، وهو مركّز في الصعيد.</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الموالح والطماطم هما محصولا التصدير: أكثر من 1,5 مليون طن من البرتقال تُشحن سنويًا. هنا يتحوّل توفير الماء مباشرة إلى هامش ربح.</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نقترحه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مادة حابسة للماء أساسها البوتاسيوم، تُوضع في منطقة الجذور عند الزراعة أو عند تجديد الغرس.</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تلتقط ماء الري وتعيده إلى النبات تدريجيًا، فتلغي الإجهاد المائي في المراحل الحرجة بين ريّتين.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قدرة امتصاص تبلغ نحو 300 ضعف وزنها، ومفعول مفيد يمتد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تتحلل بنسبة 20 إلى 25 % سنويًا، دون تراكم في التربة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ECOFERT® — التغذية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غير مخلّب: لا يستنزف المركّب الطيني الدبالي ولا يرفع الملوحة ولا نسبة النترات — نقطة حاسمة في شمال الدلتا.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حاصل على شهادتي SOHISCERT والعضوية الأوروبية، وهو شرط دخول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 إلى 4 عبوات سعة 140 مل للهكتار، متوافق مع معدات التسميد بالري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المنتجان يُباعان منفصلين لكنهما صُمّما ليعزّز كل منهما الآخر: المادة الحابسة تطيل بقاء الماء متاحًا، والسماد يثمّر هذا الماء المتاح دون إضعاف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ترتيب الحجم المتوقع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هذه النطاقات تقديرية إرشادية،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والمحصول. الأرقام تعطي ترتيب حجم فقط، وهي ليست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شمال الدلتا</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أرز وخضر وموالح على أرض قديمة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خضر وأرز وموالح على أراضٍ قديمة خصبة، لكن الري بالغمر ما زال هو السائد.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تداخل مياه البحر يرفع الملوحة: سماد غير مخلّب ميزة مباشرة هنا.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كثافة عالية من الجمعيات التعاونية تسمح بالوصول إلى عدد كبير من المزارعين.</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صعيد مصر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 16 مليون طن قصب سنويًا</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قصب السكر مركّز في المنيا وقنا وأسوان، وهو أعلى المحاصيل استهلاكًا للماء.</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تبخر شديد وصيف يتجاوز 45 درجة: الفاقد بين ريّتين هو الأعلى في البلاد.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مصانع السكر مشترٍ منظَّم، يسهّل اتفاقًا على مستوى منطقة كاملة.</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النوبارية وغرب الدلتا</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قطب تصدير الموالح والعنب</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أراضٍ مستصلحة رملية: قدرة احتفاظ بالماء ضعيفة، وهي الحالة الأنسب لموادنا.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مزارع تصدير كبيرة مجهّزة بالتنقيط والمحاور، وقرار شراء مركزي وسريع.</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المشترون الأوروبيون يطلبون شهادة عضوية سارية.</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انتشار على مراحل، مُقاس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تسجيل الاستهلاك المائي والمحصول على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تعميم تدريجي على باقي القطع بناءً على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i="1" dirty="0">
                <a:solidFill>
                  <a:srgbClr val="6C8089"/>
                </a:solidFill>
                <a:latin typeface="Arial" pitchFamily="34" charset="0"/>
                <a:ea typeface="Arial" pitchFamily="34" charset="-122"/>
                <a:cs typeface="Arial" pitchFamily="34" charset="-120"/>
              </a:rPr>
              <a:t>قاعدة الجرعة واحدة في كل مكان: 3 غرامات لكل لتر من التربة النافعة.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تفتّت الحيازات في الوادي والدلتا: متوسط الحيازة أقل من فدانين، وقرار الشراء مشتّت.</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ماء الري متاح بتكلفة منخفضة جدًا للمزارع، ما يضعف الحافز المالي المباشر للتوفير.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منافسة مواد رخيصة أساسها الصوديوم تركت انطباعًا سيئًا وأضرّت بتربة مالحة أصلًا.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سيولة المزارع محدودة وتكلفة المستلزمات المستوردة مرتفعة بفعل تقلبات سعر الصرف.</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المرور عبر الجمعيات التعاونية ومصانع السكر ومصدّري الموالح، لا عبر الحيازة الفردية.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عرض المكسب على المحصول والجودة، لا على فاتورة الماء وحدها: الماء المتاح باستمرار يرفع الإنتاج.</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توثيق فارق التركيبة: بوتاسيوم لا صوديوم، ملائم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توزيع الالتزام: مفعول يمتد 3 إلى 4 سنوات يوزّع التكلفة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احكِ لنا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أسلوب الري، طبيعة التربة، كمية الماء المستهلكة اليوم. نعود إليك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أول تبادل لا يلزمك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E0A33E"/>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2026-09-14T18:06:13Z</dcterms:created>
  <dcterms:modified xsi:type="dcterms:W3CDTF">2026-09-14T18:06:13Z</dcterms:modified>
</cp:coreProperties>
</file>