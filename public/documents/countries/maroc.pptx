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F5C3A"/>
              </a:solidFill>
              <a:effectLst/>
            </c:spPr>
          </c:dPt>
          <c:dPt>
            <c:idx val="1"/>
            <c:bubble3D val="0"/>
            <c:spPr>
              <a:solidFill>
                <a:srgbClr val="E3B23C"/>
              </a:solidFill>
              <a:effectLst/>
            </c:spPr>
          </c:dPt>
          <c:dPt>
            <c:idx val="2"/>
            <c:bubble3D val="0"/>
            <c:spPr>
              <a:solidFill>
                <a:srgbClr val="76A48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85</c:v>
                </c:pt>
                <c:pt idx="1">
                  <c:v>10</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F5C3A"/>
            </a:solidFill>
            <a:effectLst/>
          </c:spPr>
          <c:invertIfNegative val="0"/>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dPt>
            <c:idx val="2"/>
            <c:invertIfNegative val="0"/>
            <c:bubble3D val="0"/>
            <c:spPr>
              <a:solidFill>
                <a:srgbClr val="76A489"/>
              </a:solidFill>
              <a:effectLst/>
            </c:spPr>
          </c:dPt>
          <c:dPt>
            <c:idx val="3"/>
            <c:invertIfNegative val="0"/>
            <c:bubble3D val="0"/>
            <c:spPr>
              <a:solidFill>
                <a:srgbClr val="C9772E"/>
              </a:solidFill>
              <a:effectLst/>
            </c:spPr>
          </c:dPt>
          <c:cat>
            <c:multiLvlStrRef>
              <c:f>Sheet1!$A$2:$A$5</c:f>
              <c:multiLvlStrCache>
                <c:ptCount val="4"/>
                <c:lvl>
                  <c:pt idx="0">
                    <c:v>Agrumes</c:v>
                  </c:pt>
                  <c:pt idx="1">
                    <c:v>Tomate</c:v>
                  </c:pt>
                  <c:pt idx="2">
                    <c:v>Olive</c:v>
                  </c:pt>
                  <c:pt idx="3">
                    <c:v>Céréales*</c:v>
                  </c:pt>
                </c:lvl>
              </c:multiLvlStrCache>
            </c:multiLvlStrRef>
          </c:cat>
          <c:val>
            <c:numRef>
              <c:f>Sheet1!$B$2:$B$5</c:f>
              <c:numCache>
                <c:formatCode>General</c:formatCode>
                <c:ptCount val="4"/>
                <c:pt idx="0">
                  <c:v>2.6</c:v>
                </c:pt>
                <c:pt idx="1">
                  <c:v>1.4</c:v>
                </c:pt>
                <c:pt idx="2">
                  <c:v>1.9</c:v>
                </c:pt>
                <c:pt idx="3">
                  <c:v>5</c:v>
                </c:pt>
              </c:numCache>
            </c:numRef>
          </c:val>
        </c:ser>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Sheet1!$B$2:$B$6</c:f>
              <c:numCache>
                <c:formatCode>General</c:formatCode>
                <c:ptCount val="5"/>
                <c:pt idx="0">
                  <c:v>30</c:v>
                </c:pt>
                <c:pt idx="1">
                  <c:v>20</c:v>
                </c:pt>
                <c:pt idx="2">
                  <c:v>20</c:v>
                </c:pt>
                <c:pt idx="3">
                  <c:v>20</c:v>
                </c:pt>
                <c:pt idx="4">
                  <c:v>15</c:v>
                </c:pt>
              </c:numCache>
            </c:numRef>
          </c:val>
        </c:ser>
        <c:ser>
          <c:idx val="1"/>
          <c:order val="1"/>
          <c:tx>
            <c:strRef>
              <c:f>Sheet1!$C$1</c:f>
              <c:strCache>
                <c:ptCount val="1"/>
                <c:pt idx="0">
                  <c:v>Haut de fourchette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Sheet1!$C$2:$C$6</c:f>
              <c:numCache>
                <c:formatCode>General</c:formatCode>
                <c:ptCount val="5"/>
                <c:pt idx="0">
                  <c:v>50</c:v>
                </c:pt>
                <c:pt idx="1">
                  <c:v>40</c:v>
                </c:pt>
                <c:pt idx="2">
                  <c:v>40</c:v>
                </c:pt>
                <c:pt idx="3">
                  <c:v>40</c:v>
                </c:pt>
                <c:pt idx="4">
                  <c:v>25</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maroc.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ROYAUME DU MAROC</a:t>
            </a:r>
            <a:endParaRPr lang="en-US" sz="2800" dirty="0"/>
          </a:p>
        </p:txBody>
      </p:sp>
      <p:sp>
        <p:nvSpPr>
          <p:cNvPr id="9" name="Shape 4"/>
          <p:cNvSpPr/>
          <p:nvPr/>
        </p:nvSpPr>
        <p:spPr>
          <a:xfrm>
            <a:off x="658368" y="2889504"/>
            <a:ext cx="2788920" cy="45720"/>
          </a:xfrm>
          <a:prstGeom prst="rect">
            <a:avLst/>
          </a:prstGeom>
          <a:solidFill>
            <a:srgbClr val="E3B23C"/>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3B23C"/>
                </a:solidFill>
                <a:latin typeface="Cambria" pitchFamily="34" charset="0"/>
                <a:ea typeface="Cambria" pitchFamily="34" charset="-122"/>
                <a:cs typeface="Cambria" pitchFamily="34" charset="-120"/>
              </a:rPr>
              <a:t>Rabat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Agrumes, maraîchage et oléiculture sous contrainte hydrique durable.</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pour une filière exportatrice.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pays agricole exportateur, exposé à la sécheresse</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12 %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8,7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surface agricole utile</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1,5 M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irrigués, soit environ 17 % de la SAU</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30 %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la population active employée par le secteur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L'agriculture marocaine combine une filière d'exportation très structurée (agrumes, tomate, petits fruits) et une céréaliculture pluviale dont le rendement suit directement la pluviométrie. C'est cette dépendance à l'eau qui rend le pays prioritaire pour nos technologies.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Six campagnes de sécheresse consécutives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C72"/>
                </a:solidFill>
                <a:latin typeface="Calibri" pitchFamily="34" charset="0"/>
                <a:ea typeface="Calibri" pitchFamily="34" charset="-122"/>
                <a:cs typeface="Calibri" pitchFamily="34" charset="-120"/>
              </a:rPr>
              <a:t>Périmètre irrigué, région du Souss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Depuis 2018, le Maroc enchaîne des campagnes déficitaires : le taux de remplissage des barrages est descendu sous le quart de leur capacité sur plusieurs bassins.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L'agriculture mobilise de l'ordre de 85 % de l'eau prélevée : toute tension sur la ressource se traduit d'abord par des restrictions d'irrigation.</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gradient pluviométrique est extrême : de 600 à 800 mm par an dans le Rif, à moins de 100 mm dans les provinces du Sud.</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nappes du Souss-Massa et du Haouz sont surexploitées, avec un rabattement continu des niveaux piézométriques.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réponse publique — barrages, dessalement à Agadir et Casablanca, reconversion au goutte-à-goutte — traite l'offre. L'hydro-rétention agit sur la demande, à la parcelle.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L'irrigation concentre l'essentiel du prélèvement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Réduire de 10 % la consommation agricole libère davantage de volume que de supprimer la totalité de l'usage industriel.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C'est pourquoi l'effort porte en priorité sur la parcelle, et non sur les autres usages.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Exporter des primeurs, importer du blé</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des exportateurs mondiaux de tomates fraîches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80 Md DH</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d'exportations agroalimentaires par an</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&gt; 50 %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blé consommé importé les années de sécheresse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2030</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horizon de la stratégie Génération Green, après le Plan Maroc Vert</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Maroc exporte tomates, agrumes, fruits rouges et olives vers l'Europe et l'Afrique, mais dépend de l'étranger pour une large part de son blé. Avec des barrages au plus bas, les dotations d'irrigation ont été réduites et le dessalement s'est ouvert à l'agriculture, notamment à Chtouka.</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Quatre productions portent la valeur à l'export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Agrumes et tomate sont irrigués et destinés à l'export : ce sont les cultures où l'économie d'eau se convertit directement en marge.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 Les céréales sont majoritairement pluviales ; le volume varie fortement d'une campagne à l'autre selon la pluviométrie.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Tomate sous serre du Souss : l'export au litre près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Souss-Massa concentre l'essentiel des serres de tomates destinées à l'Europe, de l'automne au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nappe du Souss baisse depuis des décennies ; une partie des exploitations est irriguée à l'eau dessalée de Chtouka.</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L'eau dessalée coûte nettement plus cher que l'eau de forage : chaque litre économisé améliore directement la marge.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exportateurs doivent respecter des limites de résidus strictes : NAPEMA® traite les ravageurs sans résidu.</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Retenir l'eau dans le sol espace les apports et réduit le drainage perdu sous la serre.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Agrumes et olivier : des vergers à protéger de la sécheresse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Agrumes du Souss, du Gharb et de Berkane, olivier du Haouz et du Saïss : des cultures pérennes à fort investissement.</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restrictions d'eau des dernières campagnes ont conduit des producteurs à arracher une partie de leurs vergers d'agrumes.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L'olivier, souvent conduit en pluvial, voit sa récolte chuter fortement les années sans pluie de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 verger perdu coûte plusieurs années de production : protéger les racines du stress hydrique protège le capital.</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EVERGREEN® posé à la plantation ou au rajeunissement du verger prolonge la réserve d'eau entre deux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Deux technologies, deux contraintes différentes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Capte l'eau de pluie ou d'irrigation et la restitue à la plante au fur et à mesure, en supprimant le stress hydrique des phases critiques.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Non chélatant : il n'appauvrit pas le complexe argilo-humique et n'augmente ni la salinité ni la teneur en nitrates.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Certifié SOHISCERT et EU Bio — condition d'accès aux cahiers des charges des acheteurs européens.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 à 4 flacons de 140 ml par hectare, compatible avec les équipements de fertirrigation existants.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disponible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1F4EF"/>
          </a:solidFill>
          <a:ln w="9525">
            <a:solidFill>
              <a:srgbClr val="DCE4DA"/>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Souss-Massa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Agrumes et primeurs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Cœur de la filière d'exportation, déjà largement converti au goutte-à-goutte.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Nappe en rabattement continu : la pression réglementaire sur les prélèvements y est la plus forte.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Acheteurs européens demandeurs de certification biologique.</a:t>
            </a:r>
            <a:endParaRPr lang="en-US" sz="1150" dirty="0"/>
          </a:p>
        </p:txBody>
      </p:sp>
      <p:sp>
        <p:nvSpPr>
          <p:cNvPr id="9" name="Shape 6"/>
          <p:cNvSpPr/>
          <p:nvPr/>
        </p:nvSpPr>
        <p:spPr>
          <a:xfrm>
            <a:off x="4359554" y="1783080"/>
            <a:ext cx="3472586" cy="4069080"/>
          </a:xfrm>
          <a:prstGeom prst="roundRect">
            <a:avLst>
              <a:gd name="adj" fmla="val 2633"/>
            </a:avLst>
          </a:prstGeom>
          <a:solidFill>
            <a:srgbClr val="F1F4EF"/>
          </a:solidFill>
          <a:ln w="9525">
            <a:solidFill>
              <a:srgbClr val="DCE4DA"/>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Haouz — Marrakech</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Maraîchage et oliviers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Périmètres irrigués dépendants des barrages, soumis aux tours d'eau en année sèche.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Forte proportion de structures moyennes, capables de décider vite sur un essai.</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Oléiculture en modernisation, avec des marges de progrès agronomiques nettes.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1F4EF"/>
          </a:solidFill>
          <a:ln w="9525">
            <a:solidFill>
              <a:srgbClr val="DCE4DA"/>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Drâa-Tafilalet</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Palmier dattier et arganier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Oasis en situation de stress hydrique structurel, moins de 100 mm de pluie par an.</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Enjeu de préservation autant que de rendement : lutte contre l'ensablement.</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Filières à forte valeur unitaire — datte de bouche, huile d'argan.</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Analyse du sol, du mode d'irrigation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Un essai comparatif sur une parcelle,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Relevés de consommation et de rendement sur un cycle cultural complet.</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partenaire local pour le Maroc</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Variabilité interannuelle de la pluviométrie : une campagne humide masque l'intérêt du produit.</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Fragmentation du foncier : beaucoup de petites exploitations, décision d'achat dispersée.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Concurrence de solutions bas de gamme à base de sodium, qui ont laissé de mauvais souvenirs.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Trésorerie des exploitations après plusieurs campagnes déficitaires.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Conduire l'essai sur un cycle complet avec parcelle témoin, pour objectiver le gain même en année favorable.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Passer par les coopératives et les groupements, plutôt que par l'exploitation individuelle.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Documenter la différence de formulation : potassium et non sodium, compatible cultures 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Étaler l'engagement : la durée d'effet de 3 à 4 ans amortit le coût sur plusieurs campagnes.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Analyse acrylamide (laboratoire Polymex, ISO 9001, teneur inférieure à 3,0 µg/g), screening REACH / SVHC (SGS) et certificat SOHISCERT valable jusqu'au 4 septembre 2027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Haut-Commissariat au Plan (HCP) : comptes nationaux et emploi.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Ministère de l'Agriculture : stratégie Génération Green, statistiques des filières.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Office des changes : exportations agroalimentaires.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FAO (FAOSTAT, AQUASTAT) et Banque mondiale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d'irrigation,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3B23C"/>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2026-09-15T22:53:36Z</dcterms:created>
  <dcterms:modified xsi:type="dcterms:W3CDTF">2026-09-15T22:53:36Z</dcterms:modified>
</cp:coreProperties>
</file>