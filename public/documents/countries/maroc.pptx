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3.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4.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Prélèvements</c:v>
                </c:pt>
              </c:strCache>
            </c:strRef>
          </c:tx>
          <c:spPr>
            <a:solidFill>
              <a:schemeClr val="accent1"/>
            </a:solidFill>
            <a:ln w="9525" cap="flat">
              <a:solidFill>
                <a:srgbClr val="F9F9F9"/>
              </a:solidFill>
              <a:prstDash val="solid"/>
              <a:round/>
            </a:ln>
            <a:effectLst/>
          </c:spPr>
          <c:dPt>
            <c:idx val="0"/>
            <c:bubble3D val="0"/>
            <c:spPr>
              <a:solidFill>
                <a:srgbClr val="1F5C3A"/>
              </a:solidFill>
              <a:effectLst/>
            </c:spPr>
          </c:dPt>
          <c:dPt>
            <c:idx val="1"/>
            <c:bubble3D val="0"/>
            <c:spPr>
              <a:solidFill>
                <a:srgbClr val="E3B23C"/>
              </a:solidFill>
              <a:effectLst/>
            </c:spPr>
          </c:dPt>
          <c:dPt>
            <c:idx val="2"/>
            <c:bubble3D val="0"/>
            <c:spPr>
              <a:solidFill>
                <a:srgbClr val="76A489"/>
              </a:solidFill>
              <a:effectLst/>
            </c:spPr>
          </c:dPt>
          <c:dLbls>
            <c:dLbl>
              <c:idx val="0"/>
              <c:numFmt formatCode="[$-40C]0&quot;%&quot;" sourceLinked="0"/>
              <c:spPr/>
              <c:txPr>
                <a:bodyPr/>
                <a:lstStyle/>
                <a:p>
                  <a:pPr>
                    <a:defRPr sz="1100" b="0" i="0" u="none" strike="noStrike">
                      <a:solidFill>
                        <a:srgbClr val="FFFFFF"/>
                      </a:solidFill>
                      <a:latin typeface="Calibri"/>
                    </a:defRPr>
                  </a:pPr>
                </a:p>
              </c:txPr>
              <c:showLegendKey val="0"/>
              <c:showVal val="1"/>
              <c:showCatName val="0"/>
              <c:showSerName val="0"/>
              <c:showPercent val="0"/>
              <c:showBubbleSize val="0"/>
            </c:dLbl>
            <c:dLbl>
              <c:idx val="1"/>
              <c:numFmt formatCode="[$-40C]0&quot;%&quot;" sourceLinked="0"/>
              <c:spPr/>
              <c:txPr>
                <a:bodyPr/>
                <a:lstStyle/>
                <a:p>
                  <a:pPr>
                    <a:defRPr sz="1100" b="0" i="0" u="none" strike="noStrike">
                      <a:solidFill>
                        <a:srgbClr val="FFFFFF"/>
                      </a:solidFill>
                      <a:latin typeface="Calibri"/>
                    </a:defRPr>
                  </a:pPr>
                </a:p>
              </c:txPr>
              <c:showLegendKey val="0"/>
              <c:showVal val="1"/>
              <c:showCatName val="0"/>
              <c:showSerName val="0"/>
              <c:showPercent val="0"/>
              <c:showBubbleSize val="0"/>
            </c:dLbl>
            <c:dLbl>
              <c:idx val="2"/>
              <c:numFmt formatCode="[$-40C]0&quot;%&quot;" sourceLinked="0"/>
              <c:spPr/>
              <c:txPr>
                <a:bodyPr/>
                <a:lstStyle/>
                <a:p>
                  <a:pPr>
                    <a:defRPr sz="1100" b="0" i="0" u="none" strike="noStrike">
                      <a:solidFill>
                        <a:srgbClr val="FFFFFF"/>
                      </a:solidFill>
                      <a:latin typeface="Calibri"/>
                    </a:defRPr>
                  </a:pPr>
                </a:p>
              </c:txPr>
              <c:showLegendKey val="0"/>
              <c:showVal val="1"/>
              <c:showCatName val="0"/>
              <c:showSerName val="0"/>
              <c:showPercent val="0"/>
              <c:showBubbleSize val="0"/>
            </c:dLbl>
            <c:numFmt formatCode="[$-40C]0&quot;%&quot;"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Agriculture</c:v>
                </c:pt>
                <c:pt idx="1">
                  <c:v>Eau potable</c:v>
                </c:pt>
                <c:pt idx="2">
                  <c:v>Industrie</c:v>
                </c:pt>
              </c:strCache>
            </c:strRef>
          </c:cat>
          <c:val>
            <c:numRef>
              <c:f>Sheet1!$B$2:$B$4</c:f>
              <c:numCache>
                <c:ptCount val="3"/>
                <c:pt idx="0">
                  <c:v>85</c:v>
                </c:pt>
                <c:pt idx="1">
                  <c:v>10</c:v>
                </c:pt>
                <c:pt idx="2">
                  <c:v>5</c:v>
                </c:pt>
              </c:numCache>
            </c:numRef>
          </c:val>
        </c:ser>
        <c:firstSliceAng val="0"/>
        <c:holeSize val="55"/>
      </c:doughnutChart>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Production annuelle (millions de tonnes)</c:v>
                </c:pt>
              </c:strCache>
            </c:strRef>
          </c:tx>
          <c:spPr>
            <a:solidFill>
              <a:srgbClr val="1F5C3A"/>
            </a:solidFill>
            <a:effectLst/>
          </c:spPr>
          <c:invertIfNegative val="0"/>
          <c:dLbls>
            <c:numFmt formatCode="[$-40C]0.0" sourceLinked="0"/>
            <c:txPr>
              <a:bodyPr/>
              <a:lstStyle/>
              <a:p>
                <a:pPr>
                  <a:defRPr b="0" i="0" strike="noStrike" sz="1100" u="none">
                    <a:solidFill>
                      <a:srgbClr val="123324"/>
                    </a:solidFill>
                    <a:latin typeface="Calibri"/>
                  </a:defRPr>
                </a:pPr>
              </a:p>
            </c:txPr>
            <c:showLegendKey val="0"/>
            <c:showVal val="1"/>
            <c:showCatName val="0"/>
            <c:showSerName val="0"/>
            <c:showPercent val="0"/>
            <c:showBubbleSize val="0"/>
            <c:showLeaderLines val="0"/>
          </c:dLbls>
          <c:dPt>
            <c:idx val="0"/>
            <c:invertIfNegative val="0"/>
            <c:bubble3D val="0"/>
            <c:spPr>
              <a:solidFill>
                <a:srgbClr val="1F5C3A"/>
              </a:solidFill>
              <a:effectLst/>
            </c:spPr>
          </c:dPt>
          <c:dPt>
            <c:idx val="1"/>
            <c:invertIfNegative val="0"/>
            <c:bubble3D val="0"/>
            <c:spPr>
              <a:solidFill>
                <a:srgbClr val="E3B23C"/>
              </a:solidFill>
              <a:effectLst/>
            </c:spPr>
          </c:dPt>
          <c:dPt>
            <c:idx val="2"/>
            <c:invertIfNegative val="0"/>
            <c:bubble3D val="0"/>
            <c:spPr>
              <a:solidFill>
                <a:srgbClr val="76A489"/>
              </a:solidFill>
              <a:effectLst/>
            </c:spPr>
          </c:dPt>
          <c:dPt>
            <c:idx val="3"/>
            <c:invertIfNegative val="0"/>
            <c:bubble3D val="0"/>
            <c:spPr>
              <a:solidFill>
                <a:srgbClr val="C9772E"/>
              </a:solidFill>
              <a:effectLst/>
            </c:spPr>
          </c:dPt>
          <c:cat>
            <c:multiLvlStrRef>
              <c:f>Sheet1!$A$2:$A$5</c:f>
              <c:multiLvlStrCache>
                <c:ptCount val="4"/>
                <c:lvl>
                  <c:pt idx="0">
                    <c:v>Agrumes</c:v>
                  </c:pt>
                  <c:pt idx="1">
                    <c:v>Tomate</c:v>
                  </c:pt>
                  <c:pt idx="2">
                    <c:v>Olive</c:v>
                  </c:pt>
                  <c:pt idx="3">
                    <c:v>Céréales*</c:v>
                  </c:pt>
                </c:lvl>
              </c:multiLvlStrCache>
            </c:multiLvlStrRef>
          </c:cat>
          <c:val>
            <c:numRef>
              <c:f>Sheet1!$B$2:$B$5</c:f>
              <c:numCache>
                <c:formatCode>General</c:formatCode>
                <c:ptCount val="4"/>
                <c:pt idx="0">
                  <c:v>2.6</c:v>
                </c:pt>
                <c:pt idx="1">
                  <c:v>1.4</c:v>
                </c:pt>
                <c:pt idx="2">
                  <c:v>1.9</c:v>
                </c:pt>
                <c:pt idx="3">
                  <c:v>5</c:v>
                </c:pt>
              </c:numCache>
            </c:numRef>
          </c:val>
        </c:ser>
        <c:dLbls>
          <c:numFmt formatCode="[$-40C]0.0" sourceLinked="0"/>
          <c:txPr>
            <a:bodyPr/>
            <a:lstStyle/>
            <a:p>
              <a:pPr>
                <a:defRPr b="0" i="0" strike="noStrike" sz="1100" u="none">
                  <a:solidFill>
                    <a:srgbClr val="123324"/>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6B7C72"/>
                </a:solidFill>
                <a:latin typeface="Calibri"/>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DCE4D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C72"/>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Bas de fourchette (%)</c:v>
                </c:pt>
              </c:strCache>
            </c:strRef>
          </c:tx>
          <c:spPr>
            <a:solidFill>
              <a:srgbClr val="1F5C3A"/>
            </a:solidFill>
            <a:effectLst/>
          </c:spPr>
          <c:invertIfNegative val="0"/>
          <c:dLbls>
            <c:numFmt formatCode="[$-40C]0&quot;%&quot;" sourceLinked="0"/>
            <c:txPr>
              <a:bodyPr/>
              <a:lstStyle/>
              <a:p>
                <a:pPr>
                  <a:defRPr b="0" i="0" strike="noStrike" sz="1100" u="none">
                    <a:solidFill>
                      <a:srgbClr val="123324"/>
                    </a:solidFill>
                    <a:latin typeface="Calibri"/>
                  </a:defRPr>
                </a:pPr>
              </a:p>
            </c:txPr>
            <c:showLegendKey val="0"/>
            <c:showVal val="1"/>
            <c:showCatName val="0"/>
            <c:showSerName val="0"/>
            <c:showPercent val="0"/>
            <c:showBubbleSize val="0"/>
            <c:showLeaderLines val="0"/>
          </c:dLbls>
          <c:cat>
            <c:multiLvlStrRef>
              <c:f>Sheet1!$A$2:$A$6</c:f>
              <c:multiLvlStrCache>
                <c:ptCount val="5"/>
                <c:lvl>
                  <c:pt idx="0">
                    <c:v>Tomates</c:v>
                  </c:pt>
                  <c:pt idx="1">
                    <c:v>Agrumes</c:v>
                  </c:pt>
                  <c:pt idx="2">
                    <c:v>Olives</c:v>
                  </c:pt>
                  <c:pt idx="3">
                    <c:v>Fraises</c:v>
                  </c:pt>
                  <c:pt idx="4">
                    <c:v>Avocats</c:v>
                  </c:pt>
                </c:lvl>
              </c:multiLvlStrCache>
            </c:multiLvlStrRef>
          </c:cat>
          <c:val>
            <c:numRef>
              <c:f>Sheet1!$B$2:$B$6</c:f>
              <c:numCache>
                <c:formatCode>General</c:formatCode>
                <c:ptCount val="5"/>
                <c:pt idx="0">
                  <c:v>30</c:v>
                </c:pt>
                <c:pt idx="1">
                  <c:v>20</c:v>
                </c:pt>
                <c:pt idx="2">
                  <c:v>20</c:v>
                </c:pt>
                <c:pt idx="3">
                  <c:v>20</c:v>
                </c:pt>
                <c:pt idx="4">
                  <c:v>15</c:v>
                </c:pt>
              </c:numCache>
            </c:numRef>
          </c:val>
        </c:ser>
        <c:ser>
          <c:idx val="1"/>
          <c:order val="1"/>
          <c:tx>
            <c:strRef>
              <c:f>Sheet1!$C$1</c:f>
              <c:strCache>
                <c:ptCount val="1"/>
                <c:pt idx="0">
                  <c:v>Haut de fourchette (%)</c:v>
                </c:pt>
              </c:strCache>
            </c:strRef>
          </c:tx>
          <c:spPr>
            <a:solidFill>
              <a:srgbClr val="E3B23C"/>
            </a:solidFill>
            <a:effectLst/>
          </c:spPr>
          <c:invertIfNegative val="0"/>
          <c:dLbls>
            <c:numFmt formatCode="[$-40C]0&quot;%&quot;" sourceLinked="0"/>
            <c:txPr>
              <a:bodyPr/>
              <a:lstStyle/>
              <a:p>
                <a:pPr>
                  <a:defRPr b="0" i="0" strike="noStrike" sz="1100" u="none">
                    <a:solidFill>
                      <a:srgbClr val="123324"/>
                    </a:solidFill>
                    <a:latin typeface="Calibri"/>
                  </a:defRPr>
                </a:pPr>
              </a:p>
            </c:txPr>
            <c:showLegendKey val="0"/>
            <c:showVal val="1"/>
            <c:showCatName val="0"/>
            <c:showSerName val="0"/>
            <c:showPercent val="0"/>
            <c:showBubbleSize val="0"/>
            <c:showLeaderLines val="0"/>
          </c:dLbls>
          <c:cat>
            <c:multiLvlStrRef>
              <c:f>Sheet1!$A$2:$A$6</c:f>
              <c:multiLvlStrCache>
                <c:ptCount val="5"/>
                <c:lvl>
                  <c:pt idx="0">
                    <c:v>Tomates</c:v>
                  </c:pt>
                  <c:pt idx="1">
                    <c:v>Agrumes</c:v>
                  </c:pt>
                  <c:pt idx="2">
                    <c:v>Olives</c:v>
                  </c:pt>
                  <c:pt idx="3">
                    <c:v>Fraises</c:v>
                  </c:pt>
                  <c:pt idx="4">
                    <c:v>Avocats</c:v>
                  </c:pt>
                </c:lvl>
              </c:multiLvlStrCache>
            </c:multiLvlStrRef>
          </c:cat>
          <c:val>
            <c:numRef>
              <c:f>Sheet1!$C$2:$C$6</c:f>
              <c:numCache>
                <c:formatCode>General</c:formatCode>
                <c:ptCount val="5"/>
                <c:pt idx="0">
                  <c:v>50</c:v>
                </c:pt>
                <c:pt idx="1">
                  <c:v>40</c:v>
                </c:pt>
                <c:pt idx="2">
                  <c:v>40</c:v>
                </c:pt>
                <c:pt idx="3">
                  <c:v>40</c:v>
                </c:pt>
                <c:pt idx="4">
                  <c:v>25</c:v>
                </c:pt>
              </c:numCache>
            </c:numRef>
          </c:val>
        </c:ser>
        <c:dLbls>
          <c:numFmt formatCode="[$-40C]0&quot;%&quot;" sourceLinked="0"/>
          <c:txPr>
            <a:bodyPr/>
            <a:lstStyle/>
            <a:p>
              <a:pPr>
                <a:defRPr b="0" i="0" strike="noStrike" sz="1100" u="none">
                  <a:solidFill>
                    <a:srgbClr val="123324"/>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6B7C72"/>
                </a:solidFill>
                <a:latin typeface="Calibri"/>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DCE4D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C72"/>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Fourchette basse (%)</c:v>
                </c:pt>
              </c:strCache>
            </c:strRef>
          </c:tx>
          <c:spPr>
            <a:solidFill>
              <a:srgbClr val="1F5C3A"/>
            </a:solidFill>
            <a:effectLst/>
          </c:spPr>
          <c:invertIfNegative val="0"/>
          <c:dLbls>
            <c:numFmt formatCode="[$-40C]0&quot;%&quot;" sourceLinked="0"/>
            <c:txPr>
              <a:bodyPr/>
              <a:lstStyle/>
              <a:p>
                <a:pPr>
                  <a:defRPr b="0" i="0" strike="noStrike" sz="1100" u="none">
                    <a:solidFill>
                      <a:srgbClr val="123324"/>
                    </a:solidFill>
                    <a:latin typeface="Calibri"/>
                  </a:defRPr>
                </a:pPr>
              </a:p>
            </c:txPr>
            <c:showLegendKey val="0"/>
            <c:showVal val="1"/>
            <c:showCatName val="0"/>
            <c:showSerName val="0"/>
            <c:showPercent val="0"/>
            <c:showBubbleSize val="0"/>
            <c:showLeaderLines val="0"/>
          </c:dLbls>
          <c:cat>
            <c:multiLvlStrRef>
              <c:f>Sheet1!$A$2:$A$5</c:f>
              <c:multiLvlStrCache>
                <c:ptCount val="4"/>
                <c:lvl>
                  <c:pt idx="0">
                    <c:v>Goutte-à-goutte</c:v>
                  </c:pt>
                  <c:pt idx="1">
                    <c:v>Aspersion</c:v>
                  </c:pt>
                  <c:pt idx="2">
                    <c:v>Pivot</c:v>
                  </c:pt>
                  <c:pt idx="3">
                    <c:v>Gravitaire</c:v>
                  </c:pt>
                </c:lvl>
              </c:multiLvlStrCache>
            </c:multiLvlStrRef>
          </c:cat>
          <c:val>
            <c:numRef>
              <c:f>Sheet1!$B$2:$B$5</c:f>
              <c:numCache>
                <c:formatCode>General</c:formatCode>
                <c:ptCount val="4"/>
                <c:pt idx="0">
                  <c:v>40</c:v>
                </c:pt>
                <c:pt idx="1">
                  <c:v>50</c:v>
                </c:pt>
                <c:pt idx="2">
                  <c:v>50</c:v>
                </c:pt>
                <c:pt idx="3">
                  <c:v>55</c:v>
                </c:pt>
              </c:numCache>
            </c:numRef>
          </c:val>
        </c:ser>
        <c:ser>
          <c:idx val="1"/>
          <c:order val="1"/>
          <c:tx>
            <c:strRef>
              <c:f>Sheet1!$C$1</c:f>
              <c:strCache>
                <c:ptCount val="1"/>
                <c:pt idx="0">
                  <c:v>Fourchette haute (%)</c:v>
                </c:pt>
              </c:strCache>
            </c:strRef>
          </c:tx>
          <c:spPr>
            <a:solidFill>
              <a:srgbClr val="E3B23C"/>
            </a:solidFill>
            <a:effectLst/>
          </c:spPr>
          <c:invertIfNegative val="0"/>
          <c:dLbls>
            <c:numFmt formatCode="[$-40C]0&quot;%&quot;" sourceLinked="0"/>
            <c:txPr>
              <a:bodyPr/>
              <a:lstStyle/>
              <a:p>
                <a:pPr>
                  <a:defRPr b="0" i="0" strike="noStrike" sz="1100" u="none">
                    <a:solidFill>
                      <a:srgbClr val="123324"/>
                    </a:solidFill>
                    <a:latin typeface="Calibri"/>
                  </a:defRPr>
                </a:pPr>
              </a:p>
            </c:txPr>
            <c:showLegendKey val="0"/>
            <c:showVal val="1"/>
            <c:showCatName val="0"/>
            <c:showSerName val="0"/>
            <c:showPercent val="0"/>
            <c:showBubbleSize val="0"/>
            <c:showLeaderLines val="0"/>
          </c:dLbls>
          <c:cat>
            <c:multiLvlStrRef>
              <c:f>Sheet1!$A$2:$A$5</c:f>
              <c:multiLvlStrCache>
                <c:ptCount val="4"/>
                <c:lvl>
                  <c:pt idx="0">
                    <c:v>Goutte-à-goutte</c:v>
                  </c:pt>
                  <c:pt idx="1">
                    <c:v>Aspersion</c:v>
                  </c:pt>
                  <c:pt idx="2">
                    <c:v>Pivot</c:v>
                  </c:pt>
                  <c:pt idx="3">
                    <c:v>Gravitaire</c:v>
                  </c:pt>
                </c:lvl>
              </c:multiLvlStrCache>
            </c:multiLvlStrRef>
          </c:cat>
          <c:val>
            <c:numRef>
              <c:f>Sheet1!$C$2:$C$5</c:f>
              <c:numCache>
                <c:formatCode>General</c:formatCode>
                <c:ptCount val="4"/>
                <c:pt idx="0">
                  <c:v>55</c:v>
                </c:pt>
                <c:pt idx="1">
                  <c:v>65</c:v>
                </c:pt>
                <c:pt idx="2">
                  <c:v>65</c:v>
                </c:pt>
                <c:pt idx="3">
                  <c:v>70</c:v>
                </c:pt>
              </c:numCache>
            </c:numRef>
          </c:val>
        </c:ser>
        <c:dLbls>
          <c:numFmt formatCode="[$-40C]0&quot;%&quot;" sourceLinked="0"/>
          <c:txPr>
            <a:bodyPr/>
            <a:lstStyle/>
            <a:p>
              <a:pPr>
                <a:defRPr b="0" i="0" strike="noStrike" sz="1100" u="none">
                  <a:solidFill>
                    <a:srgbClr val="123324"/>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6B7C72"/>
                </a:solidFill>
                <a:latin typeface="Calibri"/>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DCE4D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C72"/>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e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e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eg"/><Relationship Id="rId2" Type="http://schemas.openxmlformats.org/officeDocument/2006/relationships/image" Target="../media/image-13-2.jpeg"/><Relationship Id="rId3" Type="http://schemas.openxmlformats.org/officeDocument/2006/relationships/image" Target="../media/image-13-3.jpe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e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0D0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272784" y="0"/>
            <a:ext cx="5918911" cy="6858000"/>
          </a:xfrm>
          <a:prstGeom prst="rect">
            <a:avLst/>
          </a:prstGeom>
        </p:spPr>
      </p:pic>
      <p:sp>
        <p:nvSpPr>
          <p:cNvPr id="3" name="Shape 0"/>
          <p:cNvSpPr/>
          <p:nvPr/>
        </p:nvSpPr>
        <p:spPr>
          <a:xfrm>
            <a:off x="0" y="0"/>
            <a:ext cx="6272784" cy="6858000"/>
          </a:xfrm>
          <a:prstGeom prst="rect">
            <a:avLst/>
          </a:prstGeom>
          <a:solidFill>
            <a:srgbClr val="0D0D0D"/>
          </a:solidFill>
          <a:ln/>
        </p:spPr>
      </p:sp>
      <p:sp>
        <p:nvSpPr>
          <p:cNvPr id="4" name="Text 1"/>
          <p:cNvSpPr txBox="1"/>
          <p:nvPr/>
        </p:nvSpPr>
        <p:spPr>
          <a:xfrm>
            <a:off x="658368" y="566928"/>
            <a:ext cx="4041648" cy="292608"/>
          </a:xfrm>
          <a:prstGeom prst="rect">
            <a:avLst/>
          </a:prstGeom>
          <a:noFill/>
          <a:ln/>
        </p:spPr>
        <p:txBody>
          <a:bodyPr wrap="square" lIns="0" tIns="0" rIns="0" bIns="0" rtlCol="0" anchor="ctr"/>
          <a:lstStyle/>
          <a:p>
            <a:pPr algn="l" indent="0" marL="0">
              <a:buNone/>
            </a:pPr>
            <a:r>
              <a:rPr lang="en-US" sz="1100" b="1" spc="80" kern="0" dirty="0">
                <a:solidFill>
                  <a:srgbClr val="8BC34A"/>
                </a:solidFill>
                <a:latin typeface="Calibri" pitchFamily="34" charset="0"/>
                <a:ea typeface="Calibri" pitchFamily="34" charset="-122"/>
                <a:cs typeface="Calibri" pitchFamily="34" charset="-120"/>
              </a:rPr>
              <a:t>GREEN SOLUTIONS GROUP</a:t>
            </a:r>
            <a:endParaRPr lang="en-US" sz="1100" dirty="0"/>
          </a:p>
        </p:txBody>
      </p:sp>
      <p:pic>
        <p:nvPicPr>
          <p:cNvPr id="5" name="Image 1" descr="C:\Users\Utilisateur\dev\green-solutions-web\public\images\logo-icon.png">    </p:cNvPr>
          <p:cNvPicPr>
            <a:picLocks noChangeAspect="1"/>
          </p:cNvPicPr>
          <p:nvPr/>
        </p:nvPicPr>
        <p:blipFill>
          <a:blip r:embed="rId2"/>
          <a:stretch>
            <a:fillRect/>
          </a:stretch>
        </p:blipFill>
        <p:spPr>
          <a:xfrm>
            <a:off x="5010912" y="457200"/>
            <a:ext cx="603504" cy="603504"/>
          </a:xfrm>
          <a:prstGeom prst="rect">
            <a:avLst/>
          </a:prstGeom>
        </p:spPr>
      </p:pic>
      <p:pic>
        <p:nvPicPr>
          <p:cNvPr id="6" name="Image 2" descr="C:\Users\Utilisateur\dev\green-solutions-web\scripts\dossiers\drapeaux\maroc.png">    </p:cNvPr>
          <p:cNvPicPr>
            <a:picLocks noChangeAspect="1"/>
          </p:cNvPicPr>
          <p:nvPr/>
        </p:nvPicPr>
        <p:blipFill>
          <a:blip r:embed="rId3"/>
          <a:stretch>
            <a:fillRect/>
          </a:stretch>
        </p:blipFill>
        <p:spPr>
          <a:xfrm>
            <a:off x="3649991" y="1389888"/>
            <a:ext cx="1964425" cy="1310640"/>
          </a:xfrm>
          <a:prstGeom prst="rect">
            <a:avLst/>
          </a:prstGeom>
        </p:spPr>
      </p:pic>
      <p:sp>
        <p:nvSpPr>
          <p:cNvPr id="7" name="Shape 2"/>
          <p:cNvSpPr/>
          <p:nvPr/>
        </p:nvSpPr>
        <p:spPr>
          <a:xfrm>
            <a:off x="3649991" y="1389888"/>
            <a:ext cx="1964425" cy="1310640"/>
          </a:xfrm>
          <a:prstGeom prst="rect">
            <a:avLst/>
          </a:prstGeom>
          <a:ln w="9525">
            <a:solidFill>
              <a:srgbClr val="3A3A3A"/>
            </a:solidFill>
            <a:prstDash val="solid"/>
          </a:ln>
        </p:spPr>
      </p:sp>
      <p:sp>
        <p:nvSpPr>
          <p:cNvPr id="8" name="Text 3"/>
          <p:cNvSpPr txBox="1"/>
          <p:nvPr/>
        </p:nvSpPr>
        <p:spPr>
          <a:xfrm>
            <a:off x="658368" y="1298448"/>
            <a:ext cx="2761488" cy="1234440"/>
          </a:xfrm>
          <a:prstGeom prst="rect">
            <a:avLst/>
          </a:prstGeom>
          <a:noFill/>
          <a:ln/>
        </p:spPr>
        <p:txBody>
          <a:bodyPr wrap="square" lIns="0" tIns="0" rIns="0" bIns="0" rtlCol="0" anchor="t"/>
          <a:lstStyle/>
          <a:p>
            <a:pPr algn="l" indent="0" marL="0">
              <a:lnSpc>
                <a:spcPct val="110000"/>
              </a:lnSpc>
              <a:buNone/>
            </a:pPr>
            <a:r>
              <a:rPr lang="en-US" sz="2800" b="1" dirty="0">
                <a:solidFill>
                  <a:srgbClr val="FFFFFF"/>
                </a:solidFill>
                <a:latin typeface="Cambria" pitchFamily="34" charset="0"/>
                <a:ea typeface="Cambria" pitchFamily="34" charset="-122"/>
                <a:cs typeface="Cambria" pitchFamily="34" charset="-120"/>
              </a:rPr>
              <a:t>ROYAUME DU MAROC</a:t>
            </a:r>
            <a:endParaRPr lang="en-US" sz="2800" dirty="0"/>
          </a:p>
        </p:txBody>
      </p:sp>
      <p:sp>
        <p:nvSpPr>
          <p:cNvPr id="9" name="Shape 4"/>
          <p:cNvSpPr/>
          <p:nvPr/>
        </p:nvSpPr>
        <p:spPr>
          <a:xfrm>
            <a:off x="658368" y="2889504"/>
            <a:ext cx="2788920" cy="45720"/>
          </a:xfrm>
          <a:prstGeom prst="rect">
            <a:avLst/>
          </a:prstGeom>
          <a:solidFill>
            <a:srgbClr val="E3B23C"/>
          </a:solidFill>
          <a:ln/>
        </p:spPr>
      </p:sp>
      <p:sp>
        <p:nvSpPr>
          <p:cNvPr id="10" name="Text 5"/>
          <p:cNvSpPr txBox="1"/>
          <p:nvPr/>
        </p:nvSpPr>
        <p:spPr>
          <a:xfrm>
            <a:off x="658368" y="3163824"/>
            <a:ext cx="4956048" cy="384048"/>
          </a:xfrm>
          <a:prstGeom prst="rect">
            <a:avLst/>
          </a:prstGeom>
          <a:noFill/>
          <a:ln/>
        </p:spPr>
        <p:txBody>
          <a:bodyPr wrap="square" lIns="0" tIns="0" rIns="0" bIns="0" rtlCol="0" anchor="ctr"/>
          <a:lstStyle/>
          <a:p>
            <a:pPr algn="l" indent="0" marL="0">
              <a:buNone/>
            </a:pPr>
            <a:r>
              <a:rPr lang="en-US" sz="1600" b="1" dirty="0">
                <a:solidFill>
                  <a:srgbClr val="E3B23C"/>
                </a:solidFill>
                <a:latin typeface="Cambria" pitchFamily="34" charset="0"/>
                <a:ea typeface="Cambria" pitchFamily="34" charset="-122"/>
                <a:cs typeface="Cambria" pitchFamily="34" charset="-120"/>
              </a:rPr>
              <a:t>Rabat · 2026</a:t>
            </a:r>
            <a:endParaRPr lang="en-US" sz="1600" dirty="0"/>
          </a:p>
        </p:txBody>
      </p:sp>
      <p:sp>
        <p:nvSpPr>
          <p:cNvPr id="11" name="Text 6"/>
          <p:cNvSpPr txBox="1"/>
          <p:nvPr/>
        </p:nvSpPr>
        <p:spPr>
          <a:xfrm>
            <a:off x="658368" y="3767328"/>
            <a:ext cx="4956048" cy="914400"/>
          </a:xfrm>
          <a:prstGeom prst="rect">
            <a:avLst/>
          </a:prstGeom>
          <a:noFill/>
          <a:ln/>
        </p:spPr>
        <p:txBody>
          <a:bodyPr wrap="square" lIns="0" tIns="0" rIns="0" bIns="0" rtlCol="0" anchor="t"/>
          <a:lstStyle/>
          <a:p>
            <a:pPr algn="l" indent="0" marL="0">
              <a:lnSpc>
                <a:spcPct val="128000"/>
              </a:lnSpc>
              <a:buNone/>
            </a:pPr>
            <a:r>
              <a:rPr lang="en-US" sz="1450" dirty="0">
                <a:solidFill>
                  <a:srgbClr val="FFFFFF"/>
                </a:solidFill>
                <a:latin typeface="Calibri" pitchFamily="34" charset="0"/>
                <a:ea typeface="Calibri" pitchFamily="34" charset="-122"/>
                <a:cs typeface="Calibri" pitchFamily="34" charset="-120"/>
              </a:rPr>
              <a:t>Agrumes, maraîchage et oléiculture sous contrainte hydrique durable.</a:t>
            </a:r>
            <a:endParaRPr lang="en-US" sz="1450" dirty="0"/>
          </a:p>
          <a:p>
            <a:pPr algn="l" indent="0" marL="0">
              <a:lnSpc>
                <a:spcPct val="128000"/>
              </a:lnSpc>
              <a:buNone/>
            </a:pPr>
            <a:r>
              <a:rPr lang="en-US" sz="1450" dirty="0">
                <a:solidFill>
                  <a:srgbClr val="FFFFFF"/>
                </a:solidFill>
                <a:latin typeface="Calibri" pitchFamily="34" charset="0"/>
                <a:ea typeface="Calibri" pitchFamily="34" charset="-122"/>
                <a:cs typeface="Calibri" pitchFamily="34" charset="-120"/>
              </a:rPr>
              <a:t>Ce que l'hydro-rétention change pour une filière exportatrice.</a:t>
            </a:r>
            <a:endParaRPr lang="en-US" sz="1450" dirty="0"/>
          </a:p>
        </p:txBody>
      </p:sp>
      <p:sp>
        <p:nvSpPr>
          <p:cNvPr id="12" name="Text 7"/>
          <p:cNvSpPr txBox="1"/>
          <p:nvPr/>
        </p:nvSpPr>
        <p:spPr>
          <a:xfrm>
            <a:off x="658368" y="4892040"/>
            <a:ext cx="4956048" cy="347472"/>
          </a:xfrm>
          <a:prstGeom prst="rect">
            <a:avLst/>
          </a:prstGeom>
          <a:noFill/>
          <a:ln/>
        </p:spPr>
        <p:txBody>
          <a:bodyPr wrap="square" lIns="0" tIns="0" rIns="0" bIns="0" rtlCol="0" anchor="ctr"/>
          <a:lstStyle/>
          <a:p>
            <a:pPr algn="l" indent="0" marL="0">
              <a:buNone/>
            </a:pPr>
            <a:r>
              <a:rPr lang="en-US" sz="1100" b="1" dirty="0">
                <a:solidFill>
                  <a:srgbClr val="8BC34A"/>
                </a:solidFill>
                <a:latin typeface="Calibri" pitchFamily="34" charset="0"/>
                <a:ea typeface="Calibri" pitchFamily="34" charset="-122"/>
                <a:cs typeface="Calibri" pitchFamily="34" charset="-120"/>
              </a:rPr>
              <a:t>ECOSORB® · ECOFERT® · NAPEMA® · PAULOWNIA</a:t>
            </a:r>
            <a:endParaRPr lang="en-US" sz="1100" dirty="0"/>
          </a:p>
        </p:txBody>
      </p:sp>
      <p:sp>
        <p:nvSpPr>
          <p:cNvPr id="13" name="Text 8"/>
          <p:cNvSpPr txBox="1"/>
          <p:nvPr/>
        </p:nvSpPr>
        <p:spPr>
          <a:xfrm>
            <a:off x="658368" y="6053328"/>
            <a:ext cx="4956048" cy="310896"/>
          </a:xfrm>
          <a:prstGeom prst="rect">
            <a:avLst/>
          </a:prstGeom>
          <a:noFill/>
          <a:ln/>
        </p:spPr>
        <p:txBody>
          <a:bodyPr wrap="square" lIns="0" tIns="0" rIns="0" bIns="0" rtlCol="0" anchor="ctr"/>
          <a:lstStyle/>
          <a:p>
            <a:pPr algn="l" indent="0" marL="0">
              <a:buNone/>
            </a:pPr>
            <a:r>
              <a:rPr lang="en-US" sz="850" dirty="0">
                <a:solidFill>
                  <a:srgbClr val="9A9A9A"/>
                </a:solidFill>
                <a:latin typeface="Calibri" pitchFamily="34" charset="0"/>
                <a:ea typeface="Calibri" pitchFamily="34" charset="-122"/>
                <a:cs typeface="Calibri" pitchFamily="34" charset="-120"/>
              </a:rPr>
              <a:t>Septembre 2026 · Document confidentiel · À l'usage exclusif du destinataire</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E3B23C"/>
                </a:solidFill>
                <a:latin typeface="Calibri" pitchFamily="34" charset="0"/>
                <a:ea typeface="Calibri" pitchFamily="34" charset="-122"/>
                <a:cs typeface="Calibri" pitchFamily="34" charset="-120"/>
              </a:rPr>
              <a:t>LE MARCHÉ EN BREF</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123324"/>
                </a:solidFill>
                <a:latin typeface="Cambria" pitchFamily="34" charset="0"/>
                <a:ea typeface="Cambria" pitchFamily="34" charset="-122"/>
                <a:cs typeface="Cambria" pitchFamily="34" charset="-120"/>
              </a:rPr>
              <a:t>Un pays agricole exportateur, exposé à la sécheresse</a:t>
            </a:r>
            <a:endParaRPr lang="en-US" sz="3000" dirty="0"/>
          </a:p>
        </p:txBody>
      </p:sp>
      <p:sp>
        <p:nvSpPr>
          <p:cNvPr id="4" name="Shape 2"/>
          <p:cNvSpPr/>
          <p:nvPr/>
        </p:nvSpPr>
        <p:spPr>
          <a:xfrm>
            <a:off x="594360" y="1874520"/>
            <a:ext cx="2545004" cy="2514600"/>
          </a:xfrm>
          <a:prstGeom prst="roundRect">
            <a:avLst>
              <a:gd name="adj" fmla="val 3636"/>
            </a:avLst>
          </a:prstGeom>
          <a:solidFill>
            <a:srgbClr val="F1F4EF"/>
          </a:solidFill>
          <a:ln w="9525">
            <a:solidFill>
              <a:srgbClr val="DCE4DA"/>
            </a:solidFill>
            <a:prstDash val="solid"/>
          </a:ln>
        </p:spPr>
      </p:sp>
      <p:sp>
        <p:nvSpPr>
          <p:cNvPr id="5" name="Text 3"/>
          <p:cNvSpPr txBox="1"/>
          <p:nvPr/>
        </p:nvSpPr>
        <p:spPr>
          <a:xfrm>
            <a:off x="777240" y="2148840"/>
            <a:ext cx="2179244" cy="960120"/>
          </a:xfrm>
          <a:prstGeom prst="rect">
            <a:avLst/>
          </a:prstGeom>
          <a:noFill/>
          <a:ln/>
        </p:spPr>
        <p:txBody>
          <a:bodyPr wrap="square" lIns="0" tIns="0" rIns="0" bIns="0" rtlCol="0" anchor="ctr"/>
          <a:lstStyle/>
          <a:p>
            <a:pPr algn="ctr" indent="0" marL="0">
              <a:buNone/>
            </a:pPr>
            <a:r>
              <a:rPr lang="en-US" sz="3800" b="1" dirty="0">
                <a:solidFill>
                  <a:srgbClr val="1F5C3A"/>
                </a:solidFill>
                <a:latin typeface="Cambria" pitchFamily="34" charset="0"/>
                <a:ea typeface="Cambria" pitchFamily="34" charset="-122"/>
                <a:cs typeface="Cambria" pitchFamily="34" charset="-120"/>
              </a:rPr>
              <a:t>≈ 12 %</a:t>
            </a:r>
            <a:endParaRPr lang="en-US" sz="3800" dirty="0"/>
          </a:p>
        </p:txBody>
      </p:sp>
      <p:sp>
        <p:nvSpPr>
          <p:cNvPr id="6" name="Text 4"/>
          <p:cNvSpPr txBox="1"/>
          <p:nvPr/>
        </p:nvSpPr>
        <p:spPr>
          <a:xfrm>
            <a:off x="795528"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33423A"/>
                </a:solidFill>
                <a:latin typeface="Calibri" pitchFamily="34" charset="0"/>
                <a:ea typeface="Calibri" pitchFamily="34" charset="-122"/>
                <a:cs typeface="Calibri" pitchFamily="34" charset="-120"/>
              </a:rPr>
              <a:t>du PIB provient de l'agriculture</a:t>
            </a:r>
            <a:endParaRPr lang="en-US" sz="1250" dirty="0"/>
          </a:p>
        </p:txBody>
      </p:sp>
      <p:sp>
        <p:nvSpPr>
          <p:cNvPr id="7" name="Shape 5"/>
          <p:cNvSpPr/>
          <p:nvPr/>
        </p:nvSpPr>
        <p:spPr>
          <a:xfrm>
            <a:off x="3413684" y="1874520"/>
            <a:ext cx="2545004" cy="2514600"/>
          </a:xfrm>
          <a:prstGeom prst="roundRect">
            <a:avLst>
              <a:gd name="adj" fmla="val 3636"/>
            </a:avLst>
          </a:prstGeom>
          <a:solidFill>
            <a:srgbClr val="F1F4EF"/>
          </a:solidFill>
          <a:ln w="9525">
            <a:solidFill>
              <a:srgbClr val="DCE4DA"/>
            </a:solidFill>
            <a:prstDash val="solid"/>
          </a:ln>
        </p:spPr>
      </p:sp>
      <p:sp>
        <p:nvSpPr>
          <p:cNvPr id="8" name="Text 6"/>
          <p:cNvSpPr txBox="1"/>
          <p:nvPr/>
        </p:nvSpPr>
        <p:spPr>
          <a:xfrm>
            <a:off x="3596564" y="2148840"/>
            <a:ext cx="2179244" cy="960120"/>
          </a:xfrm>
          <a:prstGeom prst="rect">
            <a:avLst/>
          </a:prstGeom>
          <a:noFill/>
          <a:ln/>
        </p:spPr>
        <p:txBody>
          <a:bodyPr wrap="square" lIns="0" tIns="0" rIns="0" bIns="0" rtlCol="0" anchor="ctr"/>
          <a:lstStyle/>
          <a:p>
            <a:pPr algn="ctr" indent="0" marL="0">
              <a:buNone/>
            </a:pPr>
            <a:r>
              <a:rPr lang="en-US" sz="3000" b="1" dirty="0">
                <a:solidFill>
                  <a:srgbClr val="1F5C3A"/>
                </a:solidFill>
                <a:latin typeface="Cambria" pitchFamily="34" charset="0"/>
                <a:ea typeface="Cambria" pitchFamily="34" charset="-122"/>
                <a:cs typeface="Cambria" pitchFamily="34" charset="-120"/>
              </a:rPr>
              <a:t>≈ 8,7 M ha</a:t>
            </a:r>
            <a:endParaRPr lang="en-US" sz="3000" dirty="0"/>
          </a:p>
        </p:txBody>
      </p:sp>
      <p:sp>
        <p:nvSpPr>
          <p:cNvPr id="9" name="Text 7"/>
          <p:cNvSpPr txBox="1"/>
          <p:nvPr/>
        </p:nvSpPr>
        <p:spPr>
          <a:xfrm>
            <a:off x="3614852"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33423A"/>
                </a:solidFill>
                <a:latin typeface="Calibri" pitchFamily="34" charset="0"/>
                <a:ea typeface="Calibri" pitchFamily="34" charset="-122"/>
                <a:cs typeface="Calibri" pitchFamily="34" charset="-120"/>
              </a:rPr>
              <a:t>de surface agricole utile</a:t>
            </a:r>
            <a:endParaRPr lang="en-US" sz="1250" dirty="0"/>
          </a:p>
        </p:txBody>
      </p:sp>
      <p:sp>
        <p:nvSpPr>
          <p:cNvPr id="10" name="Shape 8"/>
          <p:cNvSpPr/>
          <p:nvPr/>
        </p:nvSpPr>
        <p:spPr>
          <a:xfrm>
            <a:off x="6233008" y="1874520"/>
            <a:ext cx="2545004" cy="2514600"/>
          </a:xfrm>
          <a:prstGeom prst="roundRect">
            <a:avLst>
              <a:gd name="adj" fmla="val 3636"/>
            </a:avLst>
          </a:prstGeom>
          <a:solidFill>
            <a:srgbClr val="F1F4EF"/>
          </a:solidFill>
          <a:ln w="9525">
            <a:solidFill>
              <a:srgbClr val="DCE4DA"/>
            </a:solidFill>
            <a:prstDash val="solid"/>
          </a:ln>
        </p:spPr>
      </p:sp>
      <p:sp>
        <p:nvSpPr>
          <p:cNvPr id="11" name="Text 9"/>
          <p:cNvSpPr txBox="1"/>
          <p:nvPr/>
        </p:nvSpPr>
        <p:spPr>
          <a:xfrm>
            <a:off x="6415888" y="2148840"/>
            <a:ext cx="2179244" cy="960120"/>
          </a:xfrm>
          <a:prstGeom prst="rect">
            <a:avLst/>
          </a:prstGeom>
          <a:noFill/>
          <a:ln/>
        </p:spPr>
        <p:txBody>
          <a:bodyPr wrap="square" lIns="0" tIns="0" rIns="0" bIns="0" rtlCol="0" anchor="ctr"/>
          <a:lstStyle/>
          <a:p>
            <a:pPr algn="ctr" indent="0" marL="0">
              <a:buNone/>
            </a:pPr>
            <a:r>
              <a:rPr lang="en-US" sz="3000" b="1" dirty="0">
                <a:solidFill>
                  <a:srgbClr val="1F5C3A"/>
                </a:solidFill>
                <a:latin typeface="Cambria" pitchFamily="34" charset="0"/>
                <a:ea typeface="Cambria" pitchFamily="34" charset="-122"/>
                <a:cs typeface="Cambria" pitchFamily="34" charset="-120"/>
              </a:rPr>
              <a:t>≈ 1,5 M ha</a:t>
            </a:r>
            <a:endParaRPr lang="en-US" sz="3000" dirty="0"/>
          </a:p>
        </p:txBody>
      </p:sp>
      <p:sp>
        <p:nvSpPr>
          <p:cNvPr id="12" name="Text 10"/>
          <p:cNvSpPr txBox="1"/>
          <p:nvPr/>
        </p:nvSpPr>
        <p:spPr>
          <a:xfrm>
            <a:off x="6434176"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33423A"/>
                </a:solidFill>
                <a:latin typeface="Calibri" pitchFamily="34" charset="0"/>
                <a:ea typeface="Calibri" pitchFamily="34" charset="-122"/>
                <a:cs typeface="Calibri" pitchFamily="34" charset="-120"/>
              </a:rPr>
              <a:t>irrigués, soit environ 17 % de la SAU</a:t>
            </a:r>
            <a:endParaRPr lang="en-US" sz="1250" dirty="0"/>
          </a:p>
        </p:txBody>
      </p:sp>
      <p:sp>
        <p:nvSpPr>
          <p:cNvPr id="13" name="Shape 11"/>
          <p:cNvSpPr/>
          <p:nvPr/>
        </p:nvSpPr>
        <p:spPr>
          <a:xfrm>
            <a:off x="9052331" y="1874520"/>
            <a:ext cx="2545004" cy="2514600"/>
          </a:xfrm>
          <a:prstGeom prst="roundRect">
            <a:avLst>
              <a:gd name="adj" fmla="val 3636"/>
            </a:avLst>
          </a:prstGeom>
          <a:solidFill>
            <a:srgbClr val="F1F4EF"/>
          </a:solidFill>
          <a:ln w="9525">
            <a:solidFill>
              <a:srgbClr val="DCE4DA"/>
            </a:solidFill>
            <a:prstDash val="solid"/>
          </a:ln>
        </p:spPr>
      </p:sp>
      <p:sp>
        <p:nvSpPr>
          <p:cNvPr id="14" name="Text 12"/>
          <p:cNvSpPr txBox="1"/>
          <p:nvPr/>
        </p:nvSpPr>
        <p:spPr>
          <a:xfrm>
            <a:off x="9235211" y="2148840"/>
            <a:ext cx="2179244" cy="960120"/>
          </a:xfrm>
          <a:prstGeom prst="rect">
            <a:avLst/>
          </a:prstGeom>
          <a:noFill/>
          <a:ln/>
        </p:spPr>
        <p:txBody>
          <a:bodyPr wrap="square" lIns="0" tIns="0" rIns="0" bIns="0" rtlCol="0" anchor="ctr"/>
          <a:lstStyle/>
          <a:p>
            <a:pPr algn="ctr" indent="0" marL="0">
              <a:buNone/>
            </a:pPr>
            <a:r>
              <a:rPr lang="en-US" sz="3800" b="1" dirty="0">
                <a:solidFill>
                  <a:srgbClr val="1F5C3A"/>
                </a:solidFill>
                <a:latin typeface="Cambria" pitchFamily="34" charset="0"/>
                <a:ea typeface="Cambria" pitchFamily="34" charset="-122"/>
                <a:cs typeface="Cambria" pitchFamily="34" charset="-120"/>
              </a:rPr>
              <a:t>≈ 30 %</a:t>
            </a:r>
            <a:endParaRPr lang="en-US" sz="3800" dirty="0"/>
          </a:p>
        </p:txBody>
      </p:sp>
      <p:sp>
        <p:nvSpPr>
          <p:cNvPr id="15" name="Text 13"/>
          <p:cNvSpPr txBox="1"/>
          <p:nvPr/>
        </p:nvSpPr>
        <p:spPr>
          <a:xfrm>
            <a:off x="9253499"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33423A"/>
                </a:solidFill>
                <a:latin typeface="Calibri" pitchFamily="34" charset="0"/>
                <a:ea typeface="Calibri" pitchFamily="34" charset="-122"/>
                <a:cs typeface="Calibri" pitchFamily="34" charset="-120"/>
              </a:rPr>
              <a:t>de la population active employée par le secteur</a:t>
            </a:r>
            <a:endParaRPr lang="en-US" sz="1250" dirty="0"/>
          </a:p>
        </p:txBody>
      </p:sp>
      <p:sp>
        <p:nvSpPr>
          <p:cNvPr id="16" name="Text 14"/>
          <p:cNvSpPr txBox="1"/>
          <p:nvPr/>
        </p:nvSpPr>
        <p:spPr>
          <a:xfrm>
            <a:off x="594360" y="4709160"/>
            <a:ext cx="11002975" cy="1097280"/>
          </a:xfrm>
          <a:prstGeom prst="rect">
            <a:avLst/>
          </a:prstGeom>
          <a:noFill/>
          <a:ln/>
        </p:spPr>
        <p:txBody>
          <a:bodyPr wrap="square" lIns="0" tIns="0" rIns="0" bIns="0" rtlCol="0" anchor="t"/>
          <a:lstStyle/>
          <a:p>
            <a:pPr algn="l" indent="0" marL="0">
              <a:lnSpc>
                <a:spcPct val="130000"/>
              </a:lnSpc>
              <a:buNone/>
            </a:pPr>
            <a:r>
              <a:rPr lang="en-US" sz="1350" dirty="0">
                <a:solidFill>
                  <a:srgbClr val="33423A"/>
                </a:solidFill>
                <a:latin typeface="Calibri" pitchFamily="34" charset="0"/>
                <a:ea typeface="Calibri" pitchFamily="34" charset="-122"/>
                <a:cs typeface="Calibri" pitchFamily="34" charset="-120"/>
              </a:rPr>
              <a:t>L'agriculture marocaine combine une filière d'exportation très structurée (agrumes, tomate, petits fruits) et une céréaliculture pluviale dont le rendement suit directement la pluviométrie. C'est cette dépendance à l'eau qui rend le pays prioritaire pour nos technologies.</a:t>
            </a:r>
            <a:endParaRPr lang="en-US" sz="1350" dirty="0"/>
          </a:p>
        </p:txBody>
      </p:sp>
      <p:sp>
        <p:nvSpPr>
          <p:cNvPr id="17" name="Text 1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B7C72">
                    <a:alpha val="80000"/>
                  </a:srgbClr>
                </a:solidFill>
                <a:latin typeface="Calibri" pitchFamily="34" charset="0"/>
                <a:ea typeface="Calibri" pitchFamily="34" charset="-122"/>
                <a:cs typeface="Calibri" pitchFamily="34" charset="-120"/>
              </a:rPr>
              <a:t>Green Solutions · Dossier marché Maroc</a:t>
            </a:r>
            <a:endParaRPr lang="en-US" sz="950" dirty="0"/>
          </a:p>
        </p:txBody>
      </p:sp>
      <p:sp>
        <p:nvSpPr>
          <p:cNvPr id="18" name="Text 1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B7C72">
                    <a:alpha val="80000"/>
                  </a:srgbClr>
                </a:solidFill>
                <a:latin typeface="Calibri" pitchFamily="34" charset="0"/>
                <a:ea typeface="Calibri" pitchFamily="34" charset="-122"/>
                <a:cs typeface="Calibri" pitchFamily="34" charset="-120"/>
              </a:rPr>
              <a:t>1</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E3B23C"/>
                </a:solidFill>
                <a:latin typeface="Calibri" pitchFamily="34" charset="0"/>
                <a:ea typeface="Calibri" pitchFamily="34" charset="-122"/>
                <a:cs typeface="Calibri" pitchFamily="34" charset="-120"/>
              </a:rPr>
              <a:t>LA CONTRAINTE</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123324"/>
                </a:solidFill>
                <a:latin typeface="Cambria" pitchFamily="34" charset="0"/>
                <a:ea typeface="Cambria" pitchFamily="34" charset="-122"/>
                <a:cs typeface="Cambria" pitchFamily="34" charset="-120"/>
              </a:rPr>
              <a:t>Six campagnes de sécheresse consécutives</a:t>
            </a:r>
            <a:endParaRPr lang="en-US" sz="3000" dirty="0"/>
          </a:p>
        </p:txBody>
      </p:sp>
      <p:pic>
        <p:nvPicPr>
          <p:cNvPr id="4" name="Image 0" descr="preencoded.png">    </p:cNvPr>
          <p:cNvPicPr>
            <a:picLocks noChangeAspect="1"/>
          </p:cNvPicPr>
          <p:nvPr/>
        </p:nvPicPr>
        <p:blipFill>
          <a:blip r:embed="rId1"/>
          <a:stretch>
            <a:fillRect/>
          </a:stretch>
        </p:blipFill>
        <p:spPr>
          <a:xfrm>
            <a:off x="6522415" y="1783080"/>
            <a:ext cx="5074920" cy="3794760"/>
          </a:xfrm>
          <a:prstGeom prst="rect">
            <a:avLst/>
          </a:prstGeom>
        </p:spPr>
      </p:pic>
      <p:sp>
        <p:nvSpPr>
          <p:cNvPr id="5" name="Text 2"/>
          <p:cNvSpPr txBox="1"/>
          <p:nvPr/>
        </p:nvSpPr>
        <p:spPr>
          <a:xfrm>
            <a:off x="6522415" y="5687568"/>
            <a:ext cx="5074920" cy="457200"/>
          </a:xfrm>
          <a:prstGeom prst="rect">
            <a:avLst/>
          </a:prstGeom>
          <a:noFill/>
          <a:ln/>
        </p:spPr>
        <p:txBody>
          <a:bodyPr wrap="square" lIns="0" tIns="0" rIns="0" bIns="0" rtlCol="0" anchor="ctr"/>
          <a:lstStyle/>
          <a:p>
            <a:pPr algn="r" indent="0" marL="0">
              <a:buNone/>
            </a:pPr>
            <a:r>
              <a:rPr lang="en-US" sz="1000" i="1" dirty="0">
                <a:solidFill>
                  <a:srgbClr val="6B7C72"/>
                </a:solidFill>
                <a:latin typeface="Calibri" pitchFamily="34" charset="0"/>
                <a:ea typeface="Calibri" pitchFamily="34" charset="-122"/>
                <a:cs typeface="Calibri" pitchFamily="34" charset="-120"/>
              </a:rPr>
              <a:t>Périmètre irrigué, région du Souss</a:t>
            </a:r>
            <a:endParaRPr lang="en-US" sz="1000" dirty="0"/>
          </a:p>
        </p:txBody>
      </p:sp>
      <p:sp>
        <p:nvSpPr>
          <p:cNvPr id="6" name="Text 3"/>
          <p:cNvSpPr txBox="1"/>
          <p:nvPr/>
        </p:nvSpPr>
        <p:spPr>
          <a:xfrm>
            <a:off x="594360" y="1783080"/>
            <a:ext cx="5379415" cy="4251960"/>
          </a:xfrm>
          <a:prstGeom prst="rect">
            <a:avLst/>
          </a:prstGeom>
          <a:noFill/>
          <a:ln/>
        </p:spPr>
        <p:txBody>
          <a:bodyPr wrap="square" lIns="0" tIns="0" rIns="0" bIns="0" rtlCol="0" anchor="t"/>
          <a:lstStyle/>
          <a:p>
            <a:pPr algn="l" marL="342900" indent="-342900">
              <a:lnSpc>
                <a:spcPct val="122000"/>
              </a:lnSpc>
              <a:spcAft>
                <a:spcPts val="1100"/>
              </a:spcAft>
              <a:buSzPct val="100000"/>
              <a:buChar char="•"/>
            </a:pPr>
            <a:r>
              <a:rPr lang="en-US" sz="1400" dirty="0">
                <a:solidFill>
                  <a:srgbClr val="33423A"/>
                </a:solidFill>
                <a:latin typeface="Calibri" pitchFamily="34" charset="0"/>
                <a:ea typeface="Calibri" pitchFamily="34" charset="-122"/>
                <a:cs typeface="Calibri" pitchFamily="34" charset="-120"/>
              </a:rPr>
              <a:t>Depuis 2018, le Maroc enchaîne des campagnes déficitaires : le taux de remplissage des barrages est descendu sous le quart de leur capacité sur plusieurs bassins.</a:t>
            </a:r>
            <a:endParaRPr lang="en-US" sz="1400" dirty="0"/>
          </a:p>
          <a:p>
            <a:pPr algn="l" marL="342900" indent="-342900">
              <a:lnSpc>
                <a:spcPct val="122000"/>
              </a:lnSpc>
              <a:spcAft>
                <a:spcPts val="1100"/>
              </a:spcAft>
              <a:buSzPct val="100000"/>
              <a:buChar char="•"/>
            </a:pPr>
            <a:r>
              <a:rPr lang="en-US" sz="1400" dirty="0">
                <a:solidFill>
                  <a:srgbClr val="33423A"/>
                </a:solidFill>
                <a:latin typeface="Calibri" pitchFamily="34" charset="0"/>
                <a:ea typeface="Calibri" pitchFamily="34" charset="-122"/>
                <a:cs typeface="Calibri" pitchFamily="34" charset="-120"/>
              </a:rPr>
              <a:t>L'agriculture mobilise de l'ordre de 85 % de l'eau prélevée : toute tension sur la ressource se traduit d'abord par des restrictions d'irrigation.</a:t>
            </a:r>
            <a:endParaRPr lang="en-US" sz="1400" dirty="0"/>
          </a:p>
          <a:p>
            <a:pPr algn="l" marL="342900" indent="-342900">
              <a:lnSpc>
                <a:spcPct val="122000"/>
              </a:lnSpc>
              <a:spcAft>
                <a:spcPts val="1100"/>
              </a:spcAft>
              <a:buSzPct val="100000"/>
              <a:buChar char="•"/>
            </a:pPr>
            <a:r>
              <a:rPr lang="en-US" sz="1400" dirty="0">
                <a:solidFill>
                  <a:srgbClr val="33423A"/>
                </a:solidFill>
                <a:latin typeface="Calibri" pitchFamily="34" charset="0"/>
                <a:ea typeface="Calibri" pitchFamily="34" charset="-122"/>
                <a:cs typeface="Calibri" pitchFamily="34" charset="-120"/>
              </a:rPr>
              <a:t>Le gradient pluviométrique est extrême : de 600 à 800 mm par an dans le Rif, à moins de 100 mm dans les provinces du Sud.</a:t>
            </a:r>
            <a:endParaRPr lang="en-US" sz="1400" dirty="0"/>
          </a:p>
          <a:p>
            <a:pPr algn="l" marL="342900" indent="-342900">
              <a:lnSpc>
                <a:spcPct val="122000"/>
              </a:lnSpc>
              <a:spcAft>
                <a:spcPts val="1100"/>
              </a:spcAft>
              <a:buSzPct val="100000"/>
              <a:buChar char="•"/>
            </a:pPr>
            <a:r>
              <a:rPr lang="en-US" sz="1400" dirty="0">
                <a:solidFill>
                  <a:srgbClr val="33423A"/>
                </a:solidFill>
                <a:latin typeface="Calibri" pitchFamily="34" charset="0"/>
                <a:ea typeface="Calibri" pitchFamily="34" charset="-122"/>
                <a:cs typeface="Calibri" pitchFamily="34" charset="-120"/>
              </a:rPr>
              <a:t>Les nappes du Souss-Massa et du Haouz sont surexploitées, avec un rabattement continu des niveaux piézométriques.</a:t>
            </a:r>
            <a:endParaRPr lang="en-US" sz="1400" dirty="0"/>
          </a:p>
          <a:p>
            <a:pPr algn="l" marL="342900" indent="-342900">
              <a:lnSpc>
                <a:spcPct val="122000"/>
              </a:lnSpc>
              <a:spcAft>
                <a:spcPts val="1100"/>
              </a:spcAft>
              <a:buSzPct val="100000"/>
              <a:buChar char="•"/>
            </a:pPr>
            <a:r>
              <a:rPr lang="en-US" sz="1400" dirty="0">
                <a:solidFill>
                  <a:srgbClr val="33423A"/>
                </a:solidFill>
                <a:latin typeface="Calibri" pitchFamily="34" charset="0"/>
                <a:ea typeface="Calibri" pitchFamily="34" charset="-122"/>
                <a:cs typeface="Calibri" pitchFamily="34" charset="-120"/>
              </a:rPr>
              <a:t>La réponse publique — barrages, dessalement à Agadir et Casablanca, reconversion au goutte-à-goutte — traite l'offre. L'hydro-rétention agit sur la demande, à la parcelle.</a:t>
            </a:r>
            <a:endParaRPr lang="en-US" sz="1400" dirty="0"/>
          </a:p>
        </p:txBody>
      </p:sp>
      <p:sp>
        <p:nvSpPr>
          <p:cNvPr id="7" name="Text 4"/>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B7C72">
                    <a:alpha val="80000"/>
                  </a:srgbClr>
                </a:solidFill>
                <a:latin typeface="Calibri" pitchFamily="34" charset="0"/>
                <a:ea typeface="Calibri" pitchFamily="34" charset="-122"/>
                <a:cs typeface="Calibri" pitchFamily="34" charset="-120"/>
              </a:rPr>
              <a:t>Green Solutions · Dossier marché Maroc</a:t>
            </a:r>
            <a:endParaRPr lang="en-US" sz="950" dirty="0"/>
          </a:p>
        </p:txBody>
      </p:sp>
      <p:sp>
        <p:nvSpPr>
          <p:cNvPr id="8" name="Text 5"/>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B7C72">
                    <a:alpha val="80000"/>
                  </a:srgbClr>
                </a:solidFill>
                <a:latin typeface="Calibri" pitchFamily="34" charset="0"/>
                <a:ea typeface="Calibri" pitchFamily="34" charset="-122"/>
                <a:cs typeface="Calibri" pitchFamily="34" charset="-120"/>
              </a:rPr>
              <a:t>2</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E3B23C"/>
                </a:solidFill>
                <a:latin typeface="Calibri" pitchFamily="34" charset="0"/>
                <a:ea typeface="Calibri" pitchFamily="34" charset="-122"/>
                <a:cs typeface="Calibri" pitchFamily="34" charset="-120"/>
              </a:rPr>
              <a:t>OÙ PART L'EAU</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123324"/>
                </a:solidFill>
                <a:latin typeface="Cambria" pitchFamily="34" charset="0"/>
                <a:ea typeface="Cambria" pitchFamily="34" charset="-122"/>
                <a:cs typeface="Cambria" pitchFamily="34" charset="-120"/>
              </a:rPr>
              <a:t>L'irrigation concentre l'essentiel du prélèvement</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F1F4EF"/>
          </a:solidFill>
          <a:ln w="9525">
            <a:solidFill>
              <a:srgbClr val="DCE4DA"/>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algn="l" indent="0" marL="0">
              <a:buNone/>
            </a:pPr>
            <a:r>
              <a:rPr lang="en-US" sz="1300" b="1" dirty="0">
                <a:solidFill>
                  <a:srgbClr val="1F5C3A"/>
                </a:solidFill>
                <a:latin typeface="Cambria" pitchFamily="34" charset="0"/>
                <a:ea typeface="Cambria" pitchFamily="34" charset="-122"/>
                <a:cs typeface="Cambria" pitchFamily="34" charset="-120"/>
              </a:rPr>
              <a:t>Ce que cela implique</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algn="l" indent="0" marL="0">
              <a:lnSpc>
                <a:spcPct val="125000"/>
              </a:lnSpc>
              <a:buNone/>
            </a:pPr>
            <a:r>
              <a:rPr lang="en-US" sz="1200" dirty="0">
                <a:solidFill>
                  <a:srgbClr val="33423A"/>
                </a:solidFill>
                <a:latin typeface="Calibri" pitchFamily="34" charset="0"/>
                <a:ea typeface="Calibri" pitchFamily="34" charset="-122"/>
                <a:cs typeface="Calibri" pitchFamily="34" charset="-120"/>
              </a:rPr>
              <a:t>Réduire de 10 % la consommation agricole libère davantage de volume que de supprimer la totalité de l'usage industriel.</a:t>
            </a:r>
            <a:endParaRPr lang="en-US" sz="1200" dirty="0"/>
          </a:p>
          <a:p>
            <a:pPr algn="l" indent="0" marL="0">
              <a:lnSpc>
                <a:spcPct val="125000"/>
              </a:lnSpc>
              <a:buNone/>
            </a:pPr>
            <a:endParaRPr lang="en-US" sz="1200" dirty="0"/>
          </a:p>
          <a:p>
            <a:pPr algn="l" indent="0" marL="0">
              <a:lnSpc>
                <a:spcPct val="125000"/>
              </a:lnSpc>
              <a:buNone/>
            </a:pPr>
            <a:r>
              <a:rPr lang="en-US" sz="1200" dirty="0">
                <a:solidFill>
                  <a:srgbClr val="33423A"/>
                </a:solidFill>
                <a:latin typeface="Calibri" pitchFamily="34" charset="0"/>
                <a:ea typeface="Calibri" pitchFamily="34" charset="-122"/>
                <a:cs typeface="Calibri" pitchFamily="34" charset="-120"/>
              </a:rPr>
              <a:t>C'est pourquoi l'effort porte en priorité sur la parcelle, et non sur les autres usages.</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B7C72">
                    <a:alpha val="80000"/>
                  </a:srgbClr>
                </a:solidFill>
                <a:latin typeface="Calibri" pitchFamily="34" charset="0"/>
                <a:ea typeface="Calibri" pitchFamily="34" charset="-122"/>
                <a:cs typeface="Calibri" pitchFamily="34" charset="-120"/>
              </a:rPr>
              <a:t>Green Solutions · Dossier marché Maroc</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B7C72">
                    <a:alpha val="80000"/>
                  </a:srgbClr>
                </a:solidFill>
                <a:latin typeface="Calibri" pitchFamily="34" charset="0"/>
                <a:ea typeface="Calibri" pitchFamily="34" charset="-122"/>
                <a:cs typeface="Calibri" pitchFamily="34" charset="-120"/>
              </a:rPr>
              <a:t>3</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E3B23C"/>
                </a:solidFill>
                <a:latin typeface="Calibri" pitchFamily="34" charset="0"/>
                <a:ea typeface="Calibri" pitchFamily="34" charset="-122"/>
                <a:cs typeface="Calibri" pitchFamily="34" charset="-120"/>
              </a:rPr>
              <a:t>ÉCONOMIE ET SÉCURITÉ ALIMENTAIRE</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123324"/>
                </a:solidFill>
                <a:latin typeface="Cambria" pitchFamily="34" charset="0"/>
                <a:ea typeface="Cambria" pitchFamily="34" charset="-122"/>
                <a:cs typeface="Cambria" pitchFamily="34" charset="-120"/>
              </a:rPr>
              <a:t>Exporter des primeurs, importer du blé</a:t>
            </a:r>
            <a:endParaRPr lang="en-US" sz="3000" dirty="0"/>
          </a:p>
        </p:txBody>
      </p:sp>
      <p:sp>
        <p:nvSpPr>
          <p:cNvPr id="4" name="Shape 2"/>
          <p:cNvSpPr/>
          <p:nvPr/>
        </p:nvSpPr>
        <p:spPr>
          <a:xfrm>
            <a:off x="594360" y="1874520"/>
            <a:ext cx="2545004" cy="2514600"/>
          </a:xfrm>
          <a:prstGeom prst="roundRect">
            <a:avLst>
              <a:gd name="adj" fmla="val 3636"/>
            </a:avLst>
          </a:prstGeom>
          <a:solidFill>
            <a:srgbClr val="F1F4EF"/>
          </a:solidFill>
          <a:ln w="9525">
            <a:solidFill>
              <a:srgbClr val="DCE4DA"/>
            </a:solidFill>
            <a:prstDash val="solid"/>
          </a:ln>
        </p:spPr>
      </p:sp>
      <p:sp>
        <p:nvSpPr>
          <p:cNvPr id="5" name="Text 3"/>
          <p:cNvSpPr txBox="1"/>
          <p:nvPr/>
        </p:nvSpPr>
        <p:spPr>
          <a:xfrm>
            <a:off x="777240" y="2148840"/>
            <a:ext cx="2179244" cy="960120"/>
          </a:xfrm>
          <a:prstGeom prst="rect">
            <a:avLst/>
          </a:prstGeom>
          <a:noFill/>
          <a:ln/>
        </p:spPr>
        <p:txBody>
          <a:bodyPr wrap="square" lIns="0" tIns="0" rIns="0" bIns="0" rtlCol="0" anchor="ctr"/>
          <a:lstStyle/>
          <a:p>
            <a:pPr algn="ctr" indent="0" marL="0">
              <a:buNone/>
            </a:pPr>
            <a:r>
              <a:rPr lang="en-US" sz="3800" b="1" dirty="0">
                <a:solidFill>
                  <a:srgbClr val="1F5C3A"/>
                </a:solidFill>
                <a:latin typeface="Cambria" pitchFamily="34" charset="0"/>
                <a:ea typeface="Cambria" pitchFamily="34" charset="-122"/>
                <a:cs typeface="Cambria" pitchFamily="34" charset="-120"/>
              </a:rPr>
              <a:t>Top 5</a:t>
            </a:r>
            <a:endParaRPr lang="en-US" sz="3800" dirty="0"/>
          </a:p>
        </p:txBody>
      </p:sp>
      <p:sp>
        <p:nvSpPr>
          <p:cNvPr id="6" name="Text 4"/>
          <p:cNvSpPr txBox="1"/>
          <p:nvPr/>
        </p:nvSpPr>
        <p:spPr>
          <a:xfrm>
            <a:off x="795528"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33423A"/>
                </a:solidFill>
                <a:latin typeface="Calibri" pitchFamily="34" charset="0"/>
                <a:ea typeface="Calibri" pitchFamily="34" charset="-122"/>
                <a:cs typeface="Calibri" pitchFamily="34" charset="-120"/>
              </a:rPr>
              <a:t>des exportateurs mondiaux de tomates fraîches</a:t>
            </a:r>
            <a:endParaRPr lang="en-US" sz="1250" dirty="0"/>
          </a:p>
        </p:txBody>
      </p:sp>
      <p:sp>
        <p:nvSpPr>
          <p:cNvPr id="7" name="Shape 5"/>
          <p:cNvSpPr/>
          <p:nvPr/>
        </p:nvSpPr>
        <p:spPr>
          <a:xfrm>
            <a:off x="3413684" y="1874520"/>
            <a:ext cx="2545004" cy="2514600"/>
          </a:xfrm>
          <a:prstGeom prst="roundRect">
            <a:avLst>
              <a:gd name="adj" fmla="val 3636"/>
            </a:avLst>
          </a:prstGeom>
          <a:solidFill>
            <a:srgbClr val="F1F4EF"/>
          </a:solidFill>
          <a:ln w="9525">
            <a:solidFill>
              <a:srgbClr val="DCE4DA"/>
            </a:solidFill>
            <a:prstDash val="solid"/>
          </a:ln>
        </p:spPr>
      </p:sp>
      <p:sp>
        <p:nvSpPr>
          <p:cNvPr id="8" name="Text 6"/>
          <p:cNvSpPr txBox="1"/>
          <p:nvPr/>
        </p:nvSpPr>
        <p:spPr>
          <a:xfrm>
            <a:off x="3596564" y="2148840"/>
            <a:ext cx="2179244" cy="960120"/>
          </a:xfrm>
          <a:prstGeom prst="rect">
            <a:avLst/>
          </a:prstGeom>
          <a:noFill/>
          <a:ln/>
        </p:spPr>
        <p:txBody>
          <a:bodyPr wrap="square" lIns="0" tIns="0" rIns="0" bIns="0" rtlCol="0" anchor="ctr"/>
          <a:lstStyle/>
          <a:p>
            <a:pPr algn="ctr" indent="0" marL="0">
              <a:buNone/>
            </a:pPr>
            <a:r>
              <a:rPr lang="en-US" sz="3000" b="1" dirty="0">
                <a:solidFill>
                  <a:srgbClr val="1F5C3A"/>
                </a:solidFill>
                <a:latin typeface="Cambria" pitchFamily="34" charset="0"/>
                <a:ea typeface="Cambria" pitchFamily="34" charset="-122"/>
                <a:cs typeface="Cambria" pitchFamily="34" charset="-120"/>
              </a:rPr>
              <a:t>≈ 80 Md DH</a:t>
            </a:r>
            <a:endParaRPr lang="en-US" sz="3000" dirty="0"/>
          </a:p>
        </p:txBody>
      </p:sp>
      <p:sp>
        <p:nvSpPr>
          <p:cNvPr id="9" name="Text 7"/>
          <p:cNvSpPr txBox="1"/>
          <p:nvPr/>
        </p:nvSpPr>
        <p:spPr>
          <a:xfrm>
            <a:off x="3614852"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33423A"/>
                </a:solidFill>
                <a:latin typeface="Calibri" pitchFamily="34" charset="0"/>
                <a:ea typeface="Calibri" pitchFamily="34" charset="-122"/>
                <a:cs typeface="Calibri" pitchFamily="34" charset="-120"/>
              </a:rPr>
              <a:t>d'exportations agroalimentaires par an</a:t>
            </a:r>
            <a:endParaRPr lang="en-US" sz="1250" dirty="0"/>
          </a:p>
        </p:txBody>
      </p:sp>
      <p:sp>
        <p:nvSpPr>
          <p:cNvPr id="10" name="Shape 8"/>
          <p:cNvSpPr/>
          <p:nvPr/>
        </p:nvSpPr>
        <p:spPr>
          <a:xfrm>
            <a:off x="6233008" y="1874520"/>
            <a:ext cx="2545004" cy="2514600"/>
          </a:xfrm>
          <a:prstGeom prst="roundRect">
            <a:avLst>
              <a:gd name="adj" fmla="val 3636"/>
            </a:avLst>
          </a:prstGeom>
          <a:solidFill>
            <a:srgbClr val="F1F4EF"/>
          </a:solidFill>
          <a:ln w="9525">
            <a:solidFill>
              <a:srgbClr val="DCE4DA"/>
            </a:solidFill>
            <a:prstDash val="solid"/>
          </a:ln>
        </p:spPr>
      </p:sp>
      <p:sp>
        <p:nvSpPr>
          <p:cNvPr id="11" name="Text 9"/>
          <p:cNvSpPr txBox="1"/>
          <p:nvPr/>
        </p:nvSpPr>
        <p:spPr>
          <a:xfrm>
            <a:off x="6415888" y="2148840"/>
            <a:ext cx="2179244" cy="960120"/>
          </a:xfrm>
          <a:prstGeom prst="rect">
            <a:avLst/>
          </a:prstGeom>
          <a:noFill/>
          <a:ln/>
        </p:spPr>
        <p:txBody>
          <a:bodyPr wrap="square" lIns="0" tIns="0" rIns="0" bIns="0" rtlCol="0" anchor="ctr"/>
          <a:lstStyle/>
          <a:p>
            <a:pPr algn="ctr" indent="0" marL="0">
              <a:buNone/>
            </a:pPr>
            <a:r>
              <a:rPr lang="en-US" sz="3800" b="1" dirty="0">
                <a:solidFill>
                  <a:srgbClr val="1F5C3A"/>
                </a:solidFill>
                <a:latin typeface="Cambria" pitchFamily="34" charset="0"/>
                <a:ea typeface="Cambria" pitchFamily="34" charset="-122"/>
                <a:cs typeface="Cambria" pitchFamily="34" charset="-120"/>
              </a:rPr>
              <a:t>&gt; 50 %</a:t>
            </a:r>
            <a:endParaRPr lang="en-US" sz="3800" dirty="0"/>
          </a:p>
        </p:txBody>
      </p:sp>
      <p:sp>
        <p:nvSpPr>
          <p:cNvPr id="12" name="Text 10"/>
          <p:cNvSpPr txBox="1"/>
          <p:nvPr/>
        </p:nvSpPr>
        <p:spPr>
          <a:xfrm>
            <a:off x="6434176"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33423A"/>
                </a:solidFill>
                <a:latin typeface="Calibri" pitchFamily="34" charset="0"/>
                <a:ea typeface="Calibri" pitchFamily="34" charset="-122"/>
                <a:cs typeface="Calibri" pitchFamily="34" charset="-120"/>
              </a:rPr>
              <a:t>du blé consommé importé les années de sécheresse</a:t>
            </a:r>
            <a:endParaRPr lang="en-US" sz="1250" dirty="0"/>
          </a:p>
        </p:txBody>
      </p:sp>
      <p:sp>
        <p:nvSpPr>
          <p:cNvPr id="13" name="Shape 11"/>
          <p:cNvSpPr/>
          <p:nvPr/>
        </p:nvSpPr>
        <p:spPr>
          <a:xfrm>
            <a:off x="9052331" y="1874520"/>
            <a:ext cx="2545004" cy="2514600"/>
          </a:xfrm>
          <a:prstGeom prst="roundRect">
            <a:avLst>
              <a:gd name="adj" fmla="val 3636"/>
            </a:avLst>
          </a:prstGeom>
          <a:solidFill>
            <a:srgbClr val="F1F4EF"/>
          </a:solidFill>
          <a:ln w="9525">
            <a:solidFill>
              <a:srgbClr val="DCE4DA"/>
            </a:solidFill>
            <a:prstDash val="solid"/>
          </a:ln>
        </p:spPr>
      </p:sp>
      <p:sp>
        <p:nvSpPr>
          <p:cNvPr id="14" name="Text 12"/>
          <p:cNvSpPr txBox="1"/>
          <p:nvPr/>
        </p:nvSpPr>
        <p:spPr>
          <a:xfrm>
            <a:off x="9235211" y="2148840"/>
            <a:ext cx="2179244" cy="960120"/>
          </a:xfrm>
          <a:prstGeom prst="rect">
            <a:avLst/>
          </a:prstGeom>
          <a:noFill/>
          <a:ln/>
        </p:spPr>
        <p:txBody>
          <a:bodyPr wrap="square" lIns="0" tIns="0" rIns="0" bIns="0" rtlCol="0" anchor="ctr"/>
          <a:lstStyle/>
          <a:p>
            <a:pPr algn="ctr" indent="0" marL="0">
              <a:buNone/>
            </a:pPr>
            <a:r>
              <a:rPr lang="en-US" sz="3800" b="1" dirty="0">
                <a:solidFill>
                  <a:srgbClr val="1F5C3A"/>
                </a:solidFill>
                <a:latin typeface="Cambria" pitchFamily="34" charset="0"/>
                <a:ea typeface="Cambria" pitchFamily="34" charset="-122"/>
                <a:cs typeface="Cambria" pitchFamily="34" charset="-120"/>
              </a:rPr>
              <a:t>2030</a:t>
            </a:r>
            <a:endParaRPr lang="en-US" sz="3800" dirty="0"/>
          </a:p>
        </p:txBody>
      </p:sp>
      <p:sp>
        <p:nvSpPr>
          <p:cNvPr id="15" name="Text 13"/>
          <p:cNvSpPr txBox="1"/>
          <p:nvPr/>
        </p:nvSpPr>
        <p:spPr>
          <a:xfrm>
            <a:off x="9253499"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33423A"/>
                </a:solidFill>
                <a:latin typeface="Calibri" pitchFamily="34" charset="0"/>
                <a:ea typeface="Calibri" pitchFamily="34" charset="-122"/>
                <a:cs typeface="Calibri" pitchFamily="34" charset="-120"/>
              </a:rPr>
              <a:t>horizon de la stratégie Génération Green, après le Plan Maroc Vert</a:t>
            </a:r>
            <a:endParaRPr lang="en-US" sz="1250" dirty="0"/>
          </a:p>
        </p:txBody>
      </p:sp>
      <p:sp>
        <p:nvSpPr>
          <p:cNvPr id="16" name="Text 14"/>
          <p:cNvSpPr txBox="1"/>
          <p:nvPr/>
        </p:nvSpPr>
        <p:spPr>
          <a:xfrm>
            <a:off x="594360" y="4709160"/>
            <a:ext cx="11002975" cy="1097280"/>
          </a:xfrm>
          <a:prstGeom prst="rect">
            <a:avLst/>
          </a:prstGeom>
          <a:noFill/>
          <a:ln/>
        </p:spPr>
        <p:txBody>
          <a:bodyPr wrap="square" lIns="0" tIns="0" rIns="0" bIns="0" rtlCol="0" anchor="t"/>
          <a:lstStyle/>
          <a:p>
            <a:pPr algn="l" indent="0" marL="0">
              <a:lnSpc>
                <a:spcPct val="130000"/>
              </a:lnSpc>
              <a:buNone/>
            </a:pPr>
            <a:r>
              <a:rPr lang="en-US" sz="1350" dirty="0">
                <a:solidFill>
                  <a:srgbClr val="33423A"/>
                </a:solidFill>
                <a:latin typeface="Calibri" pitchFamily="34" charset="0"/>
                <a:ea typeface="Calibri" pitchFamily="34" charset="-122"/>
                <a:cs typeface="Calibri" pitchFamily="34" charset="-120"/>
              </a:rPr>
              <a:t>Le Maroc exporte tomates, agrumes, fruits rouges et olives vers l'Europe et l'Afrique, mais dépend de l'étranger pour une large part de son blé. Avec des barrages au plus bas, les dotations d'irrigation ont été réduites et le dessalement s'est ouvert à l'agriculture, notamment à Chtouka.</a:t>
            </a:r>
            <a:endParaRPr lang="en-US" sz="1350" dirty="0"/>
          </a:p>
        </p:txBody>
      </p:sp>
      <p:sp>
        <p:nvSpPr>
          <p:cNvPr id="17" name="Text 1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B7C72">
                    <a:alpha val="80000"/>
                  </a:srgbClr>
                </a:solidFill>
                <a:latin typeface="Calibri" pitchFamily="34" charset="0"/>
                <a:ea typeface="Calibri" pitchFamily="34" charset="-122"/>
                <a:cs typeface="Calibri" pitchFamily="34" charset="-120"/>
              </a:rPr>
              <a:t>Green Solutions · Dossier marché Maroc</a:t>
            </a:r>
            <a:endParaRPr lang="en-US" sz="950" dirty="0"/>
          </a:p>
        </p:txBody>
      </p:sp>
      <p:sp>
        <p:nvSpPr>
          <p:cNvPr id="18" name="Text 1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B7C72">
                    <a:alpha val="80000"/>
                  </a:srgbClr>
                </a:solidFill>
                <a:latin typeface="Calibri" pitchFamily="34" charset="0"/>
                <a:ea typeface="Calibri" pitchFamily="34" charset="-122"/>
                <a:cs typeface="Calibri" pitchFamily="34" charset="-120"/>
              </a:rPr>
              <a:t>4</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E3B23C"/>
                </a:solidFill>
                <a:latin typeface="Calibri" pitchFamily="34" charset="0"/>
                <a:ea typeface="Calibri" pitchFamily="34" charset="-122"/>
                <a:cs typeface="Calibri" pitchFamily="34" charset="-120"/>
              </a:rPr>
              <a:t>LES FILIÈRES</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123324"/>
                </a:solidFill>
                <a:latin typeface="Cambria" pitchFamily="34" charset="0"/>
                <a:ea typeface="Cambria" pitchFamily="34" charset="-122"/>
                <a:cs typeface="Cambria" pitchFamily="34" charset="-120"/>
              </a:rPr>
              <a:t>Quatre productions portent la valeur à l'export</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F1F4EF"/>
          </a:solidFill>
          <a:ln w="9525">
            <a:solidFill>
              <a:srgbClr val="DCE4DA"/>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algn="l" indent="0" marL="0">
              <a:buNone/>
            </a:pPr>
            <a:r>
              <a:rPr lang="en-US" sz="1300" b="1" dirty="0">
                <a:solidFill>
                  <a:srgbClr val="1F5C3A"/>
                </a:solidFill>
                <a:latin typeface="Cambria" pitchFamily="34" charset="0"/>
                <a:ea typeface="Cambria" pitchFamily="34" charset="-122"/>
                <a:cs typeface="Cambria" pitchFamily="34" charset="-120"/>
              </a:rPr>
              <a:t>Lecture</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algn="l" indent="0" marL="0">
              <a:lnSpc>
                <a:spcPct val="125000"/>
              </a:lnSpc>
              <a:buNone/>
            </a:pPr>
            <a:r>
              <a:rPr lang="en-US" sz="1200" dirty="0">
                <a:solidFill>
                  <a:srgbClr val="33423A"/>
                </a:solidFill>
                <a:latin typeface="Calibri" pitchFamily="34" charset="0"/>
                <a:ea typeface="Calibri" pitchFamily="34" charset="-122"/>
                <a:cs typeface="Calibri" pitchFamily="34" charset="-120"/>
              </a:rPr>
              <a:t>Agrumes et tomate sont irrigués et destinés à l'export : ce sont les cultures où l'économie d'eau se convertit directement en marge.</a:t>
            </a:r>
            <a:endParaRPr lang="en-US" sz="1200" dirty="0"/>
          </a:p>
          <a:p>
            <a:pPr algn="l" indent="0" marL="0">
              <a:lnSpc>
                <a:spcPct val="125000"/>
              </a:lnSpc>
              <a:buNone/>
            </a:pPr>
            <a:endParaRPr lang="en-US" sz="1200" dirty="0"/>
          </a:p>
          <a:p>
            <a:pPr algn="l" indent="0" marL="0">
              <a:lnSpc>
                <a:spcPct val="125000"/>
              </a:lnSpc>
              <a:buNone/>
            </a:pPr>
            <a:r>
              <a:rPr lang="en-US" sz="1200" dirty="0">
                <a:solidFill>
                  <a:srgbClr val="33423A"/>
                </a:solidFill>
                <a:latin typeface="Calibri" pitchFamily="34" charset="0"/>
                <a:ea typeface="Calibri" pitchFamily="34" charset="-122"/>
                <a:cs typeface="Calibri" pitchFamily="34" charset="-120"/>
              </a:rPr>
              <a:t>* Les céréales sont majoritairement pluviales ; le volume varie fortement d'une campagne à l'autre selon la pluviométrie.</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B7C72">
                    <a:alpha val="80000"/>
                  </a:srgbClr>
                </a:solidFill>
                <a:latin typeface="Calibri" pitchFamily="34" charset="0"/>
                <a:ea typeface="Calibri" pitchFamily="34" charset="-122"/>
                <a:cs typeface="Calibri" pitchFamily="34" charset="-120"/>
              </a:rPr>
              <a:t>Green Solutions · Dossier marché Maroc</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B7C72">
                    <a:alpha val="80000"/>
                  </a:srgbClr>
                </a:solidFill>
                <a:latin typeface="Calibri" pitchFamily="34" charset="0"/>
                <a:ea typeface="Calibri" pitchFamily="34" charset="-122"/>
                <a:cs typeface="Calibri" pitchFamily="34" charset="-120"/>
              </a:rPr>
              <a:t>5</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E3B23C"/>
                </a:solidFill>
                <a:latin typeface="Calibri" pitchFamily="34" charset="0"/>
                <a:ea typeface="Calibri" pitchFamily="34" charset="-122"/>
                <a:cs typeface="Calibri" pitchFamily="34" charset="-120"/>
              </a:rPr>
              <a:t>PREMIÈRE FILIÈRE</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123324"/>
                </a:solidFill>
                <a:latin typeface="Cambria" pitchFamily="34" charset="0"/>
                <a:ea typeface="Cambria" pitchFamily="34" charset="-122"/>
                <a:cs typeface="Cambria" pitchFamily="34" charset="-120"/>
              </a:rPr>
              <a:t>Tomate sous serre du Souss : l'export au litre près</a:t>
            </a:r>
            <a:endParaRPr lang="en-US" sz="3000" dirty="0"/>
          </a:p>
        </p:txBody>
      </p:sp>
      <p:pic>
        <p:nvPicPr>
          <p:cNvPr id="4" name="Image 0" descr="preencoded.png">    </p:cNvPr>
          <p:cNvPicPr>
            <a:picLocks noChangeAspect="1"/>
          </p:cNvPicPr>
          <p:nvPr/>
        </p:nvPicPr>
        <p:blipFill>
          <a:blip r:embed="rId1"/>
          <a:stretch>
            <a:fillRect/>
          </a:stretch>
        </p:blipFill>
        <p:spPr>
          <a:xfrm>
            <a:off x="6522415" y="1783080"/>
            <a:ext cx="5074920" cy="3794760"/>
          </a:xfrm>
          <a:prstGeom prst="rect">
            <a:avLst/>
          </a:prstGeom>
        </p:spPr>
      </p:pic>
      <p:sp>
        <p:nvSpPr>
          <p:cNvPr id="5" name="Text 2"/>
          <p:cNvSpPr txBox="1"/>
          <p:nvPr/>
        </p:nvSpPr>
        <p:spPr>
          <a:xfrm>
            <a:off x="594360" y="1783080"/>
            <a:ext cx="5379415" cy="4251960"/>
          </a:xfrm>
          <a:prstGeom prst="rect">
            <a:avLst/>
          </a:prstGeom>
          <a:noFill/>
          <a:ln/>
        </p:spPr>
        <p:txBody>
          <a:bodyPr wrap="square" lIns="0" tIns="0" rIns="0" bIns="0" rtlCol="0" anchor="t"/>
          <a:lstStyle/>
          <a:p>
            <a:pPr algn="l" marL="342900" indent="-342900">
              <a:lnSpc>
                <a:spcPct val="122000"/>
              </a:lnSpc>
              <a:spcAft>
                <a:spcPts val="1100"/>
              </a:spcAft>
              <a:buSzPct val="100000"/>
              <a:buChar char="•"/>
            </a:pPr>
            <a:r>
              <a:rPr lang="en-US" sz="1400" dirty="0">
                <a:solidFill>
                  <a:srgbClr val="33423A"/>
                </a:solidFill>
                <a:latin typeface="Calibri" pitchFamily="34" charset="0"/>
                <a:ea typeface="Calibri" pitchFamily="34" charset="-122"/>
                <a:cs typeface="Calibri" pitchFamily="34" charset="-120"/>
              </a:rPr>
              <a:t>Le Souss-Massa concentre l'essentiel des serres de tomates destinées à l'Europe, de l'automne au printemps.</a:t>
            </a:r>
            <a:endParaRPr lang="en-US" sz="1400" dirty="0"/>
          </a:p>
          <a:p>
            <a:pPr algn="l" marL="342900" indent="-342900">
              <a:lnSpc>
                <a:spcPct val="122000"/>
              </a:lnSpc>
              <a:spcAft>
                <a:spcPts val="1100"/>
              </a:spcAft>
              <a:buSzPct val="100000"/>
              <a:buChar char="•"/>
            </a:pPr>
            <a:r>
              <a:rPr lang="en-US" sz="1400" dirty="0">
                <a:solidFill>
                  <a:srgbClr val="33423A"/>
                </a:solidFill>
                <a:latin typeface="Calibri" pitchFamily="34" charset="0"/>
                <a:ea typeface="Calibri" pitchFamily="34" charset="-122"/>
                <a:cs typeface="Calibri" pitchFamily="34" charset="-120"/>
              </a:rPr>
              <a:t>La nappe du Souss baisse depuis des décennies ; une partie des exploitations est irriguée à l'eau dessalée de Chtouka.</a:t>
            </a:r>
            <a:endParaRPr lang="en-US" sz="1400" dirty="0"/>
          </a:p>
          <a:p>
            <a:pPr algn="l" marL="342900" indent="-342900">
              <a:lnSpc>
                <a:spcPct val="122000"/>
              </a:lnSpc>
              <a:spcAft>
                <a:spcPts val="1100"/>
              </a:spcAft>
              <a:buSzPct val="100000"/>
              <a:buChar char="•"/>
            </a:pPr>
            <a:r>
              <a:rPr lang="en-US" sz="1400" dirty="0">
                <a:solidFill>
                  <a:srgbClr val="33423A"/>
                </a:solidFill>
                <a:latin typeface="Calibri" pitchFamily="34" charset="0"/>
                <a:ea typeface="Calibri" pitchFamily="34" charset="-122"/>
                <a:cs typeface="Calibri" pitchFamily="34" charset="-120"/>
              </a:rPr>
              <a:t>L'eau dessalée coûte nettement plus cher que l'eau de forage : chaque litre économisé améliore directement la marge.</a:t>
            </a:r>
            <a:endParaRPr lang="en-US" sz="1400" dirty="0"/>
          </a:p>
          <a:p>
            <a:pPr algn="l" marL="342900" indent="-342900">
              <a:lnSpc>
                <a:spcPct val="122000"/>
              </a:lnSpc>
              <a:spcAft>
                <a:spcPts val="1100"/>
              </a:spcAft>
              <a:buSzPct val="100000"/>
              <a:buChar char="•"/>
            </a:pPr>
            <a:r>
              <a:rPr lang="en-US" sz="1400" dirty="0">
                <a:solidFill>
                  <a:srgbClr val="33423A"/>
                </a:solidFill>
                <a:latin typeface="Calibri" pitchFamily="34" charset="0"/>
                <a:ea typeface="Calibri" pitchFamily="34" charset="-122"/>
                <a:cs typeface="Calibri" pitchFamily="34" charset="-120"/>
              </a:rPr>
              <a:t>Les exportateurs doivent respecter des limites de résidus strictes : NAPEMA® traite les ravageurs sans résidu.</a:t>
            </a:r>
            <a:endParaRPr lang="en-US" sz="1400" dirty="0"/>
          </a:p>
          <a:p>
            <a:pPr algn="l" marL="342900" indent="-342900">
              <a:lnSpc>
                <a:spcPct val="122000"/>
              </a:lnSpc>
              <a:spcAft>
                <a:spcPts val="1100"/>
              </a:spcAft>
              <a:buSzPct val="100000"/>
              <a:buChar char="•"/>
            </a:pPr>
            <a:r>
              <a:rPr lang="en-US" sz="1400" dirty="0">
                <a:solidFill>
                  <a:srgbClr val="33423A"/>
                </a:solidFill>
                <a:latin typeface="Calibri" pitchFamily="34" charset="0"/>
                <a:ea typeface="Calibri" pitchFamily="34" charset="-122"/>
                <a:cs typeface="Calibri" pitchFamily="34" charset="-120"/>
              </a:rPr>
              <a:t>Retenir l'eau dans le sol espace les apports et réduit le drainage perdu sous la serre.</a:t>
            </a:r>
            <a:endParaRPr lang="en-US" sz="1400" dirty="0"/>
          </a:p>
        </p:txBody>
      </p:sp>
      <p:sp>
        <p:nvSpPr>
          <p:cNvPr id="6" name="Text 3"/>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B7C72">
                    <a:alpha val="80000"/>
                  </a:srgbClr>
                </a:solidFill>
                <a:latin typeface="Calibri" pitchFamily="34" charset="0"/>
                <a:ea typeface="Calibri" pitchFamily="34" charset="-122"/>
                <a:cs typeface="Calibri" pitchFamily="34" charset="-120"/>
              </a:rPr>
              <a:t>Green Solutions · Dossier marché Maroc</a:t>
            </a:r>
            <a:endParaRPr lang="en-US" sz="950" dirty="0"/>
          </a:p>
        </p:txBody>
      </p:sp>
      <p:sp>
        <p:nvSpPr>
          <p:cNvPr id="7" name="Text 4"/>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B7C72">
                    <a:alpha val="80000"/>
                  </a:srgbClr>
                </a:solidFill>
                <a:latin typeface="Calibri" pitchFamily="34" charset="0"/>
                <a:ea typeface="Calibri" pitchFamily="34" charset="-122"/>
                <a:cs typeface="Calibri" pitchFamily="34" charset="-120"/>
              </a:rPr>
              <a:t>6</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E3B23C"/>
                </a:solidFill>
                <a:latin typeface="Calibri" pitchFamily="34" charset="0"/>
                <a:ea typeface="Calibri" pitchFamily="34" charset="-122"/>
                <a:cs typeface="Calibri" pitchFamily="34" charset="-120"/>
              </a:rPr>
              <a:t>DEUXIÈME FILIÈRE</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123324"/>
                </a:solidFill>
                <a:latin typeface="Cambria" pitchFamily="34" charset="0"/>
                <a:ea typeface="Cambria" pitchFamily="34" charset="-122"/>
                <a:cs typeface="Cambria" pitchFamily="34" charset="-120"/>
              </a:rPr>
              <a:t>Agrumes et olivier : des vergers à protéger de la sécheresse</a:t>
            </a:r>
            <a:endParaRPr lang="en-US" sz="3000" dirty="0"/>
          </a:p>
        </p:txBody>
      </p:sp>
      <p:pic>
        <p:nvPicPr>
          <p:cNvPr id="4" name="Image 0" descr="preencoded.png">    </p:cNvPr>
          <p:cNvPicPr>
            <a:picLocks noChangeAspect="1"/>
          </p:cNvPicPr>
          <p:nvPr/>
        </p:nvPicPr>
        <p:blipFill>
          <a:blip r:embed="rId1"/>
          <a:stretch>
            <a:fillRect/>
          </a:stretch>
        </p:blipFill>
        <p:spPr>
          <a:xfrm>
            <a:off x="594360" y="1783080"/>
            <a:ext cx="5074920" cy="3794760"/>
          </a:xfrm>
          <a:prstGeom prst="rect">
            <a:avLst/>
          </a:prstGeom>
        </p:spPr>
      </p:pic>
      <p:sp>
        <p:nvSpPr>
          <p:cNvPr id="5" name="Text 2"/>
          <p:cNvSpPr txBox="1"/>
          <p:nvPr/>
        </p:nvSpPr>
        <p:spPr>
          <a:xfrm>
            <a:off x="6217920" y="1783080"/>
            <a:ext cx="5379415" cy="4251960"/>
          </a:xfrm>
          <a:prstGeom prst="rect">
            <a:avLst/>
          </a:prstGeom>
          <a:noFill/>
          <a:ln/>
        </p:spPr>
        <p:txBody>
          <a:bodyPr wrap="square" lIns="0" tIns="0" rIns="0" bIns="0" rtlCol="0" anchor="t"/>
          <a:lstStyle/>
          <a:p>
            <a:pPr algn="l" marL="342900" indent="-342900">
              <a:lnSpc>
                <a:spcPct val="122000"/>
              </a:lnSpc>
              <a:spcAft>
                <a:spcPts val="1100"/>
              </a:spcAft>
              <a:buSzPct val="100000"/>
              <a:buChar char="•"/>
            </a:pPr>
            <a:r>
              <a:rPr lang="en-US" sz="1400" dirty="0">
                <a:solidFill>
                  <a:srgbClr val="33423A"/>
                </a:solidFill>
                <a:latin typeface="Calibri" pitchFamily="34" charset="0"/>
                <a:ea typeface="Calibri" pitchFamily="34" charset="-122"/>
                <a:cs typeface="Calibri" pitchFamily="34" charset="-120"/>
              </a:rPr>
              <a:t>Agrumes du Souss, du Gharb et de Berkane, olivier du Haouz et du Saïss : des cultures pérennes à fort investissement.</a:t>
            </a:r>
            <a:endParaRPr lang="en-US" sz="1400" dirty="0"/>
          </a:p>
          <a:p>
            <a:pPr algn="l" marL="342900" indent="-342900">
              <a:lnSpc>
                <a:spcPct val="122000"/>
              </a:lnSpc>
              <a:spcAft>
                <a:spcPts val="1100"/>
              </a:spcAft>
              <a:buSzPct val="100000"/>
              <a:buChar char="•"/>
            </a:pPr>
            <a:r>
              <a:rPr lang="en-US" sz="1400" dirty="0">
                <a:solidFill>
                  <a:srgbClr val="33423A"/>
                </a:solidFill>
                <a:latin typeface="Calibri" pitchFamily="34" charset="0"/>
                <a:ea typeface="Calibri" pitchFamily="34" charset="-122"/>
                <a:cs typeface="Calibri" pitchFamily="34" charset="-120"/>
              </a:rPr>
              <a:t>Les restrictions d'eau des dernières campagnes ont conduit des producteurs à arracher une partie de leurs vergers d'agrumes.</a:t>
            </a:r>
            <a:endParaRPr lang="en-US" sz="1400" dirty="0"/>
          </a:p>
          <a:p>
            <a:pPr algn="l" marL="342900" indent="-342900">
              <a:lnSpc>
                <a:spcPct val="122000"/>
              </a:lnSpc>
              <a:spcAft>
                <a:spcPts val="1100"/>
              </a:spcAft>
              <a:buSzPct val="100000"/>
              <a:buChar char="•"/>
            </a:pPr>
            <a:r>
              <a:rPr lang="en-US" sz="1400" dirty="0">
                <a:solidFill>
                  <a:srgbClr val="33423A"/>
                </a:solidFill>
                <a:latin typeface="Calibri" pitchFamily="34" charset="0"/>
                <a:ea typeface="Calibri" pitchFamily="34" charset="-122"/>
                <a:cs typeface="Calibri" pitchFamily="34" charset="-120"/>
              </a:rPr>
              <a:t>L'olivier, souvent conduit en pluvial, voit sa récolte chuter fortement les années sans pluie de printemps.</a:t>
            </a:r>
            <a:endParaRPr lang="en-US" sz="1400" dirty="0"/>
          </a:p>
          <a:p>
            <a:pPr algn="l" marL="342900" indent="-342900">
              <a:lnSpc>
                <a:spcPct val="122000"/>
              </a:lnSpc>
              <a:spcAft>
                <a:spcPts val="1100"/>
              </a:spcAft>
              <a:buSzPct val="100000"/>
              <a:buChar char="•"/>
            </a:pPr>
            <a:r>
              <a:rPr lang="en-US" sz="1400" dirty="0">
                <a:solidFill>
                  <a:srgbClr val="33423A"/>
                </a:solidFill>
                <a:latin typeface="Calibri" pitchFamily="34" charset="0"/>
                <a:ea typeface="Calibri" pitchFamily="34" charset="-122"/>
                <a:cs typeface="Calibri" pitchFamily="34" charset="-120"/>
              </a:rPr>
              <a:t>Un verger perdu coûte plusieurs années de production : protéger les racines du stress hydrique protège le capital.</a:t>
            </a:r>
            <a:endParaRPr lang="en-US" sz="1400" dirty="0"/>
          </a:p>
          <a:p>
            <a:pPr algn="l" marL="342900" indent="-342900">
              <a:lnSpc>
                <a:spcPct val="122000"/>
              </a:lnSpc>
              <a:spcAft>
                <a:spcPts val="1100"/>
              </a:spcAft>
              <a:buSzPct val="100000"/>
              <a:buChar char="•"/>
            </a:pPr>
            <a:r>
              <a:rPr lang="en-US" sz="1400" dirty="0">
                <a:solidFill>
                  <a:srgbClr val="33423A"/>
                </a:solidFill>
                <a:latin typeface="Calibri" pitchFamily="34" charset="0"/>
                <a:ea typeface="Calibri" pitchFamily="34" charset="-122"/>
                <a:cs typeface="Calibri" pitchFamily="34" charset="-120"/>
              </a:rPr>
              <a:t>EVERGREEN® posé à la plantation ou au rajeunissement du verger prolonge la réserve d'eau entre deux irrigations.</a:t>
            </a:r>
            <a:endParaRPr lang="en-US" sz="1400" dirty="0"/>
          </a:p>
        </p:txBody>
      </p:sp>
      <p:sp>
        <p:nvSpPr>
          <p:cNvPr id="6" name="Text 3"/>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B7C72">
                    <a:alpha val="80000"/>
                  </a:srgbClr>
                </a:solidFill>
                <a:latin typeface="Calibri" pitchFamily="34" charset="0"/>
                <a:ea typeface="Calibri" pitchFamily="34" charset="-122"/>
                <a:cs typeface="Calibri" pitchFamily="34" charset="-120"/>
              </a:rPr>
              <a:t>Green Solutions · Dossier marché Maroc</a:t>
            </a:r>
            <a:endParaRPr lang="en-US" sz="950" dirty="0"/>
          </a:p>
        </p:txBody>
      </p:sp>
      <p:sp>
        <p:nvSpPr>
          <p:cNvPr id="7" name="Text 4"/>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B7C72">
                    <a:alpha val="80000"/>
                  </a:srgbClr>
                </a:solidFill>
                <a:latin typeface="Calibri" pitchFamily="34" charset="0"/>
                <a:ea typeface="Calibri" pitchFamily="34" charset="-122"/>
                <a:cs typeface="Calibri" pitchFamily="34" charset="-120"/>
              </a:rPr>
              <a:t>7</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E3B23C"/>
                </a:solidFill>
                <a:latin typeface="Calibri" pitchFamily="34" charset="0"/>
                <a:ea typeface="Calibri" pitchFamily="34" charset="-122"/>
                <a:cs typeface="Calibri" pitchFamily="34" charset="-120"/>
              </a:rPr>
              <a:t>Potentiel de rendement</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123324"/>
                </a:solidFill>
                <a:latin typeface="Cambria" pitchFamily="34" charset="0"/>
                <a:ea typeface="Cambria" pitchFamily="34" charset="-122"/>
                <a:cs typeface="Cambria" pitchFamily="34" charset="-120"/>
              </a:rPr>
              <a:t>Gain de rendement attendu par culture</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F1F4EF"/>
          </a:solidFill>
          <a:ln w="9525">
            <a:solidFill>
              <a:srgbClr val="DCE4DA"/>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algn="l" indent="0" marL="0">
              <a:buNone/>
            </a:pPr>
            <a:r>
              <a:rPr lang="en-US" sz="1300" b="1" dirty="0">
                <a:solidFill>
                  <a:srgbClr val="1F5C3A"/>
                </a:solidFill>
                <a:latin typeface="Cambria" pitchFamily="34" charset="0"/>
                <a:ea typeface="Cambria" pitchFamily="34" charset="-122"/>
                <a:cs typeface="Cambria" pitchFamily="34" charset="-120"/>
              </a:rPr>
              <a:t>À lire avec prudence</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algn="l" indent="0" marL="0">
              <a:lnSpc>
                <a:spcPct val="125000"/>
              </a:lnSpc>
              <a:buNone/>
            </a:pPr>
            <a:r>
              <a:rPr lang="en-US" sz="1200" dirty="0">
                <a:solidFill>
                  <a:srgbClr val="33423A"/>
                </a:solidFill>
                <a:latin typeface="Calibri" pitchFamily="34" charset="0"/>
                <a:ea typeface="Calibri" pitchFamily="34" charset="-122"/>
                <a:cs typeface="Calibri" pitchFamily="34" charset="-120"/>
              </a:rPr>
              <a:t>Fourchettes retenues par notre calculateur de dose, pour une culture conduite normalement avec EVERGREEN® à la plantation.</a:t>
            </a:r>
            <a:endParaRPr lang="en-US" sz="1200" dirty="0"/>
          </a:p>
          <a:p>
            <a:pPr algn="l" indent="0" marL="0">
              <a:lnSpc>
                <a:spcPct val="125000"/>
              </a:lnSpc>
              <a:buNone/>
            </a:pPr>
            <a:endParaRPr lang="en-US" sz="1200" dirty="0"/>
          </a:p>
          <a:p>
            <a:pPr algn="l" indent="0" marL="0">
              <a:lnSpc>
                <a:spcPct val="125000"/>
              </a:lnSpc>
              <a:buNone/>
            </a:pPr>
            <a:r>
              <a:rPr lang="en-US" sz="1200" dirty="0">
                <a:solidFill>
                  <a:srgbClr val="33423A"/>
                </a:solidFill>
                <a:latin typeface="Calibri" pitchFamily="34" charset="0"/>
                <a:ea typeface="Calibri" pitchFamily="34" charset="-122"/>
                <a:cs typeface="Calibri" pitchFamily="34" charset="-120"/>
              </a:rPr>
              <a:t>Le résultat réel dépend du sol, du climat et de la conduite. Pour les céréales, aucun gain n'est avancé sans essai de terrain.</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B7C72">
                    <a:alpha val="80000"/>
                  </a:srgbClr>
                </a:solidFill>
                <a:latin typeface="Calibri" pitchFamily="34" charset="0"/>
                <a:ea typeface="Calibri" pitchFamily="34" charset="-122"/>
                <a:cs typeface="Calibri" pitchFamily="34" charset="-120"/>
              </a:rPr>
              <a:t>Green Solutions · Dossier marché Maroc</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B7C72">
                    <a:alpha val="80000"/>
                  </a:srgbClr>
                </a:solidFill>
                <a:latin typeface="Calibri" pitchFamily="34" charset="0"/>
                <a:ea typeface="Calibri" pitchFamily="34" charset="-122"/>
                <a:cs typeface="Calibri" pitchFamily="34" charset="-120"/>
              </a:rPr>
              <a:t>8</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E3B23C"/>
                </a:solidFill>
                <a:latin typeface="Calibri" pitchFamily="34" charset="0"/>
                <a:ea typeface="Calibri" pitchFamily="34" charset="-122"/>
                <a:cs typeface="Calibri" pitchFamily="34" charset="-120"/>
              </a:rPr>
              <a:t>NOTRE RÉPONSE</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123324"/>
                </a:solidFill>
                <a:latin typeface="Cambria" pitchFamily="34" charset="0"/>
                <a:ea typeface="Cambria" pitchFamily="34" charset="-122"/>
                <a:cs typeface="Cambria" pitchFamily="34" charset="-120"/>
              </a:rPr>
              <a:t>Deux technologies, deux contraintes différentes</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algn="l" indent="0" marL="0">
              <a:buNone/>
            </a:pPr>
            <a:r>
              <a:rPr lang="en-US" sz="1600" b="1" dirty="0">
                <a:solidFill>
                  <a:srgbClr val="1F5C3A"/>
                </a:solidFill>
                <a:latin typeface="Cambria" pitchFamily="34" charset="0"/>
                <a:ea typeface="Cambria" pitchFamily="34" charset="-122"/>
                <a:cs typeface="Cambria" pitchFamily="34" charset="-120"/>
              </a:rPr>
              <a:t>EVERGREEN® — retenir l'eau</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3423A"/>
                </a:solidFill>
                <a:latin typeface="Calibri" pitchFamily="34" charset="0"/>
                <a:ea typeface="Calibri" pitchFamily="34" charset="-122"/>
                <a:cs typeface="Calibri" pitchFamily="34" charset="-120"/>
              </a:rPr>
              <a:t>Hydro-rétenteur à base de potassium, placé dans la zone racinaire à la plantation ou à la reprise.</a:t>
            </a:r>
            <a:endParaRPr lang="en-US" sz="1350" dirty="0"/>
          </a:p>
          <a:p>
            <a:pPr algn="l" marL="342900" indent="-342900">
              <a:lnSpc>
                <a:spcPct val="122000"/>
              </a:lnSpc>
              <a:spcAft>
                <a:spcPts val="1000"/>
              </a:spcAft>
              <a:buSzPct val="100000"/>
              <a:buChar char="•"/>
            </a:pPr>
            <a:r>
              <a:rPr lang="en-US" sz="1350" dirty="0">
                <a:solidFill>
                  <a:srgbClr val="33423A"/>
                </a:solidFill>
                <a:latin typeface="Calibri" pitchFamily="34" charset="0"/>
                <a:ea typeface="Calibri" pitchFamily="34" charset="-122"/>
                <a:cs typeface="Calibri" pitchFamily="34" charset="-120"/>
              </a:rPr>
              <a:t>Capte l'eau de pluie ou d'irrigation et la restitue à la plante au fur et à mesure, en supprimant le stress hydrique des phases critiques.</a:t>
            </a:r>
            <a:endParaRPr lang="en-US" sz="1350" dirty="0"/>
          </a:p>
          <a:p>
            <a:pPr algn="l" marL="342900" indent="-342900">
              <a:lnSpc>
                <a:spcPct val="122000"/>
              </a:lnSpc>
              <a:spcAft>
                <a:spcPts val="1000"/>
              </a:spcAft>
              <a:buSzPct val="100000"/>
              <a:buChar char="•"/>
            </a:pPr>
            <a:r>
              <a:rPr lang="en-US" sz="1350" dirty="0">
                <a:solidFill>
                  <a:srgbClr val="33423A"/>
                </a:solidFill>
                <a:latin typeface="Calibri" pitchFamily="34" charset="0"/>
                <a:ea typeface="Calibri" pitchFamily="34" charset="-122"/>
                <a:cs typeface="Calibri" pitchFamily="34" charset="-120"/>
              </a:rPr>
              <a:t>Capacité d'absorption de l'ordre de 300 fois son poids ; durée d'effet utile de 3 à 4 ans dans le sol.</a:t>
            </a:r>
            <a:endParaRPr lang="en-US" sz="1350" dirty="0"/>
          </a:p>
          <a:p>
            <a:pPr algn="l" marL="342900" indent="-342900">
              <a:lnSpc>
                <a:spcPct val="122000"/>
              </a:lnSpc>
              <a:spcAft>
                <a:spcPts val="1000"/>
              </a:spcAft>
              <a:buSzPct val="100000"/>
              <a:buChar char="•"/>
            </a:pPr>
            <a:r>
              <a:rPr lang="en-US" sz="1350" dirty="0">
                <a:solidFill>
                  <a:srgbClr val="33423A"/>
                </a:solidFill>
                <a:latin typeface="Calibri" pitchFamily="34" charset="0"/>
                <a:ea typeface="Calibri" pitchFamily="34" charset="-122"/>
                <a:cs typeface="Calibri" pitchFamily="34" charset="-120"/>
              </a:rPr>
              <a:t>Se dégrade de 20 à 25 % par an, sans accumulation ni risque de surdosage.</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algn="l" indent="0" marL="0">
              <a:buNone/>
            </a:pPr>
            <a:r>
              <a:rPr lang="en-US" sz="1600" b="1" dirty="0">
                <a:solidFill>
                  <a:srgbClr val="1F5C3A"/>
                </a:solidFill>
                <a:latin typeface="Cambria" pitchFamily="34" charset="0"/>
                <a:ea typeface="Cambria" pitchFamily="34" charset="-122"/>
                <a:cs typeface="Cambria" pitchFamily="34" charset="-120"/>
              </a:rPr>
              <a:t>ECOFERT® — nourrir sans épuiser</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3423A"/>
                </a:solidFill>
                <a:latin typeface="Calibri" pitchFamily="34" charset="0"/>
                <a:ea typeface="Calibri" pitchFamily="34" charset="-122"/>
                <a:cs typeface="Calibri" pitchFamily="34" charset="-120"/>
              </a:rPr>
              <a:t>Fertilisant en microdoses d'acides aminés, azote, phosphore et potassium, issu de ressources renouvelables.</a:t>
            </a:r>
            <a:endParaRPr lang="en-US" sz="1350" dirty="0"/>
          </a:p>
          <a:p>
            <a:pPr algn="l" marL="342900" indent="-342900">
              <a:lnSpc>
                <a:spcPct val="122000"/>
              </a:lnSpc>
              <a:spcAft>
                <a:spcPts val="1000"/>
              </a:spcAft>
              <a:buSzPct val="100000"/>
              <a:buChar char="•"/>
            </a:pPr>
            <a:r>
              <a:rPr lang="en-US" sz="1350" dirty="0">
                <a:solidFill>
                  <a:srgbClr val="33423A"/>
                </a:solidFill>
                <a:latin typeface="Calibri" pitchFamily="34" charset="0"/>
                <a:ea typeface="Calibri" pitchFamily="34" charset="-122"/>
                <a:cs typeface="Calibri" pitchFamily="34" charset="-120"/>
              </a:rPr>
              <a:t>Non chélatant : il n'appauvrit pas le complexe argilo-humique et n'augmente ni la salinité ni la teneur en nitrates.</a:t>
            </a:r>
            <a:endParaRPr lang="en-US" sz="1350" dirty="0"/>
          </a:p>
          <a:p>
            <a:pPr algn="l" marL="342900" indent="-342900">
              <a:lnSpc>
                <a:spcPct val="122000"/>
              </a:lnSpc>
              <a:spcAft>
                <a:spcPts val="1000"/>
              </a:spcAft>
              <a:buSzPct val="100000"/>
              <a:buChar char="•"/>
            </a:pPr>
            <a:r>
              <a:rPr lang="en-US" sz="1350" dirty="0">
                <a:solidFill>
                  <a:srgbClr val="33423A"/>
                </a:solidFill>
                <a:latin typeface="Calibri" pitchFamily="34" charset="0"/>
                <a:ea typeface="Calibri" pitchFamily="34" charset="-122"/>
                <a:cs typeface="Calibri" pitchFamily="34" charset="-120"/>
              </a:rPr>
              <a:t>Certifié SOHISCERT et EU Bio — condition d'accès aux cahiers des charges des acheteurs européens.</a:t>
            </a:r>
            <a:endParaRPr lang="en-US" sz="1350" dirty="0"/>
          </a:p>
          <a:p>
            <a:pPr algn="l" marL="342900" indent="-342900">
              <a:lnSpc>
                <a:spcPct val="122000"/>
              </a:lnSpc>
              <a:spcAft>
                <a:spcPts val="1000"/>
              </a:spcAft>
              <a:buSzPct val="100000"/>
              <a:buChar char="•"/>
            </a:pPr>
            <a:r>
              <a:rPr lang="en-US" sz="1350" dirty="0">
                <a:solidFill>
                  <a:srgbClr val="33423A"/>
                </a:solidFill>
                <a:latin typeface="Calibri" pitchFamily="34" charset="0"/>
                <a:ea typeface="Calibri" pitchFamily="34" charset="-122"/>
                <a:cs typeface="Calibri" pitchFamily="34" charset="-120"/>
              </a:rPr>
              <a:t>1 à 4 flacons de 140 ml par hectare, compatible avec les équipements de fertirrigation existants.</a:t>
            </a:r>
            <a:endParaRPr lang="en-US" sz="1350" dirty="0"/>
          </a:p>
        </p:txBody>
      </p:sp>
      <p:sp>
        <p:nvSpPr>
          <p:cNvPr id="8" name="Shape 6"/>
          <p:cNvSpPr/>
          <p:nvPr/>
        </p:nvSpPr>
        <p:spPr>
          <a:xfrm>
            <a:off x="594360" y="4846320"/>
            <a:ext cx="11002975" cy="960120"/>
          </a:xfrm>
          <a:prstGeom prst="roundRect">
            <a:avLst>
              <a:gd name="adj" fmla="val 7619"/>
            </a:avLst>
          </a:prstGeom>
          <a:solidFill>
            <a:srgbClr val="F1F4EF"/>
          </a:solidFill>
          <a:ln w="9525">
            <a:solidFill>
              <a:srgbClr val="DCE4DA"/>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algn="l" indent="0" marL="0">
              <a:lnSpc>
                <a:spcPct val="118000"/>
              </a:lnSpc>
              <a:buNone/>
            </a:pPr>
            <a:r>
              <a:rPr lang="en-US" sz="1100" dirty="0">
                <a:solidFill>
                  <a:srgbClr val="6B7C72"/>
                </a:solidFill>
                <a:latin typeface="Calibri" pitchFamily="34" charset="0"/>
                <a:ea typeface="Calibri" pitchFamily="34" charset="-122"/>
                <a:cs typeface="Calibri" pitchFamily="34" charset="-120"/>
              </a:rPr>
              <a:t>Les deux produits se vendent séparément mais ont été conçus pour se renforcer : l'hydro-rétenteur prolonge la disponibilité de l'eau, le fertilisant valorise cette eau disponible sans dégrader le sol.</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B7C72">
                    <a:alpha val="80000"/>
                  </a:srgbClr>
                </a:solidFill>
                <a:latin typeface="Calibri" pitchFamily="34" charset="0"/>
                <a:ea typeface="Calibri" pitchFamily="34" charset="-122"/>
                <a:cs typeface="Calibri" pitchFamily="34" charset="-120"/>
              </a:rPr>
              <a:t>Green Solutions · Dossier marché Maroc</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B7C72">
                    <a:alpha val="80000"/>
                  </a:srgbClr>
                </a:solidFill>
                <a:latin typeface="Calibri" pitchFamily="34" charset="0"/>
                <a:ea typeface="Calibri" pitchFamily="34" charset="-122"/>
                <a:cs typeface="Calibri" pitchFamily="34" charset="-120"/>
              </a:rPr>
              <a:t>9</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E3B23C"/>
                </a:solidFill>
                <a:latin typeface="Calibri" pitchFamily="34" charset="0"/>
                <a:ea typeface="Calibri" pitchFamily="34" charset="-122"/>
                <a:cs typeface="Calibri" pitchFamily="34" charset="-120"/>
              </a:rPr>
              <a:t>Le reste de la gamme</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123324"/>
                </a:solidFill>
                <a:latin typeface="Cambria" pitchFamily="34" charset="0"/>
                <a:ea typeface="Cambria" pitchFamily="34" charset="-122"/>
                <a:cs typeface="Cambria" pitchFamily="34" charset="-120"/>
              </a:rPr>
              <a:t>Protéger les cultures, fixer les sols</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algn="l" indent="0" marL="0">
              <a:buNone/>
            </a:pPr>
            <a:r>
              <a:rPr lang="en-US" sz="1600" b="1" dirty="0">
                <a:solidFill>
                  <a:srgbClr val="1F5C3A"/>
                </a:solidFill>
                <a:latin typeface="Cambria" pitchFamily="34" charset="0"/>
                <a:ea typeface="Cambria" pitchFamily="34" charset="-122"/>
                <a:cs typeface="Cambria" pitchFamily="34" charset="-120"/>
              </a:rPr>
              <a:t>NAPEMA® — protéger sans résidu</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3423A"/>
                </a:solidFill>
                <a:latin typeface="Calibri" pitchFamily="34" charset="0"/>
                <a:ea typeface="Calibri" pitchFamily="34" charset="-122"/>
                <a:cs typeface="Calibri" pitchFamily="34" charset="-120"/>
              </a:rPr>
              <a:t>Lutte contre maladies, parasites, champignons et ravageurs, sans molécule de synthèse.</a:t>
            </a:r>
            <a:endParaRPr lang="en-US" sz="1350" dirty="0"/>
          </a:p>
          <a:p>
            <a:pPr algn="l" marL="342900" indent="-342900">
              <a:lnSpc>
                <a:spcPct val="122000"/>
              </a:lnSpc>
              <a:spcAft>
                <a:spcPts val="1000"/>
              </a:spcAft>
              <a:buSzPct val="100000"/>
              <a:buChar char="•"/>
            </a:pPr>
            <a:r>
              <a:rPr lang="en-US" sz="1350" dirty="0">
                <a:solidFill>
                  <a:srgbClr val="33423A"/>
                </a:solidFill>
                <a:latin typeface="Calibri" pitchFamily="34" charset="0"/>
                <a:ea typeface="Calibri" pitchFamily="34" charset="-122"/>
                <a:cs typeface="Calibri" pitchFamily="34" charset="-120"/>
              </a:rPr>
              <a:t>Pulvérisation foliaire et racinaire, à effet préventif comme curatif.</a:t>
            </a:r>
            <a:endParaRPr lang="en-US" sz="1350" dirty="0"/>
          </a:p>
          <a:p>
            <a:pPr algn="l" marL="342900" indent="-342900">
              <a:lnSpc>
                <a:spcPct val="122000"/>
              </a:lnSpc>
              <a:spcAft>
                <a:spcPts val="1000"/>
              </a:spcAft>
              <a:buSzPct val="100000"/>
              <a:buChar char="•"/>
            </a:pPr>
            <a:r>
              <a:rPr lang="en-US" sz="1350" dirty="0">
                <a:solidFill>
                  <a:srgbClr val="33423A"/>
                </a:solidFill>
                <a:latin typeface="Calibri" pitchFamily="34" charset="0"/>
                <a:ea typeface="Calibri" pitchFamily="34" charset="-122"/>
                <a:cs typeface="Calibri" pitchFamily="34" charset="-120"/>
              </a:rPr>
              <a:t>Aucun résidu dans le sol, la plante ou l'air : pollinisateurs et auxiliaires préservés.</a:t>
            </a:r>
            <a:endParaRPr lang="en-US" sz="1350" dirty="0"/>
          </a:p>
          <a:p>
            <a:pPr algn="l" marL="342900" indent="-342900">
              <a:lnSpc>
                <a:spcPct val="122000"/>
              </a:lnSpc>
              <a:spcAft>
                <a:spcPts val="1000"/>
              </a:spcAft>
              <a:buSzPct val="100000"/>
              <a:buChar char="•"/>
            </a:pPr>
            <a:r>
              <a:rPr lang="en-US" sz="1350" dirty="0">
                <a:solidFill>
                  <a:srgbClr val="33423A"/>
                </a:solidFill>
                <a:latin typeface="Calibri" pitchFamily="34" charset="0"/>
                <a:ea typeface="Calibri" pitchFamily="34" charset="-122"/>
                <a:cs typeface="Calibri" pitchFamily="34" charset="-120"/>
              </a:rPr>
              <a:t>Formulé sur mesure pour un problème précis : cochenille, HLB des agrumes, nématodes.</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algn="l" indent="0" marL="0">
              <a:buNone/>
            </a:pPr>
            <a:r>
              <a:rPr lang="en-US" sz="1600" b="1" dirty="0">
                <a:solidFill>
                  <a:srgbClr val="1F5C3A"/>
                </a:solidFill>
                <a:latin typeface="Cambria" pitchFamily="34" charset="0"/>
                <a:ea typeface="Cambria" pitchFamily="34" charset="-122"/>
                <a:cs typeface="Cambria" pitchFamily="34" charset="-120"/>
              </a:rPr>
              <a:t>Paulownia ALTIFOLIA® — l'arbre des régions chaudes</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3423A"/>
                </a:solidFill>
                <a:latin typeface="Calibri" pitchFamily="34" charset="0"/>
                <a:ea typeface="Calibri" pitchFamily="34" charset="-122"/>
                <a:cs typeface="Calibri" pitchFamily="34" charset="-120"/>
              </a:rPr>
              <a:t>13 à 15 m en six à huit ans, avec un tronc de gros diamètre.</a:t>
            </a:r>
            <a:endParaRPr lang="en-US" sz="1350" dirty="0"/>
          </a:p>
          <a:p>
            <a:pPr algn="l" marL="342900" indent="-342900">
              <a:lnSpc>
                <a:spcPct val="122000"/>
              </a:lnSpc>
              <a:spcAft>
                <a:spcPts val="1000"/>
              </a:spcAft>
              <a:buSzPct val="100000"/>
              <a:buChar char="•"/>
            </a:pPr>
            <a:r>
              <a:rPr lang="en-US" sz="1350" dirty="0">
                <a:solidFill>
                  <a:srgbClr val="33423A"/>
                </a:solidFill>
                <a:latin typeface="Calibri" pitchFamily="34" charset="0"/>
                <a:ea typeface="Calibri" pitchFamily="34" charset="-122"/>
                <a:cs typeface="Calibri" pitchFamily="34" charset="-120"/>
              </a:rPr>
              <a:t>Associé à 100 g d'EVERGREEN® par plant, l'irrigation nécessaire diminue de 50 %.</a:t>
            </a:r>
            <a:endParaRPr lang="en-US" sz="1350" dirty="0"/>
          </a:p>
          <a:p>
            <a:pPr algn="l" marL="342900" indent="-342900">
              <a:lnSpc>
                <a:spcPct val="122000"/>
              </a:lnSpc>
              <a:spcAft>
                <a:spcPts val="1000"/>
              </a:spcAft>
              <a:buSzPct val="100000"/>
              <a:buChar char="•"/>
            </a:pPr>
            <a:r>
              <a:rPr lang="en-US" sz="1350" dirty="0">
                <a:solidFill>
                  <a:srgbClr val="33423A"/>
                </a:solidFill>
                <a:latin typeface="Calibri" pitchFamily="34" charset="0"/>
                <a:ea typeface="Calibri" pitchFamily="34" charset="-122"/>
                <a:cs typeface="Calibri" pitchFamily="34" charset="-120"/>
              </a:rPr>
              <a:t>Résiste de −25 °C à +45 °C ; son bois ne s'enflamme qu'à partir de 426 °C.</a:t>
            </a:r>
            <a:endParaRPr lang="en-US" sz="1350" dirty="0"/>
          </a:p>
          <a:p>
            <a:pPr algn="l" marL="342900" indent="-342900">
              <a:lnSpc>
                <a:spcPct val="122000"/>
              </a:lnSpc>
              <a:spcAft>
                <a:spcPts val="1000"/>
              </a:spcAft>
              <a:buSzPct val="100000"/>
              <a:buChar char="•"/>
            </a:pPr>
            <a:r>
              <a:rPr lang="en-US" sz="1350" dirty="0">
                <a:solidFill>
                  <a:srgbClr val="33423A"/>
                </a:solidFill>
                <a:latin typeface="Calibri" pitchFamily="34" charset="0"/>
                <a:ea typeface="Calibri" pitchFamily="34" charset="-122"/>
                <a:cs typeface="Calibri" pitchFamily="34" charset="-120"/>
              </a:rPr>
              <a:t>Brise-vent, protection des sols contre l'érosion, 400 à 700 kg de miel par hectare.</a:t>
            </a:r>
            <a:endParaRPr lang="en-US" sz="1350" dirty="0"/>
          </a:p>
        </p:txBody>
      </p:sp>
      <p:sp>
        <p:nvSpPr>
          <p:cNvPr id="8" name="Shape 6"/>
          <p:cNvSpPr/>
          <p:nvPr/>
        </p:nvSpPr>
        <p:spPr>
          <a:xfrm>
            <a:off x="594360" y="4846320"/>
            <a:ext cx="11002975" cy="960120"/>
          </a:xfrm>
          <a:prstGeom prst="roundRect">
            <a:avLst>
              <a:gd name="adj" fmla="val 7619"/>
            </a:avLst>
          </a:prstGeom>
          <a:solidFill>
            <a:srgbClr val="F1F4EF"/>
          </a:solidFill>
          <a:ln w="9525">
            <a:solidFill>
              <a:srgbClr val="DCE4DA"/>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algn="l" indent="0" marL="0">
              <a:lnSpc>
                <a:spcPct val="118000"/>
              </a:lnSpc>
              <a:buNone/>
            </a:pPr>
            <a:r>
              <a:rPr lang="en-US" sz="1100" dirty="0">
                <a:solidFill>
                  <a:srgbClr val="6B7C72"/>
                </a:solidFill>
                <a:latin typeface="Calibri" pitchFamily="34" charset="0"/>
                <a:ea typeface="Calibri" pitchFamily="34" charset="-122"/>
                <a:cs typeface="Calibri" pitchFamily="34" charset="-120"/>
              </a:rPr>
              <a:t>Plants livrés en pot (25 à 30 cm), certifiés indemnes de maladies et remplacés sous garantie en cas de perte. Première coupe à la fin de la sixième année, bois valorisé autour de 400 à 450 € le m³.</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B7C72">
                    <a:alpha val="80000"/>
                  </a:srgbClr>
                </a:solidFill>
                <a:latin typeface="Calibri" pitchFamily="34" charset="0"/>
                <a:ea typeface="Calibri" pitchFamily="34" charset="-122"/>
                <a:cs typeface="Calibri" pitchFamily="34" charset="-120"/>
              </a:rPr>
              <a:t>Green Solutions · Dossier marché Maroc</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B7C72">
                    <a:alpha val="80000"/>
                  </a:srgbClr>
                </a:solidFill>
                <a:latin typeface="Calibri" pitchFamily="34" charset="0"/>
                <a:ea typeface="Calibri" pitchFamily="34" charset="-122"/>
                <a:cs typeface="Calibri" pitchFamily="34" charset="-120"/>
              </a:rPr>
              <a:t>10</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E3B23C"/>
                </a:solidFill>
                <a:latin typeface="Calibri" pitchFamily="34" charset="0"/>
                <a:ea typeface="Calibri" pitchFamily="34" charset="-122"/>
                <a:cs typeface="Calibri" pitchFamily="34" charset="-120"/>
              </a:rPr>
              <a:t>ORDRES DE GRANDEUR</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123324"/>
                </a:solidFill>
                <a:latin typeface="Cambria" pitchFamily="34" charset="0"/>
                <a:ea typeface="Cambria" pitchFamily="34" charset="-122"/>
                <a:cs typeface="Cambria" pitchFamily="34" charset="-120"/>
              </a:rPr>
              <a:t>Économie d'eau attendue selon le mode d'irrigation</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F1F4EF"/>
          </a:solidFill>
          <a:ln w="9525">
            <a:solidFill>
              <a:srgbClr val="DCE4DA"/>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algn="l" indent="0" marL="0">
              <a:buNone/>
            </a:pPr>
            <a:r>
              <a:rPr lang="en-US" sz="1300" b="1" dirty="0">
                <a:solidFill>
                  <a:srgbClr val="1F5C3A"/>
                </a:solidFill>
                <a:latin typeface="Cambria" pitchFamily="34" charset="0"/>
                <a:ea typeface="Cambria" pitchFamily="34" charset="-122"/>
                <a:cs typeface="Cambria" pitchFamily="34" charset="-120"/>
              </a:rPr>
              <a:t>À lire avec prudence</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algn="l" indent="0" marL="0">
              <a:lnSpc>
                <a:spcPct val="125000"/>
              </a:lnSpc>
              <a:buNone/>
            </a:pPr>
            <a:r>
              <a:rPr lang="en-US" sz="1200" dirty="0">
                <a:solidFill>
                  <a:srgbClr val="33423A"/>
                </a:solidFill>
                <a:latin typeface="Calibri" pitchFamily="34" charset="0"/>
                <a:ea typeface="Calibri" pitchFamily="34" charset="-122"/>
                <a:cs typeface="Calibri" pitchFamily="34" charset="-120"/>
              </a:rPr>
              <a:t>Ces fourchettes sont indicatives et fondées sur les gains documentés de nos hydro-rétenteurs.</a:t>
            </a:r>
            <a:endParaRPr lang="en-US" sz="1200" dirty="0"/>
          </a:p>
          <a:p>
            <a:pPr algn="l" indent="0" marL="0">
              <a:lnSpc>
                <a:spcPct val="125000"/>
              </a:lnSpc>
              <a:buNone/>
            </a:pPr>
            <a:endParaRPr lang="en-US" sz="1200" dirty="0"/>
          </a:p>
          <a:p>
            <a:pPr algn="l" indent="0" marL="0">
              <a:lnSpc>
                <a:spcPct val="125000"/>
              </a:lnSpc>
              <a:buNone/>
            </a:pPr>
            <a:r>
              <a:rPr lang="en-US" sz="1200" dirty="0">
                <a:solidFill>
                  <a:srgbClr val="33423A"/>
                </a:solidFill>
                <a:latin typeface="Calibri" pitchFamily="34" charset="0"/>
                <a:ea typeface="Calibri" pitchFamily="34" charset="-122"/>
                <a:cs typeface="Calibri" pitchFamily="34" charset="-120"/>
              </a:rPr>
              <a:t>Le résultat réel dépend du sol, du climat et de la culture. Ces chiffres donnent un ordre de grandeur : ils ne constituent en aucun cas une valeur garantie, contractuelle ou absolue.</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B7C72">
                    <a:alpha val="80000"/>
                  </a:srgbClr>
                </a:solidFill>
                <a:latin typeface="Calibri" pitchFamily="34" charset="0"/>
                <a:ea typeface="Calibri" pitchFamily="34" charset="-122"/>
                <a:cs typeface="Calibri" pitchFamily="34" charset="-120"/>
              </a:rPr>
              <a:t>Green Solutions · Dossier marché Maroc</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B7C72">
                    <a:alpha val="80000"/>
                  </a:srgbClr>
                </a:solidFill>
                <a:latin typeface="Calibri" pitchFamily="34" charset="0"/>
                <a:ea typeface="Calibri" pitchFamily="34" charset="-122"/>
                <a:cs typeface="Calibri" pitchFamily="34" charset="-120"/>
              </a:rPr>
              <a:t>11</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E3B23C"/>
                </a:solidFill>
                <a:latin typeface="Calibri" pitchFamily="34" charset="0"/>
                <a:ea typeface="Calibri" pitchFamily="34" charset="-122"/>
                <a:cs typeface="Calibri" pitchFamily="34" charset="-120"/>
              </a:rPr>
              <a:t>TROIS TERRAINS PRIORITAIRES</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123324"/>
                </a:solidFill>
                <a:latin typeface="Cambria" pitchFamily="34" charset="0"/>
                <a:ea typeface="Cambria" pitchFamily="34" charset="-122"/>
                <a:cs typeface="Cambria" pitchFamily="34" charset="-120"/>
              </a:rPr>
              <a:t>Où engager les premiers essais</a:t>
            </a:r>
            <a:endParaRPr lang="en-US" sz="3000" dirty="0"/>
          </a:p>
        </p:txBody>
      </p:sp>
      <p:sp>
        <p:nvSpPr>
          <p:cNvPr id="4" name="Shape 2"/>
          <p:cNvSpPr/>
          <p:nvPr/>
        </p:nvSpPr>
        <p:spPr>
          <a:xfrm>
            <a:off x="594360" y="1783080"/>
            <a:ext cx="3472586" cy="4069080"/>
          </a:xfrm>
          <a:prstGeom prst="roundRect">
            <a:avLst>
              <a:gd name="adj" fmla="val 2633"/>
            </a:avLst>
          </a:prstGeom>
          <a:solidFill>
            <a:srgbClr val="F1F4EF"/>
          </a:solidFill>
          <a:ln w="9525">
            <a:solidFill>
              <a:srgbClr val="DCE4DA"/>
            </a:solidFill>
            <a:prstDash val="solid"/>
          </a:ln>
        </p:spPr>
      </p:sp>
      <p:pic>
        <p:nvPicPr>
          <p:cNvPr id="5" name="Image 0" descr="preencoded.png">    </p:cNvPr>
          <p:cNvPicPr>
            <a:picLocks noChangeAspect="1"/>
          </p:cNvPicPr>
          <p:nvPr/>
        </p:nvPicPr>
        <p:blipFill>
          <a:blip r:embed="rId1"/>
          <a:stretch>
            <a:fillRect/>
          </a:stretch>
        </p:blipFill>
        <p:spPr>
          <a:xfrm>
            <a:off x="594360" y="1783080"/>
            <a:ext cx="3472586" cy="1691640"/>
          </a:xfrm>
          <a:prstGeom prst="rect">
            <a:avLst/>
          </a:prstGeom>
        </p:spPr>
      </p:pic>
      <p:sp>
        <p:nvSpPr>
          <p:cNvPr id="6" name="Text 3"/>
          <p:cNvSpPr txBox="1"/>
          <p:nvPr/>
        </p:nvSpPr>
        <p:spPr>
          <a:xfrm>
            <a:off x="795528" y="3639312"/>
            <a:ext cx="3070250" cy="384048"/>
          </a:xfrm>
          <a:prstGeom prst="rect">
            <a:avLst/>
          </a:prstGeom>
          <a:noFill/>
          <a:ln/>
        </p:spPr>
        <p:txBody>
          <a:bodyPr wrap="square" lIns="0" tIns="0" rIns="0" bIns="0" rtlCol="0" anchor="ctr"/>
          <a:lstStyle/>
          <a:p>
            <a:pPr algn="l" indent="0" marL="0">
              <a:buNone/>
            </a:pPr>
            <a:r>
              <a:rPr lang="en-US" sz="1500" b="1" dirty="0">
                <a:solidFill>
                  <a:srgbClr val="1F5C3A"/>
                </a:solidFill>
                <a:latin typeface="Cambria" pitchFamily="34" charset="0"/>
                <a:ea typeface="Cambria" pitchFamily="34" charset="-122"/>
                <a:cs typeface="Cambria" pitchFamily="34" charset="-120"/>
              </a:rPr>
              <a:t>Souss-Massa</a:t>
            </a:r>
            <a:endParaRPr lang="en-US" sz="1500" dirty="0"/>
          </a:p>
        </p:txBody>
      </p:sp>
      <p:sp>
        <p:nvSpPr>
          <p:cNvPr id="7" name="Text 4"/>
          <p:cNvSpPr txBox="1"/>
          <p:nvPr/>
        </p:nvSpPr>
        <p:spPr>
          <a:xfrm>
            <a:off x="795528" y="4041648"/>
            <a:ext cx="3070250" cy="329184"/>
          </a:xfrm>
          <a:prstGeom prst="rect">
            <a:avLst/>
          </a:prstGeom>
          <a:noFill/>
          <a:ln/>
        </p:spPr>
        <p:txBody>
          <a:bodyPr wrap="square" lIns="0" tIns="0" rIns="0" bIns="0" rtlCol="0" anchor="ctr"/>
          <a:lstStyle/>
          <a:p>
            <a:pPr algn="l" indent="0" marL="0">
              <a:buNone/>
            </a:pPr>
            <a:r>
              <a:rPr lang="en-US" sz="1250" b="1" dirty="0">
                <a:solidFill>
                  <a:srgbClr val="A97C12"/>
                </a:solidFill>
                <a:latin typeface="Calibri" pitchFamily="34" charset="0"/>
                <a:ea typeface="Calibri" pitchFamily="34" charset="-122"/>
                <a:cs typeface="Calibri" pitchFamily="34" charset="-120"/>
              </a:rPr>
              <a:t>Agrumes et primeurs</a:t>
            </a:r>
            <a:endParaRPr lang="en-US" sz="1250" dirty="0"/>
          </a:p>
        </p:txBody>
      </p:sp>
      <p:sp>
        <p:nvSpPr>
          <p:cNvPr id="8" name="Text 5"/>
          <p:cNvSpPr txBox="1"/>
          <p:nvPr/>
        </p:nvSpPr>
        <p:spPr>
          <a:xfrm>
            <a:off x="795528" y="4407408"/>
            <a:ext cx="3070250" cy="1280160"/>
          </a:xfrm>
          <a:prstGeom prst="rect">
            <a:avLst/>
          </a:prstGeom>
          <a:noFill/>
          <a:ln/>
        </p:spPr>
        <p:txBody>
          <a:bodyPr wrap="square" lIns="0" tIns="0" rIns="0" bIns="0" rtlCol="0" anchor="t"/>
          <a:lstStyle/>
          <a:p>
            <a:pPr algn="l" marL="342900" indent="-342900">
              <a:lnSpc>
                <a:spcPct val="116000"/>
              </a:lnSpc>
              <a:spcAft>
                <a:spcPts val="700"/>
              </a:spcAft>
              <a:buSzPct val="100000"/>
              <a:buChar char="•"/>
            </a:pPr>
            <a:r>
              <a:rPr lang="en-US" sz="1150" dirty="0">
                <a:solidFill>
                  <a:srgbClr val="33423A"/>
                </a:solidFill>
                <a:latin typeface="Calibri" pitchFamily="34" charset="0"/>
                <a:ea typeface="Calibri" pitchFamily="34" charset="-122"/>
                <a:cs typeface="Calibri" pitchFamily="34" charset="-120"/>
              </a:rPr>
              <a:t>Cœur de la filière d'exportation, déjà largement converti au goutte-à-goutte.</a:t>
            </a:r>
            <a:endParaRPr lang="en-US" sz="1150" dirty="0"/>
          </a:p>
          <a:p>
            <a:pPr algn="l" marL="342900" indent="-342900">
              <a:lnSpc>
                <a:spcPct val="116000"/>
              </a:lnSpc>
              <a:spcAft>
                <a:spcPts val="700"/>
              </a:spcAft>
              <a:buSzPct val="100000"/>
              <a:buChar char="•"/>
            </a:pPr>
            <a:r>
              <a:rPr lang="en-US" sz="1150" dirty="0">
                <a:solidFill>
                  <a:srgbClr val="33423A"/>
                </a:solidFill>
                <a:latin typeface="Calibri" pitchFamily="34" charset="0"/>
                <a:ea typeface="Calibri" pitchFamily="34" charset="-122"/>
                <a:cs typeface="Calibri" pitchFamily="34" charset="-120"/>
              </a:rPr>
              <a:t>Nappe en rabattement continu : la pression réglementaire sur les prélèvements y est la plus forte.</a:t>
            </a:r>
            <a:endParaRPr lang="en-US" sz="1150" dirty="0"/>
          </a:p>
          <a:p>
            <a:pPr algn="l" marL="342900" indent="-342900">
              <a:lnSpc>
                <a:spcPct val="116000"/>
              </a:lnSpc>
              <a:spcAft>
                <a:spcPts val="700"/>
              </a:spcAft>
              <a:buSzPct val="100000"/>
              <a:buChar char="•"/>
            </a:pPr>
            <a:r>
              <a:rPr lang="en-US" sz="1150" dirty="0">
                <a:solidFill>
                  <a:srgbClr val="33423A"/>
                </a:solidFill>
                <a:latin typeface="Calibri" pitchFamily="34" charset="0"/>
                <a:ea typeface="Calibri" pitchFamily="34" charset="-122"/>
                <a:cs typeface="Calibri" pitchFamily="34" charset="-120"/>
              </a:rPr>
              <a:t>Acheteurs européens demandeurs de certification biologique.</a:t>
            </a:r>
            <a:endParaRPr lang="en-US" sz="1150" dirty="0"/>
          </a:p>
        </p:txBody>
      </p:sp>
      <p:sp>
        <p:nvSpPr>
          <p:cNvPr id="9" name="Shape 6"/>
          <p:cNvSpPr/>
          <p:nvPr/>
        </p:nvSpPr>
        <p:spPr>
          <a:xfrm>
            <a:off x="4359554" y="1783080"/>
            <a:ext cx="3472586" cy="4069080"/>
          </a:xfrm>
          <a:prstGeom prst="roundRect">
            <a:avLst>
              <a:gd name="adj" fmla="val 2633"/>
            </a:avLst>
          </a:prstGeom>
          <a:solidFill>
            <a:srgbClr val="F1F4EF"/>
          </a:solidFill>
          <a:ln w="9525">
            <a:solidFill>
              <a:srgbClr val="DCE4DA"/>
            </a:solidFill>
            <a:prstDash val="solid"/>
          </a:ln>
        </p:spPr>
      </p:sp>
      <p:pic>
        <p:nvPicPr>
          <p:cNvPr id="10" name="Image 1" descr="preencoded.png">    </p:cNvPr>
          <p:cNvPicPr>
            <a:picLocks noChangeAspect="1"/>
          </p:cNvPicPr>
          <p:nvPr/>
        </p:nvPicPr>
        <p:blipFill>
          <a:blip r:embed="rId2"/>
          <a:stretch>
            <a:fillRect/>
          </a:stretch>
        </p:blipFill>
        <p:spPr>
          <a:xfrm>
            <a:off x="4359554" y="1783080"/>
            <a:ext cx="3472586" cy="1691640"/>
          </a:xfrm>
          <a:prstGeom prst="rect">
            <a:avLst/>
          </a:prstGeom>
        </p:spPr>
      </p:pic>
      <p:sp>
        <p:nvSpPr>
          <p:cNvPr id="11" name="Text 7"/>
          <p:cNvSpPr txBox="1"/>
          <p:nvPr/>
        </p:nvSpPr>
        <p:spPr>
          <a:xfrm>
            <a:off x="4560722" y="3639312"/>
            <a:ext cx="3070250" cy="384048"/>
          </a:xfrm>
          <a:prstGeom prst="rect">
            <a:avLst/>
          </a:prstGeom>
          <a:noFill/>
          <a:ln/>
        </p:spPr>
        <p:txBody>
          <a:bodyPr wrap="square" lIns="0" tIns="0" rIns="0" bIns="0" rtlCol="0" anchor="ctr"/>
          <a:lstStyle/>
          <a:p>
            <a:pPr algn="l" indent="0" marL="0">
              <a:buNone/>
            </a:pPr>
            <a:r>
              <a:rPr lang="en-US" sz="1500" b="1" dirty="0">
                <a:solidFill>
                  <a:srgbClr val="1F5C3A"/>
                </a:solidFill>
                <a:latin typeface="Cambria" pitchFamily="34" charset="0"/>
                <a:ea typeface="Cambria" pitchFamily="34" charset="-122"/>
                <a:cs typeface="Cambria" pitchFamily="34" charset="-120"/>
              </a:rPr>
              <a:t>Haouz — Marrakech</a:t>
            </a:r>
            <a:endParaRPr lang="en-US" sz="1500" dirty="0"/>
          </a:p>
        </p:txBody>
      </p:sp>
      <p:sp>
        <p:nvSpPr>
          <p:cNvPr id="12" name="Text 8"/>
          <p:cNvSpPr txBox="1"/>
          <p:nvPr/>
        </p:nvSpPr>
        <p:spPr>
          <a:xfrm>
            <a:off x="4560722" y="4041648"/>
            <a:ext cx="3070250" cy="329184"/>
          </a:xfrm>
          <a:prstGeom prst="rect">
            <a:avLst/>
          </a:prstGeom>
          <a:noFill/>
          <a:ln/>
        </p:spPr>
        <p:txBody>
          <a:bodyPr wrap="square" lIns="0" tIns="0" rIns="0" bIns="0" rtlCol="0" anchor="ctr"/>
          <a:lstStyle/>
          <a:p>
            <a:pPr algn="l" indent="0" marL="0">
              <a:buNone/>
            </a:pPr>
            <a:r>
              <a:rPr lang="en-US" sz="1250" b="1" dirty="0">
                <a:solidFill>
                  <a:srgbClr val="A97C12"/>
                </a:solidFill>
                <a:latin typeface="Calibri" pitchFamily="34" charset="0"/>
                <a:ea typeface="Calibri" pitchFamily="34" charset="-122"/>
                <a:cs typeface="Calibri" pitchFamily="34" charset="-120"/>
              </a:rPr>
              <a:t>Maraîchage et oliviers</a:t>
            </a:r>
            <a:endParaRPr lang="en-US" sz="1250" dirty="0"/>
          </a:p>
        </p:txBody>
      </p:sp>
      <p:sp>
        <p:nvSpPr>
          <p:cNvPr id="13" name="Text 9"/>
          <p:cNvSpPr txBox="1"/>
          <p:nvPr/>
        </p:nvSpPr>
        <p:spPr>
          <a:xfrm>
            <a:off x="4560722" y="4407408"/>
            <a:ext cx="3070250" cy="1280160"/>
          </a:xfrm>
          <a:prstGeom prst="rect">
            <a:avLst/>
          </a:prstGeom>
          <a:noFill/>
          <a:ln/>
        </p:spPr>
        <p:txBody>
          <a:bodyPr wrap="square" lIns="0" tIns="0" rIns="0" bIns="0" rtlCol="0" anchor="t"/>
          <a:lstStyle/>
          <a:p>
            <a:pPr algn="l" marL="342900" indent="-342900">
              <a:lnSpc>
                <a:spcPct val="116000"/>
              </a:lnSpc>
              <a:spcAft>
                <a:spcPts val="700"/>
              </a:spcAft>
              <a:buSzPct val="100000"/>
              <a:buChar char="•"/>
            </a:pPr>
            <a:r>
              <a:rPr lang="en-US" sz="1150" dirty="0">
                <a:solidFill>
                  <a:srgbClr val="33423A"/>
                </a:solidFill>
                <a:latin typeface="Calibri" pitchFamily="34" charset="0"/>
                <a:ea typeface="Calibri" pitchFamily="34" charset="-122"/>
                <a:cs typeface="Calibri" pitchFamily="34" charset="-120"/>
              </a:rPr>
              <a:t>Périmètres irrigués dépendants des barrages, soumis aux tours d'eau en année sèche.</a:t>
            </a:r>
            <a:endParaRPr lang="en-US" sz="1150" dirty="0"/>
          </a:p>
          <a:p>
            <a:pPr algn="l" marL="342900" indent="-342900">
              <a:lnSpc>
                <a:spcPct val="116000"/>
              </a:lnSpc>
              <a:spcAft>
                <a:spcPts val="700"/>
              </a:spcAft>
              <a:buSzPct val="100000"/>
              <a:buChar char="•"/>
            </a:pPr>
            <a:r>
              <a:rPr lang="en-US" sz="1150" dirty="0">
                <a:solidFill>
                  <a:srgbClr val="33423A"/>
                </a:solidFill>
                <a:latin typeface="Calibri" pitchFamily="34" charset="0"/>
                <a:ea typeface="Calibri" pitchFamily="34" charset="-122"/>
                <a:cs typeface="Calibri" pitchFamily="34" charset="-120"/>
              </a:rPr>
              <a:t>Forte proportion de structures moyennes, capables de décider vite sur un essai.</a:t>
            </a:r>
            <a:endParaRPr lang="en-US" sz="1150" dirty="0"/>
          </a:p>
          <a:p>
            <a:pPr algn="l" marL="342900" indent="-342900">
              <a:lnSpc>
                <a:spcPct val="116000"/>
              </a:lnSpc>
              <a:spcAft>
                <a:spcPts val="700"/>
              </a:spcAft>
              <a:buSzPct val="100000"/>
              <a:buChar char="•"/>
            </a:pPr>
            <a:r>
              <a:rPr lang="en-US" sz="1150" dirty="0">
                <a:solidFill>
                  <a:srgbClr val="33423A"/>
                </a:solidFill>
                <a:latin typeface="Calibri" pitchFamily="34" charset="0"/>
                <a:ea typeface="Calibri" pitchFamily="34" charset="-122"/>
                <a:cs typeface="Calibri" pitchFamily="34" charset="-120"/>
              </a:rPr>
              <a:t>Oléiculture en modernisation, avec des marges de progrès agronomiques nettes.</a:t>
            </a:r>
            <a:endParaRPr lang="en-US" sz="1150" dirty="0"/>
          </a:p>
        </p:txBody>
      </p:sp>
      <p:sp>
        <p:nvSpPr>
          <p:cNvPr id="14" name="Shape 10"/>
          <p:cNvSpPr/>
          <p:nvPr/>
        </p:nvSpPr>
        <p:spPr>
          <a:xfrm>
            <a:off x="8124749" y="1783080"/>
            <a:ext cx="3472586" cy="4069080"/>
          </a:xfrm>
          <a:prstGeom prst="roundRect">
            <a:avLst>
              <a:gd name="adj" fmla="val 2633"/>
            </a:avLst>
          </a:prstGeom>
          <a:solidFill>
            <a:srgbClr val="F1F4EF"/>
          </a:solidFill>
          <a:ln w="9525">
            <a:solidFill>
              <a:srgbClr val="DCE4DA"/>
            </a:solidFill>
            <a:prstDash val="solid"/>
          </a:ln>
        </p:spPr>
      </p:sp>
      <p:pic>
        <p:nvPicPr>
          <p:cNvPr id="15" name="Image 2" descr="preencoded.png">    </p:cNvPr>
          <p:cNvPicPr>
            <a:picLocks noChangeAspect="1"/>
          </p:cNvPicPr>
          <p:nvPr/>
        </p:nvPicPr>
        <p:blipFill>
          <a:blip r:embed="rId3"/>
          <a:stretch>
            <a:fillRect/>
          </a:stretch>
        </p:blipFill>
        <p:spPr>
          <a:xfrm>
            <a:off x="8124749" y="1783080"/>
            <a:ext cx="3472586" cy="1691640"/>
          </a:xfrm>
          <a:prstGeom prst="rect">
            <a:avLst/>
          </a:prstGeom>
        </p:spPr>
      </p:pic>
      <p:sp>
        <p:nvSpPr>
          <p:cNvPr id="16" name="Text 11"/>
          <p:cNvSpPr txBox="1"/>
          <p:nvPr/>
        </p:nvSpPr>
        <p:spPr>
          <a:xfrm>
            <a:off x="8325917" y="3639312"/>
            <a:ext cx="3070250" cy="384048"/>
          </a:xfrm>
          <a:prstGeom prst="rect">
            <a:avLst/>
          </a:prstGeom>
          <a:noFill/>
          <a:ln/>
        </p:spPr>
        <p:txBody>
          <a:bodyPr wrap="square" lIns="0" tIns="0" rIns="0" bIns="0" rtlCol="0" anchor="ctr"/>
          <a:lstStyle/>
          <a:p>
            <a:pPr algn="l" indent="0" marL="0">
              <a:buNone/>
            </a:pPr>
            <a:r>
              <a:rPr lang="en-US" sz="1500" b="1" dirty="0">
                <a:solidFill>
                  <a:srgbClr val="1F5C3A"/>
                </a:solidFill>
                <a:latin typeface="Cambria" pitchFamily="34" charset="0"/>
                <a:ea typeface="Cambria" pitchFamily="34" charset="-122"/>
                <a:cs typeface="Cambria" pitchFamily="34" charset="-120"/>
              </a:rPr>
              <a:t>Drâa-Tafilalet</a:t>
            </a:r>
            <a:endParaRPr lang="en-US" sz="1500" dirty="0"/>
          </a:p>
        </p:txBody>
      </p:sp>
      <p:sp>
        <p:nvSpPr>
          <p:cNvPr id="17" name="Text 12"/>
          <p:cNvSpPr txBox="1"/>
          <p:nvPr/>
        </p:nvSpPr>
        <p:spPr>
          <a:xfrm>
            <a:off x="8325917" y="4041648"/>
            <a:ext cx="3070250" cy="329184"/>
          </a:xfrm>
          <a:prstGeom prst="rect">
            <a:avLst/>
          </a:prstGeom>
          <a:noFill/>
          <a:ln/>
        </p:spPr>
        <p:txBody>
          <a:bodyPr wrap="square" lIns="0" tIns="0" rIns="0" bIns="0" rtlCol="0" anchor="ctr"/>
          <a:lstStyle/>
          <a:p>
            <a:pPr algn="l" indent="0" marL="0">
              <a:buNone/>
            </a:pPr>
            <a:r>
              <a:rPr lang="en-US" sz="1250" b="1" dirty="0">
                <a:solidFill>
                  <a:srgbClr val="A97C12"/>
                </a:solidFill>
                <a:latin typeface="Calibri" pitchFamily="34" charset="0"/>
                <a:ea typeface="Calibri" pitchFamily="34" charset="-122"/>
                <a:cs typeface="Calibri" pitchFamily="34" charset="-120"/>
              </a:rPr>
              <a:t>Palmier dattier et arganier</a:t>
            </a:r>
            <a:endParaRPr lang="en-US" sz="1250" dirty="0"/>
          </a:p>
        </p:txBody>
      </p:sp>
      <p:sp>
        <p:nvSpPr>
          <p:cNvPr id="18" name="Text 13"/>
          <p:cNvSpPr txBox="1"/>
          <p:nvPr/>
        </p:nvSpPr>
        <p:spPr>
          <a:xfrm>
            <a:off x="8325917" y="4407408"/>
            <a:ext cx="3070250" cy="1280160"/>
          </a:xfrm>
          <a:prstGeom prst="rect">
            <a:avLst/>
          </a:prstGeom>
          <a:noFill/>
          <a:ln/>
        </p:spPr>
        <p:txBody>
          <a:bodyPr wrap="square" lIns="0" tIns="0" rIns="0" bIns="0" rtlCol="0" anchor="t"/>
          <a:lstStyle/>
          <a:p>
            <a:pPr algn="l" marL="342900" indent="-342900">
              <a:lnSpc>
                <a:spcPct val="116000"/>
              </a:lnSpc>
              <a:spcAft>
                <a:spcPts val="700"/>
              </a:spcAft>
              <a:buSzPct val="100000"/>
              <a:buChar char="•"/>
            </a:pPr>
            <a:r>
              <a:rPr lang="en-US" sz="1150" dirty="0">
                <a:solidFill>
                  <a:srgbClr val="33423A"/>
                </a:solidFill>
                <a:latin typeface="Calibri" pitchFamily="34" charset="0"/>
                <a:ea typeface="Calibri" pitchFamily="34" charset="-122"/>
                <a:cs typeface="Calibri" pitchFamily="34" charset="-120"/>
              </a:rPr>
              <a:t>Oasis en situation de stress hydrique structurel, moins de 100 mm de pluie par an.</a:t>
            </a:r>
            <a:endParaRPr lang="en-US" sz="1150" dirty="0"/>
          </a:p>
          <a:p>
            <a:pPr algn="l" marL="342900" indent="-342900">
              <a:lnSpc>
                <a:spcPct val="116000"/>
              </a:lnSpc>
              <a:spcAft>
                <a:spcPts val="700"/>
              </a:spcAft>
              <a:buSzPct val="100000"/>
              <a:buChar char="•"/>
            </a:pPr>
            <a:r>
              <a:rPr lang="en-US" sz="1150" dirty="0">
                <a:solidFill>
                  <a:srgbClr val="33423A"/>
                </a:solidFill>
                <a:latin typeface="Calibri" pitchFamily="34" charset="0"/>
                <a:ea typeface="Calibri" pitchFamily="34" charset="-122"/>
                <a:cs typeface="Calibri" pitchFamily="34" charset="-120"/>
              </a:rPr>
              <a:t>Enjeu de préservation autant que de rendement : lutte contre l'ensablement.</a:t>
            </a:r>
            <a:endParaRPr lang="en-US" sz="1150" dirty="0"/>
          </a:p>
          <a:p>
            <a:pPr algn="l" marL="342900" indent="-342900">
              <a:lnSpc>
                <a:spcPct val="116000"/>
              </a:lnSpc>
              <a:spcAft>
                <a:spcPts val="700"/>
              </a:spcAft>
              <a:buSzPct val="100000"/>
              <a:buChar char="•"/>
            </a:pPr>
            <a:r>
              <a:rPr lang="en-US" sz="1150" dirty="0">
                <a:solidFill>
                  <a:srgbClr val="33423A"/>
                </a:solidFill>
                <a:latin typeface="Calibri" pitchFamily="34" charset="0"/>
                <a:ea typeface="Calibri" pitchFamily="34" charset="-122"/>
                <a:cs typeface="Calibri" pitchFamily="34" charset="-120"/>
              </a:rPr>
              <a:t>Filières à forte valeur unitaire — datte de bouche, huile d'argan.</a:t>
            </a:r>
            <a:endParaRPr lang="en-US" sz="1150" dirty="0"/>
          </a:p>
        </p:txBody>
      </p:sp>
      <p:sp>
        <p:nvSpPr>
          <p:cNvPr id="19" name="Text 14"/>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B7C72">
                    <a:alpha val="80000"/>
                  </a:srgbClr>
                </a:solidFill>
                <a:latin typeface="Calibri" pitchFamily="34" charset="0"/>
                <a:ea typeface="Calibri" pitchFamily="34" charset="-122"/>
                <a:cs typeface="Calibri" pitchFamily="34" charset="-120"/>
              </a:rPr>
              <a:t>Green Solutions · Dossier marché Maroc</a:t>
            </a:r>
            <a:endParaRPr lang="en-US" sz="950" dirty="0"/>
          </a:p>
        </p:txBody>
      </p:sp>
      <p:sp>
        <p:nvSpPr>
          <p:cNvPr id="20" name="Text 15"/>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B7C72">
                    <a:alpha val="80000"/>
                  </a:srgbClr>
                </a:solidFill>
                <a:latin typeface="Calibri" pitchFamily="34" charset="0"/>
                <a:ea typeface="Calibri" pitchFamily="34" charset="-122"/>
                <a:cs typeface="Calibri" pitchFamily="34" charset="-120"/>
              </a:rPr>
              <a:t>12</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E3B23C"/>
                </a:solidFill>
                <a:latin typeface="Calibri" pitchFamily="34" charset="0"/>
                <a:ea typeface="Calibri" pitchFamily="34" charset="-122"/>
                <a:cs typeface="Calibri" pitchFamily="34" charset="-120"/>
              </a:rPr>
              <a:t>COMMENT NOUS PROCÉDONS</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123324"/>
                </a:solidFill>
                <a:latin typeface="Cambria" pitchFamily="34" charset="0"/>
                <a:ea typeface="Cambria" pitchFamily="34" charset="-122"/>
                <a:cs typeface="Cambria" pitchFamily="34" charset="-120"/>
              </a:rPr>
              <a:t>Un déploiement par étapes, mesuré à chaque palier</a:t>
            </a:r>
            <a:endParaRPr lang="en-US" sz="3000" dirty="0"/>
          </a:p>
        </p:txBody>
      </p:sp>
      <p:sp>
        <p:nvSpPr>
          <p:cNvPr id="4" name="Shape 2"/>
          <p:cNvSpPr/>
          <p:nvPr/>
        </p:nvSpPr>
        <p:spPr>
          <a:xfrm>
            <a:off x="594360" y="1874520"/>
            <a:ext cx="2545004" cy="2834640"/>
          </a:xfrm>
          <a:prstGeom prst="roundRect">
            <a:avLst>
              <a:gd name="adj" fmla="val 3593"/>
            </a:avLst>
          </a:prstGeom>
          <a:solidFill>
            <a:srgbClr val="F1F4EF"/>
          </a:solidFill>
          <a:ln w="9525">
            <a:solidFill>
              <a:srgbClr val="DCE4DA"/>
            </a:solidFill>
            <a:prstDash val="solid"/>
          </a:ln>
        </p:spPr>
      </p:sp>
      <p:sp>
        <p:nvSpPr>
          <p:cNvPr id="5" name="Shape 3"/>
          <p:cNvSpPr/>
          <p:nvPr/>
        </p:nvSpPr>
        <p:spPr>
          <a:xfrm>
            <a:off x="822960" y="2103120"/>
            <a:ext cx="566928" cy="566928"/>
          </a:xfrm>
          <a:prstGeom prst="ellipse">
            <a:avLst/>
          </a:prstGeom>
          <a:solidFill>
            <a:srgbClr val="1F5C3A"/>
          </a:solidFill>
          <a:ln/>
        </p:spPr>
      </p:sp>
      <p:sp>
        <p:nvSpPr>
          <p:cNvPr id="6" name="Text 4"/>
          <p:cNvSpPr txBox="1"/>
          <p:nvPr/>
        </p:nvSpPr>
        <p:spPr>
          <a:xfrm>
            <a:off x="822960"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7" name="Text 5"/>
          <p:cNvSpPr txBox="1"/>
          <p:nvPr/>
        </p:nvSpPr>
        <p:spPr>
          <a:xfrm>
            <a:off x="822960" y="2788920"/>
            <a:ext cx="2087804" cy="457200"/>
          </a:xfrm>
          <a:prstGeom prst="rect">
            <a:avLst/>
          </a:prstGeom>
          <a:noFill/>
          <a:ln/>
        </p:spPr>
        <p:txBody>
          <a:bodyPr wrap="square" lIns="0" tIns="0" rIns="0" bIns="0" rtlCol="0" anchor="ctr"/>
          <a:lstStyle/>
          <a:p>
            <a:pPr algn="l" indent="0" marL="0">
              <a:buNone/>
            </a:pPr>
            <a:r>
              <a:rPr lang="en-US" sz="1400" b="1" dirty="0">
                <a:solidFill>
                  <a:srgbClr val="1F5C3A"/>
                </a:solidFill>
                <a:latin typeface="Cambria" pitchFamily="34" charset="0"/>
                <a:ea typeface="Cambria" pitchFamily="34" charset="-122"/>
                <a:cs typeface="Cambria" pitchFamily="34" charset="-120"/>
              </a:rPr>
              <a:t>Diagnostic</a:t>
            </a:r>
            <a:endParaRPr lang="en-US" sz="1400" dirty="0"/>
          </a:p>
        </p:txBody>
      </p:sp>
      <p:sp>
        <p:nvSpPr>
          <p:cNvPr id="8" name="Text 6"/>
          <p:cNvSpPr txBox="1"/>
          <p:nvPr/>
        </p:nvSpPr>
        <p:spPr>
          <a:xfrm>
            <a:off x="822960"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3423A"/>
                </a:solidFill>
                <a:latin typeface="Calibri" pitchFamily="34" charset="0"/>
                <a:ea typeface="Calibri" pitchFamily="34" charset="-122"/>
                <a:cs typeface="Calibri" pitchFamily="34" charset="-120"/>
              </a:rPr>
              <a:t>Analyse du sol, du mode d'irrigation et de la culture. Aucun engagement à ce stade.</a:t>
            </a:r>
            <a:endParaRPr lang="en-US" sz="1200" dirty="0"/>
          </a:p>
        </p:txBody>
      </p:sp>
      <p:sp>
        <p:nvSpPr>
          <p:cNvPr id="9" name="Shape 7"/>
          <p:cNvSpPr/>
          <p:nvPr/>
        </p:nvSpPr>
        <p:spPr>
          <a:xfrm>
            <a:off x="3413684" y="1874520"/>
            <a:ext cx="2545004" cy="2834640"/>
          </a:xfrm>
          <a:prstGeom prst="roundRect">
            <a:avLst>
              <a:gd name="adj" fmla="val 3593"/>
            </a:avLst>
          </a:prstGeom>
          <a:solidFill>
            <a:srgbClr val="F1F4EF"/>
          </a:solidFill>
          <a:ln w="9525">
            <a:solidFill>
              <a:srgbClr val="DCE4DA"/>
            </a:solidFill>
            <a:prstDash val="solid"/>
          </a:ln>
        </p:spPr>
      </p:sp>
      <p:sp>
        <p:nvSpPr>
          <p:cNvPr id="10" name="Shape 8"/>
          <p:cNvSpPr/>
          <p:nvPr/>
        </p:nvSpPr>
        <p:spPr>
          <a:xfrm>
            <a:off x="3642284" y="2103120"/>
            <a:ext cx="566928" cy="566928"/>
          </a:xfrm>
          <a:prstGeom prst="ellipse">
            <a:avLst/>
          </a:prstGeom>
          <a:solidFill>
            <a:srgbClr val="1F5C3A"/>
          </a:solidFill>
          <a:ln/>
        </p:spPr>
      </p:sp>
      <p:sp>
        <p:nvSpPr>
          <p:cNvPr id="11" name="Text 9"/>
          <p:cNvSpPr txBox="1"/>
          <p:nvPr/>
        </p:nvSpPr>
        <p:spPr>
          <a:xfrm>
            <a:off x="3642284"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2" name="Text 10"/>
          <p:cNvSpPr txBox="1"/>
          <p:nvPr/>
        </p:nvSpPr>
        <p:spPr>
          <a:xfrm>
            <a:off x="3642284" y="2788920"/>
            <a:ext cx="2087804" cy="457200"/>
          </a:xfrm>
          <a:prstGeom prst="rect">
            <a:avLst/>
          </a:prstGeom>
          <a:noFill/>
          <a:ln/>
        </p:spPr>
        <p:txBody>
          <a:bodyPr wrap="square" lIns="0" tIns="0" rIns="0" bIns="0" rtlCol="0" anchor="ctr"/>
          <a:lstStyle/>
          <a:p>
            <a:pPr algn="l" indent="0" marL="0">
              <a:buNone/>
            </a:pPr>
            <a:r>
              <a:rPr lang="en-US" sz="1400" b="1" dirty="0">
                <a:solidFill>
                  <a:srgbClr val="1F5C3A"/>
                </a:solidFill>
                <a:latin typeface="Cambria" pitchFamily="34" charset="0"/>
                <a:ea typeface="Cambria" pitchFamily="34" charset="-122"/>
                <a:cs typeface="Cambria" pitchFamily="34" charset="-120"/>
              </a:rPr>
              <a:t>Parcelle témoin</a:t>
            </a:r>
            <a:endParaRPr lang="en-US" sz="1400" dirty="0"/>
          </a:p>
        </p:txBody>
      </p:sp>
      <p:sp>
        <p:nvSpPr>
          <p:cNvPr id="13" name="Text 11"/>
          <p:cNvSpPr txBox="1"/>
          <p:nvPr/>
        </p:nvSpPr>
        <p:spPr>
          <a:xfrm>
            <a:off x="3642284"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3423A"/>
                </a:solidFill>
                <a:latin typeface="Calibri" pitchFamily="34" charset="0"/>
                <a:ea typeface="Calibri" pitchFamily="34" charset="-122"/>
                <a:cs typeface="Calibri" pitchFamily="34" charset="-120"/>
              </a:rPr>
              <a:t>Un essai comparatif sur une parcelle, avec parcelle témoin conduite à l'identique.</a:t>
            </a:r>
            <a:endParaRPr lang="en-US" sz="1200" dirty="0"/>
          </a:p>
        </p:txBody>
      </p:sp>
      <p:sp>
        <p:nvSpPr>
          <p:cNvPr id="14" name="Shape 12"/>
          <p:cNvSpPr/>
          <p:nvPr/>
        </p:nvSpPr>
        <p:spPr>
          <a:xfrm>
            <a:off x="6233008" y="1874520"/>
            <a:ext cx="2545004" cy="2834640"/>
          </a:xfrm>
          <a:prstGeom prst="roundRect">
            <a:avLst>
              <a:gd name="adj" fmla="val 3593"/>
            </a:avLst>
          </a:prstGeom>
          <a:solidFill>
            <a:srgbClr val="F1F4EF"/>
          </a:solidFill>
          <a:ln w="9525">
            <a:solidFill>
              <a:srgbClr val="DCE4DA"/>
            </a:solidFill>
            <a:prstDash val="solid"/>
          </a:ln>
        </p:spPr>
      </p:sp>
      <p:sp>
        <p:nvSpPr>
          <p:cNvPr id="15" name="Shape 13"/>
          <p:cNvSpPr/>
          <p:nvPr/>
        </p:nvSpPr>
        <p:spPr>
          <a:xfrm>
            <a:off x="6461608" y="2103120"/>
            <a:ext cx="566928" cy="566928"/>
          </a:xfrm>
          <a:prstGeom prst="ellipse">
            <a:avLst/>
          </a:prstGeom>
          <a:solidFill>
            <a:srgbClr val="1F5C3A"/>
          </a:solidFill>
          <a:ln/>
        </p:spPr>
      </p:sp>
      <p:sp>
        <p:nvSpPr>
          <p:cNvPr id="16" name="Text 14"/>
          <p:cNvSpPr txBox="1"/>
          <p:nvPr/>
        </p:nvSpPr>
        <p:spPr>
          <a:xfrm>
            <a:off x="6461608"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17" name="Text 15"/>
          <p:cNvSpPr txBox="1"/>
          <p:nvPr/>
        </p:nvSpPr>
        <p:spPr>
          <a:xfrm>
            <a:off x="6461608" y="2788920"/>
            <a:ext cx="2087804" cy="457200"/>
          </a:xfrm>
          <a:prstGeom prst="rect">
            <a:avLst/>
          </a:prstGeom>
          <a:noFill/>
          <a:ln/>
        </p:spPr>
        <p:txBody>
          <a:bodyPr wrap="square" lIns="0" tIns="0" rIns="0" bIns="0" rtlCol="0" anchor="ctr"/>
          <a:lstStyle/>
          <a:p>
            <a:pPr algn="l" indent="0" marL="0">
              <a:buNone/>
            </a:pPr>
            <a:r>
              <a:rPr lang="en-US" sz="1400" b="1" dirty="0">
                <a:solidFill>
                  <a:srgbClr val="1F5C3A"/>
                </a:solidFill>
                <a:latin typeface="Cambria" pitchFamily="34" charset="0"/>
                <a:ea typeface="Cambria" pitchFamily="34" charset="-122"/>
                <a:cs typeface="Cambria" pitchFamily="34" charset="-120"/>
              </a:rPr>
              <a:t>Mesure</a:t>
            </a:r>
            <a:endParaRPr lang="en-US" sz="1400" dirty="0"/>
          </a:p>
        </p:txBody>
      </p:sp>
      <p:sp>
        <p:nvSpPr>
          <p:cNvPr id="18" name="Text 16"/>
          <p:cNvSpPr txBox="1"/>
          <p:nvPr/>
        </p:nvSpPr>
        <p:spPr>
          <a:xfrm>
            <a:off x="6461608"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3423A"/>
                </a:solidFill>
                <a:latin typeface="Calibri" pitchFamily="34" charset="0"/>
                <a:ea typeface="Calibri" pitchFamily="34" charset="-122"/>
                <a:cs typeface="Calibri" pitchFamily="34" charset="-120"/>
              </a:rPr>
              <a:t>Relevés de consommation et de rendement sur un cycle cultural complet.</a:t>
            </a:r>
            <a:endParaRPr lang="en-US" sz="1200" dirty="0"/>
          </a:p>
        </p:txBody>
      </p:sp>
      <p:sp>
        <p:nvSpPr>
          <p:cNvPr id="19" name="Shape 17"/>
          <p:cNvSpPr/>
          <p:nvPr/>
        </p:nvSpPr>
        <p:spPr>
          <a:xfrm>
            <a:off x="9052331" y="1874520"/>
            <a:ext cx="2545004" cy="2834640"/>
          </a:xfrm>
          <a:prstGeom prst="roundRect">
            <a:avLst>
              <a:gd name="adj" fmla="val 3593"/>
            </a:avLst>
          </a:prstGeom>
          <a:solidFill>
            <a:srgbClr val="F1F4EF"/>
          </a:solidFill>
          <a:ln w="9525">
            <a:solidFill>
              <a:srgbClr val="DCE4DA"/>
            </a:solidFill>
            <a:prstDash val="solid"/>
          </a:ln>
        </p:spPr>
      </p:sp>
      <p:sp>
        <p:nvSpPr>
          <p:cNvPr id="20" name="Shape 18"/>
          <p:cNvSpPr/>
          <p:nvPr/>
        </p:nvSpPr>
        <p:spPr>
          <a:xfrm>
            <a:off x="9280931" y="2103120"/>
            <a:ext cx="566928" cy="566928"/>
          </a:xfrm>
          <a:prstGeom prst="ellipse">
            <a:avLst/>
          </a:prstGeom>
          <a:solidFill>
            <a:srgbClr val="1F5C3A"/>
          </a:solidFill>
          <a:ln/>
        </p:spPr>
      </p:sp>
      <p:sp>
        <p:nvSpPr>
          <p:cNvPr id="21" name="Text 19"/>
          <p:cNvSpPr txBox="1"/>
          <p:nvPr/>
        </p:nvSpPr>
        <p:spPr>
          <a:xfrm>
            <a:off x="9280931"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4</a:t>
            </a:r>
            <a:endParaRPr lang="en-US" sz="1600" dirty="0"/>
          </a:p>
        </p:txBody>
      </p:sp>
      <p:sp>
        <p:nvSpPr>
          <p:cNvPr id="22" name="Text 20"/>
          <p:cNvSpPr txBox="1"/>
          <p:nvPr/>
        </p:nvSpPr>
        <p:spPr>
          <a:xfrm>
            <a:off x="9280931" y="2788920"/>
            <a:ext cx="2087804" cy="457200"/>
          </a:xfrm>
          <a:prstGeom prst="rect">
            <a:avLst/>
          </a:prstGeom>
          <a:noFill/>
          <a:ln/>
        </p:spPr>
        <p:txBody>
          <a:bodyPr wrap="square" lIns="0" tIns="0" rIns="0" bIns="0" rtlCol="0" anchor="ctr"/>
          <a:lstStyle/>
          <a:p>
            <a:pPr algn="l" indent="0" marL="0">
              <a:buNone/>
            </a:pPr>
            <a:r>
              <a:rPr lang="en-US" sz="1400" b="1" dirty="0">
                <a:solidFill>
                  <a:srgbClr val="1F5C3A"/>
                </a:solidFill>
                <a:latin typeface="Cambria" pitchFamily="34" charset="0"/>
                <a:ea typeface="Cambria" pitchFamily="34" charset="-122"/>
                <a:cs typeface="Cambria" pitchFamily="34" charset="-120"/>
              </a:rPr>
              <a:t>Extension</a:t>
            </a:r>
            <a:endParaRPr lang="en-US" sz="1400" dirty="0"/>
          </a:p>
        </p:txBody>
      </p:sp>
      <p:sp>
        <p:nvSpPr>
          <p:cNvPr id="23" name="Text 21"/>
          <p:cNvSpPr txBox="1"/>
          <p:nvPr/>
        </p:nvSpPr>
        <p:spPr>
          <a:xfrm>
            <a:off x="9280931"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3423A"/>
                </a:solidFill>
                <a:latin typeface="Calibri" pitchFamily="34" charset="0"/>
                <a:ea typeface="Calibri" pitchFamily="34" charset="-122"/>
                <a:cs typeface="Calibri" pitchFamily="34" charset="-120"/>
              </a:rPr>
              <a:t>Généralisation progressive aux autres parcelles sur la base des résultats constatés.</a:t>
            </a:r>
            <a:endParaRPr lang="en-US" sz="1200" dirty="0"/>
          </a:p>
        </p:txBody>
      </p:sp>
      <p:sp>
        <p:nvSpPr>
          <p:cNvPr id="24" name="Text 22"/>
          <p:cNvSpPr txBox="1"/>
          <p:nvPr/>
        </p:nvSpPr>
        <p:spPr>
          <a:xfrm>
            <a:off x="594360" y="4983480"/>
            <a:ext cx="11002975" cy="822960"/>
          </a:xfrm>
          <a:prstGeom prst="rect">
            <a:avLst/>
          </a:prstGeom>
          <a:noFill/>
          <a:ln/>
        </p:spPr>
        <p:txBody>
          <a:bodyPr wrap="square" lIns="0" tIns="0" rIns="0" bIns="0" rtlCol="0" anchor="t"/>
          <a:lstStyle/>
          <a:p>
            <a:pPr algn="l" indent="0" marL="0">
              <a:lnSpc>
                <a:spcPct val="125000"/>
              </a:lnSpc>
              <a:buNone/>
            </a:pPr>
            <a:r>
              <a:rPr lang="en-US" sz="1250" i="1" dirty="0">
                <a:solidFill>
                  <a:srgbClr val="6B7C72"/>
                </a:solidFill>
                <a:latin typeface="Calibri" pitchFamily="34" charset="0"/>
                <a:ea typeface="Calibri" pitchFamily="34" charset="-122"/>
                <a:cs typeface="Calibri" pitchFamily="34" charset="-120"/>
              </a:rPr>
              <a:t>La règle de dosage est la même partout : 3 grammes par litre de terre utile. Ce qui change d'un terrain à l'autre, c'est le volume de terre effectivement exploré par les racines.</a:t>
            </a:r>
            <a:endParaRPr lang="en-US" sz="1250" dirty="0"/>
          </a:p>
        </p:txBody>
      </p:sp>
      <p:sp>
        <p:nvSpPr>
          <p:cNvPr id="25" name="Text 23"/>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B7C72">
                    <a:alpha val="80000"/>
                  </a:srgbClr>
                </a:solidFill>
                <a:latin typeface="Calibri" pitchFamily="34" charset="0"/>
                <a:ea typeface="Calibri" pitchFamily="34" charset="-122"/>
                <a:cs typeface="Calibri" pitchFamily="34" charset="-120"/>
              </a:rPr>
              <a:t>Green Solutions · Dossier marché Maroc</a:t>
            </a:r>
            <a:endParaRPr lang="en-US" sz="950" dirty="0"/>
          </a:p>
        </p:txBody>
      </p:sp>
      <p:sp>
        <p:nvSpPr>
          <p:cNvPr id="26" name="Text 24"/>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B7C72">
                    <a:alpha val="80000"/>
                  </a:srgbClr>
                </a:solidFill>
                <a:latin typeface="Calibri" pitchFamily="34" charset="0"/>
                <a:ea typeface="Calibri" pitchFamily="34" charset="-122"/>
                <a:cs typeface="Calibri" pitchFamily="34" charset="-120"/>
              </a:rPr>
              <a:t>13</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E3B23C"/>
                </a:solidFill>
                <a:latin typeface="Calibri" pitchFamily="34" charset="0"/>
                <a:ea typeface="Calibri" pitchFamily="34" charset="-122"/>
                <a:cs typeface="Calibri" pitchFamily="34" charset="-120"/>
              </a:rPr>
              <a:t>Travailler ensemble</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123324"/>
                </a:solidFill>
                <a:latin typeface="Cambria" pitchFamily="34" charset="0"/>
                <a:ea typeface="Cambria" pitchFamily="34" charset="-122"/>
                <a:cs typeface="Cambria" pitchFamily="34" charset="-120"/>
              </a:rPr>
              <a:t>Un partenaire local pour le Maroc</a:t>
            </a:r>
            <a:endParaRPr lang="en-US" sz="3000" dirty="0"/>
          </a:p>
        </p:txBody>
      </p:sp>
      <p:sp>
        <p:nvSpPr>
          <p:cNvPr id="4" name="Shape 2"/>
          <p:cNvSpPr/>
          <p:nvPr/>
        </p:nvSpPr>
        <p:spPr>
          <a:xfrm>
            <a:off x="594360" y="1874520"/>
            <a:ext cx="2545004" cy="2834640"/>
          </a:xfrm>
          <a:prstGeom prst="roundRect">
            <a:avLst>
              <a:gd name="adj" fmla="val 3593"/>
            </a:avLst>
          </a:prstGeom>
          <a:solidFill>
            <a:srgbClr val="F1F4EF"/>
          </a:solidFill>
          <a:ln w="9525">
            <a:solidFill>
              <a:srgbClr val="DCE4DA"/>
            </a:solidFill>
            <a:prstDash val="solid"/>
          </a:ln>
        </p:spPr>
      </p:sp>
      <p:sp>
        <p:nvSpPr>
          <p:cNvPr id="5" name="Shape 3"/>
          <p:cNvSpPr/>
          <p:nvPr/>
        </p:nvSpPr>
        <p:spPr>
          <a:xfrm>
            <a:off x="822960" y="2103120"/>
            <a:ext cx="566928" cy="566928"/>
          </a:xfrm>
          <a:prstGeom prst="ellipse">
            <a:avLst/>
          </a:prstGeom>
          <a:solidFill>
            <a:srgbClr val="1F5C3A"/>
          </a:solidFill>
          <a:ln/>
        </p:spPr>
      </p:sp>
      <p:sp>
        <p:nvSpPr>
          <p:cNvPr id="6" name="Text 4"/>
          <p:cNvSpPr txBox="1"/>
          <p:nvPr/>
        </p:nvSpPr>
        <p:spPr>
          <a:xfrm>
            <a:off x="822960"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7" name="Text 5"/>
          <p:cNvSpPr txBox="1"/>
          <p:nvPr/>
        </p:nvSpPr>
        <p:spPr>
          <a:xfrm>
            <a:off x="822960" y="2788920"/>
            <a:ext cx="2087804" cy="457200"/>
          </a:xfrm>
          <a:prstGeom prst="rect">
            <a:avLst/>
          </a:prstGeom>
          <a:noFill/>
          <a:ln/>
        </p:spPr>
        <p:txBody>
          <a:bodyPr wrap="square" lIns="0" tIns="0" rIns="0" bIns="0" rtlCol="0" anchor="ctr"/>
          <a:lstStyle/>
          <a:p>
            <a:pPr algn="l" indent="0" marL="0">
              <a:buNone/>
            </a:pPr>
            <a:r>
              <a:rPr lang="en-US" sz="1400" b="1" dirty="0">
                <a:solidFill>
                  <a:srgbClr val="1F5C3A"/>
                </a:solidFill>
                <a:latin typeface="Cambria" pitchFamily="34" charset="0"/>
                <a:ea typeface="Cambria" pitchFamily="34" charset="-122"/>
                <a:cs typeface="Cambria" pitchFamily="34" charset="-120"/>
              </a:rPr>
              <a:t>Distribution</a:t>
            </a:r>
            <a:endParaRPr lang="en-US" sz="1400" dirty="0"/>
          </a:p>
        </p:txBody>
      </p:sp>
      <p:sp>
        <p:nvSpPr>
          <p:cNvPr id="8" name="Text 6"/>
          <p:cNvSpPr txBox="1"/>
          <p:nvPr/>
        </p:nvSpPr>
        <p:spPr>
          <a:xfrm>
            <a:off x="822960"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3423A"/>
                </a:solidFill>
                <a:latin typeface="Calibri" pitchFamily="34" charset="0"/>
                <a:ea typeface="Calibri" pitchFamily="34" charset="-122"/>
                <a:cs typeface="Calibri" pitchFamily="34" charset="-120"/>
              </a:rPr>
              <a:t>Exclusivité territoriale et stock de lancement pour la première saison commerciale.</a:t>
            </a:r>
            <a:endParaRPr lang="en-US" sz="1200" dirty="0"/>
          </a:p>
        </p:txBody>
      </p:sp>
      <p:sp>
        <p:nvSpPr>
          <p:cNvPr id="9" name="Shape 7"/>
          <p:cNvSpPr/>
          <p:nvPr/>
        </p:nvSpPr>
        <p:spPr>
          <a:xfrm>
            <a:off x="3413684" y="1874520"/>
            <a:ext cx="2545004" cy="2834640"/>
          </a:xfrm>
          <a:prstGeom prst="roundRect">
            <a:avLst>
              <a:gd name="adj" fmla="val 3593"/>
            </a:avLst>
          </a:prstGeom>
          <a:solidFill>
            <a:srgbClr val="F1F4EF"/>
          </a:solidFill>
          <a:ln w="9525">
            <a:solidFill>
              <a:srgbClr val="DCE4DA"/>
            </a:solidFill>
            <a:prstDash val="solid"/>
          </a:ln>
        </p:spPr>
      </p:sp>
      <p:sp>
        <p:nvSpPr>
          <p:cNvPr id="10" name="Shape 8"/>
          <p:cNvSpPr/>
          <p:nvPr/>
        </p:nvSpPr>
        <p:spPr>
          <a:xfrm>
            <a:off x="3642284" y="2103120"/>
            <a:ext cx="566928" cy="566928"/>
          </a:xfrm>
          <a:prstGeom prst="ellipse">
            <a:avLst/>
          </a:prstGeom>
          <a:solidFill>
            <a:srgbClr val="1F5C3A"/>
          </a:solidFill>
          <a:ln/>
        </p:spPr>
      </p:sp>
      <p:sp>
        <p:nvSpPr>
          <p:cNvPr id="11" name="Text 9"/>
          <p:cNvSpPr txBox="1"/>
          <p:nvPr/>
        </p:nvSpPr>
        <p:spPr>
          <a:xfrm>
            <a:off x="3642284"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2" name="Text 10"/>
          <p:cNvSpPr txBox="1"/>
          <p:nvPr/>
        </p:nvSpPr>
        <p:spPr>
          <a:xfrm>
            <a:off x="3642284" y="2788920"/>
            <a:ext cx="2087804" cy="457200"/>
          </a:xfrm>
          <a:prstGeom prst="rect">
            <a:avLst/>
          </a:prstGeom>
          <a:noFill/>
          <a:ln/>
        </p:spPr>
        <p:txBody>
          <a:bodyPr wrap="square" lIns="0" tIns="0" rIns="0" bIns="0" rtlCol="0" anchor="ctr"/>
          <a:lstStyle/>
          <a:p>
            <a:pPr algn="l" indent="0" marL="0">
              <a:buNone/>
            </a:pPr>
            <a:r>
              <a:rPr lang="en-US" sz="1400" b="1" dirty="0">
                <a:solidFill>
                  <a:srgbClr val="1F5C3A"/>
                </a:solidFill>
                <a:latin typeface="Cambria" pitchFamily="34" charset="0"/>
                <a:ea typeface="Cambria" pitchFamily="34" charset="-122"/>
                <a:cs typeface="Cambria" pitchFamily="34" charset="-120"/>
              </a:rPr>
              <a:t>Formation</a:t>
            </a:r>
            <a:endParaRPr lang="en-US" sz="1400" dirty="0"/>
          </a:p>
        </p:txBody>
      </p:sp>
      <p:sp>
        <p:nvSpPr>
          <p:cNvPr id="13" name="Text 11"/>
          <p:cNvSpPr txBox="1"/>
          <p:nvPr/>
        </p:nvSpPr>
        <p:spPr>
          <a:xfrm>
            <a:off x="3642284"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3423A"/>
                </a:solidFill>
                <a:latin typeface="Calibri" pitchFamily="34" charset="0"/>
                <a:ea typeface="Calibri" pitchFamily="34" charset="-122"/>
                <a:cs typeface="Calibri" pitchFamily="34" charset="-120"/>
              </a:rPr>
              <a:t>Formation technique des équipes, protocoles de dosage et mises à jour à chaque saison.</a:t>
            </a:r>
            <a:endParaRPr lang="en-US" sz="1200" dirty="0"/>
          </a:p>
        </p:txBody>
      </p:sp>
      <p:sp>
        <p:nvSpPr>
          <p:cNvPr id="14" name="Shape 12"/>
          <p:cNvSpPr/>
          <p:nvPr/>
        </p:nvSpPr>
        <p:spPr>
          <a:xfrm>
            <a:off x="6233008" y="1874520"/>
            <a:ext cx="2545004" cy="2834640"/>
          </a:xfrm>
          <a:prstGeom prst="roundRect">
            <a:avLst>
              <a:gd name="adj" fmla="val 3593"/>
            </a:avLst>
          </a:prstGeom>
          <a:solidFill>
            <a:srgbClr val="F1F4EF"/>
          </a:solidFill>
          <a:ln w="9525">
            <a:solidFill>
              <a:srgbClr val="DCE4DA"/>
            </a:solidFill>
            <a:prstDash val="solid"/>
          </a:ln>
        </p:spPr>
      </p:sp>
      <p:sp>
        <p:nvSpPr>
          <p:cNvPr id="15" name="Shape 13"/>
          <p:cNvSpPr/>
          <p:nvPr/>
        </p:nvSpPr>
        <p:spPr>
          <a:xfrm>
            <a:off x="6461608" y="2103120"/>
            <a:ext cx="566928" cy="566928"/>
          </a:xfrm>
          <a:prstGeom prst="ellipse">
            <a:avLst/>
          </a:prstGeom>
          <a:solidFill>
            <a:srgbClr val="1F5C3A"/>
          </a:solidFill>
          <a:ln/>
        </p:spPr>
      </p:sp>
      <p:sp>
        <p:nvSpPr>
          <p:cNvPr id="16" name="Text 14"/>
          <p:cNvSpPr txBox="1"/>
          <p:nvPr/>
        </p:nvSpPr>
        <p:spPr>
          <a:xfrm>
            <a:off x="6461608"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17" name="Text 15"/>
          <p:cNvSpPr txBox="1"/>
          <p:nvPr/>
        </p:nvSpPr>
        <p:spPr>
          <a:xfrm>
            <a:off x="6461608" y="2788920"/>
            <a:ext cx="2087804" cy="457200"/>
          </a:xfrm>
          <a:prstGeom prst="rect">
            <a:avLst/>
          </a:prstGeom>
          <a:noFill/>
          <a:ln/>
        </p:spPr>
        <p:txBody>
          <a:bodyPr wrap="square" lIns="0" tIns="0" rIns="0" bIns="0" rtlCol="0" anchor="ctr"/>
          <a:lstStyle/>
          <a:p>
            <a:pPr algn="l" indent="0" marL="0">
              <a:buNone/>
            </a:pPr>
            <a:r>
              <a:rPr lang="en-US" sz="1400" b="1" dirty="0">
                <a:solidFill>
                  <a:srgbClr val="1F5C3A"/>
                </a:solidFill>
                <a:latin typeface="Cambria" pitchFamily="34" charset="0"/>
                <a:ea typeface="Cambria" pitchFamily="34" charset="-122"/>
                <a:cs typeface="Cambria" pitchFamily="34" charset="-120"/>
              </a:rPr>
              <a:t>Essais conjoints</a:t>
            </a:r>
            <a:endParaRPr lang="en-US" sz="1400" dirty="0"/>
          </a:p>
        </p:txBody>
      </p:sp>
      <p:sp>
        <p:nvSpPr>
          <p:cNvPr id="18" name="Text 16"/>
          <p:cNvSpPr txBox="1"/>
          <p:nvPr/>
        </p:nvSpPr>
        <p:spPr>
          <a:xfrm>
            <a:off x="6461608"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3423A"/>
                </a:solidFill>
                <a:latin typeface="Calibri" pitchFamily="34" charset="0"/>
                <a:ea typeface="Calibri" pitchFamily="34" charset="-122"/>
                <a:cs typeface="Calibri" pitchFamily="34" charset="-120"/>
              </a:rPr>
              <a:t>Parcelles de démonstration avec témoin, résultats partagés avec les producteurs.</a:t>
            </a:r>
            <a:endParaRPr lang="en-US" sz="1200" dirty="0"/>
          </a:p>
        </p:txBody>
      </p:sp>
      <p:sp>
        <p:nvSpPr>
          <p:cNvPr id="19" name="Shape 17"/>
          <p:cNvSpPr/>
          <p:nvPr/>
        </p:nvSpPr>
        <p:spPr>
          <a:xfrm>
            <a:off x="9052331" y="1874520"/>
            <a:ext cx="2545004" cy="2834640"/>
          </a:xfrm>
          <a:prstGeom prst="roundRect">
            <a:avLst>
              <a:gd name="adj" fmla="val 3593"/>
            </a:avLst>
          </a:prstGeom>
          <a:solidFill>
            <a:srgbClr val="F1F4EF"/>
          </a:solidFill>
          <a:ln w="9525">
            <a:solidFill>
              <a:srgbClr val="DCE4DA"/>
            </a:solidFill>
            <a:prstDash val="solid"/>
          </a:ln>
        </p:spPr>
      </p:sp>
      <p:sp>
        <p:nvSpPr>
          <p:cNvPr id="20" name="Shape 18"/>
          <p:cNvSpPr/>
          <p:nvPr/>
        </p:nvSpPr>
        <p:spPr>
          <a:xfrm>
            <a:off x="9280931" y="2103120"/>
            <a:ext cx="566928" cy="566928"/>
          </a:xfrm>
          <a:prstGeom prst="ellipse">
            <a:avLst/>
          </a:prstGeom>
          <a:solidFill>
            <a:srgbClr val="1F5C3A"/>
          </a:solidFill>
          <a:ln/>
        </p:spPr>
      </p:sp>
      <p:sp>
        <p:nvSpPr>
          <p:cNvPr id="21" name="Text 19"/>
          <p:cNvSpPr txBox="1"/>
          <p:nvPr/>
        </p:nvSpPr>
        <p:spPr>
          <a:xfrm>
            <a:off x="9280931"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4</a:t>
            </a:r>
            <a:endParaRPr lang="en-US" sz="1600" dirty="0"/>
          </a:p>
        </p:txBody>
      </p:sp>
      <p:sp>
        <p:nvSpPr>
          <p:cNvPr id="22" name="Text 20"/>
          <p:cNvSpPr txBox="1"/>
          <p:nvPr/>
        </p:nvSpPr>
        <p:spPr>
          <a:xfrm>
            <a:off x="9280931" y="2788920"/>
            <a:ext cx="2087804" cy="457200"/>
          </a:xfrm>
          <a:prstGeom prst="rect">
            <a:avLst/>
          </a:prstGeom>
          <a:noFill/>
          <a:ln/>
        </p:spPr>
        <p:txBody>
          <a:bodyPr wrap="square" lIns="0" tIns="0" rIns="0" bIns="0" rtlCol="0" anchor="ctr"/>
          <a:lstStyle/>
          <a:p>
            <a:pPr algn="l" indent="0" marL="0">
              <a:buNone/>
            </a:pPr>
            <a:r>
              <a:rPr lang="en-US" sz="1400" b="1" dirty="0">
                <a:solidFill>
                  <a:srgbClr val="1F5C3A"/>
                </a:solidFill>
                <a:latin typeface="Cambria" pitchFamily="34" charset="0"/>
                <a:ea typeface="Cambria" pitchFamily="34" charset="-122"/>
                <a:cs typeface="Cambria" pitchFamily="34" charset="-120"/>
              </a:rPr>
              <a:t>Institutions</a:t>
            </a:r>
            <a:endParaRPr lang="en-US" sz="1400" dirty="0"/>
          </a:p>
        </p:txBody>
      </p:sp>
      <p:sp>
        <p:nvSpPr>
          <p:cNvPr id="23" name="Text 21"/>
          <p:cNvSpPr txBox="1"/>
          <p:nvPr/>
        </p:nvSpPr>
        <p:spPr>
          <a:xfrm>
            <a:off x="9280931"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3423A"/>
                </a:solidFill>
                <a:latin typeface="Calibri" pitchFamily="34" charset="0"/>
                <a:ea typeface="Calibri" pitchFamily="34" charset="-122"/>
                <a:cs typeface="Calibri" pitchFamily="34" charset="-120"/>
              </a:rPr>
              <a:t>Dialogue avec le ministère de l'Agriculture et les programmes de sécurité alimentaire.</a:t>
            </a:r>
            <a:endParaRPr lang="en-US" sz="1200" dirty="0"/>
          </a:p>
        </p:txBody>
      </p:sp>
      <p:sp>
        <p:nvSpPr>
          <p:cNvPr id="24" name="Text 22"/>
          <p:cNvSpPr txBox="1"/>
          <p:nvPr/>
        </p:nvSpPr>
        <p:spPr>
          <a:xfrm>
            <a:off x="594360" y="4983480"/>
            <a:ext cx="11002975" cy="822960"/>
          </a:xfrm>
          <a:prstGeom prst="rect">
            <a:avLst/>
          </a:prstGeom>
          <a:noFill/>
          <a:ln/>
        </p:spPr>
        <p:txBody>
          <a:bodyPr wrap="square" lIns="0" tIns="0" rIns="0" bIns="0" rtlCol="0" anchor="t"/>
          <a:lstStyle/>
          <a:p>
            <a:pPr algn="l" indent="0" marL="0">
              <a:lnSpc>
                <a:spcPct val="125000"/>
              </a:lnSpc>
              <a:buNone/>
            </a:pPr>
            <a:r>
              <a:rPr lang="en-US" sz="1250" i="1" dirty="0">
                <a:solidFill>
                  <a:srgbClr val="6B7C72"/>
                </a:solidFill>
                <a:latin typeface="Calibri" pitchFamily="34" charset="0"/>
                <a:ea typeface="Calibri" pitchFamily="34" charset="-122"/>
                <a:cs typeface="Calibri" pitchFamily="34" charset="-120"/>
              </a:rPr>
              <a:t>Le cadre s'adapte au territoire : un importateur, un distributeur d'intrants ou un groupement de producteurs peut porter le partenariat.</a:t>
            </a:r>
            <a:endParaRPr lang="en-US" sz="1250" dirty="0"/>
          </a:p>
        </p:txBody>
      </p:sp>
      <p:sp>
        <p:nvSpPr>
          <p:cNvPr id="25" name="Text 23"/>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B7C72">
                    <a:alpha val="80000"/>
                  </a:srgbClr>
                </a:solidFill>
                <a:latin typeface="Calibri" pitchFamily="34" charset="0"/>
                <a:ea typeface="Calibri" pitchFamily="34" charset="-122"/>
                <a:cs typeface="Calibri" pitchFamily="34" charset="-120"/>
              </a:rPr>
              <a:t>Green Solutions · Dossier marché Maroc</a:t>
            </a:r>
            <a:endParaRPr lang="en-US" sz="950" dirty="0"/>
          </a:p>
        </p:txBody>
      </p:sp>
      <p:sp>
        <p:nvSpPr>
          <p:cNvPr id="26" name="Text 24"/>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B7C72">
                    <a:alpha val="80000"/>
                  </a:srgbClr>
                </a:solidFill>
                <a:latin typeface="Calibri" pitchFamily="34" charset="0"/>
                <a:ea typeface="Calibri" pitchFamily="34" charset="-122"/>
                <a:cs typeface="Calibri" pitchFamily="34" charset="-120"/>
              </a:rPr>
              <a:t>14</a:t>
            </a:r>
            <a:endParaRPr lang="en-US" sz="9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E3B23C"/>
                </a:solidFill>
                <a:latin typeface="Calibri" pitchFamily="34" charset="0"/>
                <a:ea typeface="Calibri" pitchFamily="34" charset="-122"/>
                <a:cs typeface="Calibri" pitchFamily="34" charset="-120"/>
              </a:rPr>
              <a:t>CE QU'IL FAUT ANTICIPER</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123324"/>
                </a:solidFill>
                <a:latin typeface="Cambria" pitchFamily="34" charset="0"/>
                <a:ea typeface="Cambria" pitchFamily="34" charset="-122"/>
                <a:cs typeface="Cambria" pitchFamily="34" charset="-120"/>
              </a:rPr>
              <a:t>Risques identifiés et réponses</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algn="l" indent="0" marL="0">
              <a:buNone/>
            </a:pPr>
            <a:r>
              <a:rPr lang="en-US" sz="1600" b="1" dirty="0">
                <a:solidFill>
                  <a:srgbClr val="1F5C3A"/>
                </a:solidFill>
                <a:latin typeface="Cambria" pitchFamily="34" charset="0"/>
                <a:ea typeface="Cambria" pitchFamily="34" charset="-122"/>
                <a:cs typeface="Cambria" pitchFamily="34" charset="-120"/>
              </a:rPr>
              <a:t>Risques</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3423A"/>
                </a:solidFill>
                <a:latin typeface="Calibri" pitchFamily="34" charset="0"/>
                <a:ea typeface="Calibri" pitchFamily="34" charset="-122"/>
                <a:cs typeface="Calibri" pitchFamily="34" charset="-120"/>
              </a:rPr>
              <a:t>Variabilité interannuelle de la pluviométrie : une campagne humide masque l'intérêt du produit.</a:t>
            </a:r>
            <a:endParaRPr lang="en-US" sz="1350" dirty="0"/>
          </a:p>
          <a:p>
            <a:pPr algn="l" marL="342900" indent="-342900">
              <a:lnSpc>
                <a:spcPct val="122000"/>
              </a:lnSpc>
              <a:spcAft>
                <a:spcPts val="1000"/>
              </a:spcAft>
              <a:buSzPct val="100000"/>
              <a:buChar char="•"/>
            </a:pPr>
            <a:r>
              <a:rPr lang="en-US" sz="1350" dirty="0">
                <a:solidFill>
                  <a:srgbClr val="33423A"/>
                </a:solidFill>
                <a:latin typeface="Calibri" pitchFamily="34" charset="0"/>
                <a:ea typeface="Calibri" pitchFamily="34" charset="-122"/>
                <a:cs typeface="Calibri" pitchFamily="34" charset="-120"/>
              </a:rPr>
              <a:t>Fragmentation du foncier : beaucoup de petites exploitations, décision d'achat dispersée.</a:t>
            </a:r>
            <a:endParaRPr lang="en-US" sz="1350" dirty="0"/>
          </a:p>
          <a:p>
            <a:pPr algn="l" marL="342900" indent="-342900">
              <a:lnSpc>
                <a:spcPct val="122000"/>
              </a:lnSpc>
              <a:spcAft>
                <a:spcPts val="1000"/>
              </a:spcAft>
              <a:buSzPct val="100000"/>
              <a:buChar char="•"/>
            </a:pPr>
            <a:r>
              <a:rPr lang="en-US" sz="1350" dirty="0">
                <a:solidFill>
                  <a:srgbClr val="33423A"/>
                </a:solidFill>
                <a:latin typeface="Calibri" pitchFamily="34" charset="0"/>
                <a:ea typeface="Calibri" pitchFamily="34" charset="-122"/>
                <a:cs typeface="Calibri" pitchFamily="34" charset="-120"/>
              </a:rPr>
              <a:t>Concurrence de solutions bas de gamme à base de sodium, qui ont laissé de mauvais souvenirs.</a:t>
            </a:r>
            <a:endParaRPr lang="en-US" sz="1350" dirty="0"/>
          </a:p>
          <a:p>
            <a:pPr algn="l" marL="342900" indent="-342900">
              <a:lnSpc>
                <a:spcPct val="122000"/>
              </a:lnSpc>
              <a:spcAft>
                <a:spcPts val="1000"/>
              </a:spcAft>
              <a:buSzPct val="100000"/>
              <a:buChar char="•"/>
            </a:pPr>
            <a:r>
              <a:rPr lang="en-US" sz="1350" dirty="0">
                <a:solidFill>
                  <a:srgbClr val="33423A"/>
                </a:solidFill>
                <a:latin typeface="Calibri" pitchFamily="34" charset="0"/>
                <a:ea typeface="Calibri" pitchFamily="34" charset="-122"/>
                <a:cs typeface="Calibri" pitchFamily="34" charset="-120"/>
              </a:rPr>
              <a:t>Trésorerie des exploitations après plusieurs campagnes déficitaires.</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algn="l" indent="0" marL="0">
              <a:buNone/>
            </a:pPr>
            <a:r>
              <a:rPr lang="en-US" sz="1600" b="1" dirty="0">
                <a:solidFill>
                  <a:srgbClr val="1F5C3A"/>
                </a:solidFill>
                <a:latin typeface="Cambria" pitchFamily="34" charset="0"/>
                <a:ea typeface="Cambria" pitchFamily="34" charset="-122"/>
                <a:cs typeface="Cambria" pitchFamily="34" charset="-120"/>
              </a:rPr>
              <a:t>Réponses</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3423A"/>
                </a:solidFill>
                <a:latin typeface="Calibri" pitchFamily="34" charset="0"/>
                <a:ea typeface="Calibri" pitchFamily="34" charset="-122"/>
                <a:cs typeface="Calibri" pitchFamily="34" charset="-120"/>
              </a:rPr>
              <a:t>Conduire l'essai sur un cycle complet avec parcelle témoin, pour objectiver le gain même en année favorable.</a:t>
            </a:r>
            <a:endParaRPr lang="en-US" sz="1350" dirty="0"/>
          </a:p>
          <a:p>
            <a:pPr algn="l" marL="342900" indent="-342900">
              <a:lnSpc>
                <a:spcPct val="122000"/>
              </a:lnSpc>
              <a:spcAft>
                <a:spcPts val="1000"/>
              </a:spcAft>
              <a:buSzPct val="100000"/>
              <a:buChar char="•"/>
            </a:pPr>
            <a:r>
              <a:rPr lang="en-US" sz="1350" dirty="0">
                <a:solidFill>
                  <a:srgbClr val="33423A"/>
                </a:solidFill>
                <a:latin typeface="Calibri" pitchFamily="34" charset="0"/>
                <a:ea typeface="Calibri" pitchFamily="34" charset="-122"/>
                <a:cs typeface="Calibri" pitchFamily="34" charset="-120"/>
              </a:rPr>
              <a:t>Passer par les coopératives et les groupements, plutôt que par l'exploitation individuelle.</a:t>
            </a:r>
            <a:endParaRPr lang="en-US" sz="1350" dirty="0"/>
          </a:p>
          <a:p>
            <a:pPr algn="l" marL="342900" indent="-342900">
              <a:lnSpc>
                <a:spcPct val="122000"/>
              </a:lnSpc>
              <a:spcAft>
                <a:spcPts val="1000"/>
              </a:spcAft>
              <a:buSzPct val="100000"/>
              <a:buChar char="•"/>
            </a:pPr>
            <a:r>
              <a:rPr lang="en-US" sz="1350" dirty="0">
                <a:solidFill>
                  <a:srgbClr val="33423A"/>
                </a:solidFill>
                <a:latin typeface="Calibri" pitchFamily="34" charset="0"/>
                <a:ea typeface="Calibri" pitchFamily="34" charset="-122"/>
                <a:cs typeface="Calibri" pitchFamily="34" charset="-120"/>
              </a:rPr>
              <a:t>Documenter la différence de formulation : potassium et non sodium, compatible cultures alimentaires.</a:t>
            </a:r>
            <a:endParaRPr lang="en-US" sz="1350" dirty="0"/>
          </a:p>
          <a:p>
            <a:pPr algn="l" marL="342900" indent="-342900">
              <a:lnSpc>
                <a:spcPct val="122000"/>
              </a:lnSpc>
              <a:spcAft>
                <a:spcPts val="1000"/>
              </a:spcAft>
              <a:buSzPct val="100000"/>
              <a:buChar char="•"/>
            </a:pPr>
            <a:r>
              <a:rPr lang="en-US" sz="1350" dirty="0">
                <a:solidFill>
                  <a:srgbClr val="33423A"/>
                </a:solidFill>
                <a:latin typeface="Calibri" pitchFamily="34" charset="0"/>
                <a:ea typeface="Calibri" pitchFamily="34" charset="-122"/>
                <a:cs typeface="Calibri" pitchFamily="34" charset="-120"/>
              </a:rPr>
              <a:t>Étaler l'engagement : la durée d'effet de 3 à 4 ans amortit le coût sur plusieurs campagnes.</a:t>
            </a:r>
            <a:endParaRPr lang="en-US" sz="1350" dirty="0"/>
          </a:p>
        </p:txBody>
      </p:sp>
      <p:sp>
        <p:nvSpPr>
          <p:cNvPr id="8" name="Shape 6"/>
          <p:cNvSpPr/>
          <p:nvPr/>
        </p:nvSpPr>
        <p:spPr>
          <a:xfrm>
            <a:off x="594360" y="4846320"/>
            <a:ext cx="11002975" cy="960120"/>
          </a:xfrm>
          <a:prstGeom prst="roundRect">
            <a:avLst>
              <a:gd name="adj" fmla="val 7619"/>
            </a:avLst>
          </a:prstGeom>
          <a:solidFill>
            <a:srgbClr val="F1F4EF"/>
          </a:solidFill>
          <a:ln w="9525">
            <a:solidFill>
              <a:srgbClr val="DCE4DA"/>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algn="l" indent="0" marL="0">
              <a:lnSpc>
                <a:spcPct val="118000"/>
              </a:lnSpc>
              <a:buNone/>
            </a:pPr>
            <a:r>
              <a:rPr lang="en-US" sz="1100" dirty="0">
                <a:solidFill>
                  <a:srgbClr val="6B7C72"/>
                </a:solidFill>
                <a:latin typeface="Calibri" pitchFamily="34" charset="0"/>
                <a:ea typeface="Calibri" pitchFamily="34" charset="-122"/>
                <a:cs typeface="Calibri" pitchFamily="34" charset="-120"/>
              </a:rPr>
              <a:t>Analyse acrylamide (laboratoire Polymex, ISO 9001, teneur inférieure à 3,0 µg/g), screening REACH / SVHC (SGS) et certificat SOHISCERT valable jusqu'au 4 septembre 2027 : disponibles sur demande.</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B7C72">
                    <a:alpha val="80000"/>
                  </a:srgbClr>
                </a:solidFill>
                <a:latin typeface="Calibri" pitchFamily="34" charset="0"/>
                <a:ea typeface="Calibri" pitchFamily="34" charset="-122"/>
                <a:cs typeface="Calibri" pitchFamily="34" charset="-120"/>
              </a:rPr>
              <a:t>Green Solutions · Dossier marché Maroc</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B7C72">
                    <a:alpha val="80000"/>
                  </a:srgbClr>
                </a:solidFill>
                <a:latin typeface="Calibri" pitchFamily="34" charset="0"/>
                <a:ea typeface="Calibri" pitchFamily="34" charset="-122"/>
                <a:cs typeface="Calibri" pitchFamily="34" charset="-120"/>
              </a:rPr>
              <a:t>15</a:t>
            </a:r>
            <a:endParaRPr lang="en-US" sz="9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E3B23C"/>
                </a:solidFill>
                <a:latin typeface="Calibri" pitchFamily="34" charset="0"/>
                <a:ea typeface="Calibri" pitchFamily="34" charset="-122"/>
                <a:cs typeface="Calibri" pitchFamily="34" charset="-120"/>
              </a:rPr>
              <a:t>Sources</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123324"/>
                </a:solidFill>
                <a:latin typeface="Cambria" pitchFamily="34" charset="0"/>
                <a:ea typeface="Cambria" pitchFamily="34" charset="-122"/>
                <a:cs typeface="Cambria" pitchFamily="34" charset="-120"/>
              </a:rPr>
              <a:t>Sources et hypothèses de travail</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algn="l" indent="0" marL="0">
              <a:buNone/>
            </a:pPr>
            <a:r>
              <a:rPr lang="en-US" sz="1600" b="1" dirty="0">
                <a:solidFill>
                  <a:srgbClr val="1F5C3A"/>
                </a:solidFill>
                <a:latin typeface="Cambria" pitchFamily="34" charset="0"/>
                <a:ea typeface="Cambria" pitchFamily="34" charset="-122"/>
                <a:cs typeface="Cambria" pitchFamily="34" charset="-120"/>
              </a:rPr>
              <a:t>Sources principales</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3423A"/>
                </a:solidFill>
                <a:latin typeface="Calibri" pitchFamily="34" charset="0"/>
                <a:ea typeface="Calibri" pitchFamily="34" charset="-122"/>
                <a:cs typeface="Calibri" pitchFamily="34" charset="-120"/>
              </a:rPr>
              <a:t>Haut-Commissariat au Plan (HCP) : comptes nationaux et emploi.</a:t>
            </a:r>
            <a:endParaRPr lang="en-US" sz="1350" dirty="0"/>
          </a:p>
          <a:p>
            <a:pPr algn="l" marL="342900" indent="-342900">
              <a:lnSpc>
                <a:spcPct val="122000"/>
              </a:lnSpc>
              <a:spcAft>
                <a:spcPts val="1000"/>
              </a:spcAft>
              <a:buSzPct val="100000"/>
              <a:buChar char="•"/>
            </a:pPr>
            <a:r>
              <a:rPr lang="en-US" sz="1350" dirty="0">
                <a:solidFill>
                  <a:srgbClr val="33423A"/>
                </a:solidFill>
                <a:latin typeface="Calibri" pitchFamily="34" charset="0"/>
                <a:ea typeface="Calibri" pitchFamily="34" charset="-122"/>
                <a:cs typeface="Calibri" pitchFamily="34" charset="-120"/>
              </a:rPr>
              <a:t>Ministère de l'Agriculture : stratégie Génération Green, statistiques des filières.</a:t>
            </a:r>
            <a:endParaRPr lang="en-US" sz="1350" dirty="0"/>
          </a:p>
          <a:p>
            <a:pPr algn="l" marL="342900" indent="-342900">
              <a:lnSpc>
                <a:spcPct val="122000"/>
              </a:lnSpc>
              <a:spcAft>
                <a:spcPts val="1000"/>
              </a:spcAft>
              <a:buSzPct val="100000"/>
              <a:buChar char="•"/>
            </a:pPr>
            <a:r>
              <a:rPr lang="en-US" sz="1350" dirty="0">
                <a:solidFill>
                  <a:srgbClr val="33423A"/>
                </a:solidFill>
                <a:latin typeface="Calibri" pitchFamily="34" charset="0"/>
                <a:ea typeface="Calibri" pitchFamily="34" charset="-122"/>
                <a:cs typeface="Calibri" pitchFamily="34" charset="-120"/>
              </a:rPr>
              <a:t>Office des changes : exportations agroalimentaires.</a:t>
            </a:r>
            <a:endParaRPr lang="en-US" sz="1350" dirty="0"/>
          </a:p>
          <a:p>
            <a:pPr algn="l" marL="342900" indent="-342900">
              <a:lnSpc>
                <a:spcPct val="122000"/>
              </a:lnSpc>
              <a:spcAft>
                <a:spcPts val="1000"/>
              </a:spcAft>
              <a:buSzPct val="100000"/>
              <a:buChar char="•"/>
            </a:pPr>
            <a:r>
              <a:rPr lang="en-US" sz="1350" dirty="0">
                <a:solidFill>
                  <a:srgbClr val="33423A"/>
                </a:solidFill>
                <a:latin typeface="Calibri" pitchFamily="34" charset="0"/>
                <a:ea typeface="Calibri" pitchFamily="34" charset="-122"/>
                <a:cs typeface="Calibri" pitchFamily="34" charset="-120"/>
              </a:rPr>
              <a:t>FAO (FAOSTAT, AQUASTAT) et Banque mondiale (WDI).</a:t>
            </a:r>
            <a:endParaRPr lang="en-US" sz="1350" dirty="0"/>
          </a:p>
          <a:p>
            <a:pPr algn="l" marL="342900" indent="-342900">
              <a:lnSpc>
                <a:spcPct val="122000"/>
              </a:lnSpc>
              <a:spcAft>
                <a:spcPts val="1000"/>
              </a:spcAft>
              <a:buSzPct val="100000"/>
              <a:buChar char="•"/>
            </a:pPr>
            <a:r>
              <a:rPr lang="en-US" sz="1350" dirty="0">
                <a:solidFill>
                  <a:srgbClr val="33423A"/>
                </a:solidFill>
                <a:latin typeface="Calibri" pitchFamily="34" charset="0"/>
                <a:ea typeface="Calibri" pitchFamily="34" charset="-122"/>
                <a:cs typeface="Calibri" pitchFamily="34" charset="-120"/>
              </a:rPr>
              <a:t>Photographies : Hamza EL GHAZALI (CC BY-SA 4.0) — via Wikimedia Commons.</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algn="l" indent="0" marL="0">
              <a:buNone/>
            </a:pPr>
            <a:r>
              <a:rPr lang="en-US" sz="1600" b="1" dirty="0">
                <a:solidFill>
                  <a:srgbClr val="1F5C3A"/>
                </a:solidFill>
                <a:latin typeface="Cambria" pitchFamily="34" charset="0"/>
                <a:ea typeface="Cambria" pitchFamily="34" charset="-122"/>
                <a:cs typeface="Cambria" pitchFamily="34" charset="-120"/>
              </a:rPr>
              <a:t>Hypothèses de travail</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3423A"/>
                </a:solidFill>
                <a:latin typeface="Calibri" pitchFamily="34" charset="0"/>
                <a:ea typeface="Calibri" pitchFamily="34" charset="-122"/>
                <a:cs typeface="Calibri" pitchFamily="34" charset="-120"/>
              </a:rPr>
              <a:t>Les chiffres sont des ordres de grandeur arrondis, tirés des dernières données publiques disponibles.</a:t>
            </a:r>
            <a:endParaRPr lang="en-US" sz="1350" dirty="0"/>
          </a:p>
          <a:p>
            <a:pPr algn="l" marL="342900" indent="-342900">
              <a:lnSpc>
                <a:spcPct val="122000"/>
              </a:lnSpc>
              <a:spcAft>
                <a:spcPts val="1000"/>
              </a:spcAft>
              <a:buSzPct val="100000"/>
              <a:buChar char="•"/>
            </a:pPr>
            <a:r>
              <a:rPr lang="en-US" sz="1350" dirty="0">
                <a:solidFill>
                  <a:srgbClr val="33423A"/>
                </a:solidFill>
                <a:latin typeface="Calibri" pitchFamily="34" charset="0"/>
                <a:ea typeface="Calibri" pitchFamily="34" charset="-122"/>
                <a:cs typeface="Calibri" pitchFamily="34" charset="-120"/>
              </a:rPr>
              <a:t>Les gains d'eau et de rendement sont indicatifs et varient selon le sol, le climat et la culture.</a:t>
            </a:r>
            <a:endParaRPr lang="en-US" sz="1350" dirty="0"/>
          </a:p>
          <a:p>
            <a:pPr algn="l" marL="342900" indent="-342900">
              <a:lnSpc>
                <a:spcPct val="122000"/>
              </a:lnSpc>
              <a:spcAft>
                <a:spcPts val="1000"/>
              </a:spcAft>
              <a:buSzPct val="100000"/>
              <a:buChar char="•"/>
            </a:pPr>
            <a:r>
              <a:rPr lang="en-US" sz="1350" dirty="0">
                <a:solidFill>
                  <a:srgbClr val="33423A"/>
                </a:solidFill>
                <a:latin typeface="Calibri" pitchFamily="34" charset="0"/>
                <a:ea typeface="Calibri" pitchFamily="34" charset="-122"/>
                <a:cs typeface="Calibri" pitchFamily="34" charset="-120"/>
              </a:rPr>
              <a:t>Document de travail commercial : chiffres à actualiser avant toute soumission officielle.</a:t>
            </a:r>
            <a:endParaRPr lang="en-US" sz="1350" dirty="0"/>
          </a:p>
        </p:txBody>
      </p:sp>
      <p:sp>
        <p:nvSpPr>
          <p:cNvPr id="8" name="Shape 6"/>
          <p:cNvSpPr/>
          <p:nvPr/>
        </p:nvSpPr>
        <p:spPr>
          <a:xfrm>
            <a:off x="594360" y="4846320"/>
            <a:ext cx="11002975" cy="960120"/>
          </a:xfrm>
          <a:prstGeom prst="roundRect">
            <a:avLst>
              <a:gd name="adj" fmla="val 7619"/>
            </a:avLst>
          </a:prstGeom>
          <a:solidFill>
            <a:srgbClr val="F1F4EF"/>
          </a:solidFill>
          <a:ln w="9525">
            <a:solidFill>
              <a:srgbClr val="DCE4DA"/>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algn="l" indent="0" marL="0">
              <a:lnSpc>
                <a:spcPct val="118000"/>
              </a:lnSpc>
              <a:buNone/>
            </a:pPr>
            <a:r>
              <a:rPr lang="en-US" sz="1100" dirty="0">
                <a:solidFill>
                  <a:srgbClr val="6B7C72"/>
                </a:solidFill>
                <a:latin typeface="Calibri" pitchFamily="34" charset="0"/>
                <a:ea typeface="Calibri" pitchFamily="34" charset="-122"/>
                <a:cs typeface="Calibri" pitchFamily="34" charset="-120"/>
              </a:rPr>
              <a:t>Rapports d'essais, certificats (SOHISCERT, analyses Polymex et SGS) et fiches techniques : disponibles sur demande.</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B7C72">
                    <a:alpha val="80000"/>
                  </a:srgbClr>
                </a:solidFill>
                <a:latin typeface="Calibri" pitchFamily="34" charset="0"/>
                <a:ea typeface="Calibri" pitchFamily="34" charset="-122"/>
                <a:cs typeface="Calibri" pitchFamily="34" charset="-120"/>
              </a:rPr>
              <a:t>Green Solutions · Dossier marché Maroc</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B7C72">
                    <a:alpha val="80000"/>
                  </a:srgbClr>
                </a:solidFill>
                <a:latin typeface="Calibri" pitchFamily="34" charset="0"/>
                <a:ea typeface="Calibri" pitchFamily="34" charset="-122"/>
                <a:cs typeface="Calibri" pitchFamily="34" charset="-120"/>
              </a:rPr>
              <a:t>16</a:t>
            </a:r>
            <a:endParaRPr lang="en-US" sz="9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822960" y="2103120"/>
            <a:ext cx="10058400" cy="1005840"/>
          </a:xfrm>
          <a:prstGeom prst="rect">
            <a:avLst/>
          </a:prstGeom>
          <a:noFill/>
          <a:ln/>
        </p:spPr>
        <p:txBody>
          <a:bodyPr wrap="square" lIns="0" tIns="0" rIns="0" bIns="0" rtlCol="0" anchor="ctr"/>
          <a:lstStyle/>
          <a:p>
            <a:pPr algn="l" indent="0" marL="0">
              <a:buNone/>
            </a:pPr>
            <a:r>
              <a:rPr lang="en-US" sz="3400" b="1" dirty="0">
                <a:solidFill>
                  <a:srgbClr val="FFFFFF"/>
                </a:solidFill>
                <a:latin typeface="Cambria" pitchFamily="34" charset="0"/>
                <a:ea typeface="Cambria" pitchFamily="34" charset="-122"/>
                <a:cs typeface="Cambria" pitchFamily="34" charset="-120"/>
              </a:rPr>
              <a:t>Dites-nous votre parcelle</a:t>
            </a:r>
            <a:endParaRPr lang="en-US" sz="3400" dirty="0"/>
          </a:p>
        </p:txBody>
      </p:sp>
      <p:sp>
        <p:nvSpPr>
          <p:cNvPr id="4" name="Text 1"/>
          <p:cNvSpPr txBox="1"/>
          <p:nvPr/>
        </p:nvSpPr>
        <p:spPr>
          <a:xfrm>
            <a:off x="822960" y="3200400"/>
            <a:ext cx="8961120" cy="1463040"/>
          </a:xfrm>
          <a:prstGeom prst="rect">
            <a:avLst/>
          </a:prstGeom>
          <a:noFill/>
          <a:ln/>
        </p:spPr>
        <p:txBody>
          <a:bodyPr wrap="square" lIns="0" tIns="0" rIns="0" bIns="0" rtlCol="0" anchor="ctr"/>
          <a:lstStyle/>
          <a:p>
            <a:pPr algn="l" indent="0" marL="0">
              <a:lnSpc>
                <a:spcPct val="130000"/>
              </a:lnSpc>
              <a:buNone/>
            </a:pPr>
            <a:r>
              <a:rPr lang="en-US" sz="1500" dirty="0">
                <a:solidFill>
                  <a:srgbClr val="FFFFFF">
                    <a:alpha val="88000"/>
                  </a:srgbClr>
                </a:solidFill>
                <a:latin typeface="Calibri" pitchFamily="34" charset="0"/>
                <a:ea typeface="Calibri" pitchFamily="34" charset="-122"/>
                <a:cs typeface="Calibri" pitchFamily="34" charset="-120"/>
              </a:rPr>
              <a:t>Culture, mode d'irrigation, nature du sol, volume d'eau consommé aujourd'hui. Nous revenons avec la combinaison de technologies correspondante, les dosages, et les essais déjà conduits dans des situations comparables.</a:t>
            </a:r>
            <a:endParaRPr lang="en-US" sz="1500" dirty="0"/>
          </a:p>
          <a:p>
            <a:pPr algn="l" indent="0" marL="0">
              <a:lnSpc>
                <a:spcPct val="130000"/>
              </a:lnSpc>
              <a:buNone/>
            </a:pPr>
            <a:endParaRPr lang="en-US" sz="1500" dirty="0"/>
          </a:p>
          <a:p>
            <a:pPr algn="l" indent="0" marL="0">
              <a:lnSpc>
                <a:spcPct val="130000"/>
              </a:lnSpc>
              <a:buNone/>
            </a:pPr>
            <a:r>
              <a:rPr lang="en-US" sz="1500" dirty="0">
                <a:solidFill>
                  <a:srgbClr val="FFFFFF">
                    <a:alpha val="88000"/>
                  </a:srgbClr>
                </a:solidFill>
                <a:latin typeface="Calibri" pitchFamily="34" charset="0"/>
                <a:ea typeface="Calibri" pitchFamily="34" charset="-122"/>
                <a:cs typeface="Calibri" pitchFamily="34" charset="-120"/>
              </a:rPr>
              <a:t>Un premier échange n'engage à rien.</a:t>
            </a:r>
            <a:endParaRPr lang="en-US" sz="1500" dirty="0"/>
          </a:p>
        </p:txBody>
      </p:sp>
      <p:sp>
        <p:nvSpPr>
          <p:cNvPr id="5" name="Text 2"/>
          <p:cNvSpPr txBox="1"/>
          <p:nvPr/>
        </p:nvSpPr>
        <p:spPr>
          <a:xfrm>
            <a:off x="822960" y="4846320"/>
            <a:ext cx="10058400" cy="457200"/>
          </a:xfrm>
          <a:prstGeom prst="rect">
            <a:avLst/>
          </a:prstGeom>
          <a:noFill/>
          <a:ln/>
        </p:spPr>
        <p:txBody>
          <a:bodyPr wrap="square" lIns="0" tIns="0" rIns="0" bIns="0" rtlCol="0" anchor="ctr"/>
          <a:lstStyle/>
          <a:p>
            <a:pPr algn="l" indent="0" marL="0">
              <a:buNone/>
            </a:pPr>
            <a:r>
              <a:rPr lang="en-US" sz="1400" b="1" dirty="0">
                <a:solidFill>
                  <a:srgbClr val="E3B23C"/>
                </a:solidFill>
                <a:latin typeface="Calibri" pitchFamily="34" charset="0"/>
                <a:ea typeface="Calibri" pitchFamily="34" charset="-122"/>
                <a:cs typeface="Calibri" pitchFamily="34" charset="-120"/>
              </a:rPr>
              <a:t>contact@evergreen-ecosorb.com · Green Solutions Groupe AIM SA, 46, route de la Condémine, 1475 Forel, Suisse</a:t>
            </a:r>
            <a:endParaRPr lang="en-US" sz="1400" dirty="0"/>
          </a:p>
        </p:txBody>
      </p:sp>
      <p:pic>
        <p:nvPicPr>
          <p:cNvPr id="6" name="Image 1" descr="C:\Users\Utilisateur\dev\green-solutions-web\scripts\dossiers\sceau-aim-clair.png">    </p:cNvPr>
          <p:cNvPicPr>
            <a:picLocks noChangeAspect="1"/>
          </p:cNvPicPr>
          <p:nvPr/>
        </p:nvPicPr>
        <p:blipFill>
          <a:blip r:embed="rId2">
            <a:alphaModFix amt="85000"/>
          </a:blip>
          <a:stretch>
            <a:fillRect/>
          </a:stretch>
        </p:blipFill>
        <p:spPr>
          <a:xfrm>
            <a:off x="10637215" y="5193792"/>
            <a:ext cx="1051560" cy="1051560"/>
          </a:xfrm>
          <a:prstGeom prst="rect">
            <a:avLst/>
          </a:prstGeom>
        </p:spPr>
      </p:pic>
      <p:sp>
        <p:nvSpPr>
          <p:cNvPr id="7" name="Text 3"/>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FFFFFF">
                    <a:alpha val="55000"/>
                  </a:srgbClr>
                </a:solidFill>
                <a:latin typeface="Calibri" pitchFamily="34" charset="0"/>
                <a:ea typeface="Calibri" pitchFamily="34" charset="-122"/>
                <a:cs typeface="Calibri" pitchFamily="34" charset="-120"/>
              </a:rPr>
              <a:t>Green Solutions · Dossier marché Maroc</a:t>
            </a:r>
            <a:endParaRPr lang="en-US" sz="950" dirty="0"/>
          </a:p>
        </p:txBody>
      </p:sp>
      <p:sp>
        <p:nvSpPr>
          <p:cNvPr id="8" name="Text 4"/>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FFFFFF">
                    <a:alpha val="55000"/>
                  </a:srgbClr>
                </a:solidFill>
                <a:latin typeface="Calibri" pitchFamily="34" charset="0"/>
                <a:ea typeface="Calibri" pitchFamily="34" charset="-122"/>
                <a:cs typeface="Calibri" pitchFamily="34" charset="-120"/>
              </a:rPr>
              <a:t>17</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2026-09-17T07:58:48Z</dcterms:created>
  <dcterms:modified xsi:type="dcterms:W3CDTF">2026-09-17T07:58:48Z</dcterms:modified>
</cp:coreProperties>
</file>