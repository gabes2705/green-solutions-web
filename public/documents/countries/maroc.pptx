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45.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1F5C3A"/>
              </a:solidFill>
              <a:effectLst/>
            </c:spPr>
          </c:dPt>
          <c:dPt>
            <c:idx val="1"/>
            <c:bubble3D val="0"/>
            <c:spPr>
              <a:solidFill>
                <a:srgbClr val="E3B23C"/>
              </a:solidFill>
              <a:effectLst/>
            </c:spPr>
          </c:dPt>
          <c:dPt>
            <c:idx val="2"/>
            <c:bubble3D val="0"/>
            <c:spPr>
              <a:solidFill>
                <a:srgbClr val="76A489"/>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85</c:v>
                </c:pt>
                <c:pt idx="1">
                  <c:v>10</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(millions de tonnes)</c:v>
                </c:pt>
              </c:strCache>
            </c:strRef>
          </c:tx>
          <c:spPr>
            <a:solidFill>
              <a:srgbClr val="1F5C3A"/>
            </a:solidFill>
            <a:effectLst/>
          </c:spPr>
          <c:invertIfNegative val="0"/>
          <c:dLbls>
            <c:numFmt formatCode="[$-40C]0.0"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dPt>
            <c:idx val="0"/>
            <c:invertIfNegative val="0"/>
            <c:bubble3D val="0"/>
            <c:spPr>
              <a:solidFill>
                <a:srgbClr val="1F5C3A"/>
              </a:solidFill>
              <a:effectLst/>
            </c:spPr>
          </c:dPt>
          <c:dPt>
            <c:idx val="1"/>
            <c:invertIfNegative val="0"/>
            <c:bubble3D val="0"/>
            <c:spPr>
              <a:solidFill>
                <a:srgbClr val="E3B23C"/>
              </a:solidFill>
              <a:effectLst/>
            </c:spPr>
          </c:dPt>
          <c:dPt>
            <c:idx val="2"/>
            <c:invertIfNegative val="0"/>
            <c:bubble3D val="0"/>
            <c:spPr>
              <a:solidFill>
                <a:srgbClr val="76A489"/>
              </a:solidFill>
              <a:effectLst/>
            </c:spPr>
          </c:dPt>
          <c:dPt>
            <c:idx val="3"/>
            <c:invertIfNegative val="0"/>
            <c:bubble3D val="0"/>
            <c:spPr>
              <a:solidFill>
                <a:srgbClr val="C9772E"/>
              </a:solidFill>
              <a:effectLst/>
            </c:spPr>
          </c:dPt>
          <c:cat>
            <c:multiLvlStrRef>
              <c:f>Sheet1!$A$2:$A$5</c:f>
              <c:multiLvlStrCache>
                <c:ptCount val="4"/>
                <c:lvl>
                  <c:pt idx="0">
                    <c:v>Agrumes</c:v>
                  </c:pt>
                  <c:pt idx="1">
                    <c:v>Tomate</c:v>
                  </c:pt>
                  <c:pt idx="2">
                    <c:v>Olive</c:v>
                  </c:pt>
                  <c:pt idx="3">
                    <c:v>Céréales*</c:v>
                  </c:pt>
                </c:lvl>
              </c:multiLvlStrCache>
            </c:multiLvlStrRef>
          </c:cat>
          <c:val>
            <c:numRef>
              <c:f>Sheet1!$B$2:$B$5</c:f>
              <c:numCache>
                <c:formatCode>General</c:formatCode>
                <c:ptCount val="4"/>
                <c:pt idx="0">
                  <c:v>2.6</c:v>
                </c:pt>
                <c:pt idx="1">
                  <c:v>1.4</c:v>
                </c:pt>
                <c:pt idx="2">
                  <c:v>1.9</c:v>
                </c:pt>
                <c:pt idx="3">
                  <c:v>5</c:v>
                </c:pt>
              </c:numCache>
            </c:numRef>
          </c:val>
        </c:ser>
        <c:dLbls>
          <c:numFmt formatCode="[$-40C]0.0"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 de fourchette (%)</c:v>
                </c:pt>
              </c:strCache>
            </c:strRef>
          </c:tx>
          <c:spPr>
            <a:solidFill>
              <a:srgbClr val="1F5C3A"/>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Agrumes</c:v>
                  </c:pt>
                  <c:pt idx="2">
                    <c:v>Olives</c:v>
                  </c:pt>
                  <c:pt idx="3">
                    <c:v>Fraises</c:v>
                  </c:pt>
                  <c:pt idx="4">
                    <c:v>Avocats</c:v>
                  </c:pt>
                </c:lvl>
              </c:multiLvlStrCache>
            </c:multiLvlStrRef>
          </c:cat>
          <c:val>
            <c:numRef>
              <c:f>Sheet1!$B$2:$B$6</c:f>
              <c:numCache>
                <c:formatCode>General</c:formatCode>
                <c:ptCount val="5"/>
                <c:pt idx="0">
                  <c:v>30</c:v>
                </c:pt>
                <c:pt idx="1">
                  <c:v>20</c:v>
                </c:pt>
                <c:pt idx="2">
                  <c:v>20</c:v>
                </c:pt>
                <c:pt idx="3">
                  <c:v>20</c:v>
                </c:pt>
                <c:pt idx="4">
                  <c:v>15</c:v>
                </c:pt>
              </c:numCache>
            </c:numRef>
          </c:val>
        </c:ser>
        <c:ser>
          <c:idx val="1"/>
          <c:order val="1"/>
          <c:tx>
            <c:strRef>
              <c:f>Sheet1!$C$1</c:f>
              <c:strCache>
                <c:ptCount val="1"/>
                <c:pt idx="0">
                  <c:v>Haut de fourchette (%)</c:v>
                </c:pt>
              </c:strCache>
            </c:strRef>
          </c:tx>
          <c:spPr>
            <a:solidFill>
              <a:srgbClr val="E3B23C"/>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Tomates</c:v>
                  </c:pt>
                  <c:pt idx="1">
                    <c:v>Agrumes</c:v>
                  </c:pt>
                  <c:pt idx="2">
                    <c:v>Olives</c:v>
                  </c:pt>
                  <c:pt idx="3">
                    <c:v>Fraises</c:v>
                  </c:pt>
                  <c:pt idx="4">
                    <c:v>Avocats</c:v>
                  </c:pt>
                </c:lvl>
              </c:multiLvlStrCache>
            </c:multiLvlStrRef>
          </c:cat>
          <c:val>
            <c:numRef>
              <c:f>Sheet1!$C$2:$C$6</c:f>
              <c:numCache>
                <c:formatCode>General</c:formatCode>
                <c:ptCount val="5"/>
                <c:pt idx="0">
                  <c:v>50</c:v>
                </c:pt>
                <c:pt idx="1">
                  <c:v>40</c:v>
                </c:pt>
                <c:pt idx="2">
                  <c:v>40</c:v>
                </c:pt>
                <c:pt idx="3">
                  <c:v>40</c:v>
                </c:pt>
                <c:pt idx="4">
                  <c:v>25</c:v>
                </c:pt>
              </c:numCache>
            </c:numRef>
          </c:val>
        </c:ser>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1F5C3A"/>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Fourchette haute (%)</c:v>
                </c:pt>
              </c:strCache>
            </c:strRef>
          </c:tx>
          <c:spPr>
            <a:solidFill>
              <a:srgbClr val="E3B23C"/>
            </a:solidFill>
            <a:effectLst/>
          </c:spPr>
          <c:invertIfNegative val="0"/>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Aspersion</c:v>
                  </c:pt>
                  <c:pt idx="2">
                    <c:v>Pivot</c:v>
                  </c:pt>
                  <c:pt idx="3">
                    <c:v>Gravitaire</c:v>
                  </c:pt>
                </c:lvl>
              </c:multiLvlStrCache>
            </c:multiLvlStrRef>
          </c:cat>
          <c:val>
            <c:numRef>
              <c:f>Sheet1!$C$2:$C$5</c:f>
              <c:numCache>
                <c:formatCode>General</c:formatCode>
                <c:ptCount val="4"/>
                <c:pt idx="0">
                  <c:v>55</c:v>
                </c:pt>
                <c:pt idx="1">
                  <c:v>65</c:v>
                </c:pt>
                <c:pt idx="2">
                  <c:v>65</c:v>
                </c:pt>
                <c:pt idx="3">
                  <c:v>70</c:v>
                </c:pt>
              </c:numCache>
            </c:numRef>
          </c:val>
        </c:ser>
        <c:dLbls>
          <c:numFmt formatCode="[$-40C]0&quot;%&quot;" sourceLinked="0"/>
          <c:txPr>
            <a:bodyPr/>
            <a:lstStyle/>
            <a:p>
              <a:pPr>
                <a:defRPr b="0" i="0" strike="noStrike" sz="1100" u="none">
                  <a:solidFill>
                    <a:srgbClr val="123324"/>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CE4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C72"/>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5.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8.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sw-dossiers\scripts\dossiers\drapeaux\maroc.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ROYAUME DU MAROC</a:t>
            </a:r>
            <a:endParaRPr lang="en-US" sz="2800" dirty="0"/>
          </a:p>
        </p:txBody>
      </p:sp>
      <p:sp>
        <p:nvSpPr>
          <p:cNvPr id="9" name="Shape 4"/>
          <p:cNvSpPr/>
          <p:nvPr/>
        </p:nvSpPr>
        <p:spPr>
          <a:xfrm>
            <a:off x="658368" y="2889504"/>
            <a:ext cx="2788920" cy="45720"/>
          </a:xfrm>
          <a:prstGeom prst="rect">
            <a:avLst/>
          </a:prstGeom>
          <a:solidFill>
            <a:srgbClr val="E3B23C"/>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E3B23C"/>
                </a:solidFill>
                <a:latin typeface="Cambria" pitchFamily="34" charset="0"/>
                <a:ea typeface="Cambria" pitchFamily="34" charset="-122"/>
                <a:cs typeface="Cambria" pitchFamily="34" charset="-120"/>
              </a:rPr>
              <a:t>Rabat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Agrumes, maraîchage et oléiculture sous contrainte hydrique durable.</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pour une filière exportatrice.</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pays agricole exportateur, exposé à la sécheresse</a:t>
            </a:r>
            <a:endParaRPr lang="en-US" sz="3000" dirty="0"/>
          </a:p>
        </p:txBody>
      </p:sp>
      <p:sp>
        <p:nvSpPr>
          <p:cNvPr id="4" name="Shape 2"/>
          <p:cNvSpPr/>
          <p:nvPr/>
        </p:nvSpPr>
        <p:spPr>
          <a:xfrm>
            <a:off x="594360" y="1874520"/>
            <a:ext cx="2545004" cy="2514600"/>
          </a:xfrm>
          <a:prstGeom prst="roundRect">
            <a:avLst>
              <a:gd name="adj" fmla="val 3636"/>
            </a:avLst>
          </a:prstGeom>
          <a:solidFill>
            <a:srgbClr val="F1F4EF"/>
          </a:solidFill>
          <a:ln w="9525">
            <a:solidFill>
              <a:srgbClr val="DCE4DA"/>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 12 %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du PIB provient de l'agriculture</a:t>
            </a:r>
            <a:endParaRPr lang="en-US" sz="1250" dirty="0"/>
          </a:p>
        </p:txBody>
      </p:sp>
      <p:sp>
        <p:nvSpPr>
          <p:cNvPr id="7" name="Shape 5"/>
          <p:cNvSpPr/>
          <p:nvPr/>
        </p:nvSpPr>
        <p:spPr>
          <a:xfrm>
            <a:off x="3413684" y="1874520"/>
            <a:ext cx="2545004" cy="2514600"/>
          </a:xfrm>
          <a:prstGeom prst="roundRect">
            <a:avLst>
              <a:gd name="adj" fmla="val 3636"/>
            </a:avLst>
          </a:prstGeom>
          <a:solidFill>
            <a:srgbClr val="F1F4EF"/>
          </a:solidFill>
          <a:ln w="9525">
            <a:solidFill>
              <a:srgbClr val="DCE4DA"/>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F5C3A"/>
                </a:solidFill>
                <a:latin typeface="Cambria" pitchFamily="34" charset="0"/>
                <a:ea typeface="Cambria" pitchFamily="34" charset="-122"/>
                <a:cs typeface="Cambria" pitchFamily="34" charset="-120"/>
              </a:rPr>
              <a:t>≈ 8,7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 surface agricole utile</a:t>
            </a:r>
            <a:endParaRPr lang="en-US" sz="1250" dirty="0"/>
          </a:p>
        </p:txBody>
      </p:sp>
      <p:sp>
        <p:nvSpPr>
          <p:cNvPr id="10" name="Shape 8"/>
          <p:cNvSpPr/>
          <p:nvPr/>
        </p:nvSpPr>
        <p:spPr>
          <a:xfrm>
            <a:off x="6233008" y="1874520"/>
            <a:ext cx="2545004" cy="2514600"/>
          </a:xfrm>
          <a:prstGeom prst="roundRect">
            <a:avLst>
              <a:gd name="adj" fmla="val 3636"/>
            </a:avLst>
          </a:prstGeom>
          <a:solidFill>
            <a:srgbClr val="F1F4EF"/>
          </a:solidFill>
          <a:ln w="9525">
            <a:solidFill>
              <a:srgbClr val="DCE4DA"/>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1F5C3A"/>
                </a:solidFill>
                <a:latin typeface="Cambria" pitchFamily="34" charset="0"/>
                <a:ea typeface="Cambria" pitchFamily="34" charset="-122"/>
                <a:cs typeface="Cambria" pitchFamily="34" charset="-120"/>
              </a:rPr>
              <a:t>≈ 1,5 M ha</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irrigués, soit environ 17 % de la SAU</a:t>
            </a:r>
            <a:endParaRPr lang="en-US" sz="1250" dirty="0"/>
          </a:p>
        </p:txBody>
      </p:sp>
      <p:sp>
        <p:nvSpPr>
          <p:cNvPr id="13" name="Shape 11"/>
          <p:cNvSpPr/>
          <p:nvPr/>
        </p:nvSpPr>
        <p:spPr>
          <a:xfrm>
            <a:off x="9052331" y="1874520"/>
            <a:ext cx="2545004" cy="2514600"/>
          </a:xfrm>
          <a:prstGeom prst="roundRect">
            <a:avLst>
              <a:gd name="adj" fmla="val 3636"/>
            </a:avLst>
          </a:prstGeom>
          <a:solidFill>
            <a:srgbClr val="F1F4EF"/>
          </a:solidFill>
          <a:ln w="9525">
            <a:solidFill>
              <a:srgbClr val="DCE4DA"/>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 30 %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 la population active employée par le secteur</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3423A"/>
                </a:solidFill>
                <a:latin typeface="Calibri" pitchFamily="34" charset="0"/>
                <a:ea typeface="Calibri" pitchFamily="34" charset="-122"/>
                <a:cs typeface="Calibri" pitchFamily="34" charset="-120"/>
              </a:rPr>
              <a:t>L'agriculture marocaine combine une filière d'exportation très structurée (agrumes, tomate, petits fruits) et une céréaliculture pluviale dont le rendement suit directement la pluviométrie. C'est cette dépendance à l'eau qui rend le pays prioritaire pour nos technologies.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Six campagnes de sécheresse consécutives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B7C72"/>
                </a:solidFill>
                <a:latin typeface="Calibri" pitchFamily="34" charset="0"/>
                <a:ea typeface="Calibri" pitchFamily="34" charset="-122"/>
                <a:cs typeface="Calibri" pitchFamily="34" charset="-120"/>
              </a:rPr>
              <a:t>Périmètre irrigué, région du Souss</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Depuis 2018, le Maroc enchaîne des campagnes déficitaires : le taux de remplissage des barrages est descendu sous le quart de leur capacité sur plusieurs bassins.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L'agriculture mobilise de l'ordre de 85 % de l'eau prélevée : toute tension sur la ressource se traduit d'abord par des restrictions d'irrigation.</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gradient pluviométrique est extrême : de 600 à 800 mm par an dans le Rif, à moins de 100 mm dans les provinces du Sud.</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nappes du Souss-Massa et du Haouz sont surexploitées, avec un rabattement continu des niveaux piézométriques.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 réponse publique — barrages, dessalement à Agadir et Casablanca, reconversion au goutte-à-goutte — traite l'offre. L'hydro-rétention agit sur la demande, à la parcelle.</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L'irrigation concentre l'essentiel du prélèvement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Réduire de 10 % la consommation agricole libère davantage de volume que de supprimer la totalité de l'usage industriel.</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C'est pourquoi l'effort porte en priorité sur la parcelle, et non sur les autres usages.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Exporter des primeurs, importer du blé</a:t>
            </a:r>
            <a:endParaRPr lang="en-US" sz="3000" dirty="0"/>
          </a:p>
        </p:txBody>
      </p:sp>
      <p:sp>
        <p:nvSpPr>
          <p:cNvPr id="4" name="Shape 2"/>
          <p:cNvSpPr/>
          <p:nvPr/>
        </p:nvSpPr>
        <p:spPr>
          <a:xfrm>
            <a:off x="594360" y="1874520"/>
            <a:ext cx="2545004" cy="2514600"/>
          </a:xfrm>
          <a:prstGeom prst="roundRect">
            <a:avLst>
              <a:gd name="adj" fmla="val 3636"/>
            </a:avLst>
          </a:prstGeom>
          <a:solidFill>
            <a:srgbClr val="F1F4EF"/>
          </a:solidFill>
          <a:ln w="9525">
            <a:solidFill>
              <a:srgbClr val="DCE4DA"/>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Top 5</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des exportateurs mondiaux de tomates fraîches</a:t>
            </a:r>
            <a:endParaRPr lang="en-US" sz="1250" dirty="0"/>
          </a:p>
        </p:txBody>
      </p:sp>
      <p:sp>
        <p:nvSpPr>
          <p:cNvPr id="7" name="Shape 5"/>
          <p:cNvSpPr/>
          <p:nvPr/>
        </p:nvSpPr>
        <p:spPr>
          <a:xfrm>
            <a:off x="3413684" y="1874520"/>
            <a:ext cx="2545004" cy="2514600"/>
          </a:xfrm>
          <a:prstGeom prst="roundRect">
            <a:avLst>
              <a:gd name="adj" fmla="val 3636"/>
            </a:avLst>
          </a:prstGeom>
          <a:solidFill>
            <a:srgbClr val="F1F4EF"/>
          </a:solidFill>
          <a:ln w="9525">
            <a:solidFill>
              <a:srgbClr val="DCE4DA"/>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F5C3A"/>
                </a:solidFill>
                <a:latin typeface="Cambria" pitchFamily="34" charset="0"/>
                <a:ea typeface="Cambria" pitchFamily="34" charset="-122"/>
                <a:cs typeface="Cambria" pitchFamily="34" charset="-120"/>
              </a:rPr>
              <a:t>≈ 80 Md DH</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d'exportations agroalimentaires par an</a:t>
            </a:r>
            <a:endParaRPr lang="en-US" sz="1250" dirty="0"/>
          </a:p>
        </p:txBody>
      </p:sp>
      <p:sp>
        <p:nvSpPr>
          <p:cNvPr id="10" name="Shape 8"/>
          <p:cNvSpPr/>
          <p:nvPr/>
        </p:nvSpPr>
        <p:spPr>
          <a:xfrm>
            <a:off x="6233008" y="1874520"/>
            <a:ext cx="2545004" cy="2514600"/>
          </a:xfrm>
          <a:prstGeom prst="roundRect">
            <a:avLst>
              <a:gd name="adj" fmla="val 3636"/>
            </a:avLst>
          </a:prstGeom>
          <a:solidFill>
            <a:srgbClr val="F1F4EF"/>
          </a:solidFill>
          <a:ln w="9525">
            <a:solidFill>
              <a:srgbClr val="DCE4DA"/>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&gt; 50 %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du blé consommé importé les années de sécheresse</a:t>
            </a:r>
            <a:endParaRPr lang="en-US" sz="1250" dirty="0"/>
          </a:p>
        </p:txBody>
      </p:sp>
      <p:sp>
        <p:nvSpPr>
          <p:cNvPr id="13" name="Shape 11"/>
          <p:cNvSpPr/>
          <p:nvPr/>
        </p:nvSpPr>
        <p:spPr>
          <a:xfrm>
            <a:off x="9052331" y="1874520"/>
            <a:ext cx="2545004" cy="2514600"/>
          </a:xfrm>
          <a:prstGeom prst="roundRect">
            <a:avLst>
              <a:gd name="adj" fmla="val 3636"/>
            </a:avLst>
          </a:prstGeom>
          <a:solidFill>
            <a:srgbClr val="F1F4EF"/>
          </a:solidFill>
          <a:ln w="9525">
            <a:solidFill>
              <a:srgbClr val="DCE4DA"/>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F5C3A"/>
                </a:solidFill>
                <a:latin typeface="Cambria" pitchFamily="34" charset="0"/>
                <a:ea typeface="Cambria" pitchFamily="34" charset="-122"/>
                <a:cs typeface="Cambria" pitchFamily="34" charset="-120"/>
              </a:rPr>
              <a:t>2030</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3423A"/>
                </a:solidFill>
                <a:latin typeface="Calibri" pitchFamily="34" charset="0"/>
                <a:ea typeface="Calibri" pitchFamily="34" charset="-122"/>
                <a:cs typeface="Calibri" pitchFamily="34" charset="-120"/>
              </a:rPr>
              <a:t>horizon de la stratégie Génération Green, après le Plan Maroc Vert</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3423A"/>
                </a:solidFill>
                <a:latin typeface="Calibri" pitchFamily="34" charset="0"/>
                <a:ea typeface="Calibri" pitchFamily="34" charset="-122"/>
                <a:cs typeface="Calibri" pitchFamily="34" charset="-120"/>
              </a:rPr>
              <a:t>Le Maroc exporte tomates, agrumes, fruits rouges et olives vers l'Europe et l'Afrique, mais dépend de l'étranger pour une large part de son blé. Avec des barrages au plus bas, les dotations d'irrigation ont été réduites et le dessalement s'est ouvert à l'agriculture, notamment à Chtouka.</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Quatre productions portent la valeur à l'export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Agrumes et tomate sont irrigués et destinés à l'export : ce sont les cultures où l'économie d'eau se convertit directement en marge.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 Les céréales sont majoritairement pluviales ; le volume varie fortement d'une campagne à l'autre selon la pluviométrie.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PREMIÈRE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Tomate sous serre du Souss : l'export au litre près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 Souss-Massa concentre l'essentiel des serres de tomates destinées à l'Europe, de l'automne au printemps.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La nappe du Souss baisse depuis des décennies ; une partie des exploitations est irriguée à l'eau dessalée de Chtouka.</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L'eau dessalée coûte nettement plus cher que l'eau de forage : chaque litre économisé améliore directement la marge.</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exportateurs doivent respecter des limites de résidus strictes : NAPEMA® traite les ravageurs sans résidu.</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Retenir l'eau dans le sol espace les apports et réduit le drainage perdu sous la serre.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DEUXIÈME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Agrumes et olivier : des vergers à protéger de la sécheresse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Agrumes du Souss, du Gharb et de Berkane, olivier du Haouz et du Saïss : des cultures pérennes à fort investissement.</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Les restrictions d'eau des dernières campagnes ont conduit des producteurs à arracher une partie de leurs vergers d'agrumes.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L'olivier, souvent conduit en pluvial, voit sa récolte chuter fortement les années sans pluie de printemps.</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Un verger perdu coûte plusieurs années de production : protéger les racines du stress hydrique protège le capital.</a:t>
            </a:r>
            <a:endParaRPr lang="en-US" sz="1400" dirty="0"/>
          </a:p>
          <a:p>
            <a:pPr algn="l" marL="342900" indent="-342900">
              <a:lnSpc>
                <a:spcPct val="122000"/>
              </a:lnSpc>
              <a:spcAft>
                <a:spcPts val="1100"/>
              </a:spcAft>
              <a:buSzPct val="100000"/>
              <a:buChar char="•"/>
            </a:pPr>
            <a:r>
              <a:rPr lang="en-US" sz="1400" dirty="0">
                <a:solidFill>
                  <a:srgbClr val="33423A"/>
                </a:solidFill>
                <a:latin typeface="Calibri" pitchFamily="34" charset="0"/>
                <a:ea typeface="Calibri" pitchFamily="34" charset="-122"/>
                <a:cs typeface="Calibri" pitchFamily="34" charset="-120"/>
              </a:rPr>
              <a:t>EVERGREEN® posé à la plantation ou au rajeunissement du verger prolonge la réserve d'eau entre deux irrigations.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Potentiel de rendement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Gain de rendement attendu par culture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Fourchettes retenues par notre calculateur de dose, pour une culture conduite normalement avec EVERGREEN® à la plantation.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Le résultat réel dépend du sol, du climat et de la conduite. Pour les céréales, aucun gain n'est avancé sans essai de terrain.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Deux technologies, deux contraintes différentes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Hydro-rétenteur à base de potassium, placé dans la zone racinaire à la plantation ou à la reprise.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Capte l'eau de pluie ou d'irrigation et la restitue à la plante au fur et à mesure, en supprimant le stress hydrique des phases critiques.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Non chélatant : il n'appauvrit pas le complexe argilo-humique et n'augmente ni la salinité ni la teneur en nitrates.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Certifié SOHISCERT et EU Bio — condition d'accès aux cahiers des charges des acheteurs européens.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1 à 4 flacons de 140 ml par hectare, compatible avec les équipements de fertirrigation existants.</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disponible sans dégrader le sol.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Économie d'eau attendue selon le mode d'irrigation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1F4EF"/>
          </a:solidFill>
          <a:ln w="9525">
            <a:solidFill>
              <a:srgbClr val="DCE4DA"/>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F5C3A"/>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3423A"/>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F1F4EF"/>
          </a:solidFill>
          <a:ln w="9525">
            <a:solidFill>
              <a:srgbClr val="DCE4DA"/>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Souss-Massa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Agrumes et primeurs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Cœur de la filière d'exportation, déjà largement converti au goutte-à-goutte.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Nappe en rabattement continu : la pression réglementaire sur les prélèvements y est la plus forte.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Acheteurs européens demandeurs de certification biologique.</a:t>
            </a:r>
            <a:endParaRPr lang="en-US" sz="1150" dirty="0"/>
          </a:p>
        </p:txBody>
      </p:sp>
      <p:sp>
        <p:nvSpPr>
          <p:cNvPr id="9" name="Shape 6"/>
          <p:cNvSpPr/>
          <p:nvPr/>
        </p:nvSpPr>
        <p:spPr>
          <a:xfrm>
            <a:off x="4359554" y="1783080"/>
            <a:ext cx="3472586" cy="4069080"/>
          </a:xfrm>
          <a:prstGeom prst="roundRect">
            <a:avLst>
              <a:gd name="adj" fmla="val 2633"/>
            </a:avLst>
          </a:prstGeom>
          <a:solidFill>
            <a:srgbClr val="F1F4EF"/>
          </a:solidFill>
          <a:ln w="9525">
            <a:solidFill>
              <a:srgbClr val="DCE4DA"/>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Haouz — Marrakech</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Maraîchage et oliviers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Périmètres irrigués dépendants des barrages, soumis aux tours d'eau en année sèche.</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Forte proportion de structures moyennes, capables de décider vite sur un essai.</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Oléiculture en modernisation, avec des marges de progrès agronomiques nettes.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1F4EF"/>
          </a:solidFill>
          <a:ln w="9525">
            <a:solidFill>
              <a:srgbClr val="DCE4DA"/>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F5C3A"/>
                </a:solidFill>
                <a:latin typeface="Cambria" pitchFamily="34" charset="0"/>
                <a:ea typeface="Cambria" pitchFamily="34" charset="-122"/>
                <a:cs typeface="Cambria" pitchFamily="34" charset="-120"/>
              </a:rPr>
              <a:t>Drâa-Tafilalet</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A97C12"/>
                </a:solidFill>
                <a:latin typeface="Calibri" pitchFamily="34" charset="0"/>
                <a:ea typeface="Calibri" pitchFamily="34" charset="-122"/>
                <a:cs typeface="Calibri" pitchFamily="34" charset="-120"/>
              </a:rPr>
              <a:t>Palmier dattier et arganier</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Oasis en situation de stress hydrique structurel, moins de 100 mm de pluie par an.</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Enjeu de préservation autant que de rendement : lutte contre l'ensablement.</a:t>
            </a:r>
            <a:endParaRPr lang="en-US" sz="1150" dirty="0"/>
          </a:p>
          <a:p>
            <a:pPr algn="l" marL="342900" indent="-342900">
              <a:lnSpc>
                <a:spcPct val="116000"/>
              </a:lnSpc>
              <a:spcAft>
                <a:spcPts val="700"/>
              </a:spcAft>
              <a:buSzPct val="100000"/>
              <a:buChar char="•"/>
            </a:pPr>
            <a:r>
              <a:rPr lang="en-US" sz="1150" dirty="0">
                <a:solidFill>
                  <a:srgbClr val="33423A"/>
                </a:solidFill>
                <a:latin typeface="Calibri" pitchFamily="34" charset="0"/>
                <a:ea typeface="Calibri" pitchFamily="34" charset="-122"/>
                <a:cs typeface="Calibri" pitchFamily="34" charset="-120"/>
              </a:rPr>
              <a:t>Filières à forte valeur unitaire — datte de bouche, huile d'argan.</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F1F4EF"/>
          </a:solidFill>
          <a:ln w="9525">
            <a:solidFill>
              <a:srgbClr val="DCE4DA"/>
            </a:solidFill>
            <a:prstDash val="solid"/>
          </a:ln>
        </p:spPr>
      </p:sp>
      <p:sp>
        <p:nvSpPr>
          <p:cNvPr id="5" name="Shape 3"/>
          <p:cNvSpPr/>
          <p:nvPr/>
        </p:nvSpPr>
        <p:spPr>
          <a:xfrm>
            <a:off x="822960" y="2103120"/>
            <a:ext cx="566928" cy="566928"/>
          </a:xfrm>
          <a:prstGeom prst="ellipse">
            <a:avLst/>
          </a:prstGeom>
          <a:solidFill>
            <a:srgbClr val="1F5C3A"/>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Analyse du sol, du mode d'irrigation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F1F4EF"/>
          </a:solidFill>
          <a:ln w="9525">
            <a:solidFill>
              <a:srgbClr val="DCE4DA"/>
            </a:solidFill>
            <a:prstDash val="solid"/>
          </a:ln>
        </p:spPr>
      </p:sp>
      <p:sp>
        <p:nvSpPr>
          <p:cNvPr id="10" name="Shape 8"/>
          <p:cNvSpPr/>
          <p:nvPr/>
        </p:nvSpPr>
        <p:spPr>
          <a:xfrm>
            <a:off x="3642284" y="2103120"/>
            <a:ext cx="566928" cy="566928"/>
          </a:xfrm>
          <a:prstGeom prst="ellipse">
            <a:avLst/>
          </a:prstGeom>
          <a:solidFill>
            <a:srgbClr val="1F5C3A"/>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Un essai comparatif sur une parcelle,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F1F4EF"/>
          </a:solidFill>
          <a:ln w="9525">
            <a:solidFill>
              <a:srgbClr val="DCE4DA"/>
            </a:solidFill>
            <a:prstDash val="solid"/>
          </a:ln>
        </p:spPr>
      </p:sp>
      <p:sp>
        <p:nvSpPr>
          <p:cNvPr id="15" name="Shape 13"/>
          <p:cNvSpPr/>
          <p:nvPr/>
        </p:nvSpPr>
        <p:spPr>
          <a:xfrm>
            <a:off x="6461608" y="2103120"/>
            <a:ext cx="566928" cy="566928"/>
          </a:xfrm>
          <a:prstGeom prst="ellipse">
            <a:avLst/>
          </a:prstGeom>
          <a:solidFill>
            <a:srgbClr val="1F5C3A"/>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Relevés de consommation et de rendement sur un cycle cultural complet.</a:t>
            </a:r>
            <a:endParaRPr lang="en-US" sz="1200" dirty="0"/>
          </a:p>
        </p:txBody>
      </p:sp>
      <p:sp>
        <p:nvSpPr>
          <p:cNvPr id="19" name="Shape 17"/>
          <p:cNvSpPr/>
          <p:nvPr/>
        </p:nvSpPr>
        <p:spPr>
          <a:xfrm>
            <a:off x="9052331" y="1874520"/>
            <a:ext cx="2545004" cy="2834640"/>
          </a:xfrm>
          <a:prstGeom prst="roundRect">
            <a:avLst>
              <a:gd name="adj" fmla="val 3593"/>
            </a:avLst>
          </a:prstGeom>
          <a:solidFill>
            <a:srgbClr val="F1F4EF"/>
          </a:solidFill>
          <a:ln w="9525">
            <a:solidFill>
              <a:srgbClr val="DCE4DA"/>
            </a:solidFill>
            <a:prstDash val="solid"/>
          </a:ln>
        </p:spPr>
      </p:sp>
      <p:sp>
        <p:nvSpPr>
          <p:cNvPr id="20" name="Shape 18"/>
          <p:cNvSpPr/>
          <p:nvPr/>
        </p:nvSpPr>
        <p:spPr>
          <a:xfrm>
            <a:off x="9280931" y="2103120"/>
            <a:ext cx="566928" cy="566928"/>
          </a:xfrm>
          <a:prstGeom prst="ellipse">
            <a:avLst/>
          </a:prstGeom>
          <a:solidFill>
            <a:srgbClr val="1F5C3A"/>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C72"/>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Un partenaire local pour le Maroc</a:t>
            </a:r>
            <a:endParaRPr lang="en-US" sz="3000" dirty="0"/>
          </a:p>
        </p:txBody>
      </p:sp>
      <p:sp>
        <p:nvSpPr>
          <p:cNvPr id="4" name="Shape 2"/>
          <p:cNvSpPr/>
          <p:nvPr/>
        </p:nvSpPr>
        <p:spPr>
          <a:xfrm>
            <a:off x="594360" y="1874520"/>
            <a:ext cx="2545004" cy="2834640"/>
          </a:xfrm>
          <a:prstGeom prst="roundRect">
            <a:avLst>
              <a:gd name="adj" fmla="val 3593"/>
            </a:avLst>
          </a:prstGeom>
          <a:solidFill>
            <a:srgbClr val="F1F4EF"/>
          </a:solidFill>
          <a:ln w="9525">
            <a:solidFill>
              <a:srgbClr val="DCE4DA"/>
            </a:solidFill>
            <a:prstDash val="solid"/>
          </a:ln>
        </p:spPr>
      </p:sp>
      <p:sp>
        <p:nvSpPr>
          <p:cNvPr id="5" name="Shape 3"/>
          <p:cNvSpPr/>
          <p:nvPr/>
        </p:nvSpPr>
        <p:spPr>
          <a:xfrm>
            <a:off x="822960" y="2103120"/>
            <a:ext cx="566928" cy="566928"/>
          </a:xfrm>
          <a:prstGeom prst="ellipse">
            <a:avLst/>
          </a:prstGeom>
          <a:solidFill>
            <a:srgbClr val="1F5C3A"/>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F1F4EF"/>
          </a:solidFill>
          <a:ln w="9525">
            <a:solidFill>
              <a:srgbClr val="DCE4DA"/>
            </a:solidFill>
            <a:prstDash val="solid"/>
          </a:ln>
        </p:spPr>
      </p:sp>
      <p:sp>
        <p:nvSpPr>
          <p:cNvPr id="10" name="Shape 8"/>
          <p:cNvSpPr/>
          <p:nvPr/>
        </p:nvSpPr>
        <p:spPr>
          <a:xfrm>
            <a:off x="3642284" y="2103120"/>
            <a:ext cx="566928" cy="566928"/>
          </a:xfrm>
          <a:prstGeom prst="ellipse">
            <a:avLst/>
          </a:prstGeom>
          <a:solidFill>
            <a:srgbClr val="1F5C3A"/>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F1F4EF"/>
          </a:solidFill>
          <a:ln w="9525">
            <a:solidFill>
              <a:srgbClr val="DCE4DA"/>
            </a:solidFill>
            <a:prstDash val="solid"/>
          </a:ln>
        </p:spPr>
      </p:sp>
      <p:sp>
        <p:nvSpPr>
          <p:cNvPr id="15" name="Shape 13"/>
          <p:cNvSpPr/>
          <p:nvPr/>
        </p:nvSpPr>
        <p:spPr>
          <a:xfrm>
            <a:off x="6461608" y="2103120"/>
            <a:ext cx="566928" cy="566928"/>
          </a:xfrm>
          <a:prstGeom prst="ellipse">
            <a:avLst/>
          </a:prstGeom>
          <a:solidFill>
            <a:srgbClr val="1F5C3A"/>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1F4EF"/>
          </a:solidFill>
          <a:ln w="9525">
            <a:solidFill>
              <a:srgbClr val="DCE4DA"/>
            </a:solidFill>
            <a:prstDash val="solid"/>
          </a:ln>
        </p:spPr>
      </p:sp>
      <p:sp>
        <p:nvSpPr>
          <p:cNvPr id="20" name="Shape 18"/>
          <p:cNvSpPr/>
          <p:nvPr/>
        </p:nvSpPr>
        <p:spPr>
          <a:xfrm>
            <a:off x="9280931" y="2103120"/>
            <a:ext cx="566928" cy="566928"/>
          </a:xfrm>
          <a:prstGeom prst="ellipse">
            <a:avLst/>
          </a:prstGeom>
          <a:solidFill>
            <a:srgbClr val="1F5C3A"/>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F5C3A"/>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3423A"/>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C72"/>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Variabilité interannuelle de la pluviométrie : une campagne humide masque l'intérêt du produit.</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Fragmentation du foncier : beaucoup de petites exploitations, décision d'achat dispersée.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Concurrence de solutions bas de gamme à base de sodium, qui ont laissé de mauvais souvenirs.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Trésorerie des exploitations après plusieurs campagnes déficitaires.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Conduire l'essai sur un cycle complet avec parcelle témoin, pour objectiver le gain même en année favorable.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Passer par les coopératives et les groupements, plutôt que par l'exploitation individuelle.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Documenter la différence de formulation : potassium et non sodium, compatible cultures alimentaires.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Étaler l'engagement : la durée d'effet de 3 à 4 ans amortit le coût sur plusieurs campagnes.</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Analyse acrylamide (laboratoire Polymex, ISO 9001, teneur inférieure à 3,0 µg/g), screening REACH / SVHC (SGS) et certificat SOHISCERT valable jusqu'au 4 septembre 2027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E3B23C"/>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123324"/>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Haut-Commissariat au Plan (HCP) : comptes nationaux et emploi.</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Ministère de l'Agriculture : stratégie Génération Green, statistiques des filières.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Office des changes : exportations agroalimentaires.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FAO (FAOSTAT, AQUASTAT) et Banque mondiale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F5C3A"/>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3423A"/>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F1F4EF"/>
          </a:solidFill>
          <a:ln w="9525">
            <a:solidFill>
              <a:srgbClr val="DCE4DA"/>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C72"/>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C72">
                    <a:alpha val="80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C72">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d'irrigation,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E3B23C"/>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Maroc</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2026-09-15T23:09:25Z</dcterms:created>
  <dcterms:modified xsi:type="dcterms:W3CDTF">2026-09-15T23:09:25Z</dcterms:modified>
</cp:coreProperties>
</file>