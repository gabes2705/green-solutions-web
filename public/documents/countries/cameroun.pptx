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Indice mondial du nombre et de la durée des sécheresses</c:v>
                </c:pt>
              </c:strCache>
            </c:strRef>
          </c:tx>
          <c:spPr>
            <a:solidFill>
              <a:srgbClr val="1F5C3A"/>
            </a:solidFill>
            <a:effectLst/>
          </c:spPr>
          <c:invertIfNegative val="0"/>
          <c:dLbls>
            <c:numFmt formatCode="[$-40C]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2332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5C3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3B23C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1980–1999</c:v>
                  </c:pt>
                  <c:pt idx="1">
                    <c:v>Depuis 2000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129</c:v>
                </c:pt>
              </c:numCache>
            </c:numRef>
          </c:val>
        </c:ser>
        <c:dLbls>
          <c:numFmt formatCode="[$-40C]0" sourceLinked="0"/>
          <c:txPr>
            <a:bodyPr/>
            <a:lstStyle/>
            <a:p>
              <a:pPr>
                <a:defRPr b="0" i="0" strike="noStrike" sz="1100" u="none">
                  <a:solidFill>
                    <a:srgbClr val="123324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C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"/>
          <c:min val="0"/>
        </c:scaling>
        <c:delete val="0"/>
        <c:axPos val="l"/>
        <c:majorGridlines>
          <c:spPr>
            <a:ln w="9525" cap="flat">
              <a:solidFill>
                <a:srgbClr val="DCE4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C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Prélèvements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F5C3A"/>
              </a:solidFill>
              <a:effectLst/>
            </c:spPr>
          </c:dPt>
          <c:dPt>
            <c:idx val="1"/>
            <c:bubble3D val="0"/>
            <c:spPr>
              <a:solidFill>
                <a:srgbClr val="E3B23C"/>
              </a:solidFill>
              <a:effectLst/>
            </c:spPr>
          </c:dPt>
          <c:dPt>
            <c:idx val="2"/>
            <c:bubble3D val="0"/>
            <c:spPr>
              <a:solidFill>
                <a:srgbClr val="76A489"/>
              </a:solidFill>
              <a:effectLst/>
            </c:spPr>
          </c:dPt>
          <c:dLbls>
            <c:dLbl>
              <c:idx val="0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0C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Agriculture</c:v>
                </c:pt>
                <c:pt idx="1">
                  <c:v>Eau potable</c:v>
                </c:pt>
                <c:pt idx="2">
                  <c:v>Industrie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74</c:v>
                </c:pt>
                <c:pt idx="1">
                  <c:v>18</c:v>
                </c:pt>
                <c:pt idx="2">
                  <c:v>8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Production annuelle (millions de tonnes)</c:v>
                </c:pt>
              </c:strCache>
            </c:strRef>
          </c:tx>
          <c:spPr>
            <a:solidFill>
              <a:srgbClr val="1F5C3A"/>
            </a:solidFill>
            <a:effectLst/>
          </c:spPr>
          <c:invertIfNegative val="0"/>
          <c:dLbls>
            <c:numFmt formatCode="[$-40C]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2332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5C3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3B23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6A48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772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E7D64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Manioc</c:v>
                  </c:pt>
                  <c:pt idx="1">
                    <c:v>Banane plantain</c:v>
                  </c:pt>
                  <c:pt idx="2">
                    <c:v>Maïs</c:v>
                  </c:pt>
                  <c:pt idx="3">
                    <c:v>Coton-graine</c:v>
                  </c:pt>
                  <c:pt idx="4">
                    <c:v>Cacao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5.5</c:v>
                </c:pt>
                <c:pt idx="1">
                  <c:v>4.5</c:v>
                </c:pt>
                <c:pt idx="2">
                  <c:v>2.3</c:v>
                </c:pt>
                <c:pt idx="3">
                  <c:v>0.35</c:v>
                </c:pt>
                <c:pt idx="4">
                  <c:v>0.31</c:v>
                </c:pt>
              </c:numCache>
            </c:numRef>
          </c:val>
        </c:ser>
        <c:dLbls>
          <c:numFmt formatCode="[$-40C]0.0" sourceLinked="0"/>
          <c:txPr>
            <a:bodyPr/>
            <a:lstStyle/>
            <a:p>
              <a:pPr>
                <a:defRPr b="0" i="0" strike="noStrike" sz="1100" u="none">
                  <a:solidFill>
                    <a:srgbClr val="123324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C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CE4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C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Fourchette basse (%)</c:v>
                </c:pt>
              </c:strCache>
            </c:strRef>
          </c:tx>
          <c:spPr>
            <a:solidFill>
              <a:srgbClr val="1F5C3A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2332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Micro-aspersion</c:v>
                  </c:pt>
                  <c:pt idx="2">
                    <c:v>Aspersion</c:v>
                  </c:pt>
                  <c:pt idx="3">
                    <c:v>Arrosage manuel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45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Fourchette haute (%)</c:v>
                </c:pt>
              </c:strCache>
            </c:strRef>
          </c:tx>
          <c:spPr>
            <a:solidFill>
              <a:srgbClr val="E3B23C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2332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Micro-aspersion</c:v>
                  </c:pt>
                  <c:pt idx="2">
                    <c:v>Aspersion</c:v>
                  </c:pt>
                  <c:pt idx="3">
                    <c:v>Arrosage manuel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60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[$-40C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23324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C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CE4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C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image" Target="../media/image-12-2.jpeg"/><Relationship Id="rId3" Type="http://schemas.openxmlformats.org/officeDocument/2006/relationships/image" Target="../media/image-12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/workspace/scratch/50eb4f7d8e13/green-solutions-web/public/images/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457200"/>
            <a:ext cx="603504" cy="603504"/>
          </a:xfrm>
          <a:prstGeom prst="rect">
            <a:avLst/>
          </a:prstGeom>
        </p:spPr>
      </p:pic>
      <p:pic>
        <p:nvPicPr>
          <p:cNvPr id="6" name="Image 2" descr="/workspace/scratch/50eb4f7d8e13/green-solutions-web/scripts/dossiers/drapeaux/camerou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9991" y="1389888"/>
            <a:ext cx="1964425" cy="13106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3649991" y="1389888"/>
            <a:ext cx="1964425" cy="131064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8368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RÉPUBLIQUE DU CAMEROUN</a:t>
            </a:r>
            <a:endParaRPr lang="en-US" sz="2400" dirty="0"/>
          </a:p>
        </p:txBody>
      </p:sp>
      <p:sp>
        <p:nvSpPr>
          <p:cNvPr id="9" name="Shape 4"/>
          <p:cNvSpPr/>
          <p:nvPr/>
        </p:nvSpPr>
        <p:spPr>
          <a:xfrm>
            <a:off x="658368" y="2889504"/>
            <a:ext cx="2788920" cy="45720"/>
          </a:xfrm>
          <a:prstGeom prst="rect">
            <a:avLst/>
          </a:prstGeom>
          <a:solidFill>
            <a:srgbClr val="E3B23C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8368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3B2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Yaoundé · 2026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Cacao, coton, banane et vivrier, du Sud humide au Grand Nord sahélien.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l'hydro-rétention change quand la saison sèche s'allonge.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8368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ECOSORB® · ECOFERT® · NAPEMA® · PAULOWNIA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Septembre 2026 · Document confidentiel · À l'usage exclusif du destinataire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MARCHÉ EN BREF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agriculture qui fait vivre plus de quatre actifs sur dix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17 %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PIB provient de l'agriculture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43 %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population active travaille dans le secteur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309 000 t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cacao récoltées en 2024/25, un record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350 000 t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coton-graine attendues dans le Grand Nord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pays compte environ 30 millions d'habitants et une agriculture très diversifiée, portée par des centaines de milliers de petites exploitations. Les filières d'exportation — cacao, coton, banane, café, hévéa — côtoient un vivrier qui nourrit les villes et une partie des pays voisins de la zone CEMAC.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Cameroun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CONTRAINTE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Deux climats, une même fragilité face à l'eau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Sud, 1 500 à 3 000 mm de pluie par an, mais des saisons sèches qui s'allongent et se décalent : les jeunes cacaoyers et les bananiers en souffrent les premiers.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Nord, la pluie tombe en quatre à cinq mois : chaque sécheresse en début de cycle coûte des semaines de croissance au coton et aux céréales.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lac Tchad a perdu l'essentiel de sa superficie depuis les années 1960, et la dégradation des terres progresse dans les régions septentrionales.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Inondations et ravageurs ont fait reculer les surfaces de coton, dont le rendement est passé d'environ 1 600 à 1 300 kg/ha.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Presque toute la production est pluviale : l'enjeu n'est pas de pomper davantage, mais de garder l'eau de pluie dans la zone racinaire au moment où la plante en a besoin.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Cameroun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SÉCHERESSE ET STRESS HYDRIQUE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pression augmente, mais le risque se lit localement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Deux indicateurs, pas un raccourci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l’échelle mondiale, le nombre et la durée des sécheresses ont augmenté de 29 % depuis 2000 par rapport aux deux décennies précédentes.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stress hydrique mesure autre chose : les prélèvements rapportés aux ressources renouvelables disponibles après les besoins environnementaux. Ce signal mondial n’est donc pas une prévision nationale ; il doit être confronté aux pluies, aux nappes, aux saisons et aux usages locaux.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Cameroun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PART L'EAU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L'agriculture, premier poste de prélèvement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cela implique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prélèvements restent faibles au regard de la ressource du Sud : le pays n'est pas en pénurie d'eau à l'échelle nationale.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contrainte est locale et saisonnière — le Grand Nord, la saison sèche, les jeunes plantations. C'est là que l'hydro-rétention se mesure.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Cameroun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ÉCONOMIE ET SÉCURITÉ ALIMENTAIRE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exportateur agricole qui importe encore son riz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producteurs mondiaux de cacao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30 M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d'habitants, dont plus de la moitié en ville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800 000 t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riz importées chaque année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12 M ha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terres dégradées, dont les deux tiers au Nord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Cameroun approvisionne ses voisins de la CEMAC en produits vivriers, mais importe l'essentiel de son riz, de son blé et de son poisson. La politique d'import-substitution vise à produire localement une part croissante de ces volumes.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Cameroun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FILIÈRES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Cinq productions structurent l'offre agricole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Manioc, plantain et maïs nourrissent le pays ; cacao et coton rapportent les devises.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filières d'exportation pèsent peu en tonnes mais beaucoup en valeur, et elles sont encadrées : c'est là qu'un essai mesuré se transforme le plus vite en décision.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Cameroun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FILIÈRE PHARE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Cacao : un record à transformer en rendement durable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campagne 2024/25 a dépassé pour la première fois 300 000 tonnes, portée par des prix mondiaux historiquement élevés.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production repose sur des centaines de milliers de petites exploitations du Centre, du Sud et du Sud-Ouest, aux vergers souvent âgés.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rendement moyen reste faible, et la variabilité des pluies pèse sur chaque récolte comme sur la reprise des jeunes plants.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acheteurs européens exigent traçabilité, zéro déforestation et limites strictes de résidus : NAPEMA® protège sans résidu.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la replantation, EVERGREEN® dans le trou de plantation sécurise la reprise pendant la première saison sèche.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Cameroun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RÉPONSE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Retenir l'eau, nourrir sans épuiser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retenir l'eau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Hydro-rétenteur à base de potassium, placé dans la zone racinaire à la plantation ou à la replantation.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Capte l'eau de pluie ou d'irrigation et la restitue progressivement, ce qui protège les jeunes plants pendant la saison sèche.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 d'absorption de l'ordre de 300 fois son poids ; durée d'effet utile de 3 à 4 ans dans le sol.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dégrade de 20 à 25 % par an, sans accumulation ni risque de surdosage.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nourrir sans épuiser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Fertilisant en microdoses d'acides aminés, azote, phosphore et potassium, issu de ressources renouvelables.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chélatant : il n'appauvrit pas le complexe argilo-humique de sols cultivés depuis des générations.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Certifié SOHISCERT et EU Bio, utilisé dans 60 pays — argument utile pour les filières cacao et café exportatrices.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à 4 flacons de 140 ml par hectare, compatibles avec un pulvérisateur à dos comme avec la fertirrigation.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deux produits se vendent séparément mais ont été conçus pour se renforcer : l'hydro-rétenteur prolonge la disponibilité de l'eau, le fertilisant valorise cette eau sans dégrader le sol.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Cameroun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reste de la gamme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Protéger les cultures, fixer les sols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NAPEMA® — protéger sans résidu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Lutte contre maladies, parasites, champignons et ravageurs, sans molécule de synthèse.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Pulvérisation foliaire et racinaire, à effet préventif comme curatif.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résidu dans le sol, la plante ou l'air : pollinisateurs et auxiliaires préservés.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Formulé sur mesure pour un problème précis : cochenille, HLB des agrumes, nématodes.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Paulownia ALTIFOLIA® — l'arbre des régions chaudes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à 15 m en six à huit ans, avec un tronc de gros diamètre.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Associé à 100 g d'EVERGREEN® par plant, l'irrigation nécessaire diminue de 50 %.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Résiste de −25 °C à +45 °C ; son bois ne s'enflamme qu'à partir de 426 °C.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Brise-vent, protection des sols contre l'érosion, 400 à 700 kg de miel par hectare.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Plants livrés en pot (25 à 30 cm), certifiés indemnes de maladies et remplacés sous garantie en cas de perte. Première coupe à la fin de la sixième année, bois valorisé autour de 400 à 450 € le m³.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Cameroun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ORDRES DE GRANDEUR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Économie d'eau attendue selon le mode d'arrosage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lire avec prudence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fourchettes sont indicatives et fondées sur les gains documentés de nos hydro-rétenteurs.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résultat réel dépend du sol, du climat et de la culture. Ces chiffres donnent un ordre de grandeur : ils ne constituent en aucun cas une valeur garantie, contractuelle ou absolue.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Cameroun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TERRAINS PRIORITAIRES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Où engager les premiers essais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Centre et Sud — cacao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97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309 000 t en 2024/25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Petites cacaoyères familiales, souvent âgées, où la replantation est la priorité des programmes publics.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Mortalité des jeunes plants en saison sèche : l'hydro-rétenteur se juge au taux de reprise.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Coopératives et exportateurs déjà organisés pour suivre des parcelles.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Grand Nord — coton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97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de 200 000 familles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Producteurs encadrés par la SODECOTON, avec des intrants distribués en début de campagne.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Pluie concentrée sur quelques mois et poches de sécheresse au semis.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réseau d'encadrement qui permet un essai coordonné sur de nombreux sites.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Moungo et Littoral — banane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97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Banane d'export et vivrier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Plantations de banane dessert autour de Njombé-Penja, suivies bloc par bloc.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Sols volcaniques fertiles, mais saison sèche marquée de décembre à mars.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Volumes contractualisables et protocole d'essai facile à tenir sur un bloc homogène.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Cameroun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NOUS PROCÉDONS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déploiement par étapes, mesuré à chaque palier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F5C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Diagnostic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du sol, du mode d'arrosage et de la culture. Aucun engagement à ce stade.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F5C3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Parcelle témoin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essai comparatif sur un bloc, avec parcelle témoin conduite à l'identique.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F5C3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Mesure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Relevés de reprise, de consommation et de rendement à cheval sur la saison sèche.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F5C3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Généralisation progressive aux autres parcelles sur la base des résultats constatés.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B7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règle de dosage est la même partout : 3 grammes par litre de terre utile. Ce qui change d'un terrain à l'autre, c'est le volume de terre effectivement exploré par les racines.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Cameroun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QU'IL FAUT ANTICIPER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 identifiés et réponses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Logistique intérieure et coût du transport entre Douala et le Grand Nord.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Insécurité dans une partie de l'Extrême-Nord et des régions du Nord-Ouest et du Sud-Ouest.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Trésorerie limitée des petits producteurs, qui achètent souvent leurs intrants à crédit.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 peu connu, parfois confondu avec les polymères à base de sodium.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Réponses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Passer par les structures d'encadrement et les coopératives pour grouper achats et suivi.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des sites d'essai accessibles et sûrs, puis étendre selon les résultats.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Raisonner le coût sur 3 à 4 ans d'effet utile et sur la reprise des jeunes plants.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Documenter la formulation potassique, sans sodium, compatible avec les cultures alimentaires.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acrylamide (laboratoire Polymex, ISO 9001, teneur inférieure à 3,0 µg/g) et screening REACH / SVHC (SGS) disponibles sur demande, ainsi que le certificat SOHISCERT valable jusqu'au 4 septembre 2027.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Cameroun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et hypothèses de travail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principales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UNCCD, Drought in Numbers 2022 : nombre et durée des sécheresses, +29 % depuis 2000 par rapport à 1980–1999.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ONU-Eau / FAO AQUASTAT, indicateur ODD 6.4.2 : définition et seuils du stress hydrique.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Photographies : Amcaja (CC BY-SA 3.0), Perez Mekem (CC BY-SA 4.0), Hnkamwa (CC BY-SA 4.0), Barada-nikto (CC BY-SA 4.0), CHRISTONALDO (CC BY-SA 4.0), PRA (CC BY-SA 3.0), Adesolive (CC BY-SA 4.0) — via Wikimedia Commons.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Hypothèses de travail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chiffres sont des ordres de grandeur arrondis, tirés des dernières données publiques disponibles.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gains d'eau et de rendement sont indicatifs et varient selon le sol, le climat et la culture.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34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de travail commercial : chiffres à actualiser avant toute soumission officielle.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1F4EF"/>
          </a:solidFill>
          <a:ln w="9525">
            <a:solidFill>
              <a:srgbClr val="DCE4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C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Rapports d'essais, certificats (SOHISCERT, analyses Polymex et SGS) et fiches techniques : disponibles sur demande.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Cameroun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C7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Dites-nous votre parcelle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Culture, mode d'arrosage, nature du sol, volume d'eau consommé aujourd'hui. Nous revenons avec la combinaison de technologies correspondante, les dosages, et les essais déjà conduits dans des situations comparables.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premier échange n'engage à rien.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3B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Green Solutions Groupe AIM SA, 46, route de la Condémine, 1475 Forel, Suisse</a:t>
            </a:r>
            <a:endParaRPr lang="en-US" sz="1400" dirty="0"/>
          </a:p>
        </p:txBody>
      </p:sp>
      <p:pic>
        <p:nvPicPr>
          <p:cNvPr id="6" name="Image 1" descr="/workspace/scratch/50eb4f7d8e13/green-solutions-web/scripts/dossiers/sceau-aim-clair.png">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0637215" y="5193792"/>
            <a:ext cx="1051560" cy="1051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Cameroun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2026-09-20T00:13:24Z</dcterms:created>
  <dcterms:modified xsi:type="dcterms:W3CDTF">2026-09-20T00:13:24Z</dcterms:modified>
</cp:coreProperties>
</file>