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مؤشر عالمي لعدد فترات الجفاف ومدتها</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cat>
            <c:multiLvlStrRef>
              <c:f>Sheet1!$A$2:$A$3</c:f>
              <c:multiLvlStrCache>
                <c:ptCount val="2"/>
                <c:lvl>
                  <c:pt idx="0">
                    <c:v>1980–1999</c:v>
                  </c:pt>
                  <c:pt idx="1">
                    <c:v>منذ 2000</c:v>
                  </c:pt>
                </c:lvl>
              </c:multiLvlStrCache>
            </c:multiLvlStrRef>
          </c:cat>
          <c:val>
            <c:numRef>
              <c:f>Sheet1!$B$2:$B$3</c:f>
              <c:numCache>
                <c:formatCode>General</c:formatCode>
                <c:ptCount val="2"/>
                <c:pt idx="0">
                  <c:v>100</c:v>
                </c:pt>
                <c:pt idx="1">
                  <c:v>129</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المياه المسحوبة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84</c:v>
                </c:pt>
                <c:pt idx="1">
                  <c:v>12</c:v>
                </c:pt>
                <c:pt idx="2">
                  <c:v>4</c:v>
                </c:pt>
              </c:numCache>
            </c:numRef>
          </c:val>
        </c:ser>
        <c:firstSliceAng val="0"/>
        <c:holeSize val="55"/>
      </c:doughnutChart>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2C6E49"/>
            </a:solidFill>
            <a:effectLst/>
          </c:spPr>
          <c:invertIfNegative val="0"/>
          <c:dLbls>
            <c:numFmt formatCode="[$-401]0.0"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cat>
            <c:multiLvlStrRef>
              <c:f>Sheet1!$A$2:$A$5</c:f>
              <c:multiLvlStrCache>
                <c:ptCount val="4"/>
                <c:lvl>
                  <c:pt idx="0">
                    <c:v>التمور</c:v>
                  </c:pt>
                  <c:pt idx="1">
                    <c:v>الخضروات</c:v>
                  </c:pt>
                  <c:pt idx="2">
                    <c:v>القمح*</c:v>
                  </c:pt>
                  <c:pt idx="3">
                    <c:v>فواكه أخرى</c:v>
                  </c:pt>
                </c:lvl>
              </c:multiLvlStrCache>
            </c:multiLvlStrRef>
          </c:cat>
          <c:val>
            <c:numRef>
              <c:f>Sheet1!$B$2:$B$5</c:f>
              <c:numCache>
                <c:formatCode>General</c:formatCode>
                <c:ptCount val="4"/>
                <c:pt idx="0">
                  <c:v>1.6</c:v>
                </c:pt>
                <c:pt idx="1">
                  <c:v>2.6</c:v>
                </c:pt>
                <c:pt idx="2">
                  <c:v>1</c:v>
                </c:pt>
                <c:pt idx="3">
                  <c:v>0.5</c:v>
                </c:pt>
              </c:numCache>
            </c:numRef>
          </c:val>
        </c:ser>
        <c:dLbls>
          <c:numFmt formatCode="[$-401]0.0"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الطماطم</c:v>
                  </c:pt>
                  <c:pt idx="1">
                    <c:v>الباذنجان</c:v>
                  </c:pt>
                  <c:pt idx="2">
                    <c:v>الخيار</c:v>
                  </c:pt>
                  <c:pt idx="3">
                    <c:v>التمور</c:v>
                  </c:pt>
                </c:lvl>
              </c:multiLvlStrCache>
            </c:multiLvlStrRef>
          </c:cat>
          <c:val>
            <c:numRef>
              <c:f>Sheet1!$B$2:$B$5</c:f>
              <c:numCache>
                <c:formatCode>General</c:formatCode>
                <c:ptCount val="4"/>
                <c:pt idx="0">
                  <c:v>30</c:v>
                </c:pt>
                <c:pt idx="1">
                  <c:v>20</c:v>
                </c:pt>
                <c:pt idx="2">
                  <c:v>20</c:v>
                </c:pt>
                <c:pt idx="3">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الطماطم</c:v>
                  </c:pt>
                  <c:pt idx="1">
                    <c:v>الباذنجان</c:v>
                  </c:pt>
                  <c:pt idx="2">
                    <c:v>الخيار</c:v>
                  </c:pt>
                  <c:pt idx="3">
                    <c:v>التمور</c:v>
                  </c:pt>
                </c:lvl>
              </c:multiLvlStrCache>
            </c:multiLvlStrRef>
          </c:cat>
          <c:val>
            <c:numRef>
              <c:f>Sheet1!$C$2:$C$5</c:f>
              <c:numCache>
                <c:formatCode>General</c:formatCode>
                <c:ptCount val="4"/>
                <c:pt idx="0">
                  <c:v>50</c:v>
                </c:pt>
                <c:pt idx="1">
                  <c:v>35</c:v>
                </c:pt>
                <c:pt idx="2">
                  <c:v>40</c:v>
                </c:pt>
                <c:pt idx="3">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الري بالتنقيط</c:v>
                  </c:pt>
                  <c:pt idx="1">
                    <c:v>الري بالرش</c:v>
                  </c:pt>
                  <c:pt idx="2">
                    <c:v>الري المحوري</c:v>
                  </c:pt>
                  <c:pt idx="3">
                    <c:v>الري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الري بالتنقيط</c:v>
                  </c:pt>
                  <c:pt idx="1">
                    <c:v>الري بالرش</c:v>
                  </c:pt>
                  <c:pt idx="2">
                    <c:v>الري المحوري</c:v>
                  </c:pt>
                  <c:pt idx="3">
                    <c:v>الري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workspace/scratch/50eb4f7d8e13/green-solutions-web/scripts/dossiers/drapeaux/arabie-saoudite.png">    </p:cNvPr>
          <p:cNvPicPr>
            <a:picLocks noChangeAspect="1"/>
          </p:cNvPicPr>
          <p:nvPr/>
        </p:nvPicPr>
        <p:blipFill>
          <a:blip r:embed="rId3"/>
          <a:stretch>
            <a:fillRect/>
          </a:stretch>
        </p:blipFill>
        <p:spPr>
          <a:xfrm>
            <a:off x="6577279" y="1389888"/>
            <a:ext cx="1964425" cy="1310640"/>
          </a:xfrm>
          <a:prstGeom prst="rect">
            <a:avLst/>
          </a:prstGeom>
        </p:spPr>
      </p:pic>
      <p:sp>
        <p:nvSpPr>
          <p:cNvPr id="7" name="Shape 2"/>
          <p:cNvSpPr/>
          <p:nvPr/>
        </p:nvSpPr>
        <p:spPr>
          <a:xfrm>
            <a:off x="6577279" y="1389888"/>
            <a:ext cx="1964425"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العربية السعودية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الرياض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التمور والخضروات المحمية والزراعة المروية تحت قيد مائي دائم.</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زراعة مروية بالكامل تقريباً على موارد غير متجددة</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84 %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سنوياً تستهلكها الزراعة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المساحة المزروعة تعتمد على الري، لا على المطر</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مم</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متوسط هطول الأمطار السنوي في معظم أنحاء المملكة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لا تتجاوز المساحة المزروعة فعلياً نحو مليون هكتار، ولا يتعدى نصيب الزراعة 3 % من إجمالي العمالة، بينما تستورد المملكة ما يقارب 80 % من غذائها. لذلك تجعل رؤية 2030 والاستراتيجية الوطنية للأمن الغذائي من ترشيد المياه في الحقل شرطاً لأي توسّع زراعي، لا خياراً إضافياً.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ماء أحفوري لا يتجدد وأمطار دون 100 مم</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مزرعة تعمل بالري المحوري، وسط المملكة</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لا يوجد في المملكة أي نهر دائم. تعتمد الزراعة أساساً على طبقات جوفية أحفورية — الساق والوجيد وأم الرضمة — تكوّنت مياهها منذ آلاف السنين ولا تتجدد عملياً.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تستهلك الزراعة نحو 84 % من المياه المسحوبة سنوياً: أي ضغط على الموارد يُترجم أولاً إلى قيود على الري وحصص على الآبار.</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تقل الأمطار عن 100 مم في السنة على معظم المساحة، ولا تبلغ 300 إلى 500 مم إلا في مرتفعات عسير، بينما يتجاوز التبخر المحتمل 3 000 مم في المناطق الداخلية.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أوقفت الدولة زراعة القمح المروي تدريجياً حتى عام 2016، ثم منعت زراعة الأعلاف الخضراء عام 2018، حمايةً للمخزون الجوفي.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تحلية المياه تغطي الشرب بأكثر من 5 ملايين متر مكعب يومياً، لكن كلفتها تستبعدها للري. هذه معالجة لجانب العرض؛ أما احتباس الماء في التربة فيعمل على الطلب، عند الجذر.</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الجفاف والإجهاد المائي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الضغط يتزايد، لكن المخاطر تبقى محلية</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مؤشران مختلفان</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عالمياً، ارتفع عدد فترات الجفاف ومدتها بنسبة 29٪ منذ عام 2000 مقارنة بالعقدين السابقين.</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أما الإجهاد المائي فيقيس نسبة السحب إلى الموارد المتجددة المتاحة بعد الاحتياجات البيئية. لذلك لا تمثل هذه الإشارة العالمية توقعاً خاصاً بالدولة، بل يجب قراءتها مع الأمطار والمياه الجوفية والمواسم والاستخدامات المحلية.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يذهب الماء</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يستأثر بمعظم المياه المسحوبة</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الاستهلاك الزراعي بنسبة 10 % يوفّر حجماً من الماء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لهذا ينصبّ الجهد على الحقل نفسه، لا على بقية الاستخدامات.</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قدرة شرائية عالية وقاعدة غذائية ضيقة</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33 مليون</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نخلة في أنحاء المملكة، من أكبر ثروات النخيل في العالم</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1,5 مليار</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ريال قيمة صادرات التمور في عام 2023</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100 %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نسبة الاكتفاء الذاتي من التمور والحليب</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70 %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نسبة الاكتفاء الذاتي من الدواجن، والهدف 80 %</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تشجع رؤية 2030 والاستراتيجية الوطنية للأمن الغذائي الإنتاج المحلي عالي القيمة — التمور والخضروات المحمية والدواجن — وتربطانه بترشيد المياه. أما الفجوة الغذائية فتبقى في الحبوب والأعلاف، ومعظمها مستورد.</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الإنتاج الزراعي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أربعة منتجات تشكّل جوهر الإنتاج المحلي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التمور والخضروات المحمية هما الأعلى قيمة للهكتار، وفيهما يتحول توفير الماء إلى هامش مباشر.</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عاد القمح ضمن حصص محدودة بعد التخلي عن هدف الاكتفاء الذاتي؛ يتغير حجمه من موسم إلى آخر تبعاً للسياسة المائية.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التمور: ثروة وطنية تحت ضغط الماء والملوحة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تتركز زراعة النخيل في القصيم والأحساء والمدينة المنورة والرياض، وتضم المملكة مئات الأصناف، أشهرها السكري والخلاص والعجوة.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يحتاج النخيل إلى كميات كبيرة من ماء الري في الصيف، وما زال كثير من البساتين يُروى بالغمر أو بالأحواض.</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مياه الآبار والتربة تُضعف الإنتاج وجودة الثمار، ولا سيما في الواحات الشرقية.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يدفع المركز الوطني للنخيل والتمور نحو الجودة والتصدير: كل تحسّن في انتظام الثمار قيمة مباشرة.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الحابس للماء عند غرس الفسائل أو حول جذور النخيل القائم يطيل توافر الماء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الخضروات المحمية: كل لتر هامش ربح</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توسعت البيوت المحمية لتقليص استيراد الطماطم والخيار والفلفل، بدعم حكومي للتقنيات الموفّرة للماء.</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حرارة الصيف تفرض التبريد وتزيد الطلب على الماء: الماء والطاقة أكبر بندين في كلفة الإنتاج.</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في التربة الرملية، يؤدي أي انقطاع في الري إلى إجهاد فوري وتساقط الأزهار.</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الخضروات من أكثر المحاصيل استجابة: من 30 إلى 50 % زيادة متوقعة في محصول الطماطم.</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في سلاسل التجزئة الكبرى والتصدير.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احتباس 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حابسة للماء أساسها البوتاسيوم، تُوضع في منطقة الجذور عند الغرس أو عند تجديد الزراعة.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الري أو المطر وتعيده إلى النبات تدريجياً، فتلغي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ومفعول مفيد يمتد من 3 إلى 4 سنوات داخل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 لا يستنزف مركّب الطين والدبال، ولا يرفع الملوحة ولا نسبة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حاصل على شهادة SOHISCERT وشهادة الزراعة العضوية الأوروبية — شرط للدخول في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قنينة إلى أربع قنينات سعة 140 مل للهكتار، متوافق مع أنظمة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يُباع المنتجان منفصلين، غير أنهما صُمّما ليعزّز أحدهما الآخر: الحابس للماء يطيل مدة توافر الماء، والسماد يثمّن هذا الماء المتاح دون إنهاك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أرقام استرشادية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واسترشادية،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تتوقف النتيجة الفعلية على التربة والمناخ والمحصول. وهي تعطي ترتيب حجم فحسب، ولا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مواقع ذات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الأحساء</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2,5 مليون نخلة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أكبر واحة نخيل في العالم، بتربة رملية شديدة النفاذية ومياه ري مالحة نسبياً.</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انخفاض متواصل في منسوب الآبار بعد أن كانت العيون تتدفق من تلقائها.</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زحف الرمال وارتفاع ملوحة التربة يستدعيان حلاً يعمل عند الجذر مباشرة.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القصيم</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أكثر من 8 ملايين نخلة</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الري المحوري في المملكة، معتمد على طبقة الساق الجوفية غير المتجددة.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تجارية كبيرة قادرة على اتخاذ قرار سريع بشأن تجربة ميدانية.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بريدة سوق تمور مرجعية: نتيجة تجربة واحدة تنتشر بسرعة بين المزارعين.</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عسير</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300 إلى 500 مم أمطار</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المنطقة الوحيدة التي تسمح بزراعة بعلية، على مدرجات جبلية ضيقة.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الأمطار موسمية وغير منتظمة: الاحتفاظ بها في التربة هو المسألة الأساسية.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محاصيل عالية القيمة — البن العربي والفواكه — تبرّر كلفة التدخل.</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مع قياس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والإنتاج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بناءً على النتائج المسجّلة.</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المفيدة.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المملكة العربية السعودية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يجب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تربة رملية شديدة النفاذية وحرارة صيفية تتجاوز 45 درجة: تباين كبير في النتائج من قطعة إلى أخرى.</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ملوحة مياه الري والتربة في المناطق الشرقية، وما ترتّب عليها من حذر تجاه أي مادة مضافة.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منتجات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دورات قرار طويلة لدى الشركات الزراعية الكبرى والجهات الحكومية.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 لتوثيق الفارق بالأرقام لا بالوعود.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أساسها البوتاسيوم لا الصوديوم: لا تضيف ملوحة، ومتوافقة مع المحاصيل الغذائية.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تجهيز الملف التنظيمي مبكراً: التحاليل وشهادات المطابقة قبل بدء التفاوض.</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العمل عبر الجمعيات التعاونية الزراعية وبرامج دعم الريف، لا عبر المزارع الفردية.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الهيئة العامة للإحصاء: الناتج المحلي حسب النشاط والإحصاءات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البيئة والمياه والزراعة: الاستراتيجية الوطنية للأمن الغذائي ونسب الاكتفاء الذاتي.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المركز الوطني للنخيل والتمور: أعداد النخيل وصادرات التمور.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اتفاقية الأمم المتحدة لمكافحة التصحر، الجفاف بالأرقام 2022: ارتفاع عدد فترات الجفاف ومدتها 29٪ منذ 2000 مقارنة بـ1980–1999.</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الأمم المتحدة للمياه / أكواستات الفاو، مؤشر الهدف 6.4.2: تعريف الإجهاد المائي وحدوده.</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صور توضيحية فوتوغرافية مفاهيمية: Green Solutions / OpenAI. لا توثّق موقعاً أو تجربة حقيقية.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أخبرنا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الماء المستهلك اليوم. نعود إليكم بالتركيبة المناسبة من التقنيات، والجرعات، والتجارب التي أُجريت في ظروف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يُلزم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2026-09-20T00:16:02Z</dcterms:created>
  <dcterms:modified xsi:type="dcterms:W3CDTF">2026-09-20T00:16:02Z</dcterms:modified>
</cp:coreProperties>
</file>