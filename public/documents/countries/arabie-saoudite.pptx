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7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8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9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المياه المسحوبة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bubble3D val="0"/>
            <c:spPr>
              <a:solidFill>
                <a:srgbClr val="7FA88C"/>
              </a:solidFill>
              <a:effectLst/>
            </c:spPr>
          </c:dPt>
          <c:dLbls>
            <c:dLbl>
              <c:idx val="0"/>
              <c:numFmt formatCode="[$-401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1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1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1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الزراعة</c:v>
                </c:pt>
                <c:pt idx="1">
                  <c:v>مياه الشرب</c:v>
                </c:pt>
                <c:pt idx="2">
                  <c:v>الصناعة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84</c:v>
                </c:pt>
                <c:pt idx="1">
                  <c:v>12</c:v>
                </c:pt>
                <c:pt idx="2">
                  <c:v>4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الإنتاج السنوي (مليون طن)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1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A8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E7A3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التمور</c:v>
                  </c:pt>
                  <c:pt idx="1">
                    <c:v>الخضروات</c:v>
                  </c:pt>
                  <c:pt idx="2">
                    <c:v>القمح*</c:v>
                  </c:pt>
                  <c:pt idx="3">
                    <c:v>فواكه أخرى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1.6</c:v>
                </c:pt>
                <c:pt idx="1">
                  <c:v>2.6</c:v>
                </c:pt>
                <c:pt idx="2">
                  <c:v>1</c:v>
                </c:pt>
                <c:pt idx="3">
                  <c:v>0.5</c:v>
                </c:pt>
              </c:numCache>
            </c:numRef>
          </c:val>
        </c:ser>
        <c:dLbls>
          <c:numFmt formatCode="[$-401]0.0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الحد الأدنى (%)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1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الري بالتنقيط</c:v>
                  </c:pt>
                  <c:pt idx="1">
                    <c:v>الري بالرش</c:v>
                  </c:pt>
                  <c:pt idx="2">
                    <c:v>الري المحوري</c:v>
                  </c:pt>
                  <c:pt idx="3">
                    <c:v>الري بالغمر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الحد الأعلى (%)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[$-401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الري بالتنقيط</c:v>
                  </c:pt>
                  <c:pt idx="1">
                    <c:v>الري بالرش</c:v>
                  </c:pt>
                  <c:pt idx="2">
                    <c:v>الري المحوري</c:v>
                  </c:pt>
                  <c:pt idx="3">
                    <c:v>الري بالغمر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1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18911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77279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7279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arabie-saoud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7279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6577279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8771839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المملكة العربية السعودية</a:t>
            </a:r>
            <a:endParaRPr lang="en-US" sz="2400" dirty="0"/>
          </a:p>
        </p:txBody>
      </p:sp>
      <p:sp>
        <p:nvSpPr>
          <p:cNvPr id="9" name="Shape 4"/>
          <p:cNvSpPr/>
          <p:nvPr/>
        </p:nvSpPr>
        <p:spPr>
          <a:xfrm>
            <a:off x="8744407" y="2889504"/>
            <a:ext cx="2788920" cy="4572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77279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الرياض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77279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التمور والخضروات المحمية والزراعة المروية تحت قيد مائي دائم.</a:t>
            </a:r>
            <a:endParaRPr lang="en-US" sz="1450" dirty="0"/>
          </a:p>
          <a:p>
            <a:pPr rtl="1" algn="r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الذي يغيّره احتباس الماء في التربة على مستوى الحقل.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77279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77279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سبتمبر 2026 · وثيقة سرية · للاستخدام الحصري للمرسل إليه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السوق في سطور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زراعة مروية بالكامل تقريباً على موارد غير متجددة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2,5 %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الناتج المحلي الإجمالي مصدره القطاع الزراعي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84 %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المياه المسحوبة سنوياً تستهلكها الزراعة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90 %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المساحة المزروعة تعتمد على الري، لا على المطر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100 مم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متوسط هطول الأمطار السنوي في معظم أنحاء المملكة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تتجاوز المساحة المزروعة فعلياً نحو مليون هكتار، ولا يتعدى نصيب الزراعة 3 % من إجمالي العمالة، بينما تستورد المملكة ما يقارب 80 % من غذائها. لذلك تجعل رؤية 2030 والاستراتيجية الوطنية للأمن الغذائي من ترشيد المياه في الحقل شرطاً لأي توسّع زراعي، لا خياراً إضافياً.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القيد الأساسي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ماء أحفوري لا يتجدد وأمطار دون 100 مم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F7D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مزرعة تعمل بالري المحوري، وسط المملكة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يوجد في المملكة أي نهر دائم. تعتمد الزراعة أساساً على طبقات جوفية أحفورية — الساق والوجيد وأم الرضمة — تكوّنت مياهها منذ آلاف السنين ولا تتجدد عملياً.</a:t>
            </a:r>
            <a:endParaRPr lang="en-US" sz="1400" dirty="0"/>
          </a:p>
          <a:p>
            <a:pPr algn="r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تستهلك الزراعة نحو 84 % من المياه المسحوبة سنوياً: أي ضغط على الموارد يُترجم أولاً إلى قيود على الري وحصص على الآبار.</a:t>
            </a:r>
            <a:endParaRPr lang="en-US" sz="1400" dirty="0"/>
          </a:p>
          <a:p>
            <a:pPr algn="r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تقل الأمطار عن 100 مم في السنة على معظم المساحة، ولا تبلغ 300 إلى 500 مم إلا في مرتفعات عسير، بينما يتجاوز التبخر المحتمل 3 000 مم في المناطق الداخلية.</a:t>
            </a:r>
            <a:endParaRPr lang="en-US" sz="1400" dirty="0"/>
          </a:p>
          <a:p>
            <a:pPr algn="r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أوقفت الدولة زراعة القمح المروي تدريجياً حتى عام 2016، ثم منعت زراعة الأعلاف الخضراء عام 2018، حمايةً للمخزون الجوفي.</a:t>
            </a:r>
            <a:endParaRPr lang="en-US" sz="1400" dirty="0"/>
          </a:p>
          <a:p>
            <a:pPr algn="r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تحلية المياه تغطي الشرب بأكثر من 5 ملايين متر مكعب يومياً، لكن كلفتها تستبعدها للري. هذه معالجة لجانب العرض؛ أما احتباس الماء في التربة فيعمل على الطلب، عند الجذر.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أين يذهب الماء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الري يستأثر بمعظم المياه المسحوبة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يعنيه ذلك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خفض الاستهلاك الزراعي بنسبة 10 % يوفّر حجماً من الماء أكبر مما يوفّره إلغاء الاستخدام الصناعي بالكامل.</a:t>
            </a:r>
            <a:endParaRPr lang="en-US" sz="1200" dirty="0"/>
          </a:p>
          <a:p>
            <a:pPr rtl="1" algn="r" indent="0" marL="0">
              <a:lnSpc>
                <a:spcPct val="125000"/>
              </a:lnSpc>
              <a:buNone/>
            </a:pPr>
            <a:endParaRPr lang="en-US" sz="12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لهذا ينصبّ الجهد على الحقل نفسه، لا على بقية الاستخدامات.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الإنتاج الزراعي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أربعة منتجات تشكّل جوهر الإنتاج المحلي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قراءة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التمور والخضروات المحمية هما الأعلى قيمة للهكتار، وفيهما يتحول توفير الماء إلى هامش مباشر.</a:t>
            </a:r>
            <a:endParaRPr lang="en-US" sz="1200" dirty="0"/>
          </a:p>
          <a:p>
            <a:pPr rtl="1" algn="r" indent="0" marL="0">
              <a:lnSpc>
                <a:spcPct val="125000"/>
              </a:lnSpc>
              <a:buNone/>
            </a:pPr>
            <a:endParaRPr lang="en-US" sz="12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عاد القمح ضمن حصص محدودة بعد التخلي عن هدف الاكتفاء الذاتي؛ يتغير حجمه من موسم إلى آخر تبعاً للسياسة المائية.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استجابتنا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تقنيتان لقيدين مختلفين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EVERGREEN® — احتباس الماء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مادة حابسة للماء أساسها البوتاسيوم، تُوضع في منطقة الجذور عند الغرس أو عند تجديد الزراعة.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تلتقط ماء الري أو المطر وتعيده إلى النبات تدريجياً، فتلغي الإجهاد المائي في المراحل الحرجة.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قدرة امتصاص تبلغ نحو 300 ضعف وزنها، ومفعول مفيد يمتد من 3 إلى 4 سنوات داخل التربة.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تتحلل بنسبة 20 إلى 25 % سنوياً، دون تراكم ودون خطر جرعة زائدة.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ECOFERT® — تغذية دون إنهاك التربة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سماد بجرعات دقيقة من الأحماض الأمينية والنيتروجين والفوسفور والبوتاسيوم، من موارد متجددة.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غير مخلّب: لا يستنزف مركّب الطين والدبال، ولا يرفع الملوحة ولا نسبة النترات.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حاصل على شهادة SOHISCERT وشهادة الزراعة العضوية الأوروبية — شرط للدخول في دفاتر شروط المشترين الأوروبيين.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قنينة إلى أربع قنينات سعة 140 مل للهكتار، متوافق مع أنظمة الري بالتسميد القائمة.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يُباع المنتجان منفصلين، غير أنهما صُمّما ليعزّز أحدهما الآخر: الحابس للماء يطيل مدة توافر الماء، والسماد يثمّن هذا الماء المتاح دون إنهاك التربة.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أرقام استرشادية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توفير الماء المتوقع حسب أسلوب الري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تُقرأ بتحفّظ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هذه النطاقات تقديرية واسترشادية، مبنية على المكاسب الموثّقة لموادنا الحابسة للماء.</a:t>
            </a:r>
            <a:endParaRPr lang="en-US" sz="1200" dirty="0"/>
          </a:p>
          <a:p>
            <a:pPr rtl="1" algn="r" indent="0" marL="0">
              <a:lnSpc>
                <a:spcPct val="125000"/>
              </a:lnSpc>
              <a:buNone/>
            </a:pPr>
            <a:endParaRPr lang="en-US" sz="1200" dirty="0"/>
          </a:p>
          <a:p>
            <a:pPr rtl="1" algn="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تتوقف النتيجة الفعلية على التربة والمناخ والمحصول. وهي تعطي ترتيب حجم فحسب، ولا تشكّل بأي حال قيمة مضمونة أو تعاقدية أو مطلقة.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ثلاثة مواقع ذات أولوية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أين نبدأ التجارب الأولى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الأحساء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2,5 مليون نخلة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أكبر واحة نخيل في العالم، بتربة رملية شديدة النفاذية ومياه ري مالحة نسبياً.</a:t>
            </a:r>
            <a:endParaRPr lang="en-US" sz="1150" dirty="0"/>
          </a:p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انخفاض متواصل في منسوب الآبار بعد أن كانت العيون تتدفق من تلقائها.</a:t>
            </a:r>
            <a:endParaRPr lang="en-US" sz="1150" dirty="0"/>
          </a:p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زحف الرمال وارتفاع ملوحة التربة يستدعيان حلاً يعمل عند الجذر مباشرة.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القصيم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أكثر من 8 ملايين نخلة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قلب الري المحوري في المملكة، معتمد على طبقة الساق الجوفية غير المتجددة.</a:t>
            </a:r>
            <a:endParaRPr lang="en-US" sz="1150" dirty="0"/>
          </a:p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مزارع تجارية كبيرة قادرة على اتخاذ قرار سريع بشأن تجربة ميدانية.</a:t>
            </a:r>
            <a:endParaRPr lang="en-US" sz="1150" dirty="0"/>
          </a:p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بريدة سوق تمور مرجعية: نتيجة تجربة واحدة تنتشر بسرعة بين المزارعين.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عسير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 إلى 500 مم أمطار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المنطقة الوحيدة التي تسمح بزراعة بعلية، على مدرجات جبلية ضيقة.</a:t>
            </a:r>
            <a:endParaRPr lang="en-US" sz="1150" dirty="0"/>
          </a:p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الأمطار موسمية وغير منتظمة: الاحتفاظ بها في التربة هو المسألة الأساسية.</a:t>
            </a:r>
            <a:endParaRPr lang="en-US" sz="1150" dirty="0"/>
          </a:p>
          <a:p>
            <a:pPr algn="r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محاصيل عالية القيمة — البن العربي والفواكه — تبرّر كلفة التدخل.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كيف نعمل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انتشار على مراحل، مع قياس عند كل خطوة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التشخيص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تحليل التربة وأسلوب الري والمحصول. لا التزام في هذه المرحلة.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قطعة تجريبية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تجربة مقارنة على قطعة واحدة، مع قطعة شاهد تُدار بالطريقة نفسها.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القياس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رصد الاستهلاك المائي والإنتاج على مدى دورة زراعية كاملة.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التوسّع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تعميم تدريجي على بقية القطع بناءً على النتائج المسجّلة.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F7D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قاعدة الجرعة واحدة في كل مكان: 3 غرامات لكل لتر من التربة المفيدة. ما يتغير من أرض إلى أخرى هو حجم التربة الذي تستكشفه الجذور فعلياً.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يجب توقّعه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مخاطر محددة وردود عليها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المخاطر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تربة رملية شديدة النفاذية وحرارة صيفية تتجاوز 45 درجة: تباين كبير في النتائج من قطعة إلى أخرى.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ملوحة مياه الري والتربة في المناطق الشرقية، وما ترتّب عليها من حذر تجاه أي مادة مضافة.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منافسة منتجات رخيصة أساسها الصوديوم تركت انطباعاً سيئاً لدى المزارعين.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دورات قرار طويلة لدى الشركات الزراعية الكبرى والجهات الحكومية.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الردود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إجراء التجربة على دورة كاملة مع قطعة شاهد، لتوثيق الفارق بالأرقام لا بالوعود.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تركيبة أساسها البوتاسيوم لا الصوديوم: لا تضيف ملوحة، ومتوافقة مع المحاصيل الغذائية.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تجهيز الملف التنظيمي مبكراً: التحاليل وشهادات المطابقة قبل بدء التفاوض.</a:t>
            </a:r>
            <a:endParaRPr lang="en-US" sz="1350" dirty="0"/>
          </a:p>
          <a:p>
            <a:pPr algn="r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العمل عبر الجمعيات التعاونية الزراعية وبرامج دعم الريف، لا عبر المزارع الفردية.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تحليل الأكريلاميد (مختبر Polymex، ISO 9001، بتركيز أقل من 3,0 ميكروغرام/غرام) وفحص REACH / SVHC (SGS) وشهادة SOHISCERT السارية حتى 4 سبتمبر 2027: متاحة جميعها عند الطلب.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أخبرنا عن أرضك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المحصول، وأسلوب الري، وطبيعة التربة، وحجم الماء المستهلك اليوم. نعود إليكم بالتركيبة المناسبة من التقنيات، والجرعات، والتجارب التي أُجريت في ظروف مشابهة.</a:t>
            </a:r>
            <a:endParaRPr lang="en-US" sz="1500" dirty="0"/>
          </a:p>
          <a:p>
            <a:pPr rtl="1" algn="r" indent="0" marL="0">
              <a:lnSpc>
                <a:spcPct val="130000"/>
              </a:lnSpc>
              <a:buNone/>
            </a:pPr>
            <a:endParaRPr lang="en-US" sz="1500" dirty="0"/>
          </a:p>
          <a:p>
            <a:pPr rtl="1" algn="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التواصل الأول لا يُلزم بشيء.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Solutions · ملف السوق الزراعي السعودي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2026-09-14T18:06:03Z</dcterms:created>
  <dcterms:modified xsi:type="dcterms:W3CDTF">2026-09-14T18:06:03Z</dcterms:modified>
</cp:coreProperties>
</file>