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المياه المسحوبة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Arial"/>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84</c:v>
                </c:pt>
                <c:pt idx="1">
                  <c:v>12</c:v>
                </c:pt>
                <c:pt idx="2">
                  <c:v>4</c:v>
                </c:pt>
              </c:numCache>
            </c:numRef>
          </c:val>
        </c:ser>
        <c:firstSliceAng val="0"/>
        <c:holeSize val="55"/>
      </c:doughnutChart>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2C6E49"/>
            </a:solidFill>
            <a:effectLst/>
          </c:spPr>
          <c:invertIfNegative val="0"/>
          <c:dLbls>
            <c:numFmt formatCode="[$-401]0.0"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cat>
            <c:multiLvlStrRef>
              <c:f>Sheet1!$A$2:$A$5</c:f>
              <c:multiLvlStrCache>
                <c:ptCount val="4"/>
                <c:lvl>
                  <c:pt idx="0">
                    <c:v>التمور</c:v>
                  </c:pt>
                  <c:pt idx="1">
                    <c:v>الخضروات</c:v>
                  </c:pt>
                  <c:pt idx="2">
                    <c:v>القمح*</c:v>
                  </c:pt>
                  <c:pt idx="3">
                    <c:v>فواكه أخرى</c:v>
                  </c:pt>
                </c:lvl>
              </c:multiLvlStrCache>
            </c:multiLvlStrRef>
          </c:cat>
          <c:val>
            <c:numRef>
              <c:f>Sheet1!$B$2:$B$5</c:f>
              <c:numCache>
                <c:formatCode>General</c:formatCode>
                <c:ptCount val="4"/>
                <c:pt idx="0">
                  <c:v>1.6</c:v>
                </c:pt>
                <c:pt idx="1">
                  <c:v>2.6</c:v>
                </c:pt>
                <c:pt idx="2">
                  <c:v>1</c:v>
                </c:pt>
                <c:pt idx="3">
                  <c:v>0.5</c:v>
                </c:pt>
              </c:numCache>
            </c:numRef>
          </c:val>
        </c:ser>
        <c:dLbls>
          <c:numFmt formatCode="[$-401]0.0"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الطماطم</c:v>
                  </c:pt>
                  <c:pt idx="1">
                    <c:v>الباذنجان</c:v>
                  </c:pt>
                  <c:pt idx="2">
                    <c:v>الخيار</c:v>
                  </c:pt>
                  <c:pt idx="3">
                    <c:v>التمور</c:v>
                  </c:pt>
                </c:lvl>
              </c:multiLvlStrCache>
            </c:multiLvlStrRef>
          </c:cat>
          <c:val>
            <c:numRef>
              <c:f>Sheet1!$B$2:$B$5</c:f>
              <c:numCache>
                <c:formatCode>General</c:formatCode>
                <c:ptCount val="4"/>
                <c:pt idx="0">
                  <c:v>30</c:v>
                </c:pt>
                <c:pt idx="1">
                  <c:v>20</c:v>
                </c:pt>
                <c:pt idx="2">
                  <c:v>20</c:v>
                </c:pt>
                <c:pt idx="3">
                  <c:v>20</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الطماطم</c:v>
                  </c:pt>
                  <c:pt idx="1">
                    <c:v>الباذنجان</c:v>
                  </c:pt>
                  <c:pt idx="2">
                    <c:v>الخيار</c:v>
                  </c:pt>
                  <c:pt idx="3">
                    <c:v>التمور</c:v>
                  </c:pt>
                </c:lvl>
              </c:multiLvlStrCache>
            </c:multiLvlStrRef>
          </c:cat>
          <c:val>
            <c:numRef>
              <c:f>Sheet1!$C$2:$C$5</c:f>
              <c:numCache>
                <c:formatCode>General</c:formatCode>
                <c:ptCount val="4"/>
                <c:pt idx="0">
                  <c:v>50</c:v>
                </c:pt>
                <c:pt idx="1">
                  <c:v>35</c:v>
                </c:pt>
                <c:pt idx="2">
                  <c:v>40</c:v>
                </c:pt>
                <c:pt idx="3">
                  <c:v>40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الري بالتنقيط</c:v>
                  </c:pt>
                  <c:pt idx="1">
                    <c:v>الري بالرش</c:v>
                  </c:pt>
                  <c:pt idx="2">
                    <c:v>الري المحوري</c:v>
                  </c:pt>
                  <c:pt idx="3">
                    <c:v>الري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cat>
            <c:multiLvlStrRef>
              <c:f>Sheet1!$A$2:$A$5</c:f>
              <c:multiLvlStrCache>
                <c:ptCount val="4"/>
                <c:lvl>
                  <c:pt idx="0">
                    <c:v>الري بالتنقيط</c:v>
                  </c:pt>
                  <c:pt idx="1">
                    <c:v>الري بالرش</c:v>
                  </c:pt>
                  <c:pt idx="2">
                    <c:v>الري المحوري</c:v>
                  </c:pt>
                  <c:pt idx="3">
                    <c:v>الري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arabie-saoudit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العربية السعودية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الرياض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التمور والخضروات المحمية والزراعة المروية تحت قيد مائي دائم.</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زراعة مروية بالكامل تقريباً على موارد غير متجددة</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2,5 %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84 %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سنوياً تستهلكها الزراعة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90 %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المساحة المزروعة تعتمد على الري، لا على المطر</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مم</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متوسط هطول الأمطار السنوي في معظم أنحاء المملكة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لا تتجاوز المساحة المزروعة فعلياً نحو مليون هكتار، ولا يتعدى نصيب الزراعة 3 % من إجمالي العمالة، بينما تستورد المملكة ما يقارب 80 % من غذائها. لذلك تجعل رؤية 2030 والاستراتيجية الوطنية للأمن الغذائي من ترشيد المياه في الحقل شرطاً لأي توسّع زراعي، لا خياراً إضافياً.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ماء أحفوري لا يتجدد وأمطار دون 100 مم</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F7D71"/>
                </a:solidFill>
                <a:latin typeface="Arial" pitchFamily="34" charset="0"/>
                <a:ea typeface="Arial" pitchFamily="34" charset="-122"/>
                <a:cs typeface="Arial" pitchFamily="34" charset="-120"/>
              </a:rPr>
              <a:t>مزرعة تعمل بالري المحوري، وسط المملكة</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لا يوجد في المملكة أي نهر دائم. تعتمد الزراعة أساساً على طبقات جوفية أحفورية — الساق والوجيد وأم الرضمة — تكوّنت مياهها منذ آلاف السنين ولا تتجدد عملياً.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تستهلك الزراعة نحو 84 % من المياه المسحوبة سنوياً: أي ضغط على الموارد يُترجم أولاً إلى قيود على الري وحصص على الآبار.</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تقل الأمطار عن 100 مم في السنة على معظم المساحة، ولا تبلغ 300 إلى 500 مم إلا في مرتفعات عسير، بينما يتجاوز التبخر المحتمل 3 000 مم في المناطق الداخلية.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أوقفت الدولة زراعة القمح المروي تدريجياً حتى عام 2016، ثم منعت زراعة الأعلاف الخضراء عام 2018، حمايةً للمخزون الجوفي.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تحلية المياه تغطي الشرب بأكثر من 5 ملايين متر مكعب يومياً، لكن كلفتها تستبعدها للري. هذه معالجة لجانب العرض؛ أما احتباس الماء في التربة فيعمل على الطلب، عند الجذر.</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يذهب الماء</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يستأثر بمعظم المياه المسحوبة</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الاستهلاك الزراعي بنسبة 10 % يوفّر حجماً من الماء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لهذا ينصبّ الجهد على الحقل نفسه، لا على بقية الاستخدامات.</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قدرة شرائية عالية وقاعدة غذائية ضيقة</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33 مليون</a:t>
            </a:r>
            <a:endParaRPr lang="en-US" sz="30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نخلة في أنحاء المملكة، من أكبر ثروات النخيل في العالم</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2C6E49"/>
                </a:solidFill>
                <a:latin typeface="Arial" pitchFamily="34" charset="0"/>
                <a:ea typeface="Arial" pitchFamily="34" charset="-122"/>
                <a:cs typeface="Arial" pitchFamily="34" charset="-120"/>
              </a:rPr>
              <a:t>≈ 1,5 مليار</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ريال قيمة صادرات التمور في عام 2023</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&gt; 100 %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نسبة الاكتفاء الذاتي من التمور والحليب</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70 %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نسبة الاكتفاء الذاتي من الدواجن، والهدف 80 %</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تشجع رؤية 2030 والاستراتيجية الوطنية للأمن الغذائي الإنتاج المحلي عالي القيمة — التمور والخضروات المحمية والدواجن — وتربطانه بترشيد المياه. أما الفجوة الغذائية فتبقى في الحبوب والأعلاف، ومعظمها مستورد.</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الإنتاج الزراعي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أربعة منتجات تشكّل جوهر الإنتاج المحلي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التمور والخضروات المحمية هما الأعلى قيمة للهكتار، وفيهما يتحول توفير الماء إلى هامش مباشر.</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عاد القمح ضمن حصص محدودة بعد التخلي عن هدف الاكتفاء الذاتي؛ يتغير حجمه من موسم إلى آخر تبعاً للسياسة المائية.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التمور: ثروة وطنية تحت ضغط الماء والملوحة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تتركز زراعة النخيل في القصيم والأحساء والمدينة المنورة والرياض، وتضم المملكة مئات الأصناف، أشهرها السكري والخلاص والعجوة.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يحتاج النخيل إلى كميات كبيرة من ماء الري في الصيف، وما زال كثير من البساتين يُروى بالغمر أو بالأحواض.</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ملوحة مياه الآبار والتربة تُضعف الإنتاج وجودة الثمار، ولا سيما في الواحات الشرقية.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يدفع المركز الوطني للنخيل والتمور نحو الجودة والتصدير: كل تحسّن في انتظام الثمار قيمة مباشرة.</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وضع الحابس للماء عند غرس الفسائل أو حول جذور النخيل القائم يطيل توافر الماء بين الريّات.</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الخضروات المحمية: كل لتر هامش ربح</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توسعت البيوت المحمية لتقليص استيراد الطماطم والخيار والفلفل، بدعم حكومي للتقنيات الموفّرة للماء.</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حرارة الصيف تفرض التبريد وتزيد الطلب على الماء: الماء والطاقة أكبر بندين في كلفة الإنتاج.</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في التربة الرملية، يؤدي أي انقطاع في الري إلى إجهاد فوري وتساقط الأزهار.</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الخضروات من أكثر المحاصيل استجابة: من 30 إلى 50 % زيادة متوقعة في محصول الطماطم.</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‏NAPEMA® يعالج الآفات دون متبقيات، وهو شرط في سلاسل التجزئة الكبرى والتصدير.</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احتباس 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حابسة للماء أساسها البوتاسيوم، تُوضع في منطقة الجذور عند الغرس أو عند تجديد الزراعة.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الري أو المطر وتعيده إلى النبات تدريجياً، فتلغي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ومفعول مفيد يمتد من 3 إلى 4 سنوات داخل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 لا يستنزف مركّب الطين والدبال، ولا يرفع الملوحة ولا نسبة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حاصل على شهادة SOHISCERT وشهادة الزراعة العضوية الأوروبية — شرط للدخول في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قنينة إلى أربع قنينات سعة 140 مل للهكتار، متوافق مع أنظمة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يُباع المنتجان منفصلين، غير أنهما صُمّما ليعزّز أحدهما الآخر: الحابس للماء يطيل مدة توافر الماء، والسماد يثمّن هذا الماء المتاح دون إنهاك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أرقام استرشادية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واسترشادية،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تتوقف النتيجة الفعلية على التربة والمناخ والمحصول. وهي تعطي ترتيب حجم فحسب، ولا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مواقع ذات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الأحساء</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2,5 مليون نخلة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أكبر واحة نخيل في العالم، بتربة رملية شديدة النفاذية ومياه ري مالحة نسبياً.</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انخفاض متواصل في منسوب الآبار بعد أن كانت العيون تتدفق من تلقائها.</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زحف الرمال وارتفاع ملوحة التربة يستدعيان حلاً يعمل عند الجذر مباشرة.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القصيم</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أكثر من 8 ملايين نخلة</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الري المحوري في المملكة، معتمد على طبقة الساق الجوفية غير المتجددة.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تجارية كبيرة قادرة على اتخاذ قرار سريع بشأن تجربة ميدانية.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بريدة سوق تمور مرجعية: نتيجة تجربة واحدة تنتشر بسرعة بين المزارعين.</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عسير</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300 إلى 500 مم أمطار</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المنطقة الوحيدة التي تسمح بزراعة بعلية، على مدرجات جبلية ضيقة.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الأمطار موسمية وغير منتظمة: الاحتفاظ بها في التربة هو المسألة الأساسية.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محاصيل عالية القيمة — البن العربي والفواكه — تبرّر كلفة التدخل.</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مع قياس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والإنتاج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بناءً على النتائج المسجّلة.</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المفيدة.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شريك محلي في المملكة العربية السعودية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F7D71"/>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يجب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تربة رملية شديدة النفاذية وحرارة صيفية تتجاوز 45 درجة: تباين كبير في النتائج من قطعة إلى أخرى.</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ملوحة مياه الري والتربة في المناطق الشرقية، وما ترتّب عليها من حذر تجاه أي مادة مضافة.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منتجات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دورات قرار طويلة لدى الشركات الزراعية الكبرى والجهات الحكومية.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 لتوثيق الفارق بالأرقام لا بالوعود.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تركيبة أساسها البوتاسيوم لا الصوديوم: لا تضيف ملوحة، ومتوافقة مع المحاصيل الغذائية.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تجهيز الملف التنظيمي مبكراً: التحاليل وشهادات المطابقة قبل بدء التفاوض.</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العمل عبر الجمعيات التعاونية الزراعية وبرامج دعم الريف، لا عبر المزارع الفردية.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الهيئة العامة للإحصاء: الناتج المحلي حسب النشاط والإحصاءات الزراعية.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وزارة البيئة والمياه والزراعة: الاستراتيجية الوطنية للأمن الغذائي ونسب الاكتفاء الذاتي.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المركز الوطني للنخيل والتمور: أعداد النخيل وصادرات التمور.</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أخبرنا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الماء المستهلك اليوم. نعود إليكم بالتركيبة المناسبة من التقنيات، والجرعات، والتجارب التي أُجريت في ظروف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يُلزم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 السعودي</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2026-09-15T22:52:58Z</dcterms:created>
  <dcterms:modified xsi:type="dcterms:W3CDTF">2026-09-15T22:52:58Z</dcterms:modified>
</cp:coreProperties>
</file>