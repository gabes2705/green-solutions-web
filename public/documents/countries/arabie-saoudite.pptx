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1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مؤشر عالمي لعدد فترات الجفاف ومدتها</c:v>
                </c:pt>
              </c:strCache>
            </c:strRef>
          </c:tx>
          <c:spPr>
            <a:solidFill>
              <a:srgbClr val="2C6E49"/>
            </a:solidFill>
            <a:effectLst/>
          </c:spPr>
          <c:invertIfNegative val="0"/>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dPt>
            <c:idx val="0"/>
            <c:invertIfNegative val="0"/>
            <c:bubble3D val="0"/>
            <c:spPr>
              <a:solidFill>
                <a:srgbClr val="2C6E49"/>
              </a:solidFill>
              <a:effectLst/>
            </c:spPr>
          </c:dPt>
          <c:dPt>
            <c:idx val="1"/>
            <c:invertIfNegative val="0"/>
            <c:bubble3D val="0"/>
            <c:spPr>
              <a:solidFill>
                <a:srgbClr val="D9A441"/>
              </a:solidFill>
              <a:effectLst/>
            </c:spPr>
          </c:dPt>
          <c:cat>
            <c:multiLvlStrRef>
              <c:f>Sheet1!$A$2:$A$3</c:f>
              <c:multiLvlStrCache>
                <c:ptCount val="2"/>
                <c:lvl>
                  <c:pt idx="0">
                    <c:v>1980–1999</c:v>
                  </c:pt>
                  <c:pt idx="1">
                    <c:v>منذ 2000</c:v>
                  </c:pt>
                </c:lvl>
              </c:multiLvlStrCache>
            </c:multiLvlStrRef>
          </c:cat>
          <c:val>
            <c:numRef>
              <c:f>Sheet1!$B$2:$B$3</c:f>
              <c:numCache>
                <c:formatCode>General</c:formatCode>
                <c:ptCount val="2"/>
                <c:pt idx="0">
                  <c:v>100</c:v>
                </c:pt>
                <c:pt idx="1">
                  <c:v>129</c:v>
                </c:pt>
              </c:numCache>
            </c:numRef>
          </c:val>
        </c:ser>
        <c:dLbls>
          <c:numFmt formatCode="[$-401]0" sourceLinked="0"/>
          <c:txPr>
            <a:bodyPr/>
            <a:lstStyle/>
            <a:p>
              <a:pPr>
                <a:defRPr b="0" i="0" strike="noStrike" sz="1100" u="none">
                  <a:solidFill>
                    <a:srgbClr val="1641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المياه المسحوبة</c:v>
                </c:pt>
              </c:strCache>
            </c:strRef>
          </c:tx>
          <c:spPr>
            <a:solidFill>
              <a:schemeClr val="accent1"/>
            </a:solidFill>
            <a:ln w="9525" cap="flat">
              <a:solidFill>
                <a:srgbClr val="F9F9F9"/>
              </a:solidFill>
              <a:prstDash val="solid"/>
              <a:round/>
            </a:ln>
            <a:effectLst/>
          </c:spPr>
          <c:dPt>
            <c:idx val="0"/>
            <c:bubble3D val="0"/>
            <c:spPr>
              <a:solidFill>
                <a:srgbClr val="2C6E49"/>
              </a:solidFill>
              <a:effectLst/>
            </c:spPr>
          </c:dPt>
          <c:dPt>
            <c:idx val="1"/>
            <c:bubble3D val="0"/>
            <c:spPr>
              <a:solidFill>
                <a:srgbClr val="D9A441"/>
              </a:solidFill>
              <a:effectLst/>
            </c:spPr>
          </c:dPt>
          <c:dPt>
            <c:idx val="2"/>
            <c:bubble3D val="0"/>
            <c:spPr>
              <a:solidFill>
                <a:srgbClr val="7FA88C"/>
              </a:solidFill>
              <a:effectLst/>
            </c:spPr>
          </c:dPt>
          <c:dLbls>
            <c:dLbl>
              <c:idx val="0"/>
              <c:numFmt formatCode="[$-401]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401]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401]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401]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الزراعة</c:v>
                </c:pt>
                <c:pt idx="1">
                  <c:v>مياه الشرب</c:v>
                </c:pt>
                <c:pt idx="2">
                  <c:v>الصناعة</c:v>
                </c:pt>
              </c:strCache>
            </c:strRef>
          </c:cat>
          <c:val>
            <c:numRef>
              <c:f>Sheet1!$B$2:$B$4</c:f>
              <c:numCache>
                <c:ptCount val="3"/>
                <c:pt idx="0">
                  <c:v>84</c:v>
                </c:pt>
                <c:pt idx="1">
                  <c:v>12</c:v>
                </c:pt>
                <c:pt idx="2">
                  <c:v>4</c:v>
                </c:pt>
              </c:numCache>
            </c:numRef>
          </c:val>
        </c:ser>
        <c:firstSliceAng val="0"/>
        <c:holeSize val="55"/>
      </c:doughnutChart>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الإنتاج السنوي (مليون طن)</c:v>
                </c:pt>
              </c:strCache>
            </c:strRef>
          </c:tx>
          <c:spPr>
            <a:solidFill>
              <a:srgbClr val="2C6E49"/>
            </a:solidFill>
            <a:effectLst/>
          </c:spPr>
          <c:invertIfNegative val="0"/>
          <c:dLbls>
            <c:numFmt formatCode="[$-401]0.0"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dPt>
            <c:idx val="0"/>
            <c:invertIfNegative val="0"/>
            <c:bubble3D val="0"/>
            <c:spPr>
              <a:solidFill>
                <a:srgbClr val="2C6E49"/>
              </a:solidFill>
              <a:effectLst/>
            </c:spPr>
          </c:dPt>
          <c:dPt>
            <c:idx val="1"/>
            <c:invertIfNegative val="0"/>
            <c:bubble3D val="0"/>
            <c:spPr>
              <a:solidFill>
                <a:srgbClr val="D9A441"/>
              </a:solidFill>
              <a:effectLst/>
            </c:spPr>
          </c:dPt>
          <c:dPt>
            <c:idx val="2"/>
            <c:invertIfNegative val="0"/>
            <c:bubble3D val="0"/>
            <c:spPr>
              <a:solidFill>
                <a:srgbClr val="7FA88C"/>
              </a:solidFill>
              <a:effectLst/>
            </c:spPr>
          </c:dPt>
          <c:dPt>
            <c:idx val="3"/>
            <c:invertIfNegative val="0"/>
            <c:bubble3D val="0"/>
            <c:spPr>
              <a:solidFill>
                <a:srgbClr val="BE7A3C"/>
              </a:solidFill>
              <a:effectLst/>
            </c:spPr>
          </c:dPt>
          <c:cat>
            <c:multiLvlStrRef>
              <c:f>Sheet1!$A$2:$A$5</c:f>
              <c:multiLvlStrCache>
                <c:ptCount val="4"/>
                <c:lvl>
                  <c:pt idx="0">
                    <c:v>التمور</c:v>
                  </c:pt>
                  <c:pt idx="1">
                    <c:v>الخضروات</c:v>
                  </c:pt>
                  <c:pt idx="2">
                    <c:v>القمح*</c:v>
                  </c:pt>
                  <c:pt idx="3">
                    <c:v>فواكه أخرى</c:v>
                  </c:pt>
                </c:lvl>
              </c:multiLvlStrCache>
            </c:multiLvlStrRef>
          </c:cat>
          <c:val>
            <c:numRef>
              <c:f>Sheet1!$B$2:$B$5</c:f>
              <c:numCache>
                <c:formatCode>General</c:formatCode>
                <c:ptCount val="4"/>
                <c:pt idx="0">
                  <c:v>1.6</c:v>
                </c:pt>
                <c:pt idx="1">
                  <c:v>2.6</c:v>
                </c:pt>
                <c:pt idx="2">
                  <c:v>1</c:v>
                </c:pt>
                <c:pt idx="3">
                  <c:v>0.5</c:v>
                </c:pt>
              </c:numCache>
            </c:numRef>
          </c:val>
        </c:ser>
        <c:dLbls>
          <c:numFmt formatCode="[$-401]0.0"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c:v>
                </c:pt>
              </c:strCache>
            </c:strRef>
          </c:tx>
          <c:spPr>
            <a:solidFill>
              <a:srgbClr val="2C6E49"/>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الطماطم</c:v>
                  </c:pt>
                  <c:pt idx="1">
                    <c:v>الباذنجان</c:v>
                  </c:pt>
                  <c:pt idx="2">
                    <c:v>الخيار</c:v>
                  </c:pt>
                  <c:pt idx="3">
                    <c:v>التمور</c:v>
                  </c:pt>
                </c:lvl>
              </c:multiLvlStrCache>
            </c:multiLvlStrRef>
          </c:cat>
          <c:val>
            <c:numRef>
              <c:f>Sheet1!$B$2:$B$5</c:f>
              <c:numCache>
                <c:formatCode>General</c:formatCode>
                <c:ptCount val="4"/>
                <c:pt idx="0">
                  <c:v>30</c:v>
                </c:pt>
                <c:pt idx="1">
                  <c:v>20</c:v>
                </c:pt>
                <c:pt idx="2">
                  <c:v>20</c:v>
                </c:pt>
                <c:pt idx="3">
                  <c:v>20</c:v>
                </c:pt>
              </c:numCache>
            </c:numRef>
          </c:val>
        </c:ser>
        <c:ser>
          <c:idx val="1"/>
          <c:order val="1"/>
          <c:tx>
            <c:strRef>
              <c:f>Sheet1!$C$1</c:f>
              <c:strCache>
                <c:ptCount val="1"/>
                <c:pt idx="0">
                  <c:v>الحد الأعلى (%)</c:v>
                </c:pt>
              </c:strCache>
            </c:strRef>
          </c:tx>
          <c:spPr>
            <a:solidFill>
              <a:srgbClr val="D9A441"/>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الطماطم</c:v>
                  </c:pt>
                  <c:pt idx="1">
                    <c:v>الباذنجان</c:v>
                  </c:pt>
                  <c:pt idx="2">
                    <c:v>الخيار</c:v>
                  </c:pt>
                  <c:pt idx="3">
                    <c:v>التمور</c:v>
                  </c:pt>
                </c:lvl>
              </c:multiLvlStrCache>
            </c:multiLvlStrRef>
          </c:cat>
          <c:val>
            <c:numRef>
              <c:f>Sheet1!$C$2:$C$5</c:f>
              <c:numCache>
                <c:formatCode>General</c:formatCode>
                <c:ptCount val="4"/>
                <c:pt idx="0">
                  <c:v>50</c:v>
                </c:pt>
                <c:pt idx="1">
                  <c:v>35</c:v>
                </c:pt>
                <c:pt idx="2">
                  <c:v>40</c:v>
                </c:pt>
                <c:pt idx="3">
                  <c:v>40</c:v>
                </c:pt>
              </c:numCache>
            </c:numRef>
          </c:val>
        </c:ser>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c:v>
                </c:pt>
              </c:strCache>
            </c:strRef>
          </c:tx>
          <c:spPr>
            <a:solidFill>
              <a:srgbClr val="2C6E49"/>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الري بالتنقيط</c:v>
                  </c:pt>
                  <c:pt idx="1">
                    <c:v>الري بالرش</c:v>
                  </c:pt>
                  <c:pt idx="2">
                    <c:v>الري المحوري</c:v>
                  </c:pt>
                  <c:pt idx="3">
                    <c:v>الري بالغمر</c:v>
                  </c:pt>
                </c:lvl>
              </c:multiLvlStrCache>
            </c:multiLvlStrRef>
          </c:cat>
          <c:val>
            <c:numRef>
              <c:f>Sheet1!$B$2:$B$5</c:f>
              <c:numCache>
                <c:formatCode>General</c:formatCode>
                <c:ptCount val="4"/>
                <c:pt idx="0">
                  <c:v>40</c:v>
                </c:pt>
                <c:pt idx="1">
                  <c:v>50</c:v>
                </c:pt>
                <c:pt idx="2">
                  <c:v>50</c:v>
                </c:pt>
                <c:pt idx="3">
                  <c:v>55</c:v>
                </c:pt>
              </c:numCache>
            </c:numRef>
          </c:val>
        </c:ser>
        <c:ser>
          <c:idx val="1"/>
          <c:order val="1"/>
          <c:tx>
            <c:strRef>
              <c:f>Sheet1!$C$1</c:f>
              <c:strCache>
                <c:ptCount val="1"/>
                <c:pt idx="0">
                  <c:v>الحد الأعلى (%)</c:v>
                </c:pt>
              </c:strCache>
            </c:strRef>
          </c:tx>
          <c:spPr>
            <a:solidFill>
              <a:srgbClr val="D9A441"/>
            </a:solidFill>
            <a:effectLst/>
          </c:spPr>
          <c:invertIfNegative val="0"/>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الري بالتنقيط</c:v>
                  </c:pt>
                  <c:pt idx="1">
                    <c:v>الري بالرش</c:v>
                  </c:pt>
                  <c:pt idx="2">
                    <c:v>الري المحوري</c:v>
                  </c:pt>
                  <c:pt idx="3">
                    <c:v>الري بالغمر</c:v>
                  </c:pt>
                </c:lvl>
              </c:multiLvlStrCache>
            </c:multiLvlStrRef>
          </c:cat>
          <c:val>
            <c:numRef>
              <c:f>Sheet1!$C$2:$C$5</c:f>
              <c:numCache>
                <c:formatCode>General</c:formatCode>
                <c:ptCount val="4"/>
                <c:pt idx="0">
                  <c:v>55</c:v>
                </c:pt>
                <c:pt idx="1">
                  <c:v>65</c:v>
                </c:pt>
                <c:pt idx="2">
                  <c:v>65</c:v>
                </c:pt>
                <c:pt idx="3">
                  <c:v>70</c:v>
                </c:pt>
              </c:numCache>
            </c:numRef>
          </c:val>
        </c:ser>
        <c:dLbls>
          <c:numFmt formatCode="[$-401]0&quot;%&quot;" sourceLinked="0"/>
          <c:txPr>
            <a:bodyPr/>
            <a:lstStyle/>
            <a:p>
              <a:pPr>
                <a:defRPr b="0" i="0" strike="noStrike" sz="1100" u="none">
                  <a:solidFill>
                    <a:srgbClr val="164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0DF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7D7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918911" cy="6858000"/>
          </a:xfrm>
          <a:prstGeom prst="rect">
            <a:avLst/>
          </a:prstGeom>
        </p:spPr>
      </p:pic>
      <p:sp>
        <p:nvSpPr>
          <p:cNvPr id="3" name="Shape 0"/>
          <p:cNvSpPr/>
          <p:nvPr/>
        </p:nvSpPr>
        <p:spPr>
          <a:xfrm>
            <a:off x="5918911" y="0"/>
            <a:ext cx="6272784" cy="6858000"/>
          </a:xfrm>
          <a:prstGeom prst="rect">
            <a:avLst/>
          </a:prstGeom>
          <a:solidFill>
            <a:srgbClr val="0D0D0D"/>
          </a:solidFill>
          <a:ln/>
        </p:spPr>
      </p:sp>
      <p:sp>
        <p:nvSpPr>
          <p:cNvPr id="4" name="Text 1"/>
          <p:cNvSpPr txBox="1"/>
          <p:nvPr/>
        </p:nvSpPr>
        <p:spPr>
          <a:xfrm>
            <a:off x="6577279" y="566928"/>
            <a:ext cx="4041648" cy="292608"/>
          </a:xfrm>
          <a:prstGeom prst="rect">
            <a:avLst/>
          </a:prstGeom>
          <a:noFill/>
          <a:ln/>
        </p:spPr>
        <p:txBody>
          <a:bodyPr wrap="square" lIns="0" tIns="0" rIns="0" bIns="0" rtlCol="0" anchor="ctr"/>
          <a:lstStyle/>
          <a:p>
            <a:pPr rtl="1" algn="r" indent="0" marL="0">
              <a:buNone/>
            </a:pPr>
            <a:r>
              <a:rPr lang="en-US" sz="1100" b="1" spc="80" kern="0" dirty="0">
                <a:solidFill>
                  <a:srgbClr val="8BC34A"/>
                </a:solidFill>
                <a:latin typeface="Arial" pitchFamily="34" charset="0"/>
                <a:ea typeface="Arial" pitchFamily="34" charset="-122"/>
                <a:cs typeface="Arial"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6577279" y="457200"/>
            <a:ext cx="603504" cy="603504"/>
          </a:xfrm>
          <a:prstGeom prst="rect">
            <a:avLst/>
          </a:prstGeom>
        </p:spPr>
      </p:pic>
      <p:pic>
        <p:nvPicPr>
          <p:cNvPr id="6" name="Image 2" descr="/home/claude/green-solutions-web/scripts/dossiers/drapeaux/arabie-saoudite.png">    </p:cNvPr>
          <p:cNvPicPr>
            <a:picLocks noChangeAspect="1"/>
          </p:cNvPicPr>
          <p:nvPr/>
        </p:nvPicPr>
        <p:blipFill>
          <a:blip r:embed="rId3"/>
          <a:stretch>
            <a:fillRect/>
          </a:stretch>
        </p:blipFill>
        <p:spPr>
          <a:xfrm>
            <a:off x="6577279" y="1389888"/>
            <a:ext cx="1964425" cy="1310640"/>
          </a:xfrm>
          <a:prstGeom prst="rect">
            <a:avLst/>
          </a:prstGeom>
        </p:spPr>
      </p:pic>
      <p:sp>
        <p:nvSpPr>
          <p:cNvPr id="7" name="Shape 2"/>
          <p:cNvSpPr/>
          <p:nvPr/>
        </p:nvSpPr>
        <p:spPr>
          <a:xfrm>
            <a:off x="6577279" y="1389888"/>
            <a:ext cx="1964425" cy="1310640"/>
          </a:xfrm>
          <a:prstGeom prst="rect">
            <a:avLst/>
          </a:prstGeom>
          <a:ln w="9525">
            <a:solidFill>
              <a:srgbClr val="3A3A3A"/>
            </a:solidFill>
            <a:prstDash val="solid"/>
          </a:ln>
        </p:spPr>
      </p:sp>
      <p:sp>
        <p:nvSpPr>
          <p:cNvPr id="8" name="Text 3"/>
          <p:cNvSpPr txBox="1"/>
          <p:nvPr/>
        </p:nvSpPr>
        <p:spPr>
          <a:xfrm>
            <a:off x="8771839" y="1298448"/>
            <a:ext cx="2761488" cy="1234440"/>
          </a:xfrm>
          <a:prstGeom prst="rect">
            <a:avLst/>
          </a:prstGeom>
          <a:noFill/>
          <a:ln/>
        </p:spPr>
        <p:txBody>
          <a:bodyPr wrap="square" lIns="0" tIns="0" rIns="0" bIns="0" rtlCol="0" anchor="t"/>
          <a:lstStyle/>
          <a:p>
            <a:pPr rtl="1" algn="r" indent="0" marL="0">
              <a:lnSpc>
                <a:spcPct val="110000"/>
              </a:lnSpc>
              <a:buNone/>
            </a:pPr>
            <a:r>
              <a:rPr lang="en-US" sz="2400" b="1" dirty="0">
                <a:solidFill>
                  <a:srgbClr val="FFFFFF"/>
                </a:solidFill>
                <a:latin typeface="Arial" pitchFamily="34" charset="0"/>
                <a:ea typeface="Arial" pitchFamily="34" charset="-122"/>
                <a:cs typeface="Arial" pitchFamily="34" charset="-120"/>
              </a:rPr>
              <a:t>المملكة العربية السعودية</a:t>
            </a:r>
            <a:endParaRPr lang="en-US" sz="2400" dirty="0"/>
          </a:p>
        </p:txBody>
      </p:sp>
      <p:sp>
        <p:nvSpPr>
          <p:cNvPr id="9" name="Shape 4"/>
          <p:cNvSpPr/>
          <p:nvPr/>
        </p:nvSpPr>
        <p:spPr>
          <a:xfrm>
            <a:off x="8744407" y="2889504"/>
            <a:ext cx="2788920" cy="45720"/>
          </a:xfrm>
          <a:prstGeom prst="rect">
            <a:avLst/>
          </a:prstGeom>
          <a:solidFill>
            <a:srgbClr val="D9A441"/>
          </a:solidFill>
          <a:ln/>
        </p:spPr>
      </p:sp>
      <p:sp>
        <p:nvSpPr>
          <p:cNvPr id="10" name="Text 5"/>
          <p:cNvSpPr txBox="1"/>
          <p:nvPr/>
        </p:nvSpPr>
        <p:spPr>
          <a:xfrm>
            <a:off x="6577279" y="3163824"/>
            <a:ext cx="4956048" cy="384048"/>
          </a:xfrm>
          <a:prstGeom prst="rect">
            <a:avLst/>
          </a:prstGeom>
          <a:noFill/>
          <a:ln/>
        </p:spPr>
        <p:txBody>
          <a:bodyPr wrap="square" lIns="0" tIns="0" rIns="0" bIns="0" rtlCol="0" anchor="ctr"/>
          <a:lstStyle/>
          <a:p>
            <a:pPr rtl="1" algn="r" indent="0" marL="0">
              <a:buNone/>
            </a:pPr>
            <a:r>
              <a:rPr lang="en-US" sz="1600" b="1" dirty="0">
                <a:solidFill>
                  <a:srgbClr val="D9A441"/>
                </a:solidFill>
                <a:latin typeface="Arial" pitchFamily="34" charset="0"/>
                <a:ea typeface="Arial" pitchFamily="34" charset="-122"/>
                <a:cs typeface="Arial" pitchFamily="34" charset="-120"/>
              </a:rPr>
              <a:t>الرياض · 2026</a:t>
            </a:r>
            <a:endParaRPr lang="en-US" sz="1600" dirty="0"/>
          </a:p>
        </p:txBody>
      </p:sp>
      <p:sp>
        <p:nvSpPr>
          <p:cNvPr id="11" name="Text 6"/>
          <p:cNvSpPr txBox="1"/>
          <p:nvPr/>
        </p:nvSpPr>
        <p:spPr>
          <a:xfrm>
            <a:off x="6577279" y="3767328"/>
            <a:ext cx="4956048" cy="914400"/>
          </a:xfrm>
          <a:prstGeom prst="rect">
            <a:avLst/>
          </a:prstGeom>
          <a:noFill/>
          <a:ln/>
        </p:spPr>
        <p:txBody>
          <a:bodyPr wrap="square" lIns="0" tIns="0" rIns="0" bIns="0" rtlCol="0" anchor="t"/>
          <a:lstStyle/>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التمور والخضروات المحمية والزراعة المروية تحت قيد مائي دائم.</a:t>
            </a:r>
            <a:endParaRPr lang="en-US" sz="1450" dirty="0"/>
          </a:p>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ما الذي يغيّره احتباس الماء في التربة على مستوى الحقل.</a:t>
            </a:r>
            <a:endParaRPr lang="en-US" sz="1450" dirty="0"/>
          </a:p>
        </p:txBody>
      </p:sp>
      <p:sp>
        <p:nvSpPr>
          <p:cNvPr id="12" name="Text 7"/>
          <p:cNvSpPr txBox="1"/>
          <p:nvPr/>
        </p:nvSpPr>
        <p:spPr>
          <a:xfrm>
            <a:off x="6577279" y="4892040"/>
            <a:ext cx="4956048" cy="347472"/>
          </a:xfrm>
          <a:prstGeom prst="rect">
            <a:avLst/>
          </a:prstGeom>
          <a:noFill/>
          <a:ln/>
        </p:spPr>
        <p:txBody>
          <a:bodyPr wrap="square" lIns="0" tIns="0" rIns="0" bIns="0" rtlCol="0" anchor="ctr"/>
          <a:lstStyle/>
          <a:p>
            <a:pPr rtl="1" algn="r" indent="0" marL="0">
              <a:buNone/>
            </a:pPr>
            <a:r>
              <a:rPr lang="en-US" sz="1100" b="1" dirty="0">
                <a:solidFill>
                  <a:srgbClr val="8BC34A"/>
                </a:solidFill>
                <a:latin typeface="Arial" pitchFamily="34" charset="0"/>
                <a:ea typeface="Arial" pitchFamily="34" charset="-122"/>
                <a:cs typeface="Arial" pitchFamily="34" charset="-120"/>
              </a:rPr>
              <a:t>ECOSORB® · ECOFERT® · NAPEMA® · PAULOWNIA</a:t>
            </a:r>
            <a:endParaRPr lang="en-US" sz="1100" dirty="0"/>
          </a:p>
        </p:txBody>
      </p:sp>
      <p:sp>
        <p:nvSpPr>
          <p:cNvPr id="13" name="Text 8"/>
          <p:cNvSpPr txBox="1"/>
          <p:nvPr/>
        </p:nvSpPr>
        <p:spPr>
          <a:xfrm>
            <a:off x="6577279" y="6053328"/>
            <a:ext cx="4956048" cy="310896"/>
          </a:xfrm>
          <a:prstGeom prst="rect">
            <a:avLst/>
          </a:prstGeom>
          <a:noFill/>
          <a:ln/>
        </p:spPr>
        <p:txBody>
          <a:bodyPr wrap="square" lIns="0" tIns="0" rIns="0" bIns="0" rtlCol="0" anchor="ctr"/>
          <a:lstStyle/>
          <a:p>
            <a:pPr rtl="1" algn="r" indent="0" marL="0">
              <a:buNone/>
            </a:pPr>
            <a:r>
              <a:rPr lang="en-US" sz="850" dirty="0">
                <a:solidFill>
                  <a:srgbClr val="9A9A9A"/>
                </a:solidFill>
                <a:latin typeface="Arial" pitchFamily="34" charset="0"/>
                <a:ea typeface="Arial" pitchFamily="34" charset="-122"/>
                <a:cs typeface="Arial" pitchFamily="34" charset="-120"/>
              </a:rPr>
              <a:t>سبتمبر 2026 · وثيقة سرية · للاستخدام الحصري للمرسل إليه</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السوق في سطور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زراعة مروية بالكامل تقريباً على موارد غير متجددة</a:t>
            </a:r>
            <a:endParaRPr lang="en-US" sz="3000" dirty="0"/>
          </a:p>
        </p:txBody>
      </p:sp>
      <p:sp>
        <p:nvSpPr>
          <p:cNvPr id="4" name="Shape 2"/>
          <p:cNvSpPr/>
          <p:nvPr/>
        </p:nvSpPr>
        <p:spPr>
          <a:xfrm>
            <a:off x="594360" y="1874520"/>
            <a:ext cx="2545004" cy="2514600"/>
          </a:xfrm>
          <a:prstGeom prst="roundRect">
            <a:avLst>
              <a:gd name="adj" fmla="val 3636"/>
            </a:avLst>
          </a:prstGeom>
          <a:solidFill>
            <a:srgbClr val="F2F1E8"/>
          </a:solidFill>
          <a:ln w="9525">
            <a:solidFill>
              <a:srgbClr val="E0DFD0"/>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2,5 %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الناتج المحلي الإجمالي مصدره القطاع الزراعي</a:t>
            </a:r>
            <a:endParaRPr lang="en-US" sz="1250" dirty="0"/>
          </a:p>
        </p:txBody>
      </p:sp>
      <p:sp>
        <p:nvSpPr>
          <p:cNvPr id="7" name="Shape 5"/>
          <p:cNvSpPr/>
          <p:nvPr/>
        </p:nvSpPr>
        <p:spPr>
          <a:xfrm>
            <a:off x="3413684" y="1874520"/>
            <a:ext cx="2545004" cy="2514600"/>
          </a:xfrm>
          <a:prstGeom prst="roundRect">
            <a:avLst>
              <a:gd name="adj" fmla="val 3636"/>
            </a:avLst>
          </a:prstGeom>
          <a:solidFill>
            <a:srgbClr val="F2F1E8"/>
          </a:solidFill>
          <a:ln w="9525">
            <a:solidFill>
              <a:srgbClr val="E0DFD0"/>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84 %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المياه المسحوبة سنوياً تستهلكها الزراعة</a:t>
            </a:r>
            <a:endParaRPr lang="en-US" sz="1250" dirty="0"/>
          </a:p>
        </p:txBody>
      </p:sp>
      <p:sp>
        <p:nvSpPr>
          <p:cNvPr id="10" name="Shape 8"/>
          <p:cNvSpPr/>
          <p:nvPr/>
        </p:nvSpPr>
        <p:spPr>
          <a:xfrm>
            <a:off x="6233008" y="1874520"/>
            <a:ext cx="2545004" cy="2514600"/>
          </a:xfrm>
          <a:prstGeom prst="roundRect">
            <a:avLst>
              <a:gd name="adj" fmla="val 3636"/>
            </a:avLst>
          </a:prstGeom>
          <a:solidFill>
            <a:srgbClr val="F2F1E8"/>
          </a:solidFill>
          <a:ln w="9525">
            <a:solidFill>
              <a:srgbClr val="E0DFD0"/>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&gt; 90 %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من المساحة المزروعة تعتمد على الري، لا على المطر</a:t>
            </a:r>
            <a:endParaRPr lang="en-US" sz="1250" dirty="0"/>
          </a:p>
        </p:txBody>
      </p:sp>
      <p:sp>
        <p:nvSpPr>
          <p:cNvPr id="13" name="Shape 11"/>
          <p:cNvSpPr/>
          <p:nvPr/>
        </p:nvSpPr>
        <p:spPr>
          <a:xfrm>
            <a:off x="9052331" y="1874520"/>
            <a:ext cx="2545004" cy="2514600"/>
          </a:xfrm>
          <a:prstGeom prst="roundRect">
            <a:avLst>
              <a:gd name="adj" fmla="val 3636"/>
            </a:avLst>
          </a:prstGeom>
          <a:solidFill>
            <a:srgbClr val="F2F1E8"/>
          </a:solidFill>
          <a:ln w="9525">
            <a:solidFill>
              <a:srgbClr val="E0DFD0"/>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&lt; 100 مم</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متوسط هطول الأمطار السنوي في معظم أنحاء المملكة</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64239"/>
                </a:solidFill>
                <a:latin typeface="Arial" pitchFamily="34" charset="0"/>
                <a:ea typeface="Arial" pitchFamily="34" charset="-122"/>
                <a:cs typeface="Arial" pitchFamily="34" charset="-120"/>
              </a:rPr>
              <a:t>لا تتجاوز المساحة المزروعة فعلياً نحو مليون هكتار، ولا يتعدى نصيب الزراعة 3 % من إجمالي العمالة، بينما تستورد المملكة ما يقارب 80 % من غذائها. لذلك تجعل رؤية 2030 والاستراتيجية الوطنية للأمن الغذائي من ترشيد المياه في الحقل شرطاً لأي توسّع زراعي، لا خياراً إضافياً.</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القيد الأساسي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ماء أحفوري لا يتجدد وأمطار دون 100 مم</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rtl="1" algn="r" indent="0" marL="0">
              <a:buNone/>
            </a:pPr>
            <a:r>
              <a:rPr lang="en-US" sz="1000" dirty="0">
                <a:solidFill>
                  <a:srgbClr val="6F7D71"/>
                </a:solidFill>
                <a:latin typeface="Arial" pitchFamily="34" charset="0"/>
                <a:ea typeface="Arial" pitchFamily="34" charset="-122"/>
                <a:cs typeface="Arial" pitchFamily="34" charset="-120"/>
              </a:rPr>
              <a:t>مزرعة تعمل بالري المحوري، وسط المملكة</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لا يوجد في المملكة أي نهر دائم. تعتمد الزراعة أساساً على طبقات جوفية أحفورية — الساق والوجيد وأم الرضمة — تكوّنت مياهها منذ آلاف السنين ولا تتجدد عملياً.</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تستهلك الزراعة نحو 84 % من المياه المسحوبة سنوياً: أي ضغط على الموارد يُترجم أولاً إلى قيود على الري وحصص على الآبار.</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تقل الأمطار عن 100 مم في السنة على معظم المساحة، ولا تبلغ 300 إلى 500 مم إلا في مرتفعات عسير، بينما يتجاوز التبخر المحتمل 3 000 مم في المناطق الداخلية.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أوقفت الدولة زراعة القمح المروي تدريجياً حتى عام 2016، ثم منعت زراعة الأعلاف الخضراء عام 2018، حمايةً للمخزون الجوفي.</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تحلية المياه تغطي الشرب بأكثر من 5 ملايين متر مكعب يومياً، لكن كلفتها تستبعدها للري. هذه معالجة لجانب العرض؛ أما احتباس الماء في التربة فيعمل على الطلب، عند الجذر.</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الجفاف والإجهاد المائي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الضغط يتزايد، لكن المخاطر تبقى محلية</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مؤشران مختلفان</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عالمياً، ارتفع عدد فترات الجفاف ومدتها بنسبة 29٪ منذ عام 2000 مقارنة بالعقدين السابقين.</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أما الإجهاد المائي فيقيس نسبة السحب إلى الموارد المتجددة المتاحة بعد الاحتياجات البيئية. لذلك لا تمثل هذه الإشارة العالمية توقعاً خاصاً بالدولة، بل يجب قراءتها مع الأمطار والمياه الجوفية والمواسم والاستخدامات المحلية.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أين يذهب الماء</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الري يستأثر بمعظم المياه المسحوبة</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ما يعنيه ذلك</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خفض الاستهلاك الزراعي بنسبة 10 % يوفّر حجماً من الماء أكبر مما يوفّره إلغاء الاستخدام الصناعي بالكامل.</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لهذا ينصبّ الجهد على الحقل نفسه، لا على بقية الاستخدامات.</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الاقتصاد والأمن الغذائي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قدرة شرائية عالية وقاعدة غذائية ضيقة</a:t>
            </a:r>
            <a:endParaRPr lang="en-US" sz="3000" dirty="0"/>
          </a:p>
        </p:txBody>
      </p:sp>
      <p:sp>
        <p:nvSpPr>
          <p:cNvPr id="4" name="Shape 2"/>
          <p:cNvSpPr/>
          <p:nvPr/>
        </p:nvSpPr>
        <p:spPr>
          <a:xfrm>
            <a:off x="594360" y="1874520"/>
            <a:ext cx="2545004" cy="2514600"/>
          </a:xfrm>
          <a:prstGeom prst="roundRect">
            <a:avLst>
              <a:gd name="adj" fmla="val 3636"/>
            </a:avLst>
          </a:prstGeom>
          <a:solidFill>
            <a:srgbClr val="F2F1E8"/>
          </a:solidFill>
          <a:ln w="9525">
            <a:solidFill>
              <a:srgbClr val="E0DFD0"/>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rtl="1" algn="ctr" indent="0" marL="0">
              <a:buNone/>
            </a:pPr>
            <a:r>
              <a:rPr lang="en-US" sz="3000" b="1" dirty="0">
                <a:solidFill>
                  <a:srgbClr val="2C6E49"/>
                </a:solidFill>
                <a:latin typeface="Arial" pitchFamily="34" charset="0"/>
                <a:ea typeface="Arial" pitchFamily="34" charset="-122"/>
                <a:cs typeface="Arial" pitchFamily="34" charset="-120"/>
              </a:rPr>
              <a:t>≈ 33 مليون</a:t>
            </a:r>
            <a:endParaRPr lang="en-US" sz="30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نخلة في أنحاء المملكة، من أكبر ثروات النخيل في العالم</a:t>
            </a:r>
            <a:endParaRPr lang="en-US" sz="1250" dirty="0"/>
          </a:p>
        </p:txBody>
      </p:sp>
      <p:sp>
        <p:nvSpPr>
          <p:cNvPr id="7" name="Shape 5"/>
          <p:cNvSpPr/>
          <p:nvPr/>
        </p:nvSpPr>
        <p:spPr>
          <a:xfrm>
            <a:off x="3413684" y="1874520"/>
            <a:ext cx="2545004" cy="2514600"/>
          </a:xfrm>
          <a:prstGeom prst="roundRect">
            <a:avLst>
              <a:gd name="adj" fmla="val 3636"/>
            </a:avLst>
          </a:prstGeom>
          <a:solidFill>
            <a:srgbClr val="F2F1E8"/>
          </a:solidFill>
          <a:ln w="9525">
            <a:solidFill>
              <a:srgbClr val="E0DFD0"/>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rtl="1" algn="ctr" indent="0" marL="0">
              <a:buNone/>
            </a:pPr>
            <a:r>
              <a:rPr lang="en-US" sz="3000" b="1" dirty="0">
                <a:solidFill>
                  <a:srgbClr val="2C6E49"/>
                </a:solidFill>
                <a:latin typeface="Arial" pitchFamily="34" charset="0"/>
                <a:ea typeface="Arial" pitchFamily="34" charset="-122"/>
                <a:cs typeface="Arial" pitchFamily="34" charset="-120"/>
              </a:rPr>
              <a:t>≈ 1,5 مليار</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ريال قيمة صادرات التمور في عام 2023</a:t>
            </a:r>
            <a:endParaRPr lang="en-US" sz="1250" dirty="0"/>
          </a:p>
        </p:txBody>
      </p:sp>
      <p:sp>
        <p:nvSpPr>
          <p:cNvPr id="10" name="Shape 8"/>
          <p:cNvSpPr/>
          <p:nvPr/>
        </p:nvSpPr>
        <p:spPr>
          <a:xfrm>
            <a:off x="6233008" y="1874520"/>
            <a:ext cx="2545004" cy="2514600"/>
          </a:xfrm>
          <a:prstGeom prst="roundRect">
            <a:avLst>
              <a:gd name="adj" fmla="val 3636"/>
            </a:avLst>
          </a:prstGeom>
          <a:solidFill>
            <a:srgbClr val="F2F1E8"/>
          </a:solidFill>
          <a:ln w="9525">
            <a:solidFill>
              <a:srgbClr val="E0DFD0"/>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&gt; 100 %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نسبة الاكتفاء الذاتي من التمور والحليب</a:t>
            </a:r>
            <a:endParaRPr lang="en-US" sz="1250" dirty="0"/>
          </a:p>
        </p:txBody>
      </p:sp>
      <p:sp>
        <p:nvSpPr>
          <p:cNvPr id="13" name="Shape 11"/>
          <p:cNvSpPr/>
          <p:nvPr/>
        </p:nvSpPr>
        <p:spPr>
          <a:xfrm>
            <a:off x="9052331" y="1874520"/>
            <a:ext cx="2545004" cy="2514600"/>
          </a:xfrm>
          <a:prstGeom prst="roundRect">
            <a:avLst>
              <a:gd name="adj" fmla="val 3636"/>
            </a:avLst>
          </a:prstGeom>
          <a:solidFill>
            <a:srgbClr val="F2F1E8"/>
          </a:solidFill>
          <a:ln w="9525">
            <a:solidFill>
              <a:srgbClr val="E0DFD0"/>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rtl="1" algn="ctr" indent="0" marL="0">
              <a:buNone/>
            </a:pPr>
            <a:r>
              <a:rPr lang="en-US" sz="3800" b="1" dirty="0">
                <a:solidFill>
                  <a:srgbClr val="2C6E49"/>
                </a:solidFill>
                <a:latin typeface="Arial" pitchFamily="34" charset="0"/>
                <a:ea typeface="Arial" pitchFamily="34" charset="-122"/>
                <a:cs typeface="Arial" pitchFamily="34" charset="-120"/>
              </a:rPr>
              <a:t>≈ 70 %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64239"/>
                </a:solidFill>
                <a:latin typeface="Arial" pitchFamily="34" charset="0"/>
                <a:ea typeface="Arial" pitchFamily="34" charset="-122"/>
                <a:cs typeface="Arial" pitchFamily="34" charset="-120"/>
              </a:rPr>
              <a:t>نسبة الاكتفاء الذاتي من الدواجن، والهدف 80 %</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64239"/>
                </a:solidFill>
                <a:latin typeface="Arial" pitchFamily="34" charset="0"/>
                <a:ea typeface="Arial" pitchFamily="34" charset="-122"/>
                <a:cs typeface="Arial" pitchFamily="34" charset="-120"/>
              </a:rPr>
              <a:t>تشجع رؤية 2030 والاستراتيجية الوطنية للأمن الغذائي الإنتاج المحلي عالي القيمة — التمور والخضروات المحمية والدواجن — وتربطانه بترشيد المياه. أما الفجوة الغذائية فتبقى في الحبوب والأعلاف، ومعظمها مستورد.</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الإنتاج الزراعي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أربعة منتجات تشكّل جوهر الإنتاج المحلي</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قراءة</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التمور والخضروات المحمية هما الأعلى قيمة للهكتار، وفيهما يتحول توفير الماء إلى هامش مباشر.</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 عاد القمح ضمن حصص محدودة بعد التخلي عن هدف الاكتفاء الذاتي؛ يتغير حجمه من موسم إلى آخر تبعاً للسياسة المائية.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القطاع الأول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التمور: ثروة وطنية تحت ضغط الماء والملوحة</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تتركز زراعة النخيل في القصيم والأحساء والمدينة المنورة والرياض، وتضم المملكة مئات الأصناف، أشهرها السكري والخلاص والعجوة.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يحتاج النخيل إلى كميات كبيرة من ماء الري في الصيف، وما زال كثير من البساتين يُروى بالغمر أو بالأحواض.</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ملوحة مياه الآبار والتربة تُضعف الإنتاج وجودة الثمار، ولا سيما في الواحات الشرقية.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يدفع المركز الوطني للنخيل والتمور نحو الجودة والتصدير: كل تحسّن في انتظام الثمار قيمة مباشرة.</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وضع الحابس للماء عند غرس الفسائل أو حول جذور النخيل القائم يطيل توافر الماء بين الريّات.</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القطاع الثاني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الخضروات المحمية: كل لتر هامش ربح</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توسعت البيوت المحمية لتقليص استيراد الطماطم والخيار والفلفل، بدعم حكومي للتقنيات الموفّرة للماء.</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حرارة الصيف تفرض التبريد وتزيد الطلب على الماء: الماء والطاقة أكبر بندين في كلفة الإنتاج.</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في التربة الرملية، يؤدي أي انقطاع في الري إلى إجهاد فوري وتساقط الأزهار.</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الخضروات من أكثر المحاصيل استجابة: من 30 إلى 50 % زيادة متوقعة في محصول الطماطم.</a:t>
            </a:r>
            <a:endParaRPr lang="en-US" sz="1400" dirty="0"/>
          </a:p>
          <a:p>
            <a:pPr algn="r" marL="342900" indent="-342900">
              <a:lnSpc>
                <a:spcPct val="122000"/>
              </a:lnSpc>
              <a:spcAft>
                <a:spcPts val="1100"/>
              </a:spcAft>
              <a:buSzPct val="100000"/>
              <a:buChar char="•"/>
            </a:pPr>
            <a:r>
              <a:rPr lang="en-US" sz="1400" dirty="0">
                <a:solidFill>
                  <a:srgbClr val="364239"/>
                </a:solidFill>
                <a:latin typeface="Arial" pitchFamily="34" charset="0"/>
                <a:ea typeface="Arial" pitchFamily="34" charset="-122"/>
                <a:cs typeface="Arial" pitchFamily="34" charset="-120"/>
              </a:rPr>
              <a:t>‏NAPEMA® يعالج الآفات دون متبقيات، وهو شرط في سلاسل التجزئة الكبرى والتصدير.</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إمكانات الإنتاج</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الزيادة المتوقعة في الإنتاج حسب المحصول</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تُقرأ بتحفّظ</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نطاقات يعتمدها حاسب الجرعات على موقعنا، لمحصول يُدار إدارة عادية مع وضع EVERGREEN® عند الزراعة.</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النتيجة الفعلية تتوقف على التربة والمناخ وأسلوب الإدارة. أما الحبوب فلا نعلن فيها أي زيادة دون تجربة ميدانية.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استجابتنا</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تقنيتان لقيدين مختلفين</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EVERGREEN® — احتباس الماء</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مادة حابسة للماء أساسها البوتاسيوم، تُوضع في منطقة الجذور عند الغرس أو عند تجديد الزراعة.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تلتقط ماء الري أو المطر وتعيده إلى النبات تدريجياً، فتلغي الإجهاد المائي في المراحل الحرجة.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قدرة امتصاص تبلغ نحو 300 ضعف وزنها، ومفعول مفيد يمتد من 3 إلى 4 سنوات داخل التربة.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تتحلل بنسبة 20 إلى 25 % سنوياً، دون تراكم ودون خطر جرعة زائدة.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ECOFERT® — تغذية دون إنهاك التربة</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سماد بجرعات دقيقة من الأحماض الأمينية والنيتروجين والفوسفور والبوتاسيوم، من موارد متجددة.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غير مخلّب: لا يستنزف مركّب الطين والدبال، ولا يرفع الملوحة ولا نسبة النترات.</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حاصل على شهادة SOHISCERT وشهادة الزراعة العضوية الأوروبية — شرط للدخول في دفاتر شروط المشترين الأوروبيين.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 قنينة إلى أربع قنينات سعة 140 مل للهكتار، متوافق مع أنظمة الري بالتسميد القائمة.</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يُباع المنتجان منفصلين، غير أنهما صُمّما ليعزّز أحدهما الآخر: الحابس للماء يطيل مدة توافر الماء، والسماد يثمّن هذا الماء المتاح دون إنهاك التربة.</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بقية المنتجات</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حماية المحاصيل وتثبيت التربة</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NAPEMA® — حماية دون متبقيات</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مكافحة الأمراض والطفيليات والفطريات والآفات، دون أي جزيء كيميائي مُصنَّع.</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رشّ على الأوراق والجذور، بمفعول وقائي وعلاجي في آن واحد.</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لا متبقيات في التربة ولا في النبات ولا في الهواء، مع الحفاظ على الملقِّحات والحشرات النافعة.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تركيبة مصمَّمة لمشكلة محددة: البق الدقيقي، واخضرار الحمضيات (HLB)، والنيماتودا.</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Paulownia ALTIFOLIA® — شجرة المناطق الحارة</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 13 إلى 15 متراً خلال ست إلى ثماني سنوات، بجذع كبير القطر.</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مع 100 غرام من EVERGREEN® لكل شتلة، تنخفض حاجة الري بنسبة 50 %.</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تتحمّل من −25 إلى +45 درجة مئوية، ولا يشتعل خشبها قبل 426 درجة.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مصدّ للرياح، وحماية للتربة من التعرية، و400 إلى 700 كغ من العسل للهكتار.</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تُسلَّم الشتلات في أصص (25 إلى 30 سم)، معتمدة خالية من الأمراض، وتُستبدل بالضمان عند تلفها. أول قطع في نهاية السنة السادسة، ويُقدَّر الخشب بنحو 400 إلى 450 يورو للمتر المكعب.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أرقام استرشادية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توفير الماء المتوقع حسب أسلوب الري</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2F1E8"/>
          </a:solidFill>
          <a:ln w="9525">
            <a:solidFill>
              <a:srgbClr val="E0DFD0"/>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2C6E49"/>
                </a:solidFill>
                <a:latin typeface="Arial" pitchFamily="34" charset="0"/>
                <a:ea typeface="Arial" pitchFamily="34" charset="-122"/>
                <a:cs typeface="Arial" pitchFamily="34" charset="-120"/>
              </a:rPr>
              <a:t>تُقرأ بتحفّظ</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هذه النطاقات تقديرية واسترشادية، مبنية على المكاسب الموثّقة لموادنا الحابسة للماء.</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64239"/>
                </a:solidFill>
                <a:latin typeface="Arial" pitchFamily="34" charset="0"/>
                <a:ea typeface="Arial" pitchFamily="34" charset="-122"/>
                <a:cs typeface="Arial" pitchFamily="34" charset="-120"/>
              </a:rPr>
              <a:t>تتوقف النتيجة الفعلية على التربة والمناخ والمحصول. وهي تعطي ترتيب حجم فحسب، ولا تشكّل بأي حال قيمة مضمونة أو تعاقدية أو مطلقة.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ثلاثة مواقع ذات أولوية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أين نبدأ التجارب الأولى</a:t>
            </a:r>
            <a:endParaRPr lang="en-US" sz="3000" dirty="0"/>
          </a:p>
        </p:txBody>
      </p:sp>
      <p:sp>
        <p:nvSpPr>
          <p:cNvPr id="4" name="Shape 2"/>
          <p:cNvSpPr/>
          <p:nvPr/>
        </p:nvSpPr>
        <p:spPr>
          <a:xfrm>
            <a:off x="594360" y="1783080"/>
            <a:ext cx="3472586" cy="4069080"/>
          </a:xfrm>
          <a:prstGeom prst="roundRect">
            <a:avLst>
              <a:gd name="adj" fmla="val 2633"/>
            </a:avLst>
          </a:prstGeom>
          <a:solidFill>
            <a:srgbClr val="F2F1E8"/>
          </a:solidFill>
          <a:ln w="9525">
            <a:solidFill>
              <a:srgbClr val="E0DFD0"/>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الأحساء</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 2,5 مليون نخلة</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أكبر واحة نخيل في العالم، بتربة رملية شديدة النفاذية ومياه ري مالحة نسبياً.</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انخفاض متواصل في منسوب الآبار بعد أن كانت العيون تتدفق من تلقائها.</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زحف الرمال وارتفاع ملوحة التربة يستدعيان حلاً يعمل عند الجذر مباشرة.</a:t>
            </a:r>
            <a:endParaRPr lang="en-US" sz="1150" dirty="0"/>
          </a:p>
        </p:txBody>
      </p:sp>
      <p:sp>
        <p:nvSpPr>
          <p:cNvPr id="9" name="Shape 6"/>
          <p:cNvSpPr/>
          <p:nvPr/>
        </p:nvSpPr>
        <p:spPr>
          <a:xfrm>
            <a:off x="4359554" y="1783080"/>
            <a:ext cx="3472586" cy="4069080"/>
          </a:xfrm>
          <a:prstGeom prst="roundRect">
            <a:avLst>
              <a:gd name="adj" fmla="val 2633"/>
            </a:avLst>
          </a:prstGeom>
          <a:solidFill>
            <a:srgbClr val="F2F1E8"/>
          </a:solidFill>
          <a:ln w="9525">
            <a:solidFill>
              <a:srgbClr val="E0DFD0"/>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القصيم</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أكثر من 8 ملايين نخلة</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قلب الري المحوري في المملكة، معتمد على طبقة الساق الجوفية غير المتجددة.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مزارع تجارية كبيرة قادرة على اتخاذ قرار سريع بشأن تجربة ميدانية.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بريدة سوق تمور مرجعية: نتيجة تجربة واحدة تنتشر بسرعة بين المزارعين.</a:t>
            </a:r>
            <a:endParaRPr lang="en-US" sz="1150" dirty="0"/>
          </a:p>
        </p:txBody>
      </p:sp>
      <p:sp>
        <p:nvSpPr>
          <p:cNvPr id="14" name="Shape 10"/>
          <p:cNvSpPr/>
          <p:nvPr/>
        </p:nvSpPr>
        <p:spPr>
          <a:xfrm>
            <a:off x="8124749" y="1783080"/>
            <a:ext cx="3472586" cy="4069080"/>
          </a:xfrm>
          <a:prstGeom prst="roundRect">
            <a:avLst>
              <a:gd name="adj" fmla="val 2633"/>
            </a:avLst>
          </a:prstGeom>
          <a:solidFill>
            <a:srgbClr val="F2F1E8"/>
          </a:solidFill>
          <a:ln w="9525">
            <a:solidFill>
              <a:srgbClr val="E0DFD0"/>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rtl="1" algn="r" indent="0" marL="0">
              <a:buNone/>
            </a:pPr>
            <a:r>
              <a:rPr lang="en-US" sz="1500" b="1" dirty="0">
                <a:solidFill>
                  <a:srgbClr val="2C6E49"/>
                </a:solidFill>
                <a:latin typeface="Arial" pitchFamily="34" charset="0"/>
                <a:ea typeface="Arial" pitchFamily="34" charset="-122"/>
                <a:cs typeface="Arial" pitchFamily="34" charset="-120"/>
              </a:rPr>
              <a:t>عسير</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rtl="1" algn="r" indent="0" marL="0">
              <a:buNone/>
            </a:pPr>
            <a:r>
              <a:rPr lang="en-US" sz="1250" b="1" dirty="0">
                <a:solidFill>
                  <a:srgbClr val="9C6C12"/>
                </a:solidFill>
                <a:latin typeface="Arial" pitchFamily="34" charset="0"/>
                <a:ea typeface="Arial" pitchFamily="34" charset="-122"/>
                <a:cs typeface="Arial" pitchFamily="34" charset="-120"/>
              </a:rPr>
              <a:t>300 إلى 500 مم أمطار</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المنطقة الوحيدة التي تسمح بزراعة بعلية، على مدرجات جبلية ضيقة.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الأمطار موسمية وغير منتظمة: الاحتفاظ بها في التربة هو المسألة الأساسية.</a:t>
            </a:r>
            <a:endParaRPr lang="en-US" sz="1150" dirty="0"/>
          </a:p>
          <a:p>
            <a:pPr algn="r" marL="342900" indent="-342900">
              <a:lnSpc>
                <a:spcPct val="116000"/>
              </a:lnSpc>
              <a:spcAft>
                <a:spcPts val="700"/>
              </a:spcAft>
              <a:buSzPct val="100000"/>
              <a:buChar char="•"/>
            </a:pPr>
            <a:r>
              <a:rPr lang="en-US" sz="1150" dirty="0">
                <a:solidFill>
                  <a:srgbClr val="364239"/>
                </a:solidFill>
                <a:latin typeface="Arial" pitchFamily="34" charset="0"/>
                <a:ea typeface="Arial" pitchFamily="34" charset="-122"/>
                <a:cs typeface="Arial" pitchFamily="34" charset="-120"/>
              </a:rPr>
              <a:t>محاصيل عالية القيمة — البن العربي والفواكه — تبرّر كلفة التدخل.</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كيف نعمل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انتشار على مراحل، مع قياس عند كل خطوة</a:t>
            </a:r>
            <a:endParaRPr lang="en-US" sz="3000" dirty="0"/>
          </a:p>
        </p:txBody>
      </p:sp>
      <p:sp>
        <p:nvSpPr>
          <p:cNvPr id="4" name="Shape 2"/>
          <p:cNvSpPr/>
          <p:nvPr/>
        </p:nvSpPr>
        <p:spPr>
          <a:xfrm>
            <a:off x="594360" y="1874520"/>
            <a:ext cx="2545004" cy="2834640"/>
          </a:xfrm>
          <a:prstGeom prst="roundRect">
            <a:avLst>
              <a:gd name="adj" fmla="val 3593"/>
            </a:avLst>
          </a:prstGeom>
          <a:solidFill>
            <a:srgbClr val="F2F1E8"/>
          </a:solidFill>
          <a:ln w="9525">
            <a:solidFill>
              <a:srgbClr val="E0DFD0"/>
            </a:solidFill>
            <a:prstDash val="solid"/>
          </a:ln>
        </p:spPr>
      </p:sp>
      <p:sp>
        <p:nvSpPr>
          <p:cNvPr id="5" name="Shape 3"/>
          <p:cNvSpPr/>
          <p:nvPr/>
        </p:nvSpPr>
        <p:spPr>
          <a:xfrm>
            <a:off x="822960" y="2103120"/>
            <a:ext cx="566928" cy="566928"/>
          </a:xfrm>
          <a:prstGeom prst="ellipse">
            <a:avLst/>
          </a:prstGeom>
          <a:solidFill>
            <a:srgbClr val="2C6E49"/>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التشخيص</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تحليل التربة وأسلوب الري والمحصول. لا التزام في هذه المرحلة.</a:t>
            </a:r>
            <a:endParaRPr lang="en-US" sz="1200" dirty="0"/>
          </a:p>
        </p:txBody>
      </p:sp>
      <p:sp>
        <p:nvSpPr>
          <p:cNvPr id="9" name="Shape 7"/>
          <p:cNvSpPr/>
          <p:nvPr/>
        </p:nvSpPr>
        <p:spPr>
          <a:xfrm>
            <a:off x="3413684" y="1874520"/>
            <a:ext cx="2545004" cy="2834640"/>
          </a:xfrm>
          <a:prstGeom prst="roundRect">
            <a:avLst>
              <a:gd name="adj" fmla="val 3593"/>
            </a:avLst>
          </a:prstGeom>
          <a:solidFill>
            <a:srgbClr val="F2F1E8"/>
          </a:solidFill>
          <a:ln w="9525">
            <a:solidFill>
              <a:srgbClr val="E0DFD0"/>
            </a:solidFill>
            <a:prstDash val="solid"/>
          </a:ln>
        </p:spPr>
      </p:sp>
      <p:sp>
        <p:nvSpPr>
          <p:cNvPr id="10" name="Shape 8"/>
          <p:cNvSpPr/>
          <p:nvPr/>
        </p:nvSpPr>
        <p:spPr>
          <a:xfrm>
            <a:off x="3642284" y="2103120"/>
            <a:ext cx="566928" cy="566928"/>
          </a:xfrm>
          <a:prstGeom prst="ellipse">
            <a:avLst/>
          </a:prstGeom>
          <a:solidFill>
            <a:srgbClr val="2C6E49"/>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قطعة تجريبية</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تجربة مقارنة على قطعة واحدة، مع قطعة شاهد تُدار بالطريقة نفسها.</a:t>
            </a:r>
            <a:endParaRPr lang="en-US" sz="1200" dirty="0"/>
          </a:p>
        </p:txBody>
      </p:sp>
      <p:sp>
        <p:nvSpPr>
          <p:cNvPr id="14" name="Shape 12"/>
          <p:cNvSpPr/>
          <p:nvPr/>
        </p:nvSpPr>
        <p:spPr>
          <a:xfrm>
            <a:off x="6233008" y="1874520"/>
            <a:ext cx="2545004" cy="2834640"/>
          </a:xfrm>
          <a:prstGeom prst="roundRect">
            <a:avLst>
              <a:gd name="adj" fmla="val 3593"/>
            </a:avLst>
          </a:prstGeom>
          <a:solidFill>
            <a:srgbClr val="F2F1E8"/>
          </a:solidFill>
          <a:ln w="9525">
            <a:solidFill>
              <a:srgbClr val="E0DFD0"/>
            </a:solidFill>
            <a:prstDash val="solid"/>
          </a:ln>
        </p:spPr>
      </p:sp>
      <p:sp>
        <p:nvSpPr>
          <p:cNvPr id="15" name="Shape 13"/>
          <p:cNvSpPr/>
          <p:nvPr/>
        </p:nvSpPr>
        <p:spPr>
          <a:xfrm>
            <a:off x="6461608" y="2103120"/>
            <a:ext cx="566928" cy="566928"/>
          </a:xfrm>
          <a:prstGeom prst="ellipse">
            <a:avLst/>
          </a:prstGeom>
          <a:solidFill>
            <a:srgbClr val="2C6E49"/>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القياس</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رصد الاستهلاك المائي والإنتاج على مدى دورة زراعية كاملة.</a:t>
            </a:r>
            <a:endParaRPr lang="en-US" sz="1200" dirty="0"/>
          </a:p>
        </p:txBody>
      </p:sp>
      <p:sp>
        <p:nvSpPr>
          <p:cNvPr id="19" name="Shape 17"/>
          <p:cNvSpPr/>
          <p:nvPr/>
        </p:nvSpPr>
        <p:spPr>
          <a:xfrm>
            <a:off x="9052331" y="1874520"/>
            <a:ext cx="2545004" cy="2834640"/>
          </a:xfrm>
          <a:prstGeom prst="roundRect">
            <a:avLst>
              <a:gd name="adj" fmla="val 3593"/>
            </a:avLst>
          </a:prstGeom>
          <a:solidFill>
            <a:srgbClr val="F2F1E8"/>
          </a:solidFill>
          <a:ln w="9525">
            <a:solidFill>
              <a:srgbClr val="E0DFD0"/>
            </a:solidFill>
            <a:prstDash val="solid"/>
          </a:ln>
        </p:spPr>
      </p:sp>
      <p:sp>
        <p:nvSpPr>
          <p:cNvPr id="20" name="Shape 18"/>
          <p:cNvSpPr/>
          <p:nvPr/>
        </p:nvSpPr>
        <p:spPr>
          <a:xfrm>
            <a:off x="9280931" y="2103120"/>
            <a:ext cx="566928" cy="566928"/>
          </a:xfrm>
          <a:prstGeom prst="ellipse">
            <a:avLst/>
          </a:prstGeom>
          <a:solidFill>
            <a:srgbClr val="2C6E49"/>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التوسّع</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تعميم تدريجي على بقية القطع بناءً على النتائج المسجّلة.</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F7D71"/>
                </a:solidFill>
                <a:latin typeface="Arial" pitchFamily="34" charset="0"/>
                <a:ea typeface="Arial" pitchFamily="34" charset="-122"/>
                <a:cs typeface="Arial" pitchFamily="34" charset="-120"/>
              </a:rPr>
              <a:t>قاعدة الجرعة واحدة في كل مكان: 3 غرامات لكل لتر من التربة المفيدة. ما يتغير من أرض إلى أخرى هو حجم التربة الذي تستكشفه الجذور فعلياً.</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العمل معاً</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شريك محلي في المملكة العربية السعودية</a:t>
            </a:r>
            <a:endParaRPr lang="en-US" sz="3000" dirty="0"/>
          </a:p>
        </p:txBody>
      </p:sp>
      <p:sp>
        <p:nvSpPr>
          <p:cNvPr id="4" name="Shape 2"/>
          <p:cNvSpPr/>
          <p:nvPr/>
        </p:nvSpPr>
        <p:spPr>
          <a:xfrm>
            <a:off x="594360" y="1874520"/>
            <a:ext cx="2545004" cy="2834640"/>
          </a:xfrm>
          <a:prstGeom prst="roundRect">
            <a:avLst>
              <a:gd name="adj" fmla="val 3593"/>
            </a:avLst>
          </a:prstGeom>
          <a:solidFill>
            <a:srgbClr val="F2F1E8"/>
          </a:solidFill>
          <a:ln w="9525">
            <a:solidFill>
              <a:srgbClr val="E0DFD0"/>
            </a:solidFill>
            <a:prstDash val="solid"/>
          </a:ln>
        </p:spPr>
      </p:sp>
      <p:sp>
        <p:nvSpPr>
          <p:cNvPr id="5" name="Shape 3"/>
          <p:cNvSpPr/>
          <p:nvPr/>
        </p:nvSpPr>
        <p:spPr>
          <a:xfrm>
            <a:off x="822960" y="2103120"/>
            <a:ext cx="566928" cy="566928"/>
          </a:xfrm>
          <a:prstGeom prst="ellipse">
            <a:avLst/>
          </a:prstGeom>
          <a:solidFill>
            <a:srgbClr val="2C6E49"/>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التوزيع</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حصرية على مستوى الإقليم ومخزون إطلاق للموسم التجاري الأول.</a:t>
            </a:r>
            <a:endParaRPr lang="en-US" sz="1200" dirty="0"/>
          </a:p>
        </p:txBody>
      </p:sp>
      <p:sp>
        <p:nvSpPr>
          <p:cNvPr id="9" name="Shape 7"/>
          <p:cNvSpPr/>
          <p:nvPr/>
        </p:nvSpPr>
        <p:spPr>
          <a:xfrm>
            <a:off x="3413684" y="1874520"/>
            <a:ext cx="2545004" cy="2834640"/>
          </a:xfrm>
          <a:prstGeom prst="roundRect">
            <a:avLst>
              <a:gd name="adj" fmla="val 3593"/>
            </a:avLst>
          </a:prstGeom>
          <a:solidFill>
            <a:srgbClr val="F2F1E8"/>
          </a:solidFill>
          <a:ln w="9525">
            <a:solidFill>
              <a:srgbClr val="E0DFD0"/>
            </a:solidFill>
            <a:prstDash val="solid"/>
          </a:ln>
        </p:spPr>
      </p:sp>
      <p:sp>
        <p:nvSpPr>
          <p:cNvPr id="10" name="Shape 8"/>
          <p:cNvSpPr/>
          <p:nvPr/>
        </p:nvSpPr>
        <p:spPr>
          <a:xfrm>
            <a:off x="3642284" y="2103120"/>
            <a:ext cx="566928" cy="566928"/>
          </a:xfrm>
          <a:prstGeom prst="ellipse">
            <a:avLst/>
          </a:prstGeom>
          <a:solidFill>
            <a:srgbClr val="2C6E49"/>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التدريب</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تدريب فني للفرق، وبروتوكولات الجرعات، وتحديثها في كل موسم.</a:t>
            </a:r>
            <a:endParaRPr lang="en-US" sz="1200" dirty="0"/>
          </a:p>
        </p:txBody>
      </p:sp>
      <p:sp>
        <p:nvSpPr>
          <p:cNvPr id="14" name="Shape 12"/>
          <p:cNvSpPr/>
          <p:nvPr/>
        </p:nvSpPr>
        <p:spPr>
          <a:xfrm>
            <a:off x="6233008" y="1874520"/>
            <a:ext cx="2545004" cy="2834640"/>
          </a:xfrm>
          <a:prstGeom prst="roundRect">
            <a:avLst>
              <a:gd name="adj" fmla="val 3593"/>
            </a:avLst>
          </a:prstGeom>
          <a:solidFill>
            <a:srgbClr val="F2F1E8"/>
          </a:solidFill>
          <a:ln w="9525">
            <a:solidFill>
              <a:srgbClr val="E0DFD0"/>
            </a:solidFill>
            <a:prstDash val="solid"/>
          </a:ln>
        </p:spPr>
      </p:sp>
      <p:sp>
        <p:nvSpPr>
          <p:cNvPr id="15" name="Shape 13"/>
          <p:cNvSpPr/>
          <p:nvPr/>
        </p:nvSpPr>
        <p:spPr>
          <a:xfrm>
            <a:off x="6461608" y="2103120"/>
            <a:ext cx="566928" cy="566928"/>
          </a:xfrm>
          <a:prstGeom prst="ellipse">
            <a:avLst/>
          </a:prstGeom>
          <a:solidFill>
            <a:srgbClr val="2C6E49"/>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تجارب مشتركة</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قطع إرشادية مع قطعة شاهد، ونتائج تُعرض على المزارعين.</a:t>
            </a:r>
            <a:endParaRPr lang="en-US" sz="1200" dirty="0"/>
          </a:p>
        </p:txBody>
      </p:sp>
      <p:sp>
        <p:nvSpPr>
          <p:cNvPr id="19" name="Shape 17"/>
          <p:cNvSpPr/>
          <p:nvPr/>
        </p:nvSpPr>
        <p:spPr>
          <a:xfrm>
            <a:off x="9052331" y="1874520"/>
            <a:ext cx="2545004" cy="2834640"/>
          </a:xfrm>
          <a:prstGeom prst="roundRect">
            <a:avLst>
              <a:gd name="adj" fmla="val 3593"/>
            </a:avLst>
          </a:prstGeom>
          <a:solidFill>
            <a:srgbClr val="F2F1E8"/>
          </a:solidFill>
          <a:ln w="9525">
            <a:solidFill>
              <a:srgbClr val="E0DFD0"/>
            </a:solidFill>
            <a:prstDash val="solid"/>
          </a:ln>
        </p:spPr>
      </p:sp>
      <p:sp>
        <p:nvSpPr>
          <p:cNvPr id="20" name="Shape 18"/>
          <p:cNvSpPr/>
          <p:nvPr/>
        </p:nvSpPr>
        <p:spPr>
          <a:xfrm>
            <a:off x="9280931" y="2103120"/>
            <a:ext cx="566928" cy="566928"/>
          </a:xfrm>
          <a:prstGeom prst="ellipse">
            <a:avLst/>
          </a:prstGeom>
          <a:solidFill>
            <a:srgbClr val="2C6E49"/>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2C6E49"/>
                </a:solidFill>
                <a:latin typeface="Arial" pitchFamily="34" charset="0"/>
                <a:ea typeface="Arial" pitchFamily="34" charset="-122"/>
                <a:cs typeface="Arial" pitchFamily="34" charset="-120"/>
              </a:rPr>
              <a:t>المؤسسات</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64239"/>
                </a:solidFill>
                <a:latin typeface="Arial" pitchFamily="34" charset="0"/>
                <a:ea typeface="Arial" pitchFamily="34" charset="-122"/>
                <a:cs typeface="Arial" pitchFamily="34" charset="-120"/>
              </a:rPr>
              <a:t>حوار مع وزارة الزراعة وبرامج الأمن الغذائي.</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F7D71"/>
                </a:solidFill>
                <a:latin typeface="Arial" pitchFamily="34" charset="0"/>
                <a:ea typeface="Arial" pitchFamily="34" charset="-122"/>
                <a:cs typeface="Arial" pitchFamily="34" charset="-120"/>
              </a:rPr>
              <a:t>يتكيف الإطار مع الإقليم: يمكن أن يقود الشراكة مستورد أو موزّع مدخلات زراعية أو جمعية منتجين.</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ما يجب توقّعه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مخاطر محددة وردود عليها</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المخاطر</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تربة رملية شديدة النفاذية وحرارة صيفية تتجاوز 45 درجة: تباين كبير في النتائج من قطعة إلى أخرى.</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ملوحة مياه الري والتربة في المناطق الشرقية، وما ترتّب عليها من حذر تجاه أي مادة مضافة.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منافسة منتجات رخيصة أساسها الصوديوم تركت انطباعاً سيئاً لدى المزارعين.</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دورات قرار طويلة لدى الشركات الزراعية الكبرى والجهات الحكومية.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الردود</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إجراء التجربة على دورة كاملة مع قطعة شاهد، لتوثيق الفارق بالأرقام لا بالوعود.</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تركيبة أساسها البوتاسيوم لا الصوديوم: لا تضيف ملوحة، ومتوافقة مع المحاصيل الغذائية.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تجهيز الملف التنظيمي مبكراً: التحاليل وشهادات المطابقة قبل بدء التفاوض.</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العمل عبر الجمعيات التعاونية الزراعية وبرامج دعم الريف، لا عبر المزارع الفردية.</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تحليل الأكريلاميد (مختبر Polymex، ISO 9001، بتركيز أقل من 3,0 ميكروغرام/غرام) وفحص REACH / SVHC (SGS) وشهادة SOHISCERT السارية حتى 4 سبتمبر 2027: متاحة جميعها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5"/>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D9A441"/>
                </a:solidFill>
                <a:latin typeface="Arial" pitchFamily="34" charset="0"/>
                <a:ea typeface="Arial" pitchFamily="34" charset="-122"/>
                <a:cs typeface="Arial" pitchFamily="34" charset="-120"/>
              </a:rPr>
              <a:t>المصادر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16412B"/>
                </a:solidFill>
                <a:latin typeface="Arial" pitchFamily="34" charset="0"/>
                <a:ea typeface="Arial" pitchFamily="34" charset="-122"/>
                <a:cs typeface="Arial" pitchFamily="34" charset="-120"/>
              </a:rPr>
              <a:t>المصادر وافتراضات العمل</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المصادر الرئيسية</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الهيئة العامة للإحصاء: الناتج المحلي حسب النشاط والإحصاءات الزراعية.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وزارة البيئة والمياه والزراعة: الاستراتيجية الوطنية للأمن الغذائي ونسب الاكتفاء الذاتي.</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المركز الوطني للنخيل والتمور: أعداد النخيل وصادرات التمور.</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منظمة الأغذية والزراعة (FAOSTAT وAQUASTAT) والبنك الدولي (WDI).</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اتفاقية الأمم المتحدة لمكافحة التصحر، الجفاف بالأرقام 2022: ارتفاع عدد فترات الجفاف ومدتها 29٪ منذ 2000 مقارنة بـ1980–1999.</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الأمم المتحدة للمياه / أكواستات الفاو، مؤشر الهدف 6.4.2: تعريف الإجهاد المائي وحدوده.</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صور توضيحية فوتوغرافية مفاهيمية: Green Solutions / OpenAI. لا توثّق موقعاً أو تجربة حقيقية.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2C6E49"/>
                </a:solidFill>
                <a:latin typeface="Arial" pitchFamily="34" charset="0"/>
                <a:ea typeface="Arial" pitchFamily="34" charset="-122"/>
                <a:cs typeface="Arial" pitchFamily="34" charset="-120"/>
              </a:rPr>
              <a:t>افتراضات العمل</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الأرقام رتب حجم مقرّبة، مأخوذة من أحدث البيانات العامة المتاحة.</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توفير الماء وزيادة الإنتاج أرقام استرشادية تتغير بحسب التربة والمناخ والمحصول.</a:t>
            </a:r>
            <a:endParaRPr lang="en-US" sz="1350" dirty="0"/>
          </a:p>
          <a:p>
            <a:pPr algn="r" marL="342900" indent="-342900">
              <a:lnSpc>
                <a:spcPct val="122000"/>
              </a:lnSpc>
              <a:spcAft>
                <a:spcPts val="1000"/>
              </a:spcAft>
              <a:buSzPct val="100000"/>
              <a:buChar char="•"/>
            </a:pPr>
            <a:r>
              <a:rPr lang="en-US" sz="1350" dirty="0">
                <a:solidFill>
                  <a:srgbClr val="364239"/>
                </a:solidFill>
                <a:latin typeface="Arial" pitchFamily="34" charset="0"/>
                <a:ea typeface="Arial" pitchFamily="34" charset="-122"/>
                <a:cs typeface="Arial" pitchFamily="34" charset="-120"/>
              </a:rPr>
              <a:t>وثيقة عمل تجارية: تُحدَّث الأرقام قبل أي تقديم رسمي.</a:t>
            </a:r>
            <a:endParaRPr lang="en-US" sz="1350" dirty="0"/>
          </a:p>
        </p:txBody>
      </p:sp>
      <p:sp>
        <p:nvSpPr>
          <p:cNvPr id="8" name="Shape 6"/>
          <p:cNvSpPr/>
          <p:nvPr/>
        </p:nvSpPr>
        <p:spPr>
          <a:xfrm>
            <a:off x="594360" y="4846320"/>
            <a:ext cx="11002975" cy="960120"/>
          </a:xfrm>
          <a:prstGeom prst="roundRect">
            <a:avLst>
              <a:gd name="adj" fmla="val 7619"/>
            </a:avLst>
          </a:prstGeom>
          <a:solidFill>
            <a:srgbClr val="F2F1E8"/>
          </a:solidFill>
          <a:ln w="9525">
            <a:solidFill>
              <a:srgbClr val="E0DFD0"/>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F7D71"/>
                </a:solidFill>
                <a:latin typeface="Arial" pitchFamily="34" charset="0"/>
                <a:ea typeface="Arial" pitchFamily="34" charset="-122"/>
                <a:cs typeface="Arial" pitchFamily="34" charset="-120"/>
              </a:rPr>
              <a:t>تقارير التجارب والشهادات (SOHISCERT، وتحاليل Polymex وSGS) والنشرات الفنية متاحة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F7D71">
                    <a:alpha val="80000"/>
                  </a:srgbClr>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أخبرنا عن أرضك</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المحصول، وأسلوب الري، وطبيعة التربة، وحجم الماء المستهلك اليوم. نعود إليكم بالتركيبة المناسبة من التقنيات، والجرعات، والتجارب التي أُجريت في ظروف مشابهة.</a:t>
            </a:r>
            <a:endParaRPr lang="en-US" sz="1500" dirty="0"/>
          </a:p>
          <a:p>
            <a:pPr rtl="1" algn="r" indent="0" marL="0">
              <a:lnSpc>
                <a:spcPct val="130000"/>
              </a:lnSpc>
              <a:buNone/>
            </a:pPr>
            <a:endParaRPr lang="en-US" sz="1500" dirty="0"/>
          </a:p>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التواصل الأول لا يُلزم بشيء.</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rtl="1" algn="r" indent="0" marL="0">
              <a:buNone/>
            </a:pPr>
            <a:r>
              <a:rPr lang="en-US" sz="1400" b="1" dirty="0">
                <a:solidFill>
                  <a:srgbClr val="D9A441"/>
                </a:solidFill>
                <a:latin typeface="Arial" pitchFamily="34" charset="0"/>
                <a:ea typeface="Arial" pitchFamily="34" charset="-122"/>
                <a:cs typeface="Arial" pitchFamily="34" charset="-120"/>
              </a:rPr>
              <a:t>contact@green-solutions-group.com · Green Solutions Groupe AIM SA, 46, route de la Condémine, 1475 Forel, Switzerland</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502920"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Green Solutions · ملف السوق الزراعي السعودي</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2026-10-07T08:25:14Z</dcterms:created>
  <dcterms:modified xsi:type="dcterms:W3CDTF">2026-10-07T08:25:14Z</dcterms:modified>
</cp:coreProperties>
</file>