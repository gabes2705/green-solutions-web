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8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8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8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84.xml.rels><?xml version="1.0" encoding="UTF-8" standalone="yes"?><Relationships xmlns="http://schemas.openxmlformats.org/package/2006/relationships"><Relationship Id="rId1" Type="http://schemas.openxmlformats.org/officeDocument/2006/relationships/package" Target="../embeddings/Microsoft_Excel_Worksheet84.xlsx"/></Relationships>
</file>

<file path=ppt/charts/_rels/chart85.xml.rels><?xml version="1.0" encoding="UTF-8" standalone="yes"?><Relationships xmlns="http://schemas.openxmlformats.org/package/2006/relationships"><Relationship Id="rId1" Type="http://schemas.openxmlformats.org/officeDocument/2006/relationships/package" Target="../embeddings/Microsoft_Excel_Worksheet85.xlsx"/></Relationships>
</file>

<file path=ppt/charts/_rels/chart86.xml.rels><?xml version="1.0" encoding="UTF-8" standalone="yes"?><Relationships xmlns="http://schemas.openxmlformats.org/package/2006/relationships"><Relationship Id="rId1" Type="http://schemas.openxmlformats.org/officeDocument/2006/relationships/package" Target="../embeddings/Microsoft_Excel_Worksheet86.xlsx"/></Relationships>
</file>

<file path=ppt/charts/_rels/chart87.xml.rels><?xml version="1.0" encoding="UTF-8" standalone="yes"?><Relationships xmlns="http://schemas.openxmlformats.org/package/2006/relationships"><Relationship Id="rId1" Type="http://schemas.openxmlformats.org/officeDocument/2006/relationships/package" Target="../embeddings/Microsoft_Excel_Worksheet87.xlsx"/></Relationships>
</file>

<file path=ppt/charts/chart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Indice mondial du nombre et de la durée des sécheresses</c:v>
                </c:pt>
              </c:strCache>
            </c:strRef>
          </c:tx>
          <c:spPr>
            <a:solidFill>
              <a:srgbClr val="1D4E6B"/>
            </a:solidFill>
            <a:effectLst/>
          </c:spPr>
          <c:invertIfNegative val="0"/>
          <c:dLbls>
            <c:numFmt formatCode="[$-40C]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dPt>
            <c:idx val="0"/>
            <c:invertIfNegative val="0"/>
            <c:bubble3D val="0"/>
            <c:spPr>
              <a:solidFill>
                <a:srgbClr val="1D4E6B"/>
              </a:solidFill>
              <a:effectLst/>
            </c:spPr>
          </c:dPt>
          <c:dPt>
            <c:idx val="1"/>
            <c:invertIfNegative val="0"/>
            <c:bubble3D val="0"/>
            <c:spPr>
              <a:solidFill>
                <a:srgbClr val="D98C2B"/>
              </a:solidFill>
              <a:effectLst/>
            </c:spPr>
          </c:dPt>
          <c:cat>
            <c:multiLvlStrRef>
              <c:f>Sheet1!$A$2:$A$3</c:f>
              <c:multiLvlStrCache>
                <c:ptCount val="2"/>
                <c:lvl>
                  <c:pt idx="0">
                    <c:v>1980–1999</c:v>
                  </c:pt>
                  <c:pt idx="1">
                    <c:v>Depuis 2000</c:v>
                  </c:pt>
                </c:lvl>
              </c:multiLvlStrCache>
            </c:multiLvlStrRef>
          </c:cat>
          <c:val>
            <c:numRef>
              <c:f>Sheet1!$B$2:$B$3</c:f>
              <c:numCache>
                <c:formatCode>General</c:formatCode>
                <c:ptCount val="2"/>
                <c:pt idx="0">
                  <c:v>100</c:v>
                </c:pt>
                <c:pt idx="1">
                  <c:v>129</c:v>
                </c:pt>
              </c:numCache>
            </c:numRef>
          </c:val>
        </c:ser>
        <c:dLbls>
          <c:numFmt formatCode="[$-40C]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8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Prélèvements</c:v>
                </c:pt>
              </c:strCache>
            </c:strRef>
          </c:tx>
          <c:spPr>
            <a:solidFill>
              <a:schemeClr val="accent1"/>
            </a:solidFill>
            <a:ln w="9525" cap="flat">
              <a:solidFill>
                <a:srgbClr val="F9F9F9"/>
              </a:solidFill>
              <a:prstDash val="solid"/>
              <a:round/>
            </a:ln>
            <a:effectLst/>
          </c:spPr>
          <c:dPt>
            <c:idx val="0"/>
            <c:bubble3D val="0"/>
            <c:spPr>
              <a:solidFill>
                <a:srgbClr val="1D4E6B"/>
              </a:solidFill>
              <a:effectLst/>
            </c:spPr>
          </c:dPt>
          <c:dPt>
            <c:idx val="1"/>
            <c:bubble3D val="0"/>
            <c:spPr>
              <a:solidFill>
                <a:srgbClr val="D98C2B"/>
              </a:solidFill>
              <a:effectLst/>
            </c:spPr>
          </c:dPt>
          <c:dPt>
            <c:idx val="2"/>
            <c:bubble3D val="0"/>
            <c:spPr>
              <a:solidFill>
                <a:srgbClr val="5A8BA6"/>
              </a:solidFill>
              <a:effectLst/>
            </c:spPr>
          </c:dPt>
          <c:dLbls>
            <c:dLbl>
              <c:idx val="0"/>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40C]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Agriculture</c:v>
                </c:pt>
                <c:pt idx="1">
                  <c:v>Eau potable</c:v>
                </c:pt>
                <c:pt idx="2">
                  <c:v>Industrie</c:v>
                </c:pt>
              </c:strCache>
            </c:strRef>
          </c:cat>
          <c:val>
            <c:numRef>
              <c:f>Sheet1!$B$2:$B$4</c:f>
              <c:numCache>
                <c:ptCount val="3"/>
                <c:pt idx="0">
                  <c:v>93</c:v>
                </c:pt>
                <c:pt idx="1">
                  <c:v>4</c:v>
                </c:pt>
                <c:pt idx="2">
                  <c:v>3</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Production annuelle (millions de tonnes)</c:v>
                </c:pt>
              </c:strCache>
            </c:strRef>
          </c:tx>
          <c:spPr>
            <a:solidFill>
              <a:srgbClr val="1D4E6B"/>
            </a:solidFill>
            <a:effectLst/>
          </c:spPr>
          <c:invertIfNegative val="0"/>
          <c:dLbls>
            <c:numFmt formatCode="[$-40C]0.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dPt>
            <c:idx val="0"/>
            <c:invertIfNegative val="0"/>
            <c:bubble3D val="0"/>
            <c:spPr>
              <a:solidFill>
                <a:srgbClr val="1D4E6B"/>
              </a:solidFill>
              <a:effectLst/>
            </c:spPr>
          </c:dPt>
          <c:dPt>
            <c:idx val="1"/>
            <c:invertIfNegative val="0"/>
            <c:bubble3D val="0"/>
            <c:spPr>
              <a:solidFill>
                <a:srgbClr val="D98C2B"/>
              </a:solidFill>
              <a:effectLst/>
            </c:spPr>
          </c:dPt>
          <c:dPt>
            <c:idx val="2"/>
            <c:invertIfNegative val="0"/>
            <c:bubble3D val="0"/>
            <c:spPr>
              <a:solidFill>
                <a:srgbClr val="5A8BA6"/>
              </a:solidFill>
              <a:effectLst/>
            </c:spPr>
          </c:dPt>
          <c:dPt>
            <c:idx val="3"/>
            <c:invertIfNegative val="0"/>
            <c:bubble3D val="0"/>
            <c:spPr>
              <a:solidFill>
                <a:srgbClr val="8FAF5B"/>
              </a:solidFill>
              <a:effectLst/>
            </c:spPr>
          </c:dPt>
          <c:dPt>
            <c:idx val="4"/>
            <c:invertIfNegative val="0"/>
            <c:bubble3D val="0"/>
            <c:spPr>
              <a:solidFill>
                <a:srgbClr val="B25C3C"/>
              </a:solidFill>
              <a:effectLst/>
            </c:spPr>
          </c:dPt>
          <c:cat>
            <c:multiLvlStrRef>
              <c:f>Sheet1!$A$2:$A$6</c:f>
              <c:multiLvlStrCache>
                <c:ptCount val="5"/>
                <c:lvl>
                  <c:pt idx="0">
                    <c:v>Arachide</c:v>
                  </c:pt>
                  <c:pt idx="1">
                    <c:v>Riz paddy</c:v>
                  </c:pt>
                  <c:pt idx="2">
                    <c:v>Mil</c:v>
                  </c:pt>
                  <c:pt idx="3">
                    <c:v>Maïs</c:v>
                  </c:pt>
                  <c:pt idx="4">
                    <c:v>Oignon</c:v>
                  </c:pt>
                </c:lvl>
              </c:multiLvlStrCache>
            </c:multiLvlStrRef>
          </c:cat>
          <c:val>
            <c:numRef>
              <c:f>Sheet1!$B$2:$B$6</c:f>
              <c:numCache>
                <c:formatCode>General</c:formatCode>
                <c:ptCount val="5"/>
                <c:pt idx="0">
                  <c:v>1.5</c:v>
                </c:pt>
                <c:pt idx="1">
                  <c:v>1.3</c:v>
                </c:pt>
                <c:pt idx="2">
                  <c:v>1</c:v>
                </c:pt>
                <c:pt idx="3">
                  <c:v>0.7</c:v>
                </c:pt>
                <c:pt idx="4">
                  <c:v>0.45</c:v>
                </c:pt>
              </c:numCache>
            </c:numRef>
          </c:val>
        </c:ser>
        <c:dLbls>
          <c:numFmt formatCode="[$-40C]0.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8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Fourchette basse (%)</c:v>
                </c:pt>
              </c:strCache>
            </c:strRef>
          </c:tx>
          <c:spPr>
            <a:solidFill>
              <a:srgbClr val="1D4E6B"/>
            </a:solidFill>
            <a:effectLst/>
          </c:spPr>
          <c:invertIfNegative val="0"/>
          <c:dLbls>
            <c:numFmt formatCode="[$-40C]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Aspersion</c:v>
                  </c:pt>
                  <c:pt idx="2">
                    <c:v>Pivot</c:v>
                  </c:pt>
                  <c:pt idx="3">
                    <c:v>Gravitaire</c:v>
                  </c:pt>
                </c:lvl>
              </c:multiLvlStrCache>
            </c:multiLvlStrRef>
          </c:cat>
          <c:val>
            <c:numRef>
              <c:f>Sheet1!$B$2:$B$5</c:f>
              <c:numCache>
                <c:formatCode>General</c:formatCode>
                <c:ptCount val="4"/>
                <c:pt idx="0">
                  <c:v>40</c:v>
                </c:pt>
                <c:pt idx="1">
                  <c:v>50</c:v>
                </c:pt>
                <c:pt idx="2">
                  <c:v>50</c:v>
                </c:pt>
                <c:pt idx="3">
                  <c:v>55</c:v>
                </c:pt>
              </c:numCache>
            </c:numRef>
          </c:val>
        </c:ser>
        <c:ser>
          <c:idx val="1"/>
          <c:order val="1"/>
          <c:tx>
            <c:strRef>
              <c:f>Sheet1!$C$1</c:f>
              <c:strCache>
                <c:ptCount val="1"/>
                <c:pt idx="0">
                  <c:v>Fourchette haute (%)</c:v>
                </c:pt>
              </c:strCache>
            </c:strRef>
          </c:tx>
          <c:spPr>
            <a:solidFill>
              <a:srgbClr val="D98C2B"/>
            </a:solidFill>
            <a:effectLst/>
          </c:spPr>
          <c:invertIfNegative val="0"/>
          <c:dLbls>
            <c:numFmt formatCode="[$-40C]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Aspersion</c:v>
                  </c:pt>
                  <c:pt idx="2">
                    <c:v>Pivot</c:v>
                  </c:pt>
                  <c:pt idx="3">
                    <c:v>Gravitaire</c:v>
                  </c:pt>
                </c:lvl>
              </c:multiLvlStrCache>
            </c:multiLvlStrRef>
          </c:cat>
          <c:val>
            <c:numRef>
              <c:f>Sheet1!$C$2:$C$5</c:f>
              <c:numCache>
                <c:formatCode>General</c:formatCode>
                <c:ptCount val="4"/>
                <c:pt idx="0">
                  <c:v>55</c:v>
                </c:pt>
                <c:pt idx="1">
                  <c:v>65</c:v>
                </c:pt>
                <c:pt idx="2">
                  <c:v>65</c:v>
                </c:pt>
                <c:pt idx="3">
                  <c:v>70</c:v>
                </c:pt>
              </c:numCache>
            </c:numRef>
          </c:val>
        </c:ser>
        <c:dLbls>
          <c:numFmt formatCode="[$-40C]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8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8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85.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86.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7.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senegal.png">    </p:cNvPr>
          <p:cNvPicPr>
            <a:picLocks noChangeAspect="1"/>
          </p:cNvPicPr>
          <p:nvPr/>
        </p:nvPicPr>
        <p:blipFill>
          <a:blip r:embed="rId3"/>
          <a:stretch>
            <a:fillRect/>
          </a:stretch>
        </p:blipFill>
        <p:spPr>
          <a:xfrm>
            <a:off x="3649991" y="1389888"/>
            <a:ext cx="1964425" cy="1310640"/>
          </a:xfrm>
          <a:prstGeom prst="rect">
            <a:avLst/>
          </a:prstGeom>
        </p:spPr>
      </p:pic>
      <p:sp>
        <p:nvSpPr>
          <p:cNvPr id="7" name="Shape 2"/>
          <p:cNvSpPr/>
          <p:nvPr/>
        </p:nvSpPr>
        <p:spPr>
          <a:xfrm>
            <a:off x="3649991" y="1389888"/>
            <a:ext cx="1964425"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800" b="1" dirty="0">
                <a:solidFill>
                  <a:srgbClr val="FFFFFF"/>
                </a:solidFill>
                <a:latin typeface="Cambria" pitchFamily="34" charset="0"/>
                <a:ea typeface="Cambria" pitchFamily="34" charset="-122"/>
                <a:cs typeface="Cambria" pitchFamily="34" charset="-120"/>
              </a:rPr>
              <a:t>RÉPUBLIQUE DU SÉNÉGAL</a:t>
            </a:r>
            <a:endParaRPr lang="en-US" sz="2800" dirty="0"/>
          </a:p>
        </p:txBody>
      </p:sp>
      <p:sp>
        <p:nvSpPr>
          <p:cNvPr id="9" name="Shape 4"/>
          <p:cNvSpPr/>
          <p:nvPr/>
        </p:nvSpPr>
        <p:spPr>
          <a:xfrm>
            <a:off x="658368" y="2889504"/>
            <a:ext cx="2788920" cy="45720"/>
          </a:xfrm>
          <a:prstGeom prst="rect">
            <a:avLst/>
          </a:prstGeom>
          <a:solidFill>
            <a:srgbClr val="D98C2B"/>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D98C2B"/>
                </a:solidFill>
                <a:latin typeface="Cambria" pitchFamily="34" charset="0"/>
                <a:ea typeface="Cambria" pitchFamily="34" charset="-122"/>
                <a:cs typeface="Cambria" pitchFamily="34" charset="-120"/>
              </a:rPr>
              <a:t>Dakar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Arachide, riz du fleuve et maraîchage des Niayes sur des sols sableux et des pluies qui reculent.</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Ce que l'hydro-rétention change quand chaque semaine sèche compte.</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Septembre 2026 · Document confidentiel · À l'usage exclusif du destinataire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LE MARCHÉ EN BREF</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Un pays agricole à la pluie courte et aux sols pauvres</a:t>
            </a:r>
            <a:endParaRPr lang="en-US" sz="3000" dirty="0"/>
          </a:p>
        </p:txBody>
      </p:sp>
      <p:sp>
        <p:nvSpPr>
          <p:cNvPr id="4" name="Shape 2"/>
          <p:cNvSpPr/>
          <p:nvPr/>
        </p:nvSpPr>
        <p:spPr>
          <a:xfrm>
            <a:off x="594360" y="1874520"/>
            <a:ext cx="2545004" cy="2514600"/>
          </a:xfrm>
          <a:prstGeom prst="roundRect">
            <a:avLst>
              <a:gd name="adj" fmla="val 3636"/>
            </a:avLst>
          </a:prstGeom>
          <a:solidFill>
            <a:srgbClr val="EEF2F5"/>
          </a:solidFill>
          <a:ln w="9525">
            <a:solidFill>
              <a:srgbClr val="D8E1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17 %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du PIB provient de l'agriculture, élevage compris</a:t>
            </a:r>
            <a:endParaRPr lang="en-US" sz="1250" dirty="0"/>
          </a:p>
        </p:txBody>
      </p:sp>
      <p:sp>
        <p:nvSpPr>
          <p:cNvPr id="7" name="Shape 5"/>
          <p:cNvSpPr/>
          <p:nvPr/>
        </p:nvSpPr>
        <p:spPr>
          <a:xfrm>
            <a:off x="3413684" y="1874520"/>
            <a:ext cx="2545004" cy="2514600"/>
          </a:xfrm>
          <a:prstGeom prst="roundRect">
            <a:avLst>
              <a:gd name="adj" fmla="val 3636"/>
            </a:avLst>
          </a:prstGeom>
          <a:solidFill>
            <a:srgbClr val="EEF2F5"/>
          </a:solidFill>
          <a:ln w="9525">
            <a:solidFill>
              <a:srgbClr val="D8E1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000" b="1" dirty="0">
                <a:solidFill>
                  <a:srgbClr val="1D4E6B"/>
                </a:solidFill>
                <a:latin typeface="Cambria" pitchFamily="34" charset="0"/>
                <a:ea typeface="Cambria" pitchFamily="34" charset="-122"/>
                <a:cs typeface="Cambria" pitchFamily="34" charset="-120"/>
              </a:rPr>
              <a:t>≈ 3,8 M ha</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de terres cultivables</a:t>
            </a:r>
            <a:endParaRPr lang="en-US" sz="1250" dirty="0"/>
          </a:p>
        </p:txBody>
      </p:sp>
      <p:sp>
        <p:nvSpPr>
          <p:cNvPr id="10" name="Shape 8"/>
          <p:cNvSpPr/>
          <p:nvPr/>
        </p:nvSpPr>
        <p:spPr>
          <a:xfrm>
            <a:off x="6233008" y="1874520"/>
            <a:ext cx="2545004" cy="2514600"/>
          </a:xfrm>
          <a:prstGeom prst="roundRect">
            <a:avLst>
              <a:gd name="adj" fmla="val 3636"/>
            </a:avLst>
          </a:prstGeom>
          <a:solidFill>
            <a:srgbClr val="EEF2F5"/>
          </a:solidFill>
          <a:ln w="9525">
            <a:solidFill>
              <a:srgbClr val="D8E1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1,5 M t</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d'arachide récoltées les bonnes années</a:t>
            </a:r>
            <a:endParaRPr lang="en-US" sz="1250" dirty="0"/>
          </a:p>
        </p:txBody>
      </p:sp>
      <p:sp>
        <p:nvSpPr>
          <p:cNvPr id="13" name="Shape 11"/>
          <p:cNvSpPr/>
          <p:nvPr/>
        </p:nvSpPr>
        <p:spPr>
          <a:xfrm>
            <a:off x="9052331" y="1874520"/>
            <a:ext cx="2545004" cy="2514600"/>
          </a:xfrm>
          <a:prstGeom prst="roundRect">
            <a:avLst>
              <a:gd name="adj" fmla="val 3636"/>
            </a:avLst>
          </a:prstGeom>
          <a:solidFill>
            <a:srgbClr val="EEF2F5"/>
          </a:solidFill>
          <a:ln w="9525">
            <a:solidFill>
              <a:srgbClr val="D8E1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000" b="1" dirty="0">
                <a:solidFill>
                  <a:srgbClr val="1D4E6B"/>
                </a:solidFill>
                <a:latin typeface="Cambria" pitchFamily="34" charset="0"/>
                <a:ea typeface="Cambria" pitchFamily="34" charset="-122"/>
                <a:cs typeface="Cambria" pitchFamily="34" charset="-120"/>
              </a:rPr>
              <a:t>300–1 200 mm</a:t>
            </a:r>
            <a:endParaRPr lang="en-US" sz="30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de pluie par an, du Nord sahélien à la Casamance</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2F3E47"/>
                </a:solidFill>
                <a:latin typeface="Calibri" pitchFamily="34" charset="0"/>
                <a:ea typeface="Calibri" pitchFamily="34" charset="-122"/>
                <a:cs typeface="Calibri" pitchFamily="34" charset="-120"/>
              </a:rPr>
              <a:t>Environ 18 millions d'habitants, une façade atlantique et le fleuve Sénégal : le pays a les terres et une partie de l'eau, mais une agriculture encore largement pluviale, concentrée sur quelques mois d'hivernage. La souveraineté alimentaire, en particulier pour le riz, est une priorité affichée des pouvoirs publics.</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LA CONTRAINTE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Un hivernage court, des sols sableux qui ne gardent rien</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L'essentiel des pluies tombe en trois à quatre mois, de juillet à octobre : une pause de deux semaines après le semis suffit à compromettre la levée.</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Les sols sableux du bassin arachidier sont pauvres en matière organique : l'eau percole sous la zone racinaire en quelques heures.</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Au nord, la pluviométrie reste proche de 300 mm par an ; seule la Casamance dépasse régulièrement 1 000 mm.</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Dans les Niayes, le maraîchage dépend de nappes peu profondes qui baissent et se salinisent près de la côte.</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Dans la vallée du fleuve, l'eau est pompée à grands frais : chaque tour d'eau économisé réduit la facture de gasoil ou d'électricité.</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SÉCHERESSE ET STRESS HYDRIQUE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La pression augmente, mais le risque se lit localement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Deux indicateurs, pas un raccourci</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À l’échelle mondiale, le nombre et la durée des sécheresses ont augmenté de 29 % depuis 2000 par rapport aux deux décennies précédentes.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Le stress hydrique mesure autre chose : les prélèvements rapportés aux ressources renouvelables disponibles après les besoins environnementaux. Ce signal mondial n’est donc pas une prévision nationale ; il doit être confronté aux pluies, aux nappes, aux saisons et aux usages locaux.</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OÙ PART L'EAU</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L'irrigation concentre presque tous les prélèvements</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Ce que cela implique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Les prélèvements agricoles se concentrent dans la vallée du fleuve et les Niayes, là où l'eau est pompée.</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C'est donc au champ que se joue l'économie d'eau, et sur les cultures irriguées que l'essai se chiffre le plus vite.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ÉCONOMIE ET SÉCURITÉ ALIMENTAIRE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La souveraineté alimentaire passe par le riz</a:t>
            </a:r>
            <a:endParaRPr lang="en-US" sz="3000" dirty="0"/>
          </a:p>
        </p:txBody>
      </p:sp>
      <p:sp>
        <p:nvSpPr>
          <p:cNvPr id="4" name="Shape 2"/>
          <p:cNvSpPr/>
          <p:nvPr/>
        </p:nvSpPr>
        <p:spPr>
          <a:xfrm>
            <a:off x="594360" y="1874520"/>
            <a:ext cx="2545004" cy="2514600"/>
          </a:xfrm>
          <a:prstGeom prst="roundRect">
            <a:avLst>
              <a:gd name="adj" fmla="val 3636"/>
            </a:avLst>
          </a:prstGeom>
          <a:solidFill>
            <a:srgbClr val="EEF2F5"/>
          </a:solidFill>
          <a:ln w="9525">
            <a:solidFill>
              <a:srgbClr val="D8E1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18 M</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d'habitants, dont près de la moitié en ville</a:t>
            </a:r>
            <a:endParaRPr lang="en-US" sz="1250" dirty="0"/>
          </a:p>
        </p:txBody>
      </p:sp>
      <p:sp>
        <p:nvSpPr>
          <p:cNvPr id="7" name="Shape 5"/>
          <p:cNvSpPr/>
          <p:nvPr/>
        </p:nvSpPr>
        <p:spPr>
          <a:xfrm>
            <a:off x="3413684" y="1874520"/>
            <a:ext cx="2545004" cy="2514600"/>
          </a:xfrm>
          <a:prstGeom prst="roundRect">
            <a:avLst>
              <a:gd name="adj" fmla="val 3636"/>
            </a:avLst>
          </a:prstGeom>
          <a:solidFill>
            <a:srgbClr val="EEF2F5"/>
          </a:solidFill>
          <a:ln w="9525">
            <a:solidFill>
              <a:srgbClr val="D8E1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&gt; 1 M t</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de riz importées chaque année</a:t>
            </a:r>
            <a:endParaRPr lang="en-US" sz="1250" dirty="0"/>
          </a:p>
        </p:txBody>
      </p:sp>
      <p:sp>
        <p:nvSpPr>
          <p:cNvPr id="10" name="Shape 8"/>
          <p:cNvSpPr/>
          <p:nvPr/>
        </p:nvSpPr>
        <p:spPr>
          <a:xfrm>
            <a:off x="6233008" y="1874520"/>
            <a:ext cx="2545004" cy="2514600"/>
          </a:xfrm>
          <a:prstGeom prst="roundRect">
            <a:avLst>
              <a:gd name="adj" fmla="val 3636"/>
            </a:avLst>
          </a:prstGeom>
          <a:solidFill>
            <a:srgbClr val="EEF2F5"/>
          </a:solidFill>
          <a:ln w="9525">
            <a:solidFill>
              <a:srgbClr val="D8E1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000" b="1" dirty="0">
                <a:solidFill>
                  <a:srgbClr val="1D4E6B"/>
                </a:solidFill>
                <a:latin typeface="Cambria" pitchFamily="34" charset="0"/>
                <a:ea typeface="Cambria" pitchFamily="34" charset="-122"/>
                <a:cs typeface="Cambria" pitchFamily="34" charset="-120"/>
              </a:rPr>
              <a:t>≈ 25 000 t</a:t>
            </a:r>
            <a:endParaRPr lang="en-US" sz="30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de mangues exportées par an, surtout vers l'Europe</a:t>
            </a:r>
            <a:endParaRPr lang="en-US" sz="1250" dirty="0"/>
          </a:p>
        </p:txBody>
      </p:sp>
      <p:sp>
        <p:nvSpPr>
          <p:cNvPr id="13" name="Shape 11"/>
          <p:cNvSpPr/>
          <p:nvPr/>
        </p:nvSpPr>
        <p:spPr>
          <a:xfrm>
            <a:off x="9052331" y="1874520"/>
            <a:ext cx="2545004" cy="2514600"/>
          </a:xfrm>
          <a:prstGeom prst="roundRect">
            <a:avLst>
              <a:gd name="adj" fmla="val 3636"/>
            </a:avLst>
          </a:prstGeom>
          <a:solidFill>
            <a:srgbClr val="EEF2F5"/>
          </a:solidFill>
          <a:ln w="9525">
            <a:solidFill>
              <a:srgbClr val="D8E1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2024</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début de la production pétrolière, qui rend la diversification urgente</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2F3E47"/>
                </a:solidFill>
                <a:latin typeface="Calibri" pitchFamily="34" charset="0"/>
                <a:ea typeface="Calibri" pitchFamily="34" charset="-122"/>
                <a:cs typeface="Calibri" pitchFamily="34" charset="-120"/>
              </a:rPr>
              <a:t>Le riz est l'aliment de base, et une grande partie en est importée, comme les légumes de contre-saison. Les programmes publics misent sur l'extension du riz irrigué dans la vallée du fleuve et sur la modernisation du maraîchage.</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LES FILIÈRES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Cinq productions structurent l'offre nationale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Lecture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Arachide et mil occupent l'essentiel des surfaces pluviales du bassin arachidier.</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Riz irrigué et oignon, cultivés sous pompage, sont les filières où l'eau économisée se voit directement dans la marge. Volumes arrondis, variables selon l'hivernage.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FILIÈRE PHARE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Vallée du fleuve : produire plus avec la même eau</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Les périmètres irrigués de la vallée du fleuve Sénégal portent l'essentiel de la politique d'autosuffisance en riz.</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Les rendements varient fortement d'un aménagement à l'autre, selon la maîtrise de l'eau et le calendrier cultural.</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Le pompage pèse lourd dans le coût de production, et les parcelles sableuses en bordure perdent beaucoup d'eau.</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Oignon, tomate et patate douce en contre-saison diversifient les revenus sur les mêmes périmètres.</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Sur ces cultures de diversification, EVERGREEN® se teste en une saison ; le riz en submersion n'est pas sa cible.</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NOTRE RÉPONSE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Retenir l'eau, nourrir sans épuiser</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EVERGREEN® — retenir l'eau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Hydro-rétenteur à base de potassium, placé dans la zone racinaire au semis, à la plantation ou à la reprise.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Capte l'eau de pluie ou d'irrigation et la restitue progressivement, ce qui amortit une pause de pluie en début d'hivernage.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Capacité d'absorption de l'ordre de 300 fois son poids ; durée d'effet utile de 3 à 4 ans dans le sol.</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Se dégrade de 20 à 25 % par an, sans accumulation ni risque de surdosage.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ECOFERT® — nourrir sans épuiser</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Fertilisant en microdoses d'acides aminés, azote, phosphore et potassium, issu de ressources renouvelables.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Non chélatant : il n'appauvrit pas le complexe argilo-humique, déjà fragile sur sols sableux.</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Certifié SOHISCERT et EU Bio, utilisé dans 60 pays — argument utile pour les exportateurs de légumes et de mangues.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1 à 4 flacons de 140 ml par hectare, compatibles avec un pulvérisateur à dos comme avec la fertirrigation.</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Les deux produits se vendent séparément mais ont été conçus pour se renforcer : l'hydro-rétenteur prolonge la disponibilité de l'eau, le fertilisant valorise cette eau sans dégrader le sol.</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Le reste de la gamme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Protéger les cultures, fixer les sols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NAPEMA® — protéger sans résidu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Lutte contre maladies, parasites, champignons et ravageurs, sans molécule de synthèse.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Pulvérisation foliaire et racinaire, à effet préventif comme curatif.</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Aucun résidu dans le sol, la plante ou l'air : pollinisateurs et auxiliaires préservés.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Formulé sur mesure pour un problème précis : cochenille, HLB des agrumes, nématodes.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Paulownia ALTIFOLIA® — l'arbre des régions chaudes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13 à 15 m en six à huit ans, avec un tronc de gros diamètre.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Associé à 100 g d'EVERGREEN® par plant, l'irrigation nécessaire diminue de 50 %.</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Résiste de −25 °C à +45 °C ; son bois ne s'enflamme qu'à partir de 426 °C.</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Brise-vent, protection des sols contre l'érosion, 400 à 700 kg de miel par hectare.</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Plants livrés en pot (25 à 30 cm), certifiés indemnes de maladies et remplacés sous garantie en cas de perte. Première coupe à la fin de la sixième année, bois valorisé autour de 400 à 450 € le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ORDRES DE GRANDEUR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Économie d'eau attendue selon le mode d'irrigation</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À lire avec prudence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Ces fourchettes sont indicatives et fondées sur les gains documentés de nos hydro-rétenteurs.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Le résultat réel dépend du sol, du climat et de la culture. Ces chiffres donnent un ordre de grandeur : ils ne constituent en aucun cas une valeur garantie, contractuelle ou absolue.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TROIS TERRAINS PRIORITAIRES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Où engager les premiers essais</a:t>
            </a:r>
            <a:endParaRPr lang="en-US" sz="3000" dirty="0"/>
          </a:p>
        </p:txBody>
      </p:sp>
      <p:sp>
        <p:nvSpPr>
          <p:cNvPr id="4" name="Shape 2"/>
          <p:cNvSpPr/>
          <p:nvPr/>
        </p:nvSpPr>
        <p:spPr>
          <a:xfrm>
            <a:off x="594360" y="1783080"/>
            <a:ext cx="3472586" cy="4069080"/>
          </a:xfrm>
          <a:prstGeom prst="roundRect">
            <a:avLst>
              <a:gd name="adj" fmla="val 2633"/>
            </a:avLst>
          </a:prstGeom>
          <a:solidFill>
            <a:srgbClr val="EEF2F5"/>
          </a:solidFill>
          <a:ln w="9525">
            <a:solidFill>
              <a:srgbClr val="D8E1E7"/>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1D4E6B"/>
                </a:solidFill>
                <a:latin typeface="Cambria" pitchFamily="34" charset="0"/>
                <a:ea typeface="Cambria" pitchFamily="34" charset="-122"/>
                <a:cs typeface="Cambria" pitchFamily="34" charset="-120"/>
              </a:rPr>
              <a:t>Vallée du fleuve Sénégal</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9A5F12"/>
                </a:solidFill>
                <a:latin typeface="Calibri" pitchFamily="34" charset="0"/>
                <a:ea typeface="Calibri" pitchFamily="34" charset="-122"/>
                <a:cs typeface="Calibri" pitchFamily="34" charset="-120"/>
              </a:rPr>
              <a:t>Riz et oignon irrigués</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Périmètres irrigués aménagés par la SAED, de Saint-Louis à Matam.</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Pompage coûteux et parcelles sableuses en bordure : l'eau économisée se lit sur la facture.</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Organisations paysannes structurées, capables de suivre un essai sur une campagne.</a:t>
            </a:r>
            <a:endParaRPr lang="en-US" sz="1150" dirty="0"/>
          </a:p>
        </p:txBody>
      </p:sp>
      <p:sp>
        <p:nvSpPr>
          <p:cNvPr id="9" name="Shape 6"/>
          <p:cNvSpPr/>
          <p:nvPr/>
        </p:nvSpPr>
        <p:spPr>
          <a:xfrm>
            <a:off x="4359554" y="1783080"/>
            <a:ext cx="3472586" cy="4069080"/>
          </a:xfrm>
          <a:prstGeom prst="roundRect">
            <a:avLst>
              <a:gd name="adj" fmla="val 2633"/>
            </a:avLst>
          </a:prstGeom>
          <a:solidFill>
            <a:srgbClr val="EEF2F5"/>
          </a:solidFill>
          <a:ln w="9525">
            <a:solidFill>
              <a:srgbClr val="D8E1E7"/>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1D4E6B"/>
                </a:solidFill>
                <a:latin typeface="Cambria" pitchFamily="34" charset="0"/>
                <a:ea typeface="Cambria" pitchFamily="34" charset="-122"/>
                <a:cs typeface="Cambria" pitchFamily="34" charset="-120"/>
              </a:rPr>
              <a:t>Niayes</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9A5F12"/>
                </a:solidFill>
                <a:latin typeface="Calibri" pitchFamily="34" charset="0"/>
                <a:ea typeface="Calibri" pitchFamily="34" charset="-122"/>
                <a:cs typeface="Calibri" pitchFamily="34" charset="-120"/>
              </a:rPr>
              <a:t>Premier bassin maraîcher</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Bande côtière de Dakar à Saint-Louis, qui produit l'essentiel des légumes du pays.</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Nappes peu profondes en baisse et salinisation près de la mer.</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Cultures à cycle court et à forte valeur : un essai se conclut en une saison.</a:t>
            </a:r>
            <a:endParaRPr lang="en-US" sz="1150" dirty="0"/>
          </a:p>
        </p:txBody>
      </p:sp>
      <p:sp>
        <p:nvSpPr>
          <p:cNvPr id="14" name="Shape 10"/>
          <p:cNvSpPr/>
          <p:nvPr/>
        </p:nvSpPr>
        <p:spPr>
          <a:xfrm>
            <a:off x="8124749" y="1783080"/>
            <a:ext cx="3472586" cy="4069080"/>
          </a:xfrm>
          <a:prstGeom prst="roundRect">
            <a:avLst>
              <a:gd name="adj" fmla="val 2633"/>
            </a:avLst>
          </a:prstGeom>
          <a:solidFill>
            <a:srgbClr val="EEF2F5"/>
          </a:solidFill>
          <a:ln w="9525">
            <a:solidFill>
              <a:srgbClr val="D8E1E7"/>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1D4E6B"/>
                </a:solidFill>
                <a:latin typeface="Cambria" pitchFamily="34" charset="0"/>
                <a:ea typeface="Cambria" pitchFamily="34" charset="-122"/>
                <a:cs typeface="Cambria" pitchFamily="34" charset="-120"/>
              </a:rPr>
              <a:t>Bassin arachidier</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9A5F12"/>
                </a:solidFill>
                <a:latin typeface="Calibri" pitchFamily="34" charset="0"/>
                <a:ea typeface="Calibri" pitchFamily="34" charset="-122"/>
                <a:cs typeface="Calibri" pitchFamily="34" charset="-120"/>
              </a:rPr>
              <a:t>Arachide et mil pluviaux</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Arachide et mil sur sols sableux épuisés, dans le centre du pays.</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Semis exposés aux pauses de pluie de début d'hivernage.</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Coopératives et huiliers capables de regrouper les commandes.</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COMMENT NOUS PROCÉDONS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Un déploiement par étapes, mesuré à chaque palier</a:t>
            </a:r>
            <a:endParaRPr lang="en-US" sz="3000" dirty="0"/>
          </a:p>
        </p:txBody>
      </p:sp>
      <p:sp>
        <p:nvSpPr>
          <p:cNvPr id="4" name="Shape 2"/>
          <p:cNvSpPr/>
          <p:nvPr/>
        </p:nvSpPr>
        <p:spPr>
          <a:xfrm>
            <a:off x="594360" y="1874520"/>
            <a:ext cx="2545004" cy="2834640"/>
          </a:xfrm>
          <a:prstGeom prst="roundRect">
            <a:avLst>
              <a:gd name="adj" fmla="val 3593"/>
            </a:avLst>
          </a:prstGeom>
          <a:solidFill>
            <a:srgbClr val="EEF2F5"/>
          </a:solidFill>
          <a:ln w="9525">
            <a:solidFill>
              <a:srgbClr val="D8E1E7"/>
            </a:solidFill>
            <a:prstDash val="solid"/>
          </a:ln>
        </p:spPr>
      </p:sp>
      <p:sp>
        <p:nvSpPr>
          <p:cNvPr id="5" name="Shape 3"/>
          <p:cNvSpPr/>
          <p:nvPr/>
        </p:nvSpPr>
        <p:spPr>
          <a:xfrm>
            <a:off x="822960" y="2103120"/>
            <a:ext cx="566928" cy="566928"/>
          </a:xfrm>
          <a:prstGeom prst="ellipse">
            <a:avLst/>
          </a:prstGeom>
          <a:solidFill>
            <a:srgbClr val="1D4E6B"/>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Diagnostic</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Analyse du sol, du mode d'arrosage et de la culture. Aucun engagement à ce stade.</a:t>
            </a:r>
            <a:endParaRPr lang="en-US" sz="1200" dirty="0"/>
          </a:p>
        </p:txBody>
      </p:sp>
      <p:sp>
        <p:nvSpPr>
          <p:cNvPr id="9" name="Shape 7"/>
          <p:cNvSpPr/>
          <p:nvPr/>
        </p:nvSpPr>
        <p:spPr>
          <a:xfrm>
            <a:off x="3413684" y="1874520"/>
            <a:ext cx="2545004" cy="2834640"/>
          </a:xfrm>
          <a:prstGeom prst="roundRect">
            <a:avLst>
              <a:gd name="adj" fmla="val 3593"/>
            </a:avLst>
          </a:prstGeom>
          <a:solidFill>
            <a:srgbClr val="EEF2F5"/>
          </a:solidFill>
          <a:ln w="9525">
            <a:solidFill>
              <a:srgbClr val="D8E1E7"/>
            </a:solidFill>
            <a:prstDash val="solid"/>
          </a:ln>
        </p:spPr>
      </p:sp>
      <p:sp>
        <p:nvSpPr>
          <p:cNvPr id="10" name="Shape 8"/>
          <p:cNvSpPr/>
          <p:nvPr/>
        </p:nvSpPr>
        <p:spPr>
          <a:xfrm>
            <a:off x="3642284" y="2103120"/>
            <a:ext cx="566928" cy="566928"/>
          </a:xfrm>
          <a:prstGeom prst="ellipse">
            <a:avLst/>
          </a:prstGeom>
          <a:solidFill>
            <a:srgbClr val="1D4E6B"/>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Parcelle témoin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Un essai comparatif sur un bloc, avec parcelle témoin conduite à l'identique.</a:t>
            </a:r>
            <a:endParaRPr lang="en-US" sz="1200" dirty="0"/>
          </a:p>
        </p:txBody>
      </p:sp>
      <p:sp>
        <p:nvSpPr>
          <p:cNvPr id="14" name="Shape 12"/>
          <p:cNvSpPr/>
          <p:nvPr/>
        </p:nvSpPr>
        <p:spPr>
          <a:xfrm>
            <a:off x="6233008" y="1874520"/>
            <a:ext cx="2545004" cy="2834640"/>
          </a:xfrm>
          <a:prstGeom prst="roundRect">
            <a:avLst>
              <a:gd name="adj" fmla="val 3593"/>
            </a:avLst>
          </a:prstGeom>
          <a:solidFill>
            <a:srgbClr val="EEF2F5"/>
          </a:solidFill>
          <a:ln w="9525">
            <a:solidFill>
              <a:srgbClr val="D8E1E7"/>
            </a:solidFill>
            <a:prstDash val="solid"/>
          </a:ln>
        </p:spPr>
      </p:sp>
      <p:sp>
        <p:nvSpPr>
          <p:cNvPr id="15" name="Shape 13"/>
          <p:cNvSpPr/>
          <p:nvPr/>
        </p:nvSpPr>
        <p:spPr>
          <a:xfrm>
            <a:off x="6461608" y="2103120"/>
            <a:ext cx="566928" cy="566928"/>
          </a:xfrm>
          <a:prstGeom prst="ellipse">
            <a:avLst/>
          </a:prstGeom>
          <a:solidFill>
            <a:srgbClr val="1D4E6B"/>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Mesure</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Relevés de levée, de consommation d'eau et de rendement sur une campagne complète.</a:t>
            </a:r>
            <a:endParaRPr lang="en-US" sz="1200" dirty="0"/>
          </a:p>
        </p:txBody>
      </p:sp>
      <p:sp>
        <p:nvSpPr>
          <p:cNvPr id="19" name="Shape 17"/>
          <p:cNvSpPr/>
          <p:nvPr/>
        </p:nvSpPr>
        <p:spPr>
          <a:xfrm>
            <a:off x="9052331" y="1874520"/>
            <a:ext cx="2545004" cy="2834640"/>
          </a:xfrm>
          <a:prstGeom prst="roundRect">
            <a:avLst>
              <a:gd name="adj" fmla="val 3593"/>
            </a:avLst>
          </a:prstGeom>
          <a:solidFill>
            <a:srgbClr val="EEF2F5"/>
          </a:solidFill>
          <a:ln w="9525">
            <a:solidFill>
              <a:srgbClr val="D8E1E7"/>
            </a:solidFill>
            <a:prstDash val="solid"/>
          </a:ln>
        </p:spPr>
      </p:sp>
      <p:sp>
        <p:nvSpPr>
          <p:cNvPr id="20" name="Shape 18"/>
          <p:cNvSpPr/>
          <p:nvPr/>
        </p:nvSpPr>
        <p:spPr>
          <a:xfrm>
            <a:off x="9280931" y="2103120"/>
            <a:ext cx="566928" cy="566928"/>
          </a:xfrm>
          <a:prstGeom prst="ellipse">
            <a:avLst/>
          </a:prstGeom>
          <a:solidFill>
            <a:srgbClr val="1D4E6B"/>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Extension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Généralisation progressive aux autres parcelles sur la base des résultats constatés.</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B7D87"/>
                </a:solidFill>
                <a:latin typeface="Calibri" pitchFamily="34" charset="0"/>
                <a:ea typeface="Calibri" pitchFamily="34" charset="-122"/>
                <a:cs typeface="Calibri" pitchFamily="34" charset="-120"/>
              </a:rPr>
              <a:t>La règle de dosage est la même partout : 3 grammes par litre de terre utile. Ce qui change d'un terrain à l'autre, c'est le volume de terre effectivement exploré par les racines.</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CE QU'IL FAUT ANTICIPER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Risques identifiés et réponses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Risques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Trésorerie limitée des petits producteurs pluviaux.</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Variabilité de l'hivernage : une bonne année masque l'intérêt du produit.</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Produit peu connu, parfois confondu avec les polymères à base de sodium.</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Homologation des intrants auprès des autorités avant la vente commerciale.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Réponses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Commencer par le maraîchage des Niayes et les cultures irriguées, où le gain se chiffre vite.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Mesurer sur une campagne complète avec parcelle témoin, même en bonne année.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Documenter la formulation potassique, sans sodium, compatible avec les cultures alimentaires.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Ouvrir le dossier d'homologation en parallèle des premiers essais.</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Analyse acrylamide (laboratoire Polymex, ISO 9001, teneur inférieure à 3,0 µg/g) et screening REACH / SVHC (SGS) disponibles sur demande, ainsi que le certificat SOHISCERT valable jusqu'au 4 septembre 2027.</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Sources et hypothèses de travail</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Sources principales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UNCCD, Drought in Numbers 2022 : nombre et durée des sécheresses, +29 % depuis 2000 par rapport à 1980–1999.</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ONU-Eau / FAO AQUASTAT, indicateur ODD 6.4.2 : définition et seuils du stress hydrique.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Photographies : Abdoulaye9 (CC BY-SA 4.0), Africa Rice Center (CC BY-SA 3.0), T.K. Naliaka (CC BY-SA 4.0) — via Wikimedia Commons.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Hypothèses de travail</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Les chiffres sont des ordres de grandeur arrondis, tirés des dernières données publiques disponibles.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Les gains d'eau et de rendement sont indicatifs et varient selon le sol, le climat et la culture.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Document de travail commercial : chiffres à actualiser avant toute soumission officielle.</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Rapports d'essais, certificats (SOHISCERT, analyses Polymex et SGS) et fiches techniques : disponibles sur demande.</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Dites-nous votre parcelle</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Culture, mode d'arrosage, nature du sol, volume d'eau consommé aujourd'hui. Nous revenons avec la combinaison de technologies correspondante, les dosages, et les essais déjà conduits dans des situations comparables.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Un premier échange n'engage à rien.</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D98C2B"/>
                </a:solidFill>
                <a:latin typeface="Calibri" pitchFamily="34" charset="0"/>
                <a:ea typeface="Calibri" pitchFamily="34" charset="-122"/>
                <a:cs typeface="Calibri" pitchFamily="34" charset="-120"/>
              </a:rPr>
              <a:t>contact@green-solutions-group.com · Green Solutions Groupe AIM SA, 46, route de la Condémine, 1475 Forel, Suisse</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Dossier marché Sénégal</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2026-10-07T08:26:17Z</dcterms:created>
  <dcterms:modified xsi:type="dcterms:W3CDTF">2026-10-07T08:26:17Z</dcterms:modified>
</cp:coreProperties>
</file>