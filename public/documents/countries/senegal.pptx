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8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Indice mondial du nombre et de la durée des sécheresses</c:v>
                </c:pt>
              </c:strCache>
            </c:strRef>
          </c:tx>
          <c:spPr>
            <a:solidFill>
              <a:srgbClr val="1D4E6B"/>
            </a:solidFill>
            <a:effectLst/>
          </c:spPr>
          <c:invertIfNegative val="0"/>
          <c:dLbls>
            <c:numFmt formatCode="[$-40C]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cat>
            <c:multiLvlStrRef>
              <c:f>Sheet1!$A$2:$A$3</c:f>
              <c:multiLvlStrCache>
                <c:ptCount val="2"/>
                <c:lvl>
                  <c:pt idx="0">
                    <c:v>1980–1999</c:v>
                  </c:pt>
                  <c:pt idx="1">
                    <c:v>Depuis 2000</c:v>
                  </c:pt>
                </c:lvl>
              </c:multiLvlStrCache>
            </c:multiLvlStrRef>
          </c:cat>
          <c:val>
            <c:numRef>
              <c:f>Sheet1!$B$2:$B$3</c:f>
              <c:numCache>
                <c:formatCode>General</c:formatCode>
                <c:ptCount val="2"/>
                <c:pt idx="0">
                  <c:v>100</c:v>
                </c:pt>
                <c:pt idx="1">
                  <c:v>129</c:v>
                </c:pt>
              </c:numCache>
            </c:numRef>
          </c:val>
        </c:ser>
        <c:dLbls>
          <c:numFmt formatCode="[$-40C]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93</c:v>
                </c:pt>
                <c:pt idx="1">
                  <c:v>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D4E6B"/>
            </a:solidFill>
            <a:effectLst/>
          </c:spPr>
          <c:invertIfNegative val="0"/>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Arachide</c:v>
                  </c:pt>
                  <c:pt idx="1">
                    <c:v>Riz paddy</c:v>
                  </c:pt>
                  <c:pt idx="2">
                    <c:v>Mil</c:v>
                  </c:pt>
                  <c:pt idx="3">
                    <c:v>Maïs</c:v>
                  </c:pt>
                  <c:pt idx="4">
                    <c:v>Oignon</c:v>
                  </c:pt>
                </c:lvl>
              </c:multiLvlStrCache>
            </c:multiLvlStrRef>
          </c:cat>
          <c:val>
            <c:numRef>
              <c:f>Sheet1!$B$2:$B$6</c:f>
              <c:numCache>
                <c:formatCode>General</c:formatCode>
                <c:ptCount val="5"/>
                <c:pt idx="0">
                  <c:v>1.5</c:v>
                </c:pt>
                <c:pt idx="1">
                  <c:v>1.3</c:v>
                </c:pt>
                <c:pt idx="2">
                  <c:v>1</c:v>
                </c:pt>
                <c:pt idx="3">
                  <c:v>0.7</c:v>
                </c:pt>
                <c:pt idx="4">
                  <c:v>0.45</c:v>
                </c:pt>
              </c:numCache>
            </c:numRef>
          </c:val>
        </c:ser>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D4E6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D98C2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senegal.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DU SÉNÉGAL</a:t>
            </a:r>
            <a:endParaRPr lang="en-US" sz="28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Dakar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Arachide, riz du fleuve et maraîchage des Niayes sur des sols sableux et des pluies qui reculent.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chaque semaine sèche compte.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pays agricole à la pluie courte et aux sols pauvres</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17 %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du PIB provient de l'agriculture, élevage compris</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3,8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terres cultivables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1,5 M 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d'arachide récoltées les bonnes années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300–1 200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pluie par an, du Nord sahélien à la Casamance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Environ 18 millions d'habitants, une façade atlantique et le fleuve Sénégal : le pays a les terres et une partie de l'eau, mais une agriculture encore largement pluviale, concentrée sur quelques mois d'hivernage. La souveraineté alimentaire, en particulier pour le riz, est une priorité affichée des pouvoirs publics.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hivernage court, des sols sableux qui ne gardent rien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L'essentiel des pluies tombe en trois à quatre mois, de juillet à octobre : une pause de deux semaines après le semis suffit à compromettre la levée.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sols sableux du bassin arachidier sont pauvres en matière organique : l'eau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Au nord, la pluviométrie reste proche de 300 mm par an ; seule la Casamance dépasse régulièrement 1 000 mm.</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les Niayes, le maraîchage dépend de nappes peu profondes qui baissent et se salinisent près de la côte.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la vallée du fleuve, l'eau est pompée à grands frais : chaque tour d'eau économisé réduit la facture de gasoil ou d'électricité.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SÉCHERESSE ET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La pression augmente, mais le risque se lit localement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Deux indicateurs, pas un raccourci</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À l’échelle mondiale, le nombre et la durée des sécheresses ont augmenté de 29 % depuis 2000 par rapport aux deux décennies précédentes.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 stress hydrique mesure autre chose : les prélèvements rapportés aux ressources renouvelables disponibles après les besoins environnementaux. Ce signal mondial n’est donc pas une prévision nationale ; il doit être confronté aux pluies, aux nappes, aux saisons et aux usages locaux.</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L'irrigation concentre presque tous les prélèvements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Les prélèvements agricoles se concentrent dans la vallée du fleuve et les Niayes, là où l'eau est pompée.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C'est donc au champ que se joue l'économie d'eau, et sur les cultures irriguées que l'essai se chiffre le plus vite.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La souveraineté alimentaire passe par le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d'habitants, dont près de la moitié en 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&gt; 1 M t</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riz importées chaque année</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25 000 t</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mangues exportées par an, surtout vers l'Europe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2024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début de la production pétrolière, qui rend la diversification urgente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Le riz est l'aliment de base, et une grande partie en est importée, comme les légumes de contre-saison. Les programmes publics misent sur l'extension du riz irrigué dans la vallée du fleuve et sur la modernisation du maraîchage.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Arachide et mil occupent l'essentiel des surfaces pluviales du bassin arachidier.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Riz irrigué et oignon, cultivés sous pompage, sont les filières où l'eau économisée se voit directement dans la marge. Volumes arrondis, variables selon l'hivernage.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Vallée du fleuve : produire plus avec la même eau</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périmètres irrigués de la vallée du fleuve Sénégal portent l'essentiel de la politique d'autosuffisance en riz.</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rendements varient fortement d'un aménagement à l'autre, selon la maîtrise de l'eau et le calendrier cultural.</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 pompage pèse lourd dans le coût de production, et les parcelles sableuses en bordure perdent beaucoup d'eau.</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Oignon, tomate et patate douce en contre-saison diversifient les revenus sur les mêmes périmètres.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Sur ces cultures de diversification, EVERGREEN® se teste en une saison ; le riz en submersion n'est pas sa cible.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Hydro-rétenteur à base de potassium, placé dans la zone racinaire au semis, à la plantation ou à la reprise.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Capte l'eau de pluie ou d'irrigation et la restitue progressivement, ce qui amortit une pause de pluie en début d'hivernage.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 chélatant : il n'appauvrit pas le complexe argilo-humique, déjà fragile sur sols sableux.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Certifié SOHISCERT et EU Bio, utilisé dans 60 pays — argument utile pour les exportateurs de légumes et de mangues.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Vallée du fleuve Sénégal</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Riz et oignon irrigués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Périmètres irrigués aménagés par la SAED, de Saint-Louis à Matam.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Pompage coûteux et parcelles sableuses en bordure : l'eau économisée se lit sur la facture.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Organisations paysannes structurées, capables de suivre un essai sur une campagne.</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Niayes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Premier bassin maraîcher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Bande côtière de Dakar à Saint-Louis, qui produit l'essentiel des légumes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Nappes peu profondes en baisse et salinisation près de la mer.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Cultures à cycle court et à forte valeur : un essai se conclut en une saison.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Bassin arachidier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Arachide et mil pluviaux</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Arachide et mil sur sols sableux épuisés, dans le centre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Semis exposés aux pauses de pluie de début d'hivernage.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Coopératives et huiliers capables de regrouper les commandes.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Relevés de levée, de consommation d'eau et de rendement sur une campagne complète.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Trésorerie limitée des petits producteurs pluviaux.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Variabilité de l'hivernage : une bonne année masque l'intérêt du produit.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Produit peu connu, parfois confondu avec les polymères à base de sodium.</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Homologation des intrants auprès des autorités avant la vente commerciale.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Commencer par le maraîchage des Niayes et les cultures irriguées, où le gain se chiffre vite.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Mesurer sur une campagne complète avec parcelle témoin, même en bonne année.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Ouvrir le dossier d'homologation en parallèle des premiers essais.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UNCCD, Drought in Numbers 2022 : nombre et durée des sécheresses, +29 % depuis 2000 par rapport à 1980–1999.</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ONU-Eau / FAO AQUASTAT, indicateur ODD 6.4.2 : définition et seuils du stress hydrique.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Photographies : Abdoulaye9 (CC BY-SA 4.0), Africa Rice Center (CC BY-SA 3.0), T.K. Naliaka (CC BY-SA 4.0)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2026-09-20T00:14:15Z</dcterms:created>
  <dcterms:modified xsi:type="dcterms:W3CDTF">2026-09-20T00:14:15Z</dcterms:modified>
</cp:coreProperties>
</file>