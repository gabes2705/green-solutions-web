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9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5A73"/>
              </a:solidFill>
              <a:effectLst/>
            </c:spPr>
          </c:dPt>
          <c:dPt>
            <c:idx val="1"/>
            <c:bubble3D val="0"/>
            <c:spPr>
              <a:solidFill>
                <a:srgbClr val="E0A33E"/>
              </a:solidFill>
              <a:effectLst/>
            </c:spPr>
          </c:dPt>
          <c:dPt>
            <c:idx val="2"/>
            <c:bubble3D val="0"/>
            <c:spPr>
              <a:solidFill>
                <a:srgbClr val="5E93A8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80</c:v>
                </c:pt>
                <c:pt idx="1">
                  <c:v>15</c:v>
                </c:pt>
                <c:pt idx="2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(milliers de tonnes)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5A7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A33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E93A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2703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C728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Manioc</c:v>
                  </c:pt>
                  <c:pt idx="1">
                    <c:v>Banane plantain</c:v>
                  </c:pt>
                  <c:pt idx="2">
                    <c:v>Maïs</c:v>
                  </c:pt>
                  <c:pt idx="3">
                    <c:v>Riz paddy</c:v>
                  </c:pt>
                  <c:pt idx="4">
                    <c:v>Haricot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600</c:v>
                </c:pt>
                <c:pt idx="1">
                  <c:v>320</c:v>
                </c:pt>
                <c:pt idx="2">
                  <c:v>300</c:v>
                </c:pt>
                <c:pt idx="3">
                  <c:v>150</c:v>
                </c:pt>
                <c:pt idx="4">
                  <c:v>70</c:v>
                </c:pt>
              </c:numCache>
            </c:numRef>
          </c:val>
        </c:ser>
        <c:dLbls>
          <c:numFmt formatCode="[$-40C]0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1C5A73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Gravitaire</c:v>
                  </c:pt>
                  <c:pt idx="3">
                    <c:v>Submersion (riz)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55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E0A33E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E35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Gravitaire</c:v>
                  </c:pt>
                  <c:pt idx="3">
                    <c:v>Submersion (riz)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70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E35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6E2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80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hait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RÉPUBLIQUE D'HAÏTI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E0A33E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0A3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Port-au-Prince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Vivrier, riz irrigué et cultures de rente sur des sols en érosion.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là où la pluie ruisselle au lieu d'entrer.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 · Document confidentiel · À l'usage exclusif du destinataire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agriculture qui fait vivre la moitié du pays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20 %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 travaille la terre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M ha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cultivée, très morcelée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0,7 ha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moyenne par exploitation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haïtienne est d'abord vivrière et conduite sur de très petites parcelles, souvent en pente. Elle ne couvre plus qu'une part de la consommation nationale : près de la moitié des besoins alimentaires est importée, dont l'essentiel du riz. Regagner du rendement à la parcelle a ici une portée qui dépasse l'exploitation.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pleut assez, mais l'eau ne reste pas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Versants cultivés, Haïti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pluviométrie est abondante — de 1 000 à 2 000 mm par an selon les régions — mais concentrée sur deux saisons, avec de longues périodes sèches entre les deux.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couvert forestier a presque disparu. Sur des versants dénudés et pentus, la pluie ruisselle et emporte la terre arable au lieu de s'infiltrer.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L'érosion fait perdre chaque année des millimètres de sol fertile : le problème n'est pas le volume d'eau reçu, c'est la fraction que le sol parvient à retenir.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périmètres irrigués aménagés, de l'ordre de 100 000 hectares, sont pour beaucoup dégradés ou partiellement hors service faute d'entretien.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cyclones et tempêtes tropicales détruisent régulièrement les récoltes et aggravent le décapage des sols sur les parcelles les plus exposées.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L'irrigation domine largement les prélèvements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de 10 % la consommation d'irrigation libère un volume comparable à la moitié de tout l'usage domestique du pays.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la vraie marge, ici, est en pluvial : c'est sur les parcelles non irriguées que la pluie se perd le plus.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CULTURES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productions structurent les campagnes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cinq cultures sont d'abord destinées au marché intérieur : chaque tonne gagnée remplace une tonne importée.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côté, les cultures de rente — café, cacao, mangue Francique, vétiver — pèsent peu en volume mais portent l'essentiel des devises agricoles.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technologies, deux contraintes différentes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placé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de pluie avant qu'elle ne ruisselle et la restitue à la plante pendant les séquences sèches entre deux saisons.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parcelle en pente, il agit là où l'aménagement anti-érosif seul ne suffit pas : à l'intérieur du sol.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argilo-humique, déjà très entamé sur les sols décapés.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 — utile pour les filières café et cacao qui visent les primes de certification.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 : un format transportable, compatible avec le morcellement des parcelles.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ont été conçus pour se renforcer : l'hydro-rétenteur prolonge la disponibilité de l'eau, le fertilisant valorise cette eau disponible sans dégrader davantage un sol déjà fragile.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d'irrigation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Vallée de l'Artibonite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grenier à riz du pays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plus grand périmètre irrigué d'Haïti, alimenté par le fleuve Artibonite.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 conduit en submersion : c'est le mode d'irrigation où la marge d'économie est la plus large.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de canaux ancien et partiellement dégradé, d'où des inégalités d'accès à l'eau en bout de parcours.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Plateau Central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Vivrier et élevage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Maïs, haricot, manioc et sorgho conduits presque entièrement en pluvial.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 sèche marquée : c'est exactement la séquence que l'hydro-rétenteur est fait pour franchir.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Organisations paysannes structurées, capables de porter un essai groupé sur plusieurs parcelles.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Grand Sud — Grand'Anse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Café, cacao, mangue, vétiver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Cultures de rente destinées à l'export, seules à supporter une prime de certification biologique.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Versants pentus et fortement érodés : chaque averse emporte du sol si rien ne le retient.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exposée aux cyclones, où la reprise des jeunes plants après sinistre est un enjeu récurrent.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par étapes, mesuré à chaque palier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de la pente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une parcelle, avec parcelle témoin conduite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rendement et de reprise sur un cycle cultural complet.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C5A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par groupement de producteurs, sur la base des résultats.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est déjà en cours en Haïti avec l'Institut CEHPAPE, sur maraîchage, banane plantain et riz, avec ECOSORB®, ECOFERT®, EVERGREEN® et NAPEMA®. Les premiers relevés sont disponibles sur demande.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Morcellement extrême du foncier : la décision d'achat est dispersée sur des milliers de très petites exploitations.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de trésorerie limitée des producteurs, qui rend tout achat d'intrant difficile à engager seul.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Aléa cyclonique : une tempête peut effacer les résultats d'un essai en cours de campagne.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 intérieure et sécurité des déplacements, qui compliquent le suivi agronomique de terrain.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5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organisations de producteurs et les coopératives plutôt que par l'exploitation individuelle.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Adosser les premiers déploiements aux programmes de développement agricole et aux bailleurs déjà présents.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Conduire les essais sur deux cycles, pour que l'aléa d'une campagne ne décide pas seul du résultat.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14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S'appuyer sur l'essai CEHPAPE en cours et sur un relais local établi pour le suivi des parcelles.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DF3F5"/>
          </a:solidFill>
          <a:ln w="9525">
            <a:solidFill>
              <a:srgbClr val="D6E2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C8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µg/g), screening REACH / SVHC (SGS) et certificat SOHISCERT valable jusqu'au 4 septembre 2027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8089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pente, nature du sol, mode d'irrigation s'il y en a un. Nous revenons avec la combinaison de technologies correspondante, les dosages, et les résultats déjà relevés en Haïti et dans la Caraïbe.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pic>
        <p:nvPicPr>
          <p:cNvPr id="6" name="Image 1" descr="C:\Users\Utilisateur\dev\green-solutions-web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Haïti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2026-09-15T12:53:42Z</dcterms:created>
  <dcterms:modified xsi:type="dcterms:W3CDTF">2026-09-15T12:53:42Z</dcterms:modified>
</cp:coreProperties>
</file>