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Indice mondial du nombre et de la durée des sécheresses</c:v>
                </c:pt>
              </c:strCache>
            </c:strRef>
          </c:tx>
          <c:spPr>
            <a:solidFill>
              <a:srgbClr val="1C5A73"/>
            </a:solidFill>
            <a:effectLst/>
          </c:spPr>
          <c:invertIfNegative val="0"/>
          <c:dLbls>
            <c:numFmt formatCode="[$-40C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5A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3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Depuis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40C]0" sourceLinked="0"/>
          <c:txPr>
            <a:bodyPr/>
            <a:lstStyle/>
            <a:p>
              <a:pPr>
                <a:defRPr b="0" i="0" strike="noStrike" sz="1100" u="none">
                  <a:solidFill>
                    <a:srgbClr val="0E35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6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Prélèvements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5A73"/>
              </a:solidFill>
              <a:effectLst/>
            </c:spPr>
          </c:dPt>
          <c:dPt>
            <c:idx val="1"/>
            <c:bubble3D val="0"/>
            <c:spPr>
              <a:solidFill>
                <a:srgbClr val="E0A33E"/>
              </a:solidFill>
              <a:effectLst/>
            </c:spPr>
          </c:dPt>
          <c:dPt>
            <c:idx val="2"/>
            <c:bubble3D val="0"/>
            <c:spPr>
              <a:solidFill>
                <a:srgbClr val="5E93A8"/>
              </a:solidFill>
              <a:effectLst/>
            </c:spPr>
          </c:dPt>
          <c:dLbls>
            <c:dLbl>
              <c:idx val="0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0C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Agriculture</c:v>
                </c:pt>
                <c:pt idx="1">
                  <c:v>Eau potable</c:v>
                </c:pt>
                <c:pt idx="2">
                  <c:v>Industrie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annuelle (milliers de tonnes)</c:v>
                </c:pt>
              </c:strCache>
            </c:strRef>
          </c:tx>
          <c:spPr>
            <a:solidFill>
              <a:srgbClr val="1C5A73"/>
            </a:solidFill>
            <a:effectLst/>
          </c:spPr>
          <c:invertIfNegative val="0"/>
          <c:dLbls>
            <c:numFmt formatCode="[$-40C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5A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3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93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70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C728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Manioc</c:v>
                  </c:pt>
                  <c:pt idx="1">
                    <c:v>Banane plantain</c:v>
                  </c:pt>
                  <c:pt idx="2">
                    <c:v>Maïs</c:v>
                  </c:pt>
                  <c:pt idx="3">
                    <c:v>Riz paddy</c:v>
                  </c:pt>
                  <c:pt idx="4">
                    <c:v>Haricot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</c:v>
                </c:pt>
                <c:pt idx="1">
                  <c:v>320</c:v>
                </c:pt>
                <c:pt idx="2">
                  <c:v>300</c:v>
                </c:pt>
                <c:pt idx="3">
                  <c:v>150</c:v>
                </c:pt>
                <c:pt idx="4">
                  <c:v>70</c:v>
                </c:pt>
              </c:numCache>
            </c:numRef>
          </c:val>
        </c:ser>
        <c:dLbls>
          <c:numFmt formatCode="[$-40C]0" sourceLinked="0"/>
          <c:txPr>
            <a:bodyPr/>
            <a:lstStyle/>
            <a:p>
              <a:pPr>
                <a:defRPr b="0" i="0" strike="noStrike" sz="1100" u="none">
                  <a:solidFill>
                    <a:srgbClr val="0E35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6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 de fourchette (%)</c:v>
                </c:pt>
              </c:strCache>
            </c:strRef>
          </c:tx>
          <c:spPr>
            <a:solidFill>
              <a:srgbClr val="1C5A73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Mangues</c:v>
                  </c:pt>
                  <c:pt idx="1">
                    <c:v>Bananes</c:v>
                  </c:pt>
                  <c:pt idx="2">
                    <c:v>Cacao</c:v>
                  </c:pt>
                  <c:pt idx="3">
                    <c:v>Manioc</c:v>
                  </c:pt>
                  <c:pt idx="4">
                    <c:v>Tomates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Haut de fourchette (%)</c:v>
                </c:pt>
              </c:strCache>
            </c:strRef>
          </c:tx>
          <c:spPr>
            <a:solidFill>
              <a:srgbClr val="E0A33E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Mangues</c:v>
                  </c:pt>
                  <c:pt idx="1">
                    <c:v>Bananes</c:v>
                  </c:pt>
                  <c:pt idx="2">
                    <c:v>Cacao</c:v>
                  </c:pt>
                  <c:pt idx="3">
                    <c:v>Manioc</c:v>
                  </c:pt>
                  <c:pt idx="4">
                    <c:v>Tomates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40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dLbls>
          <c:numFmt formatCode="[$-40C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E35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6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Fourchette basse (%)</c:v>
                </c:pt>
              </c:strCache>
            </c:strRef>
          </c:tx>
          <c:spPr>
            <a:solidFill>
              <a:srgbClr val="1C5A73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Aspersion</c:v>
                  </c:pt>
                  <c:pt idx="2">
                    <c:v>Gravitaire</c:v>
                  </c:pt>
                  <c:pt idx="3">
                    <c:v>Submersion (riz)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55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Fourchette haute (%)</c:v>
                </c:pt>
              </c:strCache>
            </c:strRef>
          </c:tx>
          <c:spPr>
            <a:solidFill>
              <a:srgbClr val="E0A33E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35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Aspersion</c:v>
                  </c:pt>
                  <c:pt idx="2">
                    <c:v>Gravitaire</c:v>
                  </c:pt>
                  <c:pt idx="3">
                    <c:v>Submersion (riz)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65</c:v>
                </c:pt>
                <c:pt idx="2">
                  <c:v>70</c:v>
                </c:pt>
                <c:pt idx="3">
                  <c:v>70</c:v>
                </c:pt>
              </c:numCache>
            </c:numRef>
          </c:val>
        </c:ser>
        <c:dLbls>
          <c:numFmt formatCode="[$-40C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E35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6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0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hait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455420"/>
            <a:ext cx="1965960" cy="117957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8456" y="1455420"/>
            <a:ext cx="1965960" cy="1179576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RÉPUBLIQUE D'HAÏTI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E0A33E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Port-au-Prince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Vivrier, riz irrigué et cultures de rente sur des sols en érosion.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l'hydro-rétention change là où la pluie ruisselle au lieu d'entrer.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· Document confidentiel · À l'usage exclusif du destinataire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EN BREF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agriculture qui fait vivre la moitié du pays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provient de l'agriculture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50 %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 travaille la terre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M ha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surface cultivée, très morcelée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0,7 ha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surface moyenne par exploitation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 haïtienne est d'abord vivrière et conduite sur de très petites parcelles, souvent en pente. Elle ne couvre plus qu'une part de la consommation nationale : près de la moitié des besoins alimentaires est importée, dont l'essentiel du riz. Regagner du rendement à la parcelle a ici une portée qui dépasse l'exploitation.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pleut assez, mais l'eau ne reste pas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Versants cultivés, Haïti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pluviométrie est abondante — de 1 000 à 2 000 mm par an selon les régions — mais concentrée sur deux saisons, avec de longues périodes sèches entre les deux.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couvert forestier a presque disparu. Sur des versants dénudés et pentus, la pluie ruisselle et emporte la terre arable au lieu de s'infiltrer.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L'érosion fait perdre chaque année des millimètres de sol fertile : le problème n'est pas le volume d'eau reçu, c'est la fraction que le sol parvient à retenir.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périmètres irrigués aménagés, de l'ordre de 100 000 hectares, sont pour beaucoup dégradés ou partiellement hors service faute d'entretien.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cyclones et tempêtes tropicales détruisent régulièrement les récoltes et aggravent le décapage des sols sur les parcelles les plus exposées.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SÉCHERESSE ET STRESS HYDRIQUE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pression augmente, mais le risque se lit localement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indicateurs, pas un raccourci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l’échelle mondiale, le nombre et la durée des sécheresses ont augmenté de 29 % depuis 2000 par rapport aux deux décennies précédentes.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stress hydrique mesure autre chose : les prélèvements rapportés aux ressources renouvelables disponibles après les besoins environnementaux. Ce signal mondial n’est donc pas une prévision nationale ; il doit être confronté aux pluies, aux nappes, aux saisons et aux usages locaux.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PART L'EAU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L'irrigation domine largement les prélèvements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cela implique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de 10 % la consommation d'irrigation libère un volume comparable à la moitié de tout l'usage domestique du pays.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la vraie marge, ici, est en pluvial : c'est sur les parcelles non irriguées que la pluie se perd le plus.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ET SÉCURITÉ ALIMENTAIRE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pays agricole qui importe la moitié de sa nourriture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50 %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nourriture consommée est importée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riz consommé vient de l'étranger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d'Haïtiens en insécurité alimentaire aiguë selon l'IPC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 mondial d'huile essentielle de vétiver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L'insécurité, l'état des routes et la hausse des prix pèsent sur les campagnes autant que sur les villes. Les filières d'exportation — mangue Francisque, cacao, café, vétiver — restent les rares sources de devises agricoles, et chaque récolte perdue se ressent directement dans le revenu des familles.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CULTURES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productions structurent les campagnes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cinq cultures sont d'abord destinées au marché intérieur : chaque tonne gagnée remplace une tonne importée.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côté, les cultures de rente — café, cacao, mangue Francique, vétiver — pèsent peu en volume mais portent l'essentiel des devises agricoles.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FILIÈRE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Mangue Francisque et cacao : des devises à protéger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mangue Francisque, exportée surtout vers les États-Unis, vient de vergers souvent anciens et dispersés.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cacao du Nord et de la Grand'Anse gagne des marchés de qualité, notamment en filière biologique.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subissent des sécheresses de plus en plus marquées entre deux saisons des pluies.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exigences sanitaires à l'export imposent une protection sans résidu : NAPEMA® y répond.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Planter les jeunes arbres avec EVERGREEN® améliore leur survie pendant la première saison sèche.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DEUXIÈME FILIÈRE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Mornes dénudés : retenir l'eau et le sol sur les pentes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grande partie des terres cultivées est en pente, où maïs, haricot et pois congo sont semés sur sol nu.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déforestation expose les sols : chaque averse emporte de la terre fertile vers les rivières et la mer.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pleut assez sur l'année, mais l'eau ruisselle au lieu de s'infiltrer, puis manque en saison sèche.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haies et des arbres comme le Paulownia tiennent les sols tout en produisant du bois et du miel.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hydro-rétenteur au pied des plants garde l'eau de pluie là où les racines peuvent la prendre.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de rendement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de rendement attendu par culture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lire avec prudence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Fourchettes retenues par notre calculateur de dose, pour une culture conduite normalement avec EVERGREEN® à la plantation.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réel dépend du sol, du climat et de la conduite. Pour les céréales, aucun gain n'est avancé sans essai de terrain.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technologies, deux contraintes différentes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retenir l'eau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Hydro-rétenteur à base de potassium, placé dans la zone racinaire à la plantation ou à la reprise.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 l'eau de pluie avant qu'elle ne ruisselle et la restitue à la plante pendant les séquences sèches entre deux saisons.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d'absorption de l'ordre de 300 fois son poids ; durée d'effet utile de 3 à 4 ans dans le sol.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parcelle en pente, il agit là où l'aménagement anti-érosif seul ne suffit pas : à l'intérieur du sol.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nourrir sans épuiser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Fertilisant en microdoses d'acides aminés, azote, phosphore et potassium, issu de ressources renouvelables.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chélatant : il n'appauvrit pas le complexe argilo-humique, déjà très entamé sur les sols décapés.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 SOHISCERT et EU Bio — utile pour les filières café et cacao qui visent les primes de certification.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4 flacons de 140 ml par hectare : un format transportable, compatible avec le morcellement des parcelles.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produits se vendent séparément mais ont été conçus pour se renforcer : l'hydro-rétenteur prolonge la disponibilité de l'eau, le fertilisant valorise cette eau disponible sans dégrader davantage un sol déjà fragile.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de la gamme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les cultures, fixer les sols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protéger sans résidu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contre maladies, parasites, champignons et ravageurs, sans molécule de synthèse.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Pulvérisation foliaire et racinaire, à effet préventif comme curatif.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résidu dans le sol, la plante ou l'air : pollinisateurs et auxiliaires préservés.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Formulé sur mesure pour un problème précis : cochenille, HLB des agrumes, nématodes.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l'arbre des régions chaudes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à 15 m en six à huit ans, avec un tronc de gros diamètre.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 à 100 g d'EVERGREEN® par plant, l'irrigation nécessaire diminue de 50 %.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de −25 °C à +45 °C ; son bois ne s'enflamme qu'à partir de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Brise-vent, protection des sols contre l'érosion, 400 à 700 kg de miel par hectare.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livrés en pot (25 à 30 cm), certifiés indemnes de maladies et remplacés sous garantie en cas de perte. Première coupe à la fin de la sixième année, bois valorisé autour de 400 à 450 € le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d'eau attendue selon le mode d'irrigation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lire avec prudence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fourchettes sont indicatives et fondées sur les gains documentés de nos hydro-rétenteurs.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réel dépend du sol, du climat et de la culture. Ces chiffres donnent un ordre de grandeur : ils ne constituent en aucun cas une valeur garantie, contractuelle ou absolue.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TERRAINS PRIORITAIRES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engager les premiers essais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Vallée de l'Artibonite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3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grenier à riz du pays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périmètre irrigué d'Haïti, alimenté par le fleuve Artibonite.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 conduit en submersion : c'est le mode d'irrigation où la marge d'économie est la plus large.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canaux ancien et partiellement dégradé, d'où des inégalités d'accès à l'eau en bout de parcours.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Plateau Central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3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Vivrier et élevage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Maïs, haricot, manioc et sorgho conduits presque entièrement en pluvial.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sèche marquée : c'est exactement la séquence que l'hydro-rétenteur est fait pour franchir.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paysannes structurées, capables de porter un essai groupé sur plusieurs parcelles.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 Sud — Grand'Anse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3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 cacao, mangue, vétiver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de rente destinées à l'export, seules à supporter une prime de certification biologique.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Versants pentus et fortement érodés : chaque averse emporte du sol si rien ne le retient.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exposée aux cyclones, où la reprise des jeunes plants après sinistre est un enjeu récurrent.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PROCÉDONS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déploiement par étapes, mesuré à chaque palier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sol, de la pente et de la culture. Aucun engagement à ce stade.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Parcelle témoin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essai comparatif sur une parcelle, avec parcelle témoin conduite à l'identique.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rendement et de reprise sur un cycle cultural complet.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progressive par groupement de producteurs, sur la base des résultats.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essai est déjà en cours en Haïti avec l'Institut CEHPAPE, sur maraîchage, banane plantain et riz, avec ECOSORB®, ECOFERT®, EVERGREEN® et NAPEMA®. Les premiers relevés sont disponibles sur demande.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ensemble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partenaire local pour Haïti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Exclusivité territoriale et stock de lancement pour la première saison commerciale.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technique des équipes, protocoles de dosage et mises à jour à chaque saison.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Essais conjoints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Parcelles de démonstration avec témoin, résultats partagés avec les producteurs.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C5A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avec le ministère de l'Agriculture et les programmes de sécurité alimentaire.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s'adapte au territoire : un importateur, un distributeur d'intrants ou un groupement de producteurs peut porter le partenariat.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ANTICIPER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identifiés et réponses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Morcellement extrême du foncier : la décision d'achat est dispersée sur des milliers de très petites exploitations.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de trésorerie limitée des producteurs, qui rend tout achat d'intrant difficile à engager seul.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 cyclonique : une tempête peut effacer les résultats d'un essai en cours de campagne.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intérieure et sécurité des déplacements, qui compliquent le suivi agronomique de terrain.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par les organisations de producteurs et les coopératives plutôt que par l'exploitation individuelle.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Adosser les premiers déploiements aux programmes de développement agricole et aux bailleurs déjà présents.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 les essais sur deux cycles, pour que l'aléa d'une campagne ne décide pas seul du résultat.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S'appuyer sur l'essai CEHPAPE en cours et sur un relais local établi pour le suivi des parcelles.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acrylamide (laboratoire Polymex, ISO 9001, teneur inférieure à 3,0 µg/g), screening REACH / SVHC (SGS) et certificat SOHISCERT valable jusqu'au 4 septembre 2027 : disponibles sur demande.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et hypothèses de travail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principales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haïtien de statistique et d'informatique (IHSI) : comptes nationaux.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nationale de la sécurité alimentaire (CNSA) et analyses IPC.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l'Agriculture, des Ressources naturelles et du Développement rural (MARNDR).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(FAOSTAT, AQUASTAT) et Banque mondiale (WDI).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 : nombre et durée des sécheresses, +29 % depuis 2000 par rapport à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ONU-Eau / FAO AQUASTAT, indicateur ODD 6.4.2 : définition et seuils du stress hydrique.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de travail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sont des ordres de grandeur arrondis, tirés des dernières données publiques disponibles.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gains d'eau et de rendement sont indicatifs et varient selon le sol, le climat et la culture.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commercial : chiffres à actualiser avant toute soumission officielle.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DF3F5"/>
          </a:solidFill>
          <a:ln w="9525">
            <a:solidFill>
              <a:srgbClr val="D6E2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C8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d'essais, certificats (SOHISCERT, analyses Polymex et SGS) et fiches techniques : disponibles sur demande.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808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Dites-nous votre parcelle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pente, nature du sol, mode d'irrigation s'il y en a un. Nous revenons avec la combinaison de technologies correspondante, les dosages, et les résultats déjà relevés en Haïti et dans la Caraïbe.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premier échange n'engage à rien.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Suisse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Haïti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2026-10-07T08:25:56Z</dcterms:created>
  <dcterms:modified xsi:type="dcterms:W3CDTF">2026-10-07T08:25:56Z</dcterms:modified>
</cp:coreProperties>
</file>