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HAÏTI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CE1126"/>
                </a:solidFill>
              </a:defRPr>
            </a:pPr>
            <a:r>
              <a:t>Dossier de développement du marché agricole</a:t>
            </a:r>
            <a:br/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Aperçu du marché et contexte économique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Secteurs agricoles clés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Patterns de consommation d'eau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Défis climatiques et environnementaux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Adéquation technologique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Études de cas et opportunités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Environnement réglementaire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Partenariats et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Aperçu du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Population: ~11,4 millions d'habitants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PIB par habitant: ~$1,800 (2025)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Agriculture: 20-22% du PIB, 40% de la main-d'œuvre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Localisation: Île d'Hispaniola, Caraïbes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Capitale: Port-au-Prince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Climat: Tropical, zone cyclonique active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Terrain: Montagneuses (75% de relief montagneux)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Langue officielle: Français; Créole haïtien (dominant)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Secteurs agricoles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Cacao: Culture traditionnelle, qualité réputée (20,000+ t/an)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Café: Café arabica de montagne, valeur exports élevée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Sucre: Industrie historique, 12,000+ hectares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Banane: Fruits tropicaux, marché régional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Riz et cultures vivrières: Maïs, haricots, manioc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Aviculture et élevage: Secteur en croissance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Fruits tropicaux: Mangue, avocat, ananas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Potentiel: Culture biologique et agriculture durable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Stress hydrique et patterns de consommation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Précipitations: 1,400-2,000 mm/an (très variable)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Sécheresses saisonnières: Juin-novembre (saison sèche)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Déforestation: 60% de perte depuis 1923 (2% restant)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Érosion des sols: 40-50 tonnes/hectare/an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Ressources en eau: Limitées, inégalement distribuées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Irrigation: 15-20% des terres arables seulement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Accès à l'eau potable: 50-60% en zones rurales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Besoin urgent: Gestion durable et efficacité hydrique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Défis climatiques et contraintes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Cyclones/Typhons: 1-2 par an en moyenne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Risque sismique: Zone de faille tectonique active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Variabilité climatique: El Niño/La Niña impacts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Dégradation environnementale: Soil loss, déforestation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Température: 20-28°C annuels, hausse progressive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Inondations: Pluies extrêmes, drainage insuffisant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Salinisation côtière: Zones basses affectées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Adaptation nécessaire: Cultures résilientes, technologie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Adéquation technologique - Gestion de l'eau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Goutte-à-goutte: Économie eau 30-50%, compatible petit/moyen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Système d'irrigation au sol: Faible coût d'investissement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Collecte d'eau de pluie: Critique en saison sèche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Puits et forages: Infrastructure distributive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Mulch et couvertures: Réduction évaporation naturelle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Bassins de rétention: Gestion saisonnière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Monitoring capteurs: Gestion précise (adoption croissante)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Compost/matière organique: Retention hydrique du sol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Adéquation technologique - Agriculture durable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Agrivoltaïsme: Arboriculture + cultures associées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Culture de conservation: Réduction labour, couverture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Rotation de cultures: Régénération sols, lutte parasites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Compostage décentralisé: Engrais naturel, réduction coûts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Semences améliorées: Variétés résistantes stress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Formation et extension: Services conseils agricoles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Coopératives: Accès intrants, marché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Technologie mobile: Information prix, météo, conseils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Étude de cas 1: Renaissance du cacao haïtien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Contexte: Haïti produisait 30,000 t cacao/an en 1920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Production actuelle: 8,000-10,000 t/an (2024)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Qualité: Cacao haïtien reconnue mondialement (Arriba genetics)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Prix: Prime 15-25% vs cacao standard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Défis: Vieillissement vergers (40+ ans), parasites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Solution: Agroforesterie, intrants biologiques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Opportunité: Export organique, commerce équitable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Impact: 50,000+ familles dépendantes de cette culture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Étude de cas 2: Cafés de terroirs des montagnes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Production: 30,000-45,000 sacs (60kg) annuels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Terroirs: Montagnes Massif de la Selle, altitude 1,000-1,500m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Qualité: Café arabica réputé, notes fruit sec distinctes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Commerce: 70% en exportation directe, prix premium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Chaîne: 150,000+ petits producteurs, coopératives actives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Challenge: Rendements bas (800-1,200 kg/ha vs 1,500-2,000 potentiel)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Innovation: Ombrage, compostage, pépinières communales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Marché: Demande forte niche (specialty coffee), prix stables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Étude de cas 3: Système d'agriculture intégrée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Modèle: Petites exploitations (0,5-2 hectares dominant)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Cultures associées: Cacao-banane, café-plátano combinaisons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Élevage: Volaille, caprins intégrés pour engrais, protéines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Eau: Micro-irrigation goutte-à-goutte en expansion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Résultat: Rendements +40-60%, résilience climat améliorée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Revenu: Diversification réduit risque volatilité prix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Adoption: Villages de 100+ familles formées (2023-2025)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Durabilité: Coût investissement $200-500/hectare, ROI 18-24 mois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Environnement réglementaire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Politique agricole: Plan décennal développement secteur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Tarifs: Protections limitées, intégration commerce régional (CARICOM)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Certification: Normes organiques croissantes (ISO 14001, Rainforest Alliance)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Eau: Ministère ressources hydrauliques, permis concession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Environnement: Interdiction déboisement (lois 2010+, application variable)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Terrains: Titrage foncier en progrès (30% seulement formalisés)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Crédit agricole: Banque agricole, microfinance, taux 12-18% annuels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Douanes: Soutien secteur export (exemptions intrants)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Opportunités de partenariat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ONG agricoles: AGFONDHE, Finca, pAct actives; besoin financement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Coopératives: 200+ coopératives cacaoyers, caféiers; renforcement kapital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Universités: UEH, FAMV; recherche agronome, innovation variétés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Gouvernement: Direction agriculture; politique, facilitation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Secteur privé: Exportateurs, transformateurs (chocolat local émergent)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Financeurs: Banque mondiale, BID; fonds climat disponibles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Technologie: Entreprises agritech; adaptation solutions contexte</a:t>
            </a:r>
          </a:p>
          <a:p>
            <a:pPr>
              <a:spcBef>
                <a:spcPts val="1200"/>
              </a:spcBef>
              <a:defRPr sz="1800">
                <a:solidFill>
                  <a:srgbClr val="1E1E1E"/>
                </a:solidFill>
              </a:defRPr>
            </a:pPr>
            <a:r>
              <a:t>• Commerce: Buyer directs cacao, café; contrats long-terme opportuns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DA5"/>
          </a:solidFill>
          <a:ln>
            <a:solidFill>
              <a:srgbClr val="003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Opportunités de croissance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CE1126"/>
                </a:solidFill>
              </a:defRPr>
            </a:pPr>
            <a:r>
              <a:t>Haiti: From agriculture subsistence</a:t>
            </a:r>
            <a:br/>
            <a:r>
              <a:t>vers agribusiness durable et prospère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