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Extracciones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bubble3D val="0"/>
            <c:spPr>
              <a:solidFill>
                <a:srgbClr val="5A8BA6"/>
              </a:solidFill>
              <a:effectLst/>
            </c:spPr>
          </c:dPt>
          <c:dLbls>
            <c:dLbl>
              <c:idx val="0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[$-C0A]0&quot;%&quot;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C0A]0&quot;%&quot;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Agricultura</c:v>
                </c:pt>
                <c:pt idx="1">
                  <c:v>Agua potable</c:v>
                </c:pt>
                <c:pt idx="2">
                  <c:v>Industria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74</c:v>
                </c:pt>
                <c:pt idx="1">
                  <c:v>15</c:v>
                </c:pt>
                <c:pt idx="2">
                  <c:v>11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Producción anual (millones de toneladas)*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4E6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8C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8BA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F5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25C3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Maíz</c:v>
                  </c:pt>
                  <c:pt idx="1">
                    <c:v>Soja</c:v>
                  </c:pt>
                  <c:pt idx="2">
                    <c:v>Trigo</c:v>
                  </c:pt>
                  <c:pt idx="3">
                    <c:v>Cebada</c:v>
                  </c:pt>
                  <c:pt idx="4">
                    <c:v>Girasol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</c:v>
                </c:pt>
                <c:pt idx="1">
                  <c:v>45</c:v>
                </c:pt>
                <c:pt idx="2">
                  <c:v>18</c:v>
                </c:pt>
                <c:pt idx="3">
                  <c:v>5</c:v>
                </c:pt>
                <c:pt idx="4">
                  <c:v>4</c:v>
                </c:pt>
              </c:numCache>
            </c:numRef>
          </c:val>
        </c:ser>
        <c:dLbls>
          <c:numFmt formatCode="[$-C0A]0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Mínimo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</c:v>
                </c:pt>
                <c:pt idx="1">
                  <c:v>20</c:v>
                </c:pt>
                <c:pt idx="2">
                  <c:v>20</c:v>
                </c:pt>
                <c:pt idx="3">
                  <c:v>30</c:v>
                </c:pt>
                <c:pt idx="4">
                  <c:v>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Máximo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Uva</c:v>
                  </c:pt>
                  <c:pt idx="1">
                    <c:v>Aceitunas</c:v>
                  </c:pt>
                  <c:pt idx="2">
                    <c:v>Manzanas</c:v>
                  </c:pt>
                  <c:pt idx="3">
                    <c:v>Tomates</c:v>
                  </c:pt>
                  <c:pt idx="4">
                    <c:v>Papas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40</c:v>
                </c:pt>
                <c:pt idx="1">
                  <c:v>40</c:v>
                </c:pt>
                <c:pt idx="2">
                  <c:v>40</c:v>
                </c:pt>
                <c:pt idx="3">
                  <c:v>50</c:v>
                </c:pt>
                <c:pt idx="4">
                  <c:v>40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Rango inferior (%)</c:v>
                </c:pt>
              </c:strCache>
            </c:strRef>
          </c:tx>
          <c:spPr>
            <a:solidFill>
              <a:srgbClr val="1D4E6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50</c:v>
                </c:pt>
                <c:pt idx="2">
                  <c:v>50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Rango superior (%)</c:v>
                </c:pt>
              </c:strCache>
            </c:strRef>
          </c:tx>
          <c:spPr>
            <a:solidFill>
              <a:srgbClr val="D98C2B"/>
            </a:solidFill>
            <a:effectLst/>
          </c:spPr>
          <c:invertIfNegative val="0"/>
          <c:dLbls>
            <c:numFmt formatCode="[$-C0A]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2E4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Goteo</c:v>
                  </c:pt>
                  <c:pt idx="1">
                    <c:v>Aspersión</c:v>
                  </c:pt>
                  <c:pt idx="2">
                    <c:v>Pivote central</c:v>
                  </c:pt>
                  <c:pt idx="3">
                    <c:v>Manto / surco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65</c:v>
                </c:pt>
                <c:pt idx="2">
                  <c:v>65</c:v>
                </c:pt>
                <c:pt idx="3">
                  <c:v>70</c:v>
                </c:pt>
              </c:numCache>
            </c:numRef>
          </c:val>
        </c:ser>
        <c:dLbls>
          <c:numFmt formatCode="[$-C0A]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0F2E4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8E1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D8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0"/>
            <a:ext cx="5918911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272784" cy="6858000"/>
          </a:xfrm>
          <a:prstGeom prst="rect">
            <a:avLst/>
          </a:prstGeom>
          <a:solidFill>
            <a:srgbClr val="0D0D0D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58368" y="566928"/>
            <a:ext cx="40416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80" kern="0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GROUP</a:t>
            </a:r>
            <a:endParaRPr lang="en-US" sz="1100" dirty="0"/>
          </a:p>
        </p:txBody>
      </p:sp>
      <p:pic>
        <p:nvPicPr>
          <p:cNvPr id="5" name="Image 1" descr="C:\Users\Utilisateur\dev\gsw-dossiers\public\images\logo-ic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0912" y="457200"/>
            <a:ext cx="603504" cy="603504"/>
          </a:xfrm>
          <a:prstGeom prst="rect">
            <a:avLst/>
          </a:prstGeom>
        </p:spPr>
      </p:pic>
      <p:pic>
        <p:nvPicPr>
          <p:cNvPr id="6" name="Image 2" descr="C:\Users\Utilisateur\dev\gsw-dossiers\scripts\dossiers\drapeaux\argent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8456" y="1430846"/>
            <a:ext cx="1965960" cy="1228725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3648456" y="1430846"/>
            <a:ext cx="1965960" cy="1228725"/>
          </a:xfrm>
          <a:prstGeom prst="rect">
            <a:avLst/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8368" y="1298448"/>
            <a:ext cx="276148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REPÚBLICA ARGENTINA</a:t>
            </a:r>
            <a:endParaRPr lang="en-US" sz="2800" dirty="0"/>
          </a:p>
        </p:txBody>
      </p:sp>
      <p:sp>
        <p:nvSpPr>
          <p:cNvPr id="9" name="Shape 4"/>
          <p:cNvSpPr/>
          <p:nvPr/>
        </p:nvSpPr>
        <p:spPr>
          <a:xfrm>
            <a:off x="658368" y="2889504"/>
            <a:ext cx="2788920" cy="45720"/>
          </a:xfrm>
          <a:prstGeom prst="rect">
            <a:avLst/>
          </a:prstGeom>
          <a:solidFill>
            <a:srgbClr val="D98C2B"/>
          </a:solidFill>
          <a:ln/>
        </p:spPr>
      </p:sp>
      <p:sp>
        <p:nvSpPr>
          <p:cNvPr id="10" name="Text 5"/>
          <p:cNvSpPr txBox="1"/>
          <p:nvPr/>
        </p:nvSpPr>
        <p:spPr>
          <a:xfrm>
            <a:off x="658368" y="3163824"/>
            <a:ext cx="4956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D98C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Buenos Aires · 2026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658368" y="3767328"/>
            <a:ext cx="49560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Granos, vid y fruta de exportación bajo una restricción hídrica creciente.</a:t>
            </a:r>
            <a:endParaRPr lang="en-US" sz="1450" dirty="0"/>
          </a:p>
          <a:p>
            <a:pPr algn="l" indent="0" marL="0">
              <a:lnSpc>
                <a:spcPct val="128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la hidro-retención cambia para una agricultura exportadora.</a:t>
            </a:r>
            <a:endParaRPr lang="en-US" sz="1450" dirty="0"/>
          </a:p>
        </p:txBody>
      </p:sp>
      <p:sp>
        <p:nvSpPr>
          <p:cNvPr id="12" name="Text 7"/>
          <p:cNvSpPr txBox="1"/>
          <p:nvPr/>
        </p:nvSpPr>
        <p:spPr>
          <a:xfrm>
            <a:off x="658368" y="4892040"/>
            <a:ext cx="4956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8BC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ECOSORB® · ECOFERT® · NAPEMA® · PAULOWNIA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658368" y="6053328"/>
            <a:ext cx="4956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 de 2026 · Documento confidencial · Para uso exclusivo del destinatario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MERCADO EN SÍNTESIS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gigante agroexportador expuesto a la sequía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60 %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valor exportado en bienes viene del agro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 M ha</a:t>
            </a:r>
            <a:endParaRPr lang="en-US" sz="38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sembradas con cultivos extensivos cada campaña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2,1 M ha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riego, cerca del 5 % de la superficie sembrada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7 %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PIB aportado en forma directa por el agro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sector agropecuario aporta en forma directa alrededor del 7 % del PIB, y cerca del 20 % si se suma la agroindustria. La producción se concentra en pocos cultivos y en pocas provincias: una sequía regional tiene efecto macroeconómico inmediato sobre el ingreso de divisas.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LIMITACIÓN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sequía dejó de ser una excepción de calendario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2415" y="5687568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bajo riego por pivote, región pampeana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campaña 2022/23 fue la más seca en décadas: la soja cayó a unos 20 millones de toneladas, menos de la mitad de un año normal, y el maíz a cerca de 34 millones.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pérdidas de exportación de esa sola campaña fueron estimadas en el orden de 20 000 millones de dólares, sobre un complejo agroindustrial que sostiene la balanza comercial.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agricultura moviliza del orden del 74 % del agua extraída del país: toda tensión sobre el recurso se traduce primero en restricciones al riego.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gradiente pluviométrico es extremo: de más de 1 500 mm anuales en Misiones a menos de 200 mm en Mendoza, San Juan y el norte patagónico.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respuesta pública trabaja sobre la oferta — embalses, revestimiento de canales, riego tecnificado. La hidro-retención actúa sobre la demanda, en el lote.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ADÓNDE VA EL AGUA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riego concentra la mayor parte de la extracción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esto implica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un 10 % el consumo agrícola libera un volumen equivalente a cerca de dos tercios de todo el uso industrial del país.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el esfuerzo se concentra en el lote y no en los demás usos. En las provincias áridas de Cuyo la participación del riego supera el 80 %.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SEGURIDAD ALIMENTARIA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exportador de alimentos que depende de la lluvia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N.º 1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exportador mundial de harina y aceite de soja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13684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96564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20 000 M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3614852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dólares de pérdidas atribuidas a la sequía 2022/23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70 %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vino argentino se elabora en Mendoza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52331" y="1874520"/>
            <a:ext cx="2545004" cy="2514600"/>
          </a:xfrm>
          <a:prstGeom prst="roundRect">
            <a:avLst>
              <a:gd name="adj" fmla="val 3636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35211" y="2148840"/>
            <a:ext cx="21792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400 M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9253499" y="3154680"/>
            <a:ext cx="214266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personas alimentadas con lo que produce el país, según el sector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94360" y="4709160"/>
            <a:ext cx="110029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derechos de exportación de granos financian una parte del gasto público: cada mala campaña se traduce en menos divisas. Las economías regionales —vid, frutas, olivo, hortalizas— dependen en cambio del riego en zonas áridas, donde el agua de deshielo disminuye.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CULTIVOS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cultivos concentran el volumen producido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Maíz y soja concentran el volumen y son mayoritariamente de secano: el rendimiento sigue directamente a la lluvia de diciembre y enero.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Los volúmenes varían mucho entre campañas. En 2022/23 la soja cayó a cerca de 20 millones de toneladas.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 en Cuyo: menos nieve, menos agua de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22415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9436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Mendoza y San Juan concentran la mayor parte del viñedo del país, regado con agua de los ríos andinos.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nevadas más escasas en la cordillera reducen los caudales de verano y los turnos de riego asignados.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Muchos viñedos todavía riegan por surco o por manto, con pérdidas altas por infiltración y evaporación.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reconversión a goteo es la ocasión natural para incorporar un retenedor de agua en la línea de plantación.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rendimiento estable y una madurez regular son lo que pagan las bodegas y los mercados de exportación.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SECTOR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Olivo y frutales: las economías regionales bajo riego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5074920" cy="37947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217920" y="1783080"/>
            <a:ext cx="5379415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olivo se extiende por Catamarca, La Rioja, San Juan y Mendoza, sobre suelos pobres y con muy poca lluvia.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Alto Valle de Río Negro y Neuquén es la gran zona de peras y manzanas de exportación del país.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plantaciones nuevas dependen del bombeo de agua subterránea, cuyo costo energético crece cada año.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Heladas y golpes de calor se suman al estrés hídrico en floración y cuaje.</a:t>
            </a:r>
            <a:endParaRPr lang="en-US" sz="1400" dirty="0"/>
          </a:p>
          <a:p>
            <a:pPr algn="l" marL="342900" indent="-342900">
              <a:lnSpc>
                <a:spcPct val="122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NAPEMA® trata las plagas sin residuos, una exigencia de los compradores europeos de fruta fresca.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Potencial de rendimiento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rendimiento esperado por cultivo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Rangos que usa nuestra calculadora de dosis, para un cultivo manejado con normalidad y EVERGREEN® aplicado en la plantación.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el clima y el manejo. En cereales no se anuncia ningún aumento sin ensayo de campo.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NUESTRA RESPUESTA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tecnologías para dos limitaciones distintas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EVERGREEN® — retener el agua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Hidro-retenedor a base de potasio, colocado en la zona radicular en la siembra o en la plantación.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 el agua de lluvia o de riego y la devuelve a la planta a medida que la necesita, suprimiendo el estrés hídrico en las etapas críticas.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 de absorción del orden de 300 veces su peso; vida útil de 3 a 4 años en el suelo.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degrada entre 20 y 25 % por año, sin acumulación ni riesgo de sobredosis.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ECOFERT® — nutrir sin agotar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Fertilizante en microdosis de aminoácidos, nitrógeno, fósforo y potasio, de origen renovable.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quelante: no empobrece el complejo arcillo-húmico ni aumenta la salinidad ni el contenido de nitratos.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SOHISCERT y EU Bio — condición de acceso a los pliegos de los compradores europeos.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 a 4 frascos de 140 ml por hectárea, compatible con los equipos de fertirriego existentes.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dos productos se venden por separado pero fueron concebidos para reforzarse: el hidro-retenedor prolonga la disponibilidad del agua, el fertilizante valoriza esa agua disponible sin degradar el suelo.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 de la gama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Proteger los cultivos, sujetar los suelos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NAPEMA® — proteger sin residuos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 enfermedades, parásitos, hongos y plagas, sin moléculas de síntesis.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Pulverización foliar y radicular, con efecto preventivo y curativo.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residuo en el suelo, la planta ni el aire: polinizadores y auxiliares a salvo.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 a medida para un problema concreto: cochinilla, HLB de los cítricos, nematodos.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Paulownia ALTIFOLIA® — árbol de clima cálido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13 a 15 m en seis a ocho años, con un tronco de gran diámetro.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100 g de EVERGREEN® por planta, el riego necesario disminuye un 50 %.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Resiste de −25 °C a +45 °C; su madera solo se inflama a partir de 426 °C.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Cortavientos, protección del suelo contra la erosión, de 400 a 700 kg de miel por hectárea.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Plantas entregadas en maceta (25 a 30 cm), certificadas libres de enfermedades y repuestas en garantía en caso de pérdida. Primera corta al final del sexto año, con la madera valorada en torno a 400-450 € el m³.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ÓRDENES DE MAGNITUD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Ahorro de agua esperado según el método de riego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7360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275320" y="1783080"/>
            <a:ext cx="3291840" cy="3977640"/>
          </a:xfrm>
          <a:prstGeom prst="roundRect">
            <a:avLst>
              <a:gd name="adj" fmla="val 2778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503920" y="20116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Leer con prudencia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8503920" y="2560320"/>
            <a:ext cx="2834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Estos rangos son indicativos y se apoyan en las mejoras documentadas de nuestros hidro-retenedores.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real depende del suelo, del clima y del cultivo. Las cifras dan un orden de magnitud: en ningún caso constituyen un valor garantizado, contractual ni absoluto.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ZONAS PRIORITARIAS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conviene iniciar los primeros ensayos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783080"/>
            <a:ext cx="3472586" cy="16916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95528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Cuyo — Mendoza y San Juan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190 000 ha de viñedo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200 mm de lluvia al año: toda la producción depende del deshielo andino y del riego por manto o por goteo.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Vid, olivo y frutales de alto valor unitario, con destino de exportación y pliegos de calidad exigentes.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Suelos arenosos y pedregosos de baja capacidad de retención, donde el efecto del hidro-retenedor es directamente medible.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9554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9554" y="1783080"/>
            <a:ext cx="3472586" cy="1691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0722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Pampa Húmeda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60722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30 M ha sembradas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560722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Corazón de la producción de soja, maíz y trigo, repartido entre Buenos Aires, Córdoba y Santa Fe.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Producción casi enteramente de secano: el riesgo no es la falta de riego sino el veranillo de enero.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Estructuras grandes y profesionalizadas, capaces de conducir un ensayo comparativo con lote testigo.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24749" y="1783080"/>
            <a:ext cx="3472586" cy="4069080"/>
          </a:xfrm>
          <a:prstGeom prst="roundRect">
            <a:avLst>
              <a:gd name="adj" fmla="val 263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4749" y="1783080"/>
            <a:ext cx="3472586" cy="16916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5917" y="3639312"/>
            <a:ext cx="307025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Alto Valle del Río Negro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325917" y="4041648"/>
            <a:ext cx="30702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9A5F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40 000 ha de pepita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325917" y="4407408"/>
            <a:ext cx="307025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Peras y manzanas para exportación en un valle que recibe cerca de 200 mm de lluvia al año.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Riego gravitacional heredado, con márgenes de mejora importantes en la eficiencia de aplicación.</a:t>
            </a:r>
            <a:endParaRPr lang="en-US" sz="1150" dirty="0"/>
          </a:p>
          <a:p>
            <a:pPr algn="l" marL="342900" indent="-342900">
              <a:lnSpc>
                <a:spcPct val="116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exportación a contraestación hacia Europa y Brasil: la calibración del fruto condiciona el precio.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despliegue por etapas, medido en cada paso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del suelo, del método de riego y del cultivo. Sin ningún compromiso en esta etapa.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Lote piloto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ensayo comparativo sobre un lote, con lote testigo conducido de manera idéntica.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consumo de agua y de rendimiento a lo largo de un ciclo productivo completo.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Extensión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progresiva a los demás lotes sobre la base de los resultados observados.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 dosificación es la misma en todas partes: 3 gramos por litro de tierra útil. Lo que cambia de un lote a otro es el volumen de suelo que las raíces exploran efectivamente.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juntos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socio local para Argentina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Exclusividad territorial y stock de lanzamiento para la primera campaña comercial.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13684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42284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642284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642284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Formación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42284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Formación técnica de los equipos, protocolos de dosis y actualización cada campaña.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33008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61608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61608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61608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Ensayos conjuntos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61608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Parcelas de demostración con testigo y resultados compartidos con los productores.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331" y="1874520"/>
            <a:ext cx="2545004" cy="2834640"/>
          </a:xfrm>
          <a:prstGeom prst="roundRect">
            <a:avLst>
              <a:gd name="adj" fmla="val 3593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80931" y="2103120"/>
            <a:ext cx="566928" cy="566928"/>
          </a:xfrm>
          <a:prstGeom prst="ellipse">
            <a:avLst/>
          </a:prstGeom>
          <a:solidFill>
            <a:srgbClr val="1D4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280931" y="21031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280931" y="2788920"/>
            <a:ext cx="20878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Instituciones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80931" y="3291840"/>
            <a:ext cx="208780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Diálogo con el Ministerio de Agricultura y los programas de seguridad alimentaria.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4983480"/>
            <a:ext cx="11002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se adapta al territorio: un importador, un distribuidor de insumos o una agrupación de productores puede liderar la alianza.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HAY QUE PREVER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 identificados y nuestras respuestas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Riesgos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Variabilidad interanual de las lluvias: una campaña húmeda oculta el interés del producto.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Volatilidad cambiaria y de los costos de importación, que complica la previsibilidad del precio en pesos.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de polímeros de baja calidad a base de sodio, que dejaron mala reputación entre los productores.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de compra dispersa entre productor, ingeniero agrónomo y distribuidor de insumos.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Respuestas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Conducir el ensayo sobre un ciclo completo con lote testigo, para objetivar la mejora incluso en un año favorable.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Escalonar el compromiso: la vida útil de 3 a 4 años amortiza el costo sobre varias campañas.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 la formulación: potasio y nunca sodio, compatible con cultivos alimentarios.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 a través de cooperativas, distribuidores de insumos y asesores técnicos, y entregar el protocolo de ensayo por anticipado.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acrilamida (laboratorio Polymex, ISO 9001, contenido inferior a 3,0 µg/g) y screening REACH / SVHC (SGS) disponibles a pedido, junto con el certificado SOHISCERT vigente hasta el 4 de septiembre de 2027.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41148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200" kern="0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7315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F2E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e hipótesis de trabajo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Fuentes principales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INDEC: comercio exterior y cuentas nacionales.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Bolsa de Cereales de Buenos Aires y Bolsa de Comercio de Rosario: campañas y sequía 2022/23.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Instituto Nacional de Vitivinicultura (INV): superficie y elaboración por provincia.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FAO (FAOSTAT, AQUASTAT) y Banco Mundial (WDI).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370168" y="1783080"/>
            <a:ext cx="52271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Hipótesis de trabajo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370168" y="2286000"/>
            <a:ext cx="522716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cifras son órdenes de magnitud redondeados, tomados de los últimos datos públicos disponibles.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ahorros de agua y los aumentos de rendimiento son indicativos y varían según suelo, clima y cultivo.</a:t>
            </a:r>
            <a:endParaRPr lang="en-US" sz="1350" dirty="0"/>
          </a:p>
          <a:p>
            <a:pPr algn="l" marL="342900" indent="-342900">
              <a:lnSpc>
                <a:spcPct val="122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F3E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comercial de trabajo: cifras a actualizar antes de cualquier presentación oficial.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94360" y="4846320"/>
            <a:ext cx="11002975" cy="960120"/>
          </a:xfrm>
          <a:prstGeom prst="roundRect">
            <a:avLst>
              <a:gd name="adj" fmla="val 7619"/>
            </a:avLst>
          </a:prstGeom>
          <a:solidFill>
            <a:srgbClr val="EEF2F5"/>
          </a:solidFill>
          <a:ln w="9525">
            <a:solidFill>
              <a:srgbClr val="D8E1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4983480"/>
            <a:ext cx="105457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6B7D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de ensayo, certificados (SOHISCERT, análisis Polymex y SGS) y fichas técnicas: disponibles a pedido.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B7D87">
                    <a:alpha val="8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22960" y="21031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Cuéntenos cómo es su lote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822960" y="3200400"/>
            <a:ext cx="8961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Cultivo, método de riego, tipo de suelo y volumen de agua que aplica hoy. Volvemos con la combinación de tecnologías correspondiente, las dosis, y los ensayos ya conducidos en situaciones comparables.</a:t>
            </a: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endParaRPr lang="en-US" sz="15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>
                    <a:alpha val="88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primera conversación no compromete a nada.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48463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D98C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contact@evergreen-ecosorb.com · Green Solutions Groupe AIM SA, 46, route de la Condémine, 1475 Forel, Suiza</a:t>
            </a:r>
            <a:endParaRPr lang="en-US" sz="1400" dirty="0"/>
          </a:p>
        </p:txBody>
      </p:sp>
      <p:pic>
        <p:nvPicPr>
          <p:cNvPr id="6" name="Image 1" descr="C:\Users\Utilisateur\dev\gsw-dossiers\scripts\dossiers\sceau-aim-clair.png">    </p:cNvPr>
          <p:cNvPicPr>
            <a:picLocks noChangeAspect="1"/>
          </p:cNvPicPr>
          <p:nvPr/>
        </p:nvPicPr>
        <p:blipFill>
          <a:blip r:embed="rId2">
            <a:alphaModFix amt="85000"/>
          </a:blip>
          <a:stretch>
            <a:fillRect/>
          </a:stretch>
        </p:blipFill>
        <p:spPr>
          <a:xfrm>
            <a:off x="10637215" y="5193792"/>
            <a:ext cx="1051560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02920" y="638251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Solutions · Dossier de mercado Argentina</a:t>
            </a:r>
            <a:endParaRPr lang="en-US" sz="950" dirty="0"/>
          </a:p>
        </p:txBody>
      </p:sp>
      <p:sp>
        <p:nvSpPr>
          <p:cNvPr id="8" name="Text 4"/>
          <p:cNvSpPr txBox="1"/>
          <p:nvPr/>
        </p:nvSpPr>
        <p:spPr>
          <a:xfrm>
            <a:off x="1114013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FFFF">
                    <a:alpha val="55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2026-09-15T23:35:05Z</dcterms:created>
  <dcterms:modified xsi:type="dcterms:W3CDTF">2026-09-15T23:35:05Z</dcterms:modified>
</cp:coreProperties>
</file>