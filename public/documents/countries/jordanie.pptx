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6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67.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6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Relationships xmlns="http://schemas.openxmlformats.org/package/2006/relationships"><Relationship Id="rId1" Type="http://schemas.openxmlformats.org/officeDocument/2006/relationships/package" Target="../embeddings/Microsoft_Excel_Worksheet70.xlsx"/></Relationships>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مؤشر عالمي لعدد فترات الجفاف ومدتها</c:v>
                </c:pt>
              </c:strCache>
            </c:strRef>
          </c:tx>
          <c:spPr>
            <a:solidFill>
              <a:srgbClr val="2C6E49"/>
            </a:solidFill>
            <a:effectLst/>
          </c:spPr>
          <c:invertIfNegative val="0"/>
          <c:dLbls>
            <c:numFmt formatCode="[$-401]0"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dPt>
            <c:idx val="0"/>
            <c:invertIfNegative val="0"/>
            <c:bubble3D val="0"/>
            <c:spPr>
              <a:solidFill>
                <a:srgbClr val="2C6E49"/>
              </a:solidFill>
              <a:effectLst/>
            </c:spPr>
          </c:dPt>
          <c:dPt>
            <c:idx val="1"/>
            <c:invertIfNegative val="0"/>
            <c:bubble3D val="0"/>
            <c:spPr>
              <a:solidFill>
                <a:srgbClr val="D9A441"/>
              </a:solidFill>
              <a:effectLst/>
            </c:spPr>
          </c:dPt>
          <c:cat>
            <c:multiLvlStrRef>
              <c:f>Sheet1!$A$2:$A$3</c:f>
              <c:multiLvlStrCache>
                <c:ptCount val="2"/>
                <c:lvl>
                  <c:pt idx="0">
                    <c:v>1980–1999</c:v>
                  </c:pt>
                  <c:pt idx="1">
                    <c:v>منذ 2000</c:v>
                  </c:pt>
                </c:lvl>
              </c:multiLvlStrCache>
            </c:multiLvlStrRef>
          </c:cat>
          <c:val>
            <c:numRef>
              <c:f>Sheet1!$B$2:$B$3</c:f>
              <c:numCache>
                <c:formatCode>General</c:formatCode>
                <c:ptCount val="2"/>
                <c:pt idx="0">
                  <c:v>100</c:v>
                </c:pt>
                <c:pt idx="1">
                  <c:v>129</c:v>
                </c:pt>
              </c:numCache>
            </c:numRef>
          </c:val>
        </c:ser>
        <c:dLbls>
          <c:numFmt formatCode="[$-401]0"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المسحوبات المائية</c:v>
                </c:pt>
              </c:strCache>
            </c:strRef>
          </c:tx>
          <c:spPr>
            <a:solidFill>
              <a:schemeClr val="accent1"/>
            </a:solidFill>
            <a:ln w="9525" cap="flat">
              <a:solidFill>
                <a:srgbClr val="F9F9F9"/>
              </a:solidFill>
              <a:prstDash val="solid"/>
              <a:round/>
            </a:ln>
            <a:effectLst/>
          </c:spPr>
          <c:dPt>
            <c:idx val="0"/>
            <c:bubble3D val="0"/>
            <c:spPr>
              <a:solidFill>
                <a:srgbClr val="2C6E49"/>
              </a:solidFill>
              <a:effectLst/>
            </c:spPr>
          </c:dPt>
          <c:dPt>
            <c:idx val="1"/>
            <c:bubble3D val="0"/>
            <c:spPr>
              <a:solidFill>
                <a:srgbClr val="D9A441"/>
              </a:solidFill>
              <a:effectLst/>
            </c:spPr>
          </c:dPt>
          <c:dPt>
            <c:idx val="2"/>
            <c:bubble3D val="0"/>
            <c:spPr>
              <a:solidFill>
                <a:srgbClr val="7FA88C"/>
              </a:solidFill>
              <a:effectLst/>
            </c:spPr>
          </c:dPt>
          <c:dLbls>
            <c:dLbl>
              <c:idx val="0"/>
              <c:numFmt formatCode="[$-401]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1]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1]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1]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الزراعة</c:v>
                </c:pt>
                <c:pt idx="1">
                  <c:v>مياه الشرب</c:v>
                </c:pt>
                <c:pt idx="2">
                  <c:v>الصناعة</c:v>
                </c:pt>
              </c:strCache>
            </c:strRef>
          </c:cat>
          <c:val>
            <c:numRef>
              <c:f>Sheet1!$B$2:$B$4</c:f>
              <c:numCache>
                <c:ptCount val="3"/>
                <c:pt idx="0">
                  <c:v>52</c:v>
                </c:pt>
                <c:pt idx="1">
                  <c:v>43</c:v>
                </c:pt>
                <c:pt idx="2">
                  <c:v>5</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الإنتاج السنوي (ألف طن)</c:v>
                </c:pt>
              </c:strCache>
            </c:strRef>
          </c:tx>
          <c:spPr>
            <a:solidFill>
              <a:srgbClr val="2C6E49"/>
            </a:solidFill>
            <a:effectLst/>
          </c:spPr>
          <c:invertIfNegative val="0"/>
          <c:dLbls>
            <c:numFmt formatCode="[$-401]0"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dPt>
            <c:idx val="0"/>
            <c:invertIfNegative val="0"/>
            <c:bubble3D val="0"/>
            <c:spPr>
              <a:solidFill>
                <a:srgbClr val="2C6E49"/>
              </a:solidFill>
              <a:effectLst/>
            </c:spPr>
          </c:dPt>
          <c:dPt>
            <c:idx val="1"/>
            <c:invertIfNegative val="0"/>
            <c:bubble3D val="0"/>
            <c:spPr>
              <a:solidFill>
                <a:srgbClr val="D9A441"/>
              </a:solidFill>
              <a:effectLst/>
            </c:spPr>
          </c:dPt>
          <c:dPt>
            <c:idx val="2"/>
            <c:invertIfNegative val="0"/>
            <c:bubble3D val="0"/>
            <c:spPr>
              <a:solidFill>
                <a:srgbClr val="7FA88C"/>
              </a:solidFill>
              <a:effectLst/>
            </c:spPr>
          </c:dPt>
          <c:dPt>
            <c:idx val="3"/>
            <c:invertIfNegative val="0"/>
            <c:bubble3D val="0"/>
            <c:spPr>
              <a:solidFill>
                <a:srgbClr val="BE7A3C"/>
              </a:solidFill>
              <a:effectLst/>
            </c:spPr>
          </c:dPt>
          <c:dPt>
            <c:idx val="4"/>
            <c:invertIfNegative val="0"/>
            <c:bubble3D val="0"/>
            <c:spPr>
              <a:solidFill>
                <a:srgbClr val="4F8663"/>
              </a:solidFill>
              <a:effectLst/>
            </c:spPr>
          </c:dPt>
          <c:cat>
            <c:multiLvlStrRef>
              <c:f>Sheet1!$A$2:$A$6</c:f>
              <c:multiLvlStrCache>
                <c:ptCount val="5"/>
                <c:lvl>
                  <c:pt idx="0">
                    <c:v>طماطم</c:v>
                  </c:pt>
                  <c:pt idx="1">
                    <c:v>بطاطا</c:v>
                  </c:pt>
                  <c:pt idx="2">
                    <c:v>زيتون*</c:v>
                  </c:pt>
                  <c:pt idx="3">
                    <c:v>خيار</c:v>
                  </c:pt>
                  <c:pt idx="4">
                    <c:v>حمضيات</c:v>
                  </c:pt>
                </c:lvl>
              </c:multiLvlStrCache>
            </c:multiLvlStrRef>
          </c:cat>
          <c:val>
            <c:numRef>
              <c:f>Sheet1!$B$2:$B$6</c:f>
              <c:numCache>
                <c:formatCode>General</c:formatCode>
                <c:ptCount val="5"/>
                <c:pt idx="0">
                  <c:v>750</c:v>
                </c:pt>
                <c:pt idx="1">
                  <c:v>180</c:v>
                </c:pt>
                <c:pt idx="2">
                  <c:v>150</c:v>
                </c:pt>
                <c:pt idx="3">
                  <c:v>130</c:v>
                </c:pt>
                <c:pt idx="4">
                  <c:v>100</c:v>
                </c:pt>
              </c:numCache>
            </c:numRef>
          </c:val>
        </c:ser>
        <c:dLbls>
          <c:numFmt formatCode="[$-401]0"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 (%)</c:v>
                </c:pt>
              </c:strCache>
            </c:strRef>
          </c:tx>
          <c:spPr>
            <a:solidFill>
              <a:srgbClr val="2C6E49"/>
            </a:solidFill>
            <a:effectLst/>
          </c:spPr>
          <c:invertIfNegative val="0"/>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الطماطم</c:v>
                  </c:pt>
                  <c:pt idx="1">
                    <c:v>الخيار</c:v>
                  </c:pt>
                  <c:pt idx="2">
                    <c:v>الزيتون</c:v>
                  </c:pt>
                  <c:pt idx="3">
                    <c:v>البطاطس</c:v>
                  </c:pt>
                  <c:pt idx="4">
                    <c:v>الحمضيات</c:v>
                  </c:pt>
                </c:lvl>
              </c:multiLvlStrCache>
            </c:multiLvlStrRef>
          </c:cat>
          <c:val>
            <c:numRef>
              <c:f>Sheet1!$B$2:$B$6</c:f>
              <c:numCache>
                <c:formatCode>General</c:formatCode>
                <c:ptCount val="5"/>
                <c:pt idx="0">
                  <c:v>30</c:v>
                </c:pt>
                <c:pt idx="1">
                  <c:v>20</c:v>
                </c:pt>
                <c:pt idx="2">
                  <c:v>20</c:v>
                </c:pt>
                <c:pt idx="3">
                  <c:v>20</c:v>
                </c:pt>
                <c:pt idx="4">
                  <c:v>20</c:v>
                </c:pt>
              </c:numCache>
            </c:numRef>
          </c:val>
        </c:ser>
        <c:ser>
          <c:idx val="1"/>
          <c:order val="1"/>
          <c:tx>
            <c:strRef>
              <c:f>Sheet1!$C$1</c:f>
              <c:strCache>
                <c:ptCount val="1"/>
                <c:pt idx="0">
                  <c:v>الحد الأعلى (%)</c:v>
                </c:pt>
              </c:strCache>
            </c:strRef>
          </c:tx>
          <c:spPr>
            <a:solidFill>
              <a:srgbClr val="D9A441"/>
            </a:solidFill>
            <a:effectLst/>
          </c:spPr>
          <c:invertIfNegative val="0"/>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الطماطم</c:v>
                  </c:pt>
                  <c:pt idx="1">
                    <c:v>الخيار</c:v>
                  </c:pt>
                  <c:pt idx="2">
                    <c:v>الزيتون</c:v>
                  </c:pt>
                  <c:pt idx="3">
                    <c:v>البطاطس</c:v>
                  </c:pt>
                  <c:pt idx="4">
                    <c:v>الحمضيات</c:v>
                  </c:pt>
                </c:lvl>
              </c:multiLvlStrCache>
            </c:multiLvlStrRef>
          </c:cat>
          <c:val>
            <c:numRef>
              <c:f>Sheet1!$C$2:$C$6</c:f>
              <c:numCache>
                <c:formatCode>General</c:formatCode>
                <c:ptCount val="5"/>
                <c:pt idx="0">
                  <c:v>50</c:v>
                </c:pt>
                <c:pt idx="1">
                  <c:v>40</c:v>
                </c:pt>
                <c:pt idx="2">
                  <c:v>40</c:v>
                </c:pt>
                <c:pt idx="3">
                  <c:v>40</c:v>
                </c:pt>
                <c:pt idx="4">
                  <c:v>40</c:v>
                </c:pt>
              </c:numCache>
            </c:numRef>
          </c:val>
        </c:ser>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 للنطاق (%)</c:v>
                </c:pt>
              </c:strCache>
            </c:strRef>
          </c:tx>
          <c:spPr>
            <a:solidFill>
              <a:srgbClr val="2C6E49"/>
            </a:solidFill>
            <a:effectLst/>
          </c:spPr>
          <c:invertIfNegative val="0"/>
          <c:dLbls>
            <c:numFmt formatCode="[$-401]0&quot;%&quot;"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ري بالتنقيط</c:v>
                  </c:pt>
                  <c:pt idx="1">
                    <c:v>ري بالرش</c:v>
                  </c:pt>
                  <c:pt idx="2">
                    <c:v>ري محوري</c:v>
                  </c:pt>
                  <c:pt idx="3">
                    <c:v>ري بالغمر</c:v>
                  </c:pt>
                </c:lvl>
              </c:multiLvlStrCache>
            </c:multiLvlStrRef>
          </c:cat>
          <c:val>
            <c:numRef>
              <c:f>Sheet1!$B$2:$B$5</c:f>
              <c:numCache>
                <c:formatCode>General</c:formatCode>
                <c:ptCount val="4"/>
                <c:pt idx="0">
                  <c:v>40</c:v>
                </c:pt>
                <c:pt idx="1">
                  <c:v>50</c:v>
                </c:pt>
                <c:pt idx="2">
                  <c:v>50</c:v>
                </c:pt>
                <c:pt idx="3">
                  <c:v>55</c:v>
                </c:pt>
              </c:numCache>
            </c:numRef>
          </c:val>
        </c:ser>
        <c:ser>
          <c:idx val="1"/>
          <c:order val="1"/>
          <c:tx>
            <c:strRef>
              <c:f>Sheet1!$C$1</c:f>
              <c:strCache>
                <c:ptCount val="1"/>
                <c:pt idx="0">
                  <c:v>الحد الأعلى للنطاق (%)</c:v>
                </c:pt>
              </c:strCache>
            </c:strRef>
          </c:tx>
          <c:spPr>
            <a:solidFill>
              <a:srgbClr val="D9A441"/>
            </a:solidFill>
            <a:effectLst/>
          </c:spPr>
          <c:invertIfNegative val="0"/>
          <c:dLbls>
            <c:numFmt formatCode="[$-401]0&quot;%&quot;"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ري بالتنقيط</c:v>
                  </c:pt>
                  <c:pt idx="1">
                    <c:v>ري بالرش</c:v>
                  </c:pt>
                  <c:pt idx="2">
                    <c:v>ري محوري</c:v>
                  </c:pt>
                  <c:pt idx="3">
                    <c:v>ري بالغمر</c:v>
                  </c:pt>
                </c:lvl>
              </c:multiLvlStrCache>
            </c:multiLvlStrRef>
          </c:cat>
          <c:val>
            <c:numRef>
              <c:f>Sheet1!$C$2:$C$5</c:f>
              <c:numCache>
                <c:formatCode>General</c:formatCode>
                <c:ptCount val="4"/>
                <c:pt idx="0">
                  <c:v>55</c:v>
                </c:pt>
                <c:pt idx="1">
                  <c:v>65</c:v>
                </c:pt>
                <c:pt idx="2">
                  <c:v>65</c:v>
                </c:pt>
                <c:pt idx="3">
                  <c:v>70</c:v>
                </c:pt>
              </c:numCache>
            </c:numRef>
          </c:val>
        </c:ser>
        <c:dLbls>
          <c:numFmt formatCode="[$-401]0&quot;%&quot;"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7.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8.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9.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0.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918911" cy="6858000"/>
          </a:xfrm>
          <a:prstGeom prst="rect">
            <a:avLst/>
          </a:prstGeom>
        </p:spPr>
      </p:pic>
      <p:sp>
        <p:nvSpPr>
          <p:cNvPr id="3" name="Shape 0"/>
          <p:cNvSpPr/>
          <p:nvPr/>
        </p:nvSpPr>
        <p:spPr>
          <a:xfrm>
            <a:off x="5918911" y="0"/>
            <a:ext cx="6272784" cy="6858000"/>
          </a:xfrm>
          <a:prstGeom prst="rect">
            <a:avLst/>
          </a:prstGeom>
          <a:solidFill>
            <a:srgbClr val="0D0D0D"/>
          </a:solidFill>
          <a:ln/>
        </p:spPr>
      </p:sp>
      <p:sp>
        <p:nvSpPr>
          <p:cNvPr id="4" name="Text 1"/>
          <p:cNvSpPr txBox="1"/>
          <p:nvPr/>
        </p:nvSpPr>
        <p:spPr>
          <a:xfrm>
            <a:off x="6577279" y="566928"/>
            <a:ext cx="4041648" cy="292608"/>
          </a:xfrm>
          <a:prstGeom prst="rect">
            <a:avLst/>
          </a:prstGeom>
          <a:noFill/>
          <a:ln/>
        </p:spPr>
        <p:txBody>
          <a:bodyPr wrap="square" lIns="0" tIns="0" rIns="0" bIns="0" rtlCol="0" anchor="ctr"/>
          <a:lstStyle/>
          <a:p>
            <a:pPr rtl="1" algn="r" indent="0" marL="0">
              <a:buNone/>
            </a:pPr>
            <a:r>
              <a:rPr lang="en-US" sz="1100" b="1" spc="80" kern="0" dirty="0">
                <a:solidFill>
                  <a:srgbClr val="8BC34A"/>
                </a:solidFill>
                <a:latin typeface="Arial" pitchFamily="34" charset="0"/>
                <a:ea typeface="Arial" pitchFamily="34" charset="-122"/>
                <a:cs typeface="Arial"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6577279" y="457200"/>
            <a:ext cx="603504" cy="603504"/>
          </a:xfrm>
          <a:prstGeom prst="rect">
            <a:avLst/>
          </a:prstGeom>
        </p:spPr>
      </p:pic>
      <p:pic>
        <p:nvPicPr>
          <p:cNvPr id="6" name="Image 2" descr="/home/claude/green-solutions-web/scripts/dossiers/drapeaux/jordanie.png">    </p:cNvPr>
          <p:cNvPicPr>
            <a:picLocks noChangeAspect="1"/>
          </p:cNvPicPr>
          <p:nvPr/>
        </p:nvPicPr>
        <p:blipFill>
          <a:blip r:embed="rId3"/>
          <a:stretch>
            <a:fillRect/>
          </a:stretch>
        </p:blipFill>
        <p:spPr>
          <a:xfrm>
            <a:off x="6577279" y="1553718"/>
            <a:ext cx="1965960" cy="982980"/>
          </a:xfrm>
          <a:prstGeom prst="rect">
            <a:avLst/>
          </a:prstGeom>
        </p:spPr>
      </p:pic>
      <p:sp>
        <p:nvSpPr>
          <p:cNvPr id="7" name="Shape 2"/>
          <p:cNvSpPr/>
          <p:nvPr/>
        </p:nvSpPr>
        <p:spPr>
          <a:xfrm>
            <a:off x="6577279" y="1553718"/>
            <a:ext cx="1965960" cy="982980"/>
          </a:xfrm>
          <a:prstGeom prst="rect">
            <a:avLst/>
          </a:prstGeom>
          <a:ln w="9525">
            <a:solidFill>
              <a:srgbClr val="3A3A3A"/>
            </a:solidFill>
            <a:prstDash val="solid"/>
          </a:ln>
        </p:spPr>
      </p:sp>
      <p:sp>
        <p:nvSpPr>
          <p:cNvPr id="8" name="Text 3"/>
          <p:cNvSpPr txBox="1"/>
          <p:nvPr/>
        </p:nvSpPr>
        <p:spPr>
          <a:xfrm>
            <a:off x="8771839" y="1298448"/>
            <a:ext cx="2761488" cy="1234440"/>
          </a:xfrm>
          <a:prstGeom prst="rect">
            <a:avLst/>
          </a:prstGeom>
          <a:noFill/>
          <a:ln/>
        </p:spPr>
        <p:txBody>
          <a:bodyPr wrap="square" lIns="0" tIns="0" rIns="0" bIns="0" rtlCol="0" anchor="t"/>
          <a:lstStyle/>
          <a:p>
            <a:pPr rtl="1" algn="r" indent="0" marL="0">
              <a:lnSpc>
                <a:spcPct val="110000"/>
              </a:lnSpc>
              <a:buNone/>
            </a:pPr>
            <a:r>
              <a:rPr lang="en-US" sz="2400" b="1" dirty="0">
                <a:solidFill>
                  <a:srgbClr val="FFFFFF"/>
                </a:solidFill>
                <a:latin typeface="Arial" pitchFamily="34" charset="0"/>
                <a:ea typeface="Arial" pitchFamily="34" charset="-122"/>
                <a:cs typeface="Arial" pitchFamily="34" charset="-120"/>
              </a:rPr>
              <a:t>المملكة الأردنية الهاشمية</a:t>
            </a:r>
            <a:endParaRPr lang="en-US" sz="2400" dirty="0"/>
          </a:p>
        </p:txBody>
      </p:sp>
      <p:sp>
        <p:nvSpPr>
          <p:cNvPr id="9" name="Shape 4"/>
          <p:cNvSpPr/>
          <p:nvPr/>
        </p:nvSpPr>
        <p:spPr>
          <a:xfrm>
            <a:off x="8744407" y="2889504"/>
            <a:ext cx="2788920" cy="45720"/>
          </a:xfrm>
          <a:prstGeom prst="rect">
            <a:avLst/>
          </a:prstGeom>
          <a:solidFill>
            <a:srgbClr val="D9A441"/>
          </a:solidFill>
          <a:ln/>
        </p:spPr>
      </p:sp>
      <p:sp>
        <p:nvSpPr>
          <p:cNvPr id="10" name="Text 5"/>
          <p:cNvSpPr txBox="1"/>
          <p:nvPr/>
        </p:nvSpPr>
        <p:spPr>
          <a:xfrm>
            <a:off x="6577279" y="3163824"/>
            <a:ext cx="4956048" cy="384048"/>
          </a:xfrm>
          <a:prstGeom prst="rect">
            <a:avLst/>
          </a:prstGeom>
          <a:noFill/>
          <a:ln/>
        </p:spPr>
        <p:txBody>
          <a:bodyPr wrap="square" lIns="0" tIns="0" rIns="0" bIns="0" rtlCol="0" anchor="ctr"/>
          <a:lstStyle/>
          <a:p>
            <a:pPr rtl="1" algn="r" indent="0" marL="0">
              <a:buNone/>
            </a:pPr>
            <a:r>
              <a:rPr lang="en-US" sz="1600" b="1" dirty="0">
                <a:solidFill>
                  <a:srgbClr val="D9A441"/>
                </a:solidFill>
                <a:latin typeface="Arial" pitchFamily="34" charset="0"/>
                <a:ea typeface="Arial" pitchFamily="34" charset="-122"/>
                <a:cs typeface="Arial" pitchFamily="34" charset="-120"/>
              </a:rPr>
              <a:t>عمّان · 2026</a:t>
            </a:r>
            <a:endParaRPr lang="en-US" sz="1600" dirty="0"/>
          </a:p>
        </p:txBody>
      </p:sp>
      <p:sp>
        <p:nvSpPr>
          <p:cNvPr id="11" name="Text 6"/>
          <p:cNvSpPr txBox="1"/>
          <p:nvPr/>
        </p:nvSpPr>
        <p:spPr>
          <a:xfrm>
            <a:off x="6577279" y="3767328"/>
            <a:ext cx="4956048" cy="914400"/>
          </a:xfrm>
          <a:prstGeom prst="rect">
            <a:avLst/>
          </a:prstGeom>
          <a:noFill/>
          <a:ln/>
        </p:spPr>
        <p:txBody>
          <a:bodyPr wrap="square" lIns="0" tIns="0" rIns="0" bIns="0" rtlCol="0" anchor="t"/>
          <a:lstStyle/>
          <a:p>
            <a:pPr rtl="1" algn="r" indent="0" marL="0">
              <a:lnSpc>
                <a:spcPct val="128000"/>
              </a:lnSpc>
              <a:buNone/>
            </a:pPr>
            <a:r>
              <a:rPr lang="en-US" sz="1450" dirty="0">
                <a:solidFill>
                  <a:srgbClr val="FFFFFF"/>
                </a:solidFill>
                <a:latin typeface="Arial" pitchFamily="34" charset="0"/>
                <a:ea typeface="Arial" pitchFamily="34" charset="-122"/>
                <a:cs typeface="Arial" pitchFamily="34" charset="-120"/>
              </a:rPr>
              <a:t>خضار الأغوار وزيتون المرتفعات تحت ندرة مائية هيكلية.</a:t>
            </a:r>
            <a:endParaRPr lang="en-US" sz="1450" dirty="0"/>
          </a:p>
          <a:p>
            <a:pPr rtl="1" algn="r" indent="0" marL="0">
              <a:lnSpc>
                <a:spcPct val="128000"/>
              </a:lnSpc>
              <a:buNone/>
            </a:pPr>
            <a:r>
              <a:rPr lang="en-US" sz="1450" dirty="0">
                <a:solidFill>
                  <a:srgbClr val="FFFFFF"/>
                </a:solidFill>
                <a:latin typeface="Arial" pitchFamily="34" charset="0"/>
                <a:ea typeface="Arial" pitchFamily="34" charset="-122"/>
                <a:cs typeface="Arial" pitchFamily="34" charset="-120"/>
              </a:rPr>
              <a:t>ما الذي يغيّره الاحتفاظ بالماء في التربة على مستوى الحقل.</a:t>
            </a:r>
            <a:endParaRPr lang="en-US" sz="1450" dirty="0"/>
          </a:p>
        </p:txBody>
      </p:sp>
      <p:sp>
        <p:nvSpPr>
          <p:cNvPr id="12" name="Text 7"/>
          <p:cNvSpPr txBox="1"/>
          <p:nvPr/>
        </p:nvSpPr>
        <p:spPr>
          <a:xfrm>
            <a:off x="6577279" y="4892040"/>
            <a:ext cx="4956048" cy="347472"/>
          </a:xfrm>
          <a:prstGeom prst="rect">
            <a:avLst/>
          </a:prstGeom>
          <a:noFill/>
          <a:ln/>
        </p:spPr>
        <p:txBody>
          <a:bodyPr wrap="square" lIns="0" tIns="0" rIns="0" bIns="0" rtlCol="0" anchor="ctr"/>
          <a:lstStyle/>
          <a:p>
            <a:pPr rtl="1" algn="r" indent="0" marL="0">
              <a:buNone/>
            </a:pPr>
            <a:r>
              <a:rPr lang="en-US" sz="1100" b="1" dirty="0">
                <a:solidFill>
                  <a:srgbClr val="8BC34A"/>
                </a:solidFill>
                <a:latin typeface="Arial" pitchFamily="34" charset="0"/>
                <a:ea typeface="Arial" pitchFamily="34" charset="-122"/>
                <a:cs typeface="Arial" pitchFamily="34" charset="-120"/>
              </a:rPr>
              <a:t>ECOSORB® · ECOFERT® · NAPEMA® · PAULOWNIA</a:t>
            </a:r>
            <a:endParaRPr lang="en-US" sz="1100" dirty="0"/>
          </a:p>
        </p:txBody>
      </p:sp>
      <p:sp>
        <p:nvSpPr>
          <p:cNvPr id="13" name="Text 8"/>
          <p:cNvSpPr txBox="1"/>
          <p:nvPr/>
        </p:nvSpPr>
        <p:spPr>
          <a:xfrm>
            <a:off x="6577279" y="6053328"/>
            <a:ext cx="4956048" cy="310896"/>
          </a:xfrm>
          <a:prstGeom prst="rect">
            <a:avLst/>
          </a:prstGeom>
          <a:noFill/>
          <a:ln/>
        </p:spPr>
        <p:txBody>
          <a:bodyPr wrap="square" lIns="0" tIns="0" rIns="0" bIns="0" rtlCol="0" anchor="ctr"/>
          <a:lstStyle/>
          <a:p>
            <a:pPr rtl="1" algn="r" indent="0" marL="0">
              <a:buNone/>
            </a:pPr>
            <a:r>
              <a:rPr lang="en-US" sz="850" dirty="0">
                <a:solidFill>
                  <a:srgbClr val="9A9A9A"/>
                </a:solidFill>
                <a:latin typeface="Arial" pitchFamily="34" charset="0"/>
                <a:ea typeface="Arial" pitchFamily="34" charset="-122"/>
                <a:cs typeface="Arial" pitchFamily="34" charset="-120"/>
              </a:rPr>
              <a:t>سبتمبر 2026 · وثيقة سرية · للاستخدام الحصري للمرسل إليه</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السوق في سطور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بلد زراعي مصدّر يعمل تحت ندرة مائية قصوى</a:t>
            </a:r>
            <a:endParaRPr lang="en-US" sz="3000" dirty="0"/>
          </a:p>
        </p:txBody>
      </p:sp>
      <p:sp>
        <p:nvSpPr>
          <p:cNvPr id="4" name="Shape 2"/>
          <p:cNvSpPr/>
          <p:nvPr/>
        </p:nvSpPr>
        <p:spPr>
          <a:xfrm>
            <a:off x="594360" y="1874520"/>
            <a:ext cx="2545004" cy="2514600"/>
          </a:xfrm>
          <a:prstGeom prst="roundRect">
            <a:avLst>
              <a:gd name="adj" fmla="val 3636"/>
            </a:avLst>
          </a:prstGeom>
          <a:solidFill>
            <a:srgbClr val="F2F1E8"/>
          </a:solidFill>
          <a:ln w="9525">
            <a:solidFill>
              <a:srgbClr val="E0DFD0"/>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5 %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الناتج المحلي الإجمالي مصدره القطاع الزراعي</a:t>
            </a:r>
            <a:endParaRPr lang="en-US" sz="1250" dirty="0"/>
          </a:p>
        </p:txBody>
      </p:sp>
      <p:sp>
        <p:nvSpPr>
          <p:cNvPr id="7" name="Shape 5"/>
          <p:cNvSpPr/>
          <p:nvPr/>
        </p:nvSpPr>
        <p:spPr>
          <a:xfrm>
            <a:off x="3413684" y="1874520"/>
            <a:ext cx="2545004" cy="2514600"/>
          </a:xfrm>
          <a:prstGeom prst="roundRect">
            <a:avLst>
              <a:gd name="adj" fmla="val 3636"/>
            </a:avLst>
          </a:prstGeom>
          <a:solidFill>
            <a:srgbClr val="F2F1E8"/>
          </a:solidFill>
          <a:ln w="9525">
            <a:solidFill>
              <a:srgbClr val="E0DFD0"/>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&lt; 100 م³</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نصيب الفرد سنوياً من المياه المتجددة</a:t>
            </a:r>
            <a:endParaRPr lang="en-US" sz="1250" dirty="0"/>
          </a:p>
        </p:txBody>
      </p:sp>
      <p:sp>
        <p:nvSpPr>
          <p:cNvPr id="10" name="Shape 8"/>
          <p:cNvSpPr/>
          <p:nvPr/>
        </p:nvSpPr>
        <p:spPr>
          <a:xfrm>
            <a:off x="6233008" y="1874520"/>
            <a:ext cx="2545004" cy="2514600"/>
          </a:xfrm>
          <a:prstGeom prst="roundRect">
            <a:avLst>
              <a:gd name="adj" fmla="val 3636"/>
            </a:avLst>
          </a:prstGeom>
          <a:solidFill>
            <a:srgbClr val="F2F1E8"/>
          </a:solidFill>
          <a:ln w="9525">
            <a:solidFill>
              <a:srgbClr val="E0DFD0"/>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100 ألف</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هكتار مروي، معظمها بالري بالتنقيط</a:t>
            </a:r>
            <a:endParaRPr lang="en-US" sz="1250" dirty="0"/>
          </a:p>
        </p:txBody>
      </p:sp>
      <p:sp>
        <p:nvSpPr>
          <p:cNvPr id="13" name="Shape 11"/>
          <p:cNvSpPr/>
          <p:nvPr/>
        </p:nvSpPr>
        <p:spPr>
          <a:xfrm>
            <a:off x="9052331" y="1874520"/>
            <a:ext cx="2545004" cy="2514600"/>
          </a:xfrm>
          <a:prstGeom prst="roundRect">
            <a:avLst>
              <a:gd name="adj" fmla="val 3636"/>
            </a:avLst>
          </a:prstGeom>
          <a:solidFill>
            <a:srgbClr val="F2F1E8"/>
          </a:solidFill>
          <a:ln w="9525">
            <a:solidFill>
              <a:srgbClr val="E0DFD0"/>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52 %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المياه المسحوبة تذهب إلى الري الزراعي</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rtl="1" algn="r" indent="0" marL="0">
              <a:lnSpc>
                <a:spcPct val="130000"/>
              </a:lnSpc>
              <a:buNone/>
            </a:pPr>
            <a:r>
              <a:rPr lang="en-US" sz="1350" dirty="0">
                <a:solidFill>
                  <a:srgbClr val="364239"/>
                </a:solidFill>
                <a:latin typeface="Arial" pitchFamily="34" charset="0"/>
                <a:ea typeface="Arial" pitchFamily="34" charset="-122"/>
                <a:cs typeface="Arial" pitchFamily="34" charset="-120"/>
              </a:rPr>
              <a:t>تجمع الزراعة الأردنية بين قطاع تصديري مكثّف في الأغوار يعمل بالتنقيط وبحصص مائية مقننة، وزراعة بعلية في المرتفعات يتبع مردودها مطر الموسم مباشرة. هذا الارتهان للماء هو ما يجعل المملكة سوقاً ذات أولوية لتقنياتنا.</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القيد الأساسي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ندرة مائية هيكلية، لا أزمة موسمية</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rtl="1" algn="r" indent="0" marL="0">
              <a:buNone/>
            </a:pPr>
            <a:r>
              <a:rPr lang="en-US" sz="1000" dirty="0">
                <a:solidFill>
                  <a:srgbClr val="6F7D71"/>
                </a:solidFill>
                <a:latin typeface="Arial" pitchFamily="34" charset="0"/>
                <a:ea typeface="Arial" pitchFamily="34" charset="-122"/>
                <a:cs typeface="Arial" pitchFamily="34" charset="-120"/>
              </a:rPr>
              <a:t>أراضٍ مروية في وادي الأردن</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نصيب الفرد من المياه المتجددة أقل من 100 م³ سنوياً، أي دون خُمس عتبة الندرة المائية المطلقة المعتمدة دولياً والبالغة 500 م³.</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الطلب السنوي على المياه يتجاوز الموارد المتجددة بفارق واضح؛ الفجوة تُسدّ من الضخ الجوفي ومن خزانات أحفورية غير متجددة كخزان الديسي.</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معظم مساحة المملكة تتلقى أقل من 200 مم من الأمطار سنوياً، وتنزل إلى نحو 50 مم في البادية الشرقية مقابل 400 إلى 600 مم في مرتفعات عجلون وإربد.</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أحواض المياه الجوفية، وفي مقدمتها حوض الأزرق، تُستنزف بمعدل يقارب ضعف حدها الآمن، مع هبوط مستمر في مناسيب الآبار وارتفاع في ملوحتها.</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الاستجابة الرسمية — ناقل مياه العقبة وإعادة استخدام أكثر من 90 % من مياه الصرف المعالجة في الري — تعالج جانب العرض. الاحتفاظ بالماء في التربة يعمل على جانب الطلب، داخل الحقل نفسه.</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الجفاف والإجهاد المائي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الضغط يتزايد، لكن المخاطر تبقى محلية</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مؤشران مختلفان</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عالمياً، ارتفع عدد فترات الجفاف ومدتها بنسبة 29٪ منذ عام 2000 مقارنة بالعقدين السابقين.</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أما الإجهاد المائي فيقيس نسبة السحب إلى الموارد المتجددة المتاحة بعد الاحتياجات البيئية. لذلك لا تمثل هذه الإشارة العالمية توقعاً خاصاً بالدولة، بل يجب قراءتها مع الأمطار والمياه الجوفية والمواسم والاستخدامات المحلية.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أين تذهب المياه</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الري يستحوذ على أكثر من نصف المسحوب</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ما الذي يعنيه ذلك</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خفض استهلاك الري بنسبة 10 % يوفّر حجماً أكبر مما يوفّره إلغاء الاستخدام الصناعي بالكامل.</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حصة مياه الشرب هنا مرتفعة بمقاييس المنطقة بفعل النمو السكاني، ما يجعل أي توسّع زراعي مرهوناً بترشيد ما هو قائم.</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الاقتصاد والأمن الغذائي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بلد يستورد حبوبه ويصدّر خضرواته</a:t>
            </a:r>
            <a:endParaRPr lang="en-US" sz="3000" dirty="0"/>
          </a:p>
        </p:txBody>
      </p:sp>
      <p:sp>
        <p:nvSpPr>
          <p:cNvPr id="4" name="Shape 2"/>
          <p:cNvSpPr/>
          <p:nvPr/>
        </p:nvSpPr>
        <p:spPr>
          <a:xfrm>
            <a:off x="594360" y="1874520"/>
            <a:ext cx="3484778" cy="2514600"/>
          </a:xfrm>
          <a:prstGeom prst="roundRect">
            <a:avLst>
              <a:gd name="adj" fmla="val 3636"/>
            </a:avLst>
          </a:prstGeom>
          <a:solidFill>
            <a:srgbClr val="F2F1E8"/>
          </a:solidFill>
          <a:ln w="9525">
            <a:solidFill>
              <a:srgbClr val="E0DFD0"/>
            </a:solidFill>
            <a:prstDash val="solid"/>
          </a:ln>
        </p:spPr>
      </p:sp>
      <p:sp>
        <p:nvSpPr>
          <p:cNvPr id="5" name="Text 3"/>
          <p:cNvSpPr txBox="1"/>
          <p:nvPr/>
        </p:nvSpPr>
        <p:spPr>
          <a:xfrm>
            <a:off x="777240" y="2148840"/>
            <a:ext cx="3119018"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&gt; 90 %</a:t>
            </a:r>
            <a:endParaRPr lang="en-US" sz="3800" dirty="0"/>
          </a:p>
        </p:txBody>
      </p:sp>
      <p:sp>
        <p:nvSpPr>
          <p:cNvPr id="6" name="Text 4"/>
          <p:cNvSpPr txBox="1"/>
          <p:nvPr/>
        </p:nvSpPr>
        <p:spPr>
          <a:xfrm>
            <a:off x="795528" y="3154680"/>
            <a:ext cx="3082442"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القمح والحبوب المستهلكة مستوردة</a:t>
            </a:r>
            <a:endParaRPr lang="en-US" sz="1250" dirty="0"/>
          </a:p>
        </p:txBody>
      </p:sp>
      <p:sp>
        <p:nvSpPr>
          <p:cNvPr id="7" name="Shape 5"/>
          <p:cNvSpPr/>
          <p:nvPr/>
        </p:nvSpPr>
        <p:spPr>
          <a:xfrm>
            <a:off x="4353458" y="1874520"/>
            <a:ext cx="3484778" cy="2514600"/>
          </a:xfrm>
          <a:prstGeom prst="roundRect">
            <a:avLst>
              <a:gd name="adj" fmla="val 3636"/>
            </a:avLst>
          </a:prstGeom>
          <a:solidFill>
            <a:srgbClr val="F2F1E8"/>
          </a:solidFill>
          <a:ln w="9525">
            <a:solidFill>
              <a:srgbClr val="E0DFD0"/>
            </a:solidFill>
            <a:prstDash val="solid"/>
          </a:ln>
        </p:spPr>
      </p:sp>
      <p:sp>
        <p:nvSpPr>
          <p:cNvPr id="8" name="Text 6"/>
          <p:cNvSpPr txBox="1"/>
          <p:nvPr/>
        </p:nvSpPr>
        <p:spPr>
          <a:xfrm>
            <a:off x="4536338" y="2148840"/>
            <a:ext cx="3119018" cy="960120"/>
          </a:xfrm>
          <a:prstGeom prst="rect">
            <a:avLst/>
          </a:prstGeom>
          <a:noFill/>
          <a:ln/>
        </p:spPr>
        <p:txBody>
          <a:bodyPr wrap="square" lIns="0" tIns="0" rIns="0" bIns="0" rtlCol="0" anchor="ctr"/>
          <a:lstStyle/>
          <a:p>
            <a:pPr rtl="1" algn="ctr" indent="0" marL="0">
              <a:buNone/>
            </a:pPr>
            <a:r>
              <a:rPr lang="en-US" sz="3000" b="1" dirty="0">
                <a:solidFill>
                  <a:srgbClr val="2C6E49"/>
                </a:solidFill>
                <a:latin typeface="Arial" pitchFamily="34" charset="0"/>
                <a:ea typeface="Arial" pitchFamily="34" charset="-122"/>
                <a:cs typeface="Arial" pitchFamily="34" charset="-120"/>
              </a:rPr>
              <a:t>≈ 17 مليون</a:t>
            </a:r>
            <a:endParaRPr lang="en-US" sz="3000" dirty="0"/>
          </a:p>
        </p:txBody>
      </p:sp>
      <p:sp>
        <p:nvSpPr>
          <p:cNvPr id="9" name="Text 7"/>
          <p:cNvSpPr txBox="1"/>
          <p:nvPr/>
        </p:nvSpPr>
        <p:spPr>
          <a:xfrm>
            <a:off x="4554626" y="3154680"/>
            <a:ext cx="3082442"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شجرة زيتون، أهم شجرة مثمرة في المملكة</a:t>
            </a:r>
            <a:endParaRPr lang="en-US" sz="1250" dirty="0"/>
          </a:p>
        </p:txBody>
      </p:sp>
      <p:sp>
        <p:nvSpPr>
          <p:cNvPr id="10" name="Shape 8"/>
          <p:cNvSpPr/>
          <p:nvPr/>
        </p:nvSpPr>
        <p:spPr>
          <a:xfrm>
            <a:off x="8112557" y="1874520"/>
            <a:ext cx="3484778" cy="2514600"/>
          </a:xfrm>
          <a:prstGeom prst="roundRect">
            <a:avLst>
              <a:gd name="adj" fmla="val 3636"/>
            </a:avLst>
          </a:prstGeom>
          <a:solidFill>
            <a:srgbClr val="F2F1E8"/>
          </a:solidFill>
          <a:ln w="9525">
            <a:solidFill>
              <a:srgbClr val="E0DFD0"/>
            </a:solidFill>
            <a:prstDash val="solid"/>
          </a:ln>
        </p:spPr>
      </p:sp>
      <p:sp>
        <p:nvSpPr>
          <p:cNvPr id="11" name="Text 9"/>
          <p:cNvSpPr txBox="1"/>
          <p:nvPr/>
        </p:nvSpPr>
        <p:spPr>
          <a:xfrm>
            <a:off x="8295437" y="2148840"/>
            <a:ext cx="3119018"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2 %</a:t>
            </a:r>
            <a:endParaRPr lang="en-US" sz="3800" dirty="0"/>
          </a:p>
        </p:txBody>
      </p:sp>
      <p:sp>
        <p:nvSpPr>
          <p:cNvPr id="12" name="Text 10"/>
          <p:cNvSpPr txBox="1"/>
          <p:nvPr/>
        </p:nvSpPr>
        <p:spPr>
          <a:xfrm>
            <a:off x="8313725" y="3154680"/>
            <a:ext cx="3082442"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مساحة المملكة أراضٍ صالحة للزراعة</a:t>
            </a:r>
            <a:endParaRPr lang="en-US" sz="1250" dirty="0"/>
          </a:p>
        </p:txBody>
      </p:sp>
      <p:sp>
        <p:nvSpPr>
          <p:cNvPr id="13" name="Text 11"/>
          <p:cNvSpPr txBox="1"/>
          <p:nvPr/>
        </p:nvSpPr>
        <p:spPr>
          <a:xfrm>
            <a:off x="594360" y="4709160"/>
            <a:ext cx="11002975" cy="1097280"/>
          </a:xfrm>
          <a:prstGeom prst="rect">
            <a:avLst/>
          </a:prstGeom>
          <a:noFill/>
          <a:ln/>
        </p:spPr>
        <p:txBody>
          <a:bodyPr wrap="square" lIns="0" tIns="0" rIns="0" bIns="0" rtlCol="0" anchor="t"/>
          <a:lstStyle/>
          <a:p>
            <a:pPr rtl="1" algn="r" indent="0" marL="0">
              <a:lnSpc>
                <a:spcPct val="130000"/>
              </a:lnSpc>
              <a:buNone/>
            </a:pPr>
            <a:r>
              <a:rPr lang="en-US" sz="1350" dirty="0">
                <a:solidFill>
                  <a:srgbClr val="364239"/>
                </a:solidFill>
                <a:latin typeface="Arial" pitchFamily="34" charset="0"/>
                <a:ea typeface="Arial" pitchFamily="34" charset="-122"/>
                <a:cs typeface="Arial" pitchFamily="34" charset="-120"/>
              </a:rPr>
              <a:t>تتركز صادرات الأردن الزراعية في الخضروات والفواكه المتجهة أساساً إلى أسواق الخليج، بينما يعتمد على الخارج في القمح والأعلاف. وتضع الاستراتيجية الوطنية للمياه إعادة استخدام المياه المعالجة وترشيد الري في قلب أي توسع زراعي.</a:t>
            </a:r>
            <a:endParaRPr lang="en-US" sz="1350" dirty="0"/>
          </a:p>
        </p:txBody>
      </p:sp>
      <p:sp>
        <p:nvSpPr>
          <p:cNvPr id="14" name="Text 12"/>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15" name="Text 13"/>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المحاصيل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خمسة محاصيل تشكّل عصب الإنتاج والتصدير</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قراءة</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الطماطم والخيار محصولان مرويان موجّهان أساساً إلى أسواق الخليج: فيهما يتحوّل توفير الماء مباشرة إلى هامش.</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 إنتاج الزيتون يتذبذب بين موسم وآخر بحكم المعاومة. أما تمور المجهول فحجمها أصغر (نحو 35 ألف طن) لكن قيمتها التصديرية للطن هي الأعلى.</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القطاع الأول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الزيتون: شجرة المرتفعات البعلية</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يغطي الزيتون الجزء الأكبر من المساحة المزروعة بالأشجار، في إربد وعجلون وجرش والبلقاء والمفرق.</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معظم البساتين بعلية: تتوقف غلة السنة على أمطار الشتاء، وتتراجع كثيراً في سنوات الجفاف.</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تذبذب الحمل بين سنة وأخرى يُضعف دخل المزارع ويصعّب تثبيت عقود بيع الزيت.</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الغراس الجديدة هي الأكثر عرضة للموت في صيفها الأول دون ري تكميلي.</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وضع EVERGREEN® في حفرة الغرس يحتفظ بمياه المطر حول الجذور لأسابيع إضافية.</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القطاع الثاني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خضروات وادي الأردن: إنتاج الشتاء للتصدير</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يسمح دفء وادي الأردن بإنتاج الطماطم والخيار والفلفل في الشتاء، حين تكون أسعار التصدير في أعلاها.</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يُروى الوادي من قناة الملك عبد الله بمزيج من مياه اليرموك والمياه المعالجة، وبحصص محدودة.</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ملوحة المياه والتربة في جنوب الوادي تخفض الإنتاج وتفرض غسل التربة بكميات ماء إضافية.</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الري بالتنقيط منتشر، لذلك يأتي أي توفير جديد من الاحتفاظ بالماء في التربة نفسها.</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‏NAPEMA® يعالج الآفات دون متبقيات، وهو شرط لقبول الشحنات في أسواق التصدير.</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إمكانات الإنتاج</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الزيادة المتوقعة في الإنتاج حسب المحصول</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تُقرأ بتحفّظ</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نطاقات يعتمدها حاسب الجرعات على موقعنا، لمحصول يُدار إدارة عادية مع وضع EVERGREEN® عند الزراعة.</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النتيجة الفعلية تتوقف على التربة والمناخ وأسلوب الإدارة. أما الحبوب فلا نعلن فيها أي زيادة دون تجربة ميدانية.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استجابتنا</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تقنيتان لقيدين مختلفين</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EVERGREEN® — الاحتفاظ بالماء</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مادة محتفظة بالماء أساسها البوتاسيوم، توضع في منطقة الجذور عند الزراعة أو عند التجديد.</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تلتقط ماء المطر أو الري وتعيده إلى النبات تدريجياً، فتزيل الإجهاد المائي في المراحل الحرجة.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قدرة امتصاص تبلغ نحو 300 ضعف وزنها، ومدة أثر مفيد من 3 إلى 4 سنوات في التربة.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تتحلل بنسبة 20 إلى 25 % سنوياً، دون تراكم ودون خطر جرعة زائدة.</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ECOFERT® — تغذية دون استنزاف</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مخصّب بجرعات دقيقة من الأحماض الأمينية والنيتروجين والفوسفور والبوتاسيوم، من موارد متجددة.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غير مخلبي: لا يفقر مركّب الطين والدبال، ولا يرفع ملوحة التربة ولا محتواها من النترات.</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حائز شهادتي SOHISCERT والعضوية الأوروبية — شرط للدخول إلى دفاتر شروط المشترين الأوروبيين.</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 1 إلى 4 عبوات سعة 140 مل للهكتار، متوافق مع تجهيزات الري بالتسميد القائمة.</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المنتجان يُباعان منفصلين لكنهما صُمّما ليعزز أحدهما الآخر: المادة المحتفظة بالماء تطيل توفّره في منطقة الجذور، والمخصّب يثمّن هذا الماء المتاح دون إرهاق التربة.</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بقية المنتجات</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حماية المحاصيل وتثبيت التربة</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NAPEMA® — حماية دون متبقيات</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مكافحة الأمراض والطفيليات والفطريات والآفات، دون أي جزيء كيميائي مُصنَّع.</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رشّ على الأوراق والجذور، بمفعول وقائي وعلاجي في آن واحد.</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لا متبقيات في التربة ولا في النبات ولا في الهواء، مع الحفاظ على الملقِّحات والحشرات النافعة.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تركيبة مصمَّمة لمشكلة محددة: البق الدقيقي، واخضرار الحمضيات (HLB)، والنيماتودا.</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Paulownia ALTIFOLIA® — شجرة المناطق الحارة</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 13 إلى 15 متراً خلال ست إلى ثماني سنوات، بجذع كبير القطر.</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مع 100 غرام من EVERGREEN® لكل شتلة، تنخفض حاجة الري بنسبة 50 %.</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تتحمّل من −25 إلى +45 درجة مئوية، ولا يشتعل خشبها قبل 426 درجة.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مصدّ للرياح، وحماية للتربة من التعرية، و400 إلى 700 كغ من العسل للهكتار.</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تُسلَّم الشتلات في أصص (25 إلى 30 سم)، معتمدة خالية من الأمراض، وتُستبدل بالضمان عند تلفها. أول قطع في نهاية السنة السادسة، ويُقدَّر الخشب بنحو 400 إلى 450 يورو للمتر المكعب.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أحجام تقديرية</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توفير المياه المتوقع حسب أسلوب الري</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تُقرأ بحذر</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هذه النطاقات تقديرية استرشادية، مبنية على المكاسب الموثقة لموادنا المحتفظة بالماء.</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النتيجة الفعلية تتوقف على التربة والمناخ والمحصول. الأرقام تعطي حجماً تقريبياً لا أكثر، وهي لا تشكّل بأي حال قيمة مضمونة أو تعاقدية أو مطلقة.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ثلاثة ميادين أولوية</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أين تُجرى التجارب الأولى</a:t>
            </a:r>
            <a:endParaRPr lang="en-US" sz="3000" dirty="0"/>
          </a:p>
        </p:txBody>
      </p:sp>
      <p:sp>
        <p:nvSpPr>
          <p:cNvPr id="4" name="Shape 2"/>
          <p:cNvSpPr/>
          <p:nvPr/>
        </p:nvSpPr>
        <p:spPr>
          <a:xfrm>
            <a:off x="594360" y="1783080"/>
            <a:ext cx="3472586" cy="4069080"/>
          </a:xfrm>
          <a:prstGeom prst="roundRect">
            <a:avLst>
              <a:gd name="adj" fmla="val 2633"/>
            </a:avLst>
          </a:prstGeom>
          <a:solidFill>
            <a:srgbClr val="F2F1E8"/>
          </a:solidFill>
          <a:ln w="9525">
            <a:solidFill>
              <a:srgbClr val="E0DFD0"/>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rtl="1" algn="r" indent="0" marL="0">
              <a:buNone/>
            </a:pPr>
            <a:r>
              <a:rPr lang="en-US" sz="1500" b="1" dirty="0">
                <a:solidFill>
                  <a:srgbClr val="2C6E49"/>
                </a:solidFill>
                <a:latin typeface="Arial" pitchFamily="34" charset="0"/>
                <a:ea typeface="Arial" pitchFamily="34" charset="-122"/>
                <a:cs typeface="Arial" pitchFamily="34" charset="-120"/>
              </a:rPr>
              <a:t>وادي الأردن — الأغوار</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rtl="1" algn="r" indent="0" marL="0">
              <a:buNone/>
            </a:pPr>
            <a:r>
              <a:rPr lang="en-US" sz="1250" b="1" dirty="0">
                <a:solidFill>
                  <a:srgbClr val="9C6C12"/>
                </a:solidFill>
                <a:latin typeface="Arial" pitchFamily="34" charset="0"/>
                <a:ea typeface="Arial" pitchFamily="34" charset="-122"/>
                <a:cs typeface="Arial" pitchFamily="34" charset="-120"/>
              </a:rPr>
              <a:t>≈ 35 ألف هكتار مروية</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قلب الإنتاج التصديري الشتوي: خضار محمية ومكشوفة موجّهة إلى أسواق الخليج، معظمها مروي بالتنقيط.</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الزراعة دون مستوى سطح البحر بنحو 200 إلى 400 م، مع تبخّر مرتفع طوال الموسم.</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حصص مائية مقننة عبر قناة الملك عبدالله، وجزء متزايد منها مياه صرف معالجة.</a:t>
            </a:r>
            <a:endParaRPr lang="en-US" sz="1150" dirty="0"/>
          </a:p>
        </p:txBody>
      </p:sp>
      <p:sp>
        <p:nvSpPr>
          <p:cNvPr id="9" name="Shape 6"/>
          <p:cNvSpPr/>
          <p:nvPr/>
        </p:nvSpPr>
        <p:spPr>
          <a:xfrm>
            <a:off x="4359554" y="1783080"/>
            <a:ext cx="3472586" cy="4069080"/>
          </a:xfrm>
          <a:prstGeom prst="roundRect">
            <a:avLst>
              <a:gd name="adj" fmla="val 2633"/>
            </a:avLst>
          </a:prstGeom>
          <a:solidFill>
            <a:srgbClr val="F2F1E8"/>
          </a:solidFill>
          <a:ln w="9525">
            <a:solidFill>
              <a:srgbClr val="E0DFD0"/>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rtl="1" algn="r" indent="0" marL="0">
              <a:buNone/>
            </a:pPr>
            <a:r>
              <a:rPr lang="en-US" sz="1500" b="1" dirty="0">
                <a:solidFill>
                  <a:srgbClr val="2C6E49"/>
                </a:solidFill>
                <a:latin typeface="Arial" pitchFamily="34" charset="0"/>
                <a:ea typeface="Arial" pitchFamily="34" charset="-122"/>
                <a:cs typeface="Arial" pitchFamily="34" charset="-120"/>
              </a:rPr>
              <a:t>المرتفعات الشمالية</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rtl="1" algn="r" indent="0" marL="0">
              <a:buNone/>
            </a:pPr>
            <a:r>
              <a:rPr lang="en-US" sz="1250" b="1" dirty="0">
                <a:solidFill>
                  <a:srgbClr val="9C6C12"/>
                </a:solidFill>
                <a:latin typeface="Arial" pitchFamily="34" charset="0"/>
                <a:ea typeface="Arial" pitchFamily="34" charset="-122"/>
                <a:cs typeface="Arial" pitchFamily="34" charset="-120"/>
              </a:rPr>
              <a:t>زيتون بعلي — إربد وعجلون وجرش</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نحو نصف مساحة الزيتون في المملكة، وهي زراعة بعلية يتحدد إنتاجها بمطر الموسم مباشرة.</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أمطار بين 400 و600 مم سنوياً، لكنها متركزة في أشهر قليلة ومتفاوتة بين سنة وأخرى.</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الاحتفاظ بالماء في منطقة الجذور يمدّ أثر المطر إلى ما بعد توقّفه: هذا هو الرهان هنا.</a:t>
            </a:r>
            <a:endParaRPr lang="en-US" sz="1150" dirty="0"/>
          </a:p>
        </p:txBody>
      </p:sp>
      <p:sp>
        <p:nvSpPr>
          <p:cNvPr id="14" name="Shape 10"/>
          <p:cNvSpPr/>
          <p:nvPr/>
        </p:nvSpPr>
        <p:spPr>
          <a:xfrm>
            <a:off x="8124749" y="1783080"/>
            <a:ext cx="3472586" cy="4069080"/>
          </a:xfrm>
          <a:prstGeom prst="roundRect">
            <a:avLst>
              <a:gd name="adj" fmla="val 2633"/>
            </a:avLst>
          </a:prstGeom>
          <a:solidFill>
            <a:srgbClr val="F2F1E8"/>
          </a:solidFill>
          <a:ln w="9525">
            <a:solidFill>
              <a:srgbClr val="E0DFD0"/>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rtl="1" algn="r" indent="0" marL="0">
              <a:buNone/>
            </a:pPr>
            <a:r>
              <a:rPr lang="en-US" sz="1500" b="1" dirty="0">
                <a:solidFill>
                  <a:srgbClr val="2C6E49"/>
                </a:solidFill>
                <a:latin typeface="Arial" pitchFamily="34" charset="0"/>
                <a:ea typeface="Arial" pitchFamily="34" charset="-122"/>
                <a:cs typeface="Arial" pitchFamily="34" charset="-120"/>
              </a:rPr>
              <a:t>المفرق وحوض الأزرق</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rtl="1" algn="r" indent="0" marL="0">
              <a:buNone/>
            </a:pPr>
            <a:r>
              <a:rPr lang="en-US" sz="1250" b="1" dirty="0">
                <a:solidFill>
                  <a:srgbClr val="9C6C12"/>
                </a:solidFill>
                <a:latin typeface="Arial" pitchFamily="34" charset="0"/>
                <a:ea typeface="Arial" pitchFamily="34" charset="-122"/>
                <a:cs typeface="Arial" pitchFamily="34" charset="-120"/>
              </a:rPr>
              <a:t>ضخ جوفي يقارب ضعف الحد الآمن</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مزارع مروية بالكامل من الآبار: خضار مكشوفة وأشجار مثمرة وزيتون مروي في مناخ شبه صحراوي.</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قيود متزايدة على تراخيص الآبار وعلى حصص الضخ، ما يجعل كل متر مكعب موفَّر ذا قيمة مباشرة.</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ملوحة مياه الآبار في ارتفاع، وهو ما يستوجب مادة بوتاسية لا صوديومية في منطقة الجذور.</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كيف نعمل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انتشار على مراحل، يُقاس عند كل مرحلة</a:t>
            </a:r>
            <a:endParaRPr lang="en-US" sz="3000" dirty="0"/>
          </a:p>
        </p:txBody>
      </p:sp>
      <p:sp>
        <p:nvSpPr>
          <p:cNvPr id="4" name="Shape 2"/>
          <p:cNvSpPr/>
          <p:nvPr/>
        </p:nvSpPr>
        <p:spPr>
          <a:xfrm>
            <a:off x="594360" y="1874520"/>
            <a:ext cx="2545004" cy="2834640"/>
          </a:xfrm>
          <a:prstGeom prst="roundRect">
            <a:avLst>
              <a:gd name="adj" fmla="val 3593"/>
            </a:avLst>
          </a:prstGeom>
          <a:solidFill>
            <a:srgbClr val="F2F1E8"/>
          </a:solidFill>
          <a:ln w="9525">
            <a:solidFill>
              <a:srgbClr val="E0DFD0"/>
            </a:solidFill>
            <a:prstDash val="solid"/>
          </a:ln>
        </p:spPr>
      </p:sp>
      <p:sp>
        <p:nvSpPr>
          <p:cNvPr id="5" name="Shape 3"/>
          <p:cNvSpPr/>
          <p:nvPr/>
        </p:nvSpPr>
        <p:spPr>
          <a:xfrm>
            <a:off x="822960" y="2103120"/>
            <a:ext cx="566928" cy="566928"/>
          </a:xfrm>
          <a:prstGeom prst="ellipse">
            <a:avLst/>
          </a:prstGeom>
          <a:solidFill>
            <a:srgbClr val="2C6E49"/>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التشخيص</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تحليل التربة وأسلوب الري والمحصول. لا التزام على الإطلاق في هذه المرحلة.</a:t>
            </a:r>
            <a:endParaRPr lang="en-US" sz="1200" dirty="0"/>
          </a:p>
        </p:txBody>
      </p:sp>
      <p:sp>
        <p:nvSpPr>
          <p:cNvPr id="9" name="Shape 7"/>
          <p:cNvSpPr/>
          <p:nvPr/>
        </p:nvSpPr>
        <p:spPr>
          <a:xfrm>
            <a:off x="3413684" y="1874520"/>
            <a:ext cx="2545004" cy="2834640"/>
          </a:xfrm>
          <a:prstGeom prst="roundRect">
            <a:avLst>
              <a:gd name="adj" fmla="val 3593"/>
            </a:avLst>
          </a:prstGeom>
          <a:solidFill>
            <a:srgbClr val="F2F1E8"/>
          </a:solidFill>
          <a:ln w="9525">
            <a:solidFill>
              <a:srgbClr val="E0DFD0"/>
            </a:solidFill>
            <a:prstDash val="solid"/>
          </a:ln>
        </p:spPr>
      </p:sp>
      <p:sp>
        <p:nvSpPr>
          <p:cNvPr id="10" name="Shape 8"/>
          <p:cNvSpPr/>
          <p:nvPr/>
        </p:nvSpPr>
        <p:spPr>
          <a:xfrm>
            <a:off x="3642284" y="2103120"/>
            <a:ext cx="566928" cy="566928"/>
          </a:xfrm>
          <a:prstGeom prst="ellipse">
            <a:avLst/>
          </a:prstGeom>
          <a:solidFill>
            <a:srgbClr val="2C6E49"/>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قطعة تجريبية</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تجربة مقارنة على قطعة واحدة، مع قطعة شاهدة تُدار بالطريقة نفسها.</a:t>
            </a:r>
            <a:endParaRPr lang="en-US" sz="1200" dirty="0"/>
          </a:p>
        </p:txBody>
      </p:sp>
      <p:sp>
        <p:nvSpPr>
          <p:cNvPr id="14" name="Shape 12"/>
          <p:cNvSpPr/>
          <p:nvPr/>
        </p:nvSpPr>
        <p:spPr>
          <a:xfrm>
            <a:off x="6233008" y="1874520"/>
            <a:ext cx="2545004" cy="2834640"/>
          </a:xfrm>
          <a:prstGeom prst="roundRect">
            <a:avLst>
              <a:gd name="adj" fmla="val 3593"/>
            </a:avLst>
          </a:prstGeom>
          <a:solidFill>
            <a:srgbClr val="F2F1E8"/>
          </a:solidFill>
          <a:ln w="9525">
            <a:solidFill>
              <a:srgbClr val="E0DFD0"/>
            </a:solidFill>
            <a:prstDash val="solid"/>
          </a:ln>
        </p:spPr>
      </p:sp>
      <p:sp>
        <p:nvSpPr>
          <p:cNvPr id="15" name="Shape 13"/>
          <p:cNvSpPr/>
          <p:nvPr/>
        </p:nvSpPr>
        <p:spPr>
          <a:xfrm>
            <a:off x="6461608" y="2103120"/>
            <a:ext cx="566928" cy="566928"/>
          </a:xfrm>
          <a:prstGeom prst="ellipse">
            <a:avLst/>
          </a:prstGeom>
          <a:solidFill>
            <a:srgbClr val="2C6E49"/>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القياس</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رصد الاستهلاك المائي والمردود على مدى دورة زراعية كاملة.</a:t>
            </a:r>
            <a:endParaRPr lang="en-US" sz="1200" dirty="0"/>
          </a:p>
        </p:txBody>
      </p:sp>
      <p:sp>
        <p:nvSpPr>
          <p:cNvPr id="19" name="Shape 17"/>
          <p:cNvSpPr/>
          <p:nvPr/>
        </p:nvSpPr>
        <p:spPr>
          <a:xfrm>
            <a:off x="9052331" y="1874520"/>
            <a:ext cx="2545004" cy="2834640"/>
          </a:xfrm>
          <a:prstGeom prst="roundRect">
            <a:avLst>
              <a:gd name="adj" fmla="val 3593"/>
            </a:avLst>
          </a:prstGeom>
          <a:solidFill>
            <a:srgbClr val="F2F1E8"/>
          </a:solidFill>
          <a:ln w="9525">
            <a:solidFill>
              <a:srgbClr val="E0DFD0"/>
            </a:solidFill>
            <a:prstDash val="solid"/>
          </a:ln>
        </p:spPr>
      </p:sp>
      <p:sp>
        <p:nvSpPr>
          <p:cNvPr id="20" name="Shape 18"/>
          <p:cNvSpPr/>
          <p:nvPr/>
        </p:nvSpPr>
        <p:spPr>
          <a:xfrm>
            <a:off x="9280931" y="2103120"/>
            <a:ext cx="566928" cy="566928"/>
          </a:xfrm>
          <a:prstGeom prst="ellipse">
            <a:avLst/>
          </a:prstGeom>
          <a:solidFill>
            <a:srgbClr val="2C6E49"/>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التوسيع</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تعميم تدريجي على بقية القطع استناداً إلى النتائج المسجّلة فعلياً.</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rtl="1" algn="r" indent="0" marL="0">
              <a:lnSpc>
                <a:spcPct val="125000"/>
              </a:lnSpc>
              <a:buNone/>
            </a:pPr>
            <a:r>
              <a:rPr lang="en-US" sz="1250" dirty="0">
                <a:solidFill>
                  <a:srgbClr val="6F7D71"/>
                </a:solidFill>
                <a:latin typeface="Arial" pitchFamily="34" charset="0"/>
                <a:ea typeface="Arial" pitchFamily="34" charset="-122"/>
                <a:cs typeface="Arial" pitchFamily="34" charset="-120"/>
              </a:rPr>
              <a:t>قاعدة الجرعة واحدة في كل مكان: 3 غرامات لكل لتر من التربة المستغلة. ما يتغيّر من أرض إلى أخرى هو حجم التربة الذي تستكشفه الجذور فعلياً.</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العمل معاً</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شريك محلي في الأردن</a:t>
            </a:r>
            <a:endParaRPr lang="en-US" sz="3000" dirty="0"/>
          </a:p>
        </p:txBody>
      </p:sp>
      <p:sp>
        <p:nvSpPr>
          <p:cNvPr id="4" name="Shape 2"/>
          <p:cNvSpPr/>
          <p:nvPr/>
        </p:nvSpPr>
        <p:spPr>
          <a:xfrm>
            <a:off x="594360" y="1874520"/>
            <a:ext cx="2545004" cy="2834640"/>
          </a:xfrm>
          <a:prstGeom prst="roundRect">
            <a:avLst>
              <a:gd name="adj" fmla="val 3593"/>
            </a:avLst>
          </a:prstGeom>
          <a:solidFill>
            <a:srgbClr val="F2F1E8"/>
          </a:solidFill>
          <a:ln w="9525">
            <a:solidFill>
              <a:srgbClr val="E0DFD0"/>
            </a:solidFill>
            <a:prstDash val="solid"/>
          </a:ln>
        </p:spPr>
      </p:sp>
      <p:sp>
        <p:nvSpPr>
          <p:cNvPr id="5" name="Shape 3"/>
          <p:cNvSpPr/>
          <p:nvPr/>
        </p:nvSpPr>
        <p:spPr>
          <a:xfrm>
            <a:off x="822960" y="2103120"/>
            <a:ext cx="566928" cy="566928"/>
          </a:xfrm>
          <a:prstGeom prst="ellipse">
            <a:avLst/>
          </a:prstGeom>
          <a:solidFill>
            <a:srgbClr val="2C6E49"/>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التوزيع</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حصرية على مستوى الإقليم ومخزون إطلاق للموسم التجاري الأول.</a:t>
            </a:r>
            <a:endParaRPr lang="en-US" sz="1200" dirty="0"/>
          </a:p>
        </p:txBody>
      </p:sp>
      <p:sp>
        <p:nvSpPr>
          <p:cNvPr id="9" name="Shape 7"/>
          <p:cNvSpPr/>
          <p:nvPr/>
        </p:nvSpPr>
        <p:spPr>
          <a:xfrm>
            <a:off x="3413684" y="1874520"/>
            <a:ext cx="2545004" cy="2834640"/>
          </a:xfrm>
          <a:prstGeom prst="roundRect">
            <a:avLst>
              <a:gd name="adj" fmla="val 3593"/>
            </a:avLst>
          </a:prstGeom>
          <a:solidFill>
            <a:srgbClr val="F2F1E8"/>
          </a:solidFill>
          <a:ln w="9525">
            <a:solidFill>
              <a:srgbClr val="E0DFD0"/>
            </a:solidFill>
            <a:prstDash val="solid"/>
          </a:ln>
        </p:spPr>
      </p:sp>
      <p:sp>
        <p:nvSpPr>
          <p:cNvPr id="10" name="Shape 8"/>
          <p:cNvSpPr/>
          <p:nvPr/>
        </p:nvSpPr>
        <p:spPr>
          <a:xfrm>
            <a:off x="3642284" y="2103120"/>
            <a:ext cx="566928" cy="566928"/>
          </a:xfrm>
          <a:prstGeom prst="ellipse">
            <a:avLst/>
          </a:prstGeom>
          <a:solidFill>
            <a:srgbClr val="2C6E49"/>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التدريب</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تدريب فني للفرق، وبروتوكولات الجرعات، وتحديثها في كل موسم.</a:t>
            </a:r>
            <a:endParaRPr lang="en-US" sz="1200" dirty="0"/>
          </a:p>
        </p:txBody>
      </p:sp>
      <p:sp>
        <p:nvSpPr>
          <p:cNvPr id="14" name="Shape 12"/>
          <p:cNvSpPr/>
          <p:nvPr/>
        </p:nvSpPr>
        <p:spPr>
          <a:xfrm>
            <a:off x="6233008" y="1874520"/>
            <a:ext cx="2545004" cy="2834640"/>
          </a:xfrm>
          <a:prstGeom prst="roundRect">
            <a:avLst>
              <a:gd name="adj" fmla="val 3593"/>
            </a:avLst>
          </a:prstGeom>
          <a:solidFill>
            <a:srgbClr val="F2F1E8"/>
          </a:solidFill>
          <a:ln w="9525">
            <a:solidFill>
              <a:srgbClr val="E0DFD0"/>
            </a:solidFill>
            <a:prstDash val="solid"/>
          </a:ln>
        </p:spPr>
      </p:sp>
      <p:sp>
        <p:nvSpPr>
          <p:cNvPr id="15" name="Shape 13"/>
          <p:cNvSpPr/>
          <p:nvPr/>
        </p:nvSpPr>
        <p:spPr>
          <a:xfrm>
            <a:off x="6461608" y="2103120"/>
            <a:ext cx="566928" cy="566928"/>
          </a:xfrm>
          <a:prstGeom prst="ellipse">
            <a:avLst/>
          </a:prstGeom>
          <a:solidFill>
            <a:srgbClr val="2C6E49"/>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تجارب مشتركة</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قطع إرشادية مع قطعة شاهد، ونتائج تُعرض على المزارعين.</a:t>
            </a:r>
            <a:endParaRPr lang="en-US" sz="1200" dirty="0"/>
          </a:p>
        </p:txBody>
      </p:sp>
      <p:sp>
        <p:nvSpPr>
          <p:cNvPr id="19" name="Shape 17"/>
          <p:cNvSpPr/>
          <p:nvPr/>
        </p:nvSpPr>
        <p:spPr>
          <a:xfrm>
            <a:off x="9052331" y="1874520"/>
            <a:ext cx="2545004" cy="2834640"/>
          </a:xfrm>
          <a:prstGeom prst="roundRect">
            <a:avLst>
              <a:gd name="adj" fmla="val 3593"/>
            </a:avLst>
          </a:prstGeom>
          <a:solidFill>
            <a:srgbClr val="F2F1E8"/>
          </a:solidFill>
          <a:ln w="9525">
            <a:solidFill>
              <a:srgbClr val="E0DFD0"/>
            </a:solidFill>
            <a:prstDash val="solid"/>
          </a:ln>
        </p:spPr>
      </p:sp>
      <p:sp>
        <p:nvSpPr>
          <p:cNvPr id="20" name="Shape 18"/>
          <p:cNvSpPr/>
          <p:nvPr/>
        </p:nvSpPr>
        <p:spPr>
          <a:xfrm>
            <a:off x="9280931" y="2103120"/>
            <a:ext cx="566928" cy="566928"/>
          </a:xfrm>
          <a:prstGeom prst="ellipse">
            <a:avLst/>
          </a:prstGeom>
          <a:solidFill>
            <a:srgbClr val="2C6E49"/>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المؤسسات</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حوار مع وزارة الزراعة وبرامج الأمن الغذائي.</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rtl="1" algn="r" indent="0" marL="0">
              <a:lnSpc>
                <a:spcPct val="125000"/>
              </a:lnSpc>
              <a:buNone/>
            </a:pPr>
            <a:r>
              <a:rPr lang="en-US" sz="1250" dirty="0">
                <a:solidFill>
                  <a:srgbClr val="6F7D71"/>
                </a:solidFill>
                <a:latin typeface="Arial" pitchFamily="34" charset="0"/>
                <a:ea typeface="Arial" pitchFamily="34" charset="-122"/>
                <a:cs typeface="Arial" pitchFamily="34" charset="-120"/>
              </a:rPr>
              <a:t>يتكيف الإطار مع الإقليم: يمكن أن يقود الشراكة مستورد أو موزّع مدخلات زراعية أو جمعية منتجين.</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ما ينبغي توقّعه</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مخاطر محددة وردود عليها</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المخاطر</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تفاوت الأمطار بين سنة وأخرى: موسم رطب قد يحجب فائدة المنتج في المرتفعات البعلية.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تجزّؤ الحيازات وصغر مساحاتها، ما يشتّت قرار الشراء على عدد كبير من المزارعين.</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منافسة مواد رخيصة أساسها الصوديوم تركت انطباعاً سيئاً لدى المزارعين.</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ضغط على السيولة لدى الحيازات بعد مواسم متتالية من ارتفاع كلفة المياه والمدخلات.</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الردود</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إجراء التجربة على دورة كاملة مع قطعة شاهدة، لتوثيق المكسب حتى في سنة مواتية.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المرور عبر الجمعيات التعاونية واتحادات المزارعين بدل التعامل الفردي.</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توثيق فارق التركيبة: بوتاسيوم لا صوديوم، وملاءمة للمحاصيل الغذائية وللتربة المالحة.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توزيع الالتزام على الزمن: أثر يدوم 3 إلى 4 سنوات يوزّع الكلفة على عدة مواسم.</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تحليل الأكريلاميد (مختبر Polymex، ISO 9001، بتركيز أقل من 3,0 ميكروغرام/غرام) وفحص REACH / SVHC (SGS) وشهادة SOHISCERT السارية حتى 4 سبتمبر 2027: متاحة جميعها عند الطلب.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المصادر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المصادر وافتراضات العمل</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المصادر الرئيسية</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دائرة الإحصاءات العامة: الناتج المحلي الإجمالي والمسوح الزراعية.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وزارة الزراعة: الاستراتيجية الوطنية للتنمية الزراعية وإحصاءات الزيتون.</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وزارة المياه والري وسلطة وادي الأردن: الاستراتيجية الوطنية للمياه وحصص الري.</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منظمة الأغذية والزراعة (FAOSTAT وAQUASTAT) والبنك الدولي (WDI).</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اتفاقية الأمم المتحدة لمكافحة التصحر، الجفاف بالأرقام 2022: ارتفاع عدد فترات الجفاف ومدتها 29٪ منذ 2000 مقارنة بـ1980–1999.</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الأمم المتحدة للمياه / أكواستات الفاو، مؤشر الهدف 6.4.2: تعريف الإجهاد المائي وحدوده.</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افتراضات العمل</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الأرقام رتب حجم مقرّبة، مأخوذة من أحدث البيانات العامة المتاحة.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توفير الماء وزيادة الإنتاج أرقام استرشادية تتغير بحسب التربة والمناخ والمحصول.</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وثيقة عمل تجارية: تُحدَّث الأرقام قبل أي تقديم رسمي.</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تقارير التجارب والشهادات (SOHISCERT، وتحاليل Polymex وSGS) والنشرات الفنية متاحة عند الطلب.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حدّثونا عن قطعتكم</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rtl="1" algn="r" indent="0" marL="0">
              <a:lnSpc>
                <a:spcPct val="130000"/>
              </a:lnSpc>
              <a:buNone/>
            </a:pPr>
            <a:r>
              <a:rPr lang="en-US" sz="1500" dirty="0">
                <a:solidFill>
                  <a:srgbClr val="FFFFFF">
                    <a:alpha val="88000"/>
                  </a:srgbClr>
                </a:solidFill>
                <a:latin typeface="Arial" pitchFamily="34" charset="0"/>
                <a:ea typeface="Arial" pitchFamily="34" charset="-122"/>
                <a:cs typeface="Arial" pitchFamily="34" charset="-120"/>
              </a:rPr>
              <a:t>المحصول، وأسلوب الري، وطبيعة التربة، وحجم المياه المستهلك اليوم. نعود إليكم بتركيبة التقنيات المناسبة، والجرعات، والتجارب التي أُجريت في أوضاع مشابهة.</a:t>
            </a:r>
            <a:endParaRPr lang="en-US" sz="1500" dirty="0"/>
          </a:p>
          <a:p>
            <a:pPr rtl="1" algn="r" indent="0" marL="0">
              <a:lnSpc>
                <a:spcPct val="130000"/>
              </a:lnSpc>
              <a:buNone/>
            </a:pPr>
            <a:endParaRPr lang="en-US" sz="1500" dirty="0"/>
          </a:p>
          <a:p>
            <a:pPr rtl="1" algn="r" indent="0" marL="0">
              <a:lnSpc>
                <a:spcPct val="130000"/>
              </a:lnSpc>
              <a:buNone/>
            </a:pPr>
            <a:r>
              <a:rPr lang="en-US" sz="1500" dirty="0">
                <a:solidFill>
                  <a:srgbClr val="FFFFFF">
                    <a:alpha val="88000"/>
                  </a:srgbClr>
                </a:solidFill>
                <a:latin typeface="Arial" pitchFamily="34" charset="0"/>
                <a:ea typeface="Arial" pitchFamily="34" charset="-122"/>
                <a:cs typeface="Arial" pitchFamily="34" charset="-120"/>
              </a:rPr>
              <a:t>التواصل الأول لا يرتّب أي التزام.</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rtl="1" algn="r" indent="0" marL="0">
              <a:buNone/>
            </a:pPr>
            <a:r>
              <a:rPr lang="en-US" sz="1400" b="1" dirty="0">
                <a:solidFill>
                  <a:srgbClr val="D9A441"/>
                </a:solidFill>
                <a:latin typeface="Arial" pitchFamily="34" charset="0"/>
                <a:ea typeface="Arial" pitchFamily="34" charset="-122"/>
                <a:cs typeface="Arial" pitchFamily="34" charset="-120"/>
              </a:rPr>
              <a:t>contact@green-solutions-group.com · Green Solutions Groupe AIM SA, 46, route de la Condémine, 1475 Forel, Switzerland</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502920"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FFFFFF">
                    <a:alpha val="55000"/>
                  </a:srgbClr>
                </a:solidFill>
                <a:latin typeface="Arial" pitchFamily="34" charset="0"/>
                <a:ea typeface="Arial" pitchFamily="34" charset="-122"/>
                <a:cs typeface="Arial" pitchFamily="34" charset="-120"/>
              </a:rPr>
              <a:t>Green Solutions · ملف السوق الزراعية الأردنية</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FFFFFF">
                    <a:alpha val="55000"/>
                  </a:srgbClr>
                </a:solidFill>
                <a:latin typeface="Arial" pitchFamily="34" charset="0"/>
                <a:ea typeface="Arial" pitchFamily="34" charset="-122"/>
                <a:cs typeface="Arial"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2026-10-07T08:26:00Z</dcterms:created>
  <dcterms:modified xsi:type="dcterms:W3CDTF">2026-10-07T08:26:00Z</dcterms:modified>
</cp:coreProperties>
</file>