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6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6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6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مؤشر عالمي لعدد فترات الجفاف ومدتها</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cat>
            <c:multiLvlStrRef>
              <c:f>Sheet1!$A$2:$A$3</c:f>
              <c:multiLvlStrCache>
                <c:ptCount val="2"/>
                <c:lvl>
                  <c:pt idx="0">
                    <c:v>1980–1999</c:v>
                  </c:pt>
                  <c:pt idx="1">
                    <c:v>منذ 2000</c:v>
                  </c:pt>
                </c:lvl>
              </c:multiLvlStrCache>
            </c:multiLvlStrRef>
          </c:cat>
          <c:val>
            <c:numRef>
              <c:f>Sheet1!$B$2:$B$3</c:f>
              <c:numCache>
                <c:formatCode>General</c:formatCode>
                <c:ptCount val="2"/>
                <c:pt idx="0">
                  <c:v>100</c:v>
                </c:pt>
                <c:pt idx="1">
                  <c:v>129</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7.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8.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workspace/scratch/50eb4f7d8e13/green-solutions-web/scripts/dossiers/drapeaux/jordanie.png">    </p:cNvPr>
          <p:cNvPicPr>
            <a:picLocks noChangeAspect="1"/>
          </p:cNvPicPr>
          <p:nvPr/>
        </p:nvPicPr>
        <p:blipFill>
          <a:blip r:embed="rId3"/>
          <a:stretch>
            <a:fillRect/>
          </a:stretch>
        </p:blipFill>
        <p:spPr>
          <a:xfrm>
            <a:off x="6577279" y="1553718"/>
            <a:ext cx="1965960" cy="982980"/>
          </a:xfrm>
          <a:prstGeom prst="rect">
            <a:avLst/>
          </a:prstGeom>
        </p:spPr>
      </p:pic>
      <p:sp>
        <p:nvSpPr>
          <p:cNvPr id="7" name="Shape 2"/>
          <p:cNvSpPr/>
          <p:nvPr/>
        </p:nvSpPr>
        <p:spPr>
          <a:xfrm>
            <a:off x="6577279" y="1553718"/>
            <a:ext cx="1965960" cy="98298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الأردنية الهاشمية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عمّان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خضار الأغوار وزيتون المرتفعات تحت ندرة مائية هيكلية.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الجفاف والإجهاد المائي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الضغط يتزايد، لكن المخاطر تبقى محلية</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مؤشران مختلفان</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عالمياً، ارتفع عدد فترات الجفاف ومدتها بنسبة 29٪ منذ عام 2000 مقارنة بالعقدين السابقين.</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أما الإجهاد المائي فيقيس نسبة السحب إلى الموارد المتجددة المتاحة بعد الاحتياجات البيئية. لذلك لا تمثل هذه الإشارة العالمية توقعاً خاصاً بالدولة، بل يجب قراءتها مع الأمطار والمياه الجوفية والمواسم والاستخدامات المحلية.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يستورد حبوبه ويصدّر خضرواته</a:t>
            </a:r>
            <a:endParaRPr lang="en-US" sz="3000" dirty="0"/>
          </a:p>
        </p:txBody>
      </p:sp>
      <p:sp>
        <p:nvSpPr>
          <p:cNvPr id="4" name="Shape 2"/>
          <p:cNvSpPr/>
          <p:nvPr/>
        </p:nvSpPr>
        <p:spPr>
          <a:xfrm>
            <a:off x="594360" y="1874520"/>
            <a:ext cx="3484778"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القمح والحبوب المستهلكة مستوردة</a:t>
            </a:r>
            <a:endParaRPr lang="en-US" sz="1250" dirty="0"/>
          </a:p>
        </p:txBody>
      </p:sp>
      <p:sp>
        <p:nvSpPr>
          <p:cNvPr id="7" name="Shape 5"/>
          <p:cNvSpPr/>
          <p:nvPr/>
        </p:nvSpPr>
        <p:spPr>
          <a:xfrm>
            <a:off x="4353458" y="1874520"/>
            <a:ext cx="3484778"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17 مليون</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شجرة زيتون، أهم شجرة مثمرة في المملكة</a:t>
            </a:r>
            <a:endParaRPr lang="en-US" sz="1250" dirty="0"/>
          </a:p>
        </p:txBody>
      </p:sp>
      <p:sp>
        <p:nvSpPr>
          <p:cNvPr id="10" name="Shape 8"/>
          <p:cNvSpPr/>
          <p:nvPr/>
        </p:nvSpPr>
        <p:spPr>
          <a:xfrm>
            <a:off x="8112557" y="1874520"/>
            <a:ext cx="3484778"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2 %</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مساحة المملكة أراضٍ صالحة للزراعة</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تتركز صادرات الأردن الزراعية في الخضروات والفواكه المتجهة أساساً إلى أسواق الخليج، بينما يعتمد على الخارج في القمح والأعلاف. وتضع الاستراتيجية الوطنية للمياه إعادة استخدام المياه المعالجة وترشيد الري في قلب أي توسع زراعي.</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الزيتون: شجرة المرتفعات البعلية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يغطي الزيتون الجزء الأكبر من المساحة المزروعة بالأشجار، في إربد وعجلون وجرش والبلقاء والمفرق.</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البساتين بعلية: تتوقف غلة السنة على أمطار الشتاء، وتتراجع كثيراً في سنوات الجفاف.</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تذبذب الحمل بين سنة وأخرى يُضعف دخل المزارع ويصعّب تثبيت عقود بيع الزيت.</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الغراس الجديدة هي الأكثر عرضة للموت في صيفها الأول دون ري تكميلي.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EVERGREEN® في حفرة الغرس يحتفظ بمياه المطر حول الجذور لأسابيع إضافية.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خضروات وادي الأردن: إنتاج الشتاء للتصدير</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يسمح دفء وادي الأردن بإنتاج الطماطم والخيار والفلفل في الشتاء، حين تكون أسعار التصدير في أعلاها.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يُروى الوادي من قناة الملك عبد الله بمزيج من مياه اليرموك والمياه المعالجة، وبحصص محدودة.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المياه والتربة في جنوب الوادي تخفض الإنتاج وتفرض غسل التربة بكميات ماء إضافية.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الري بالتنقيط منتشر، لذلك يأتي أي توفير جديد من الاحتفاظ بالماء في التربة نفسها.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لقبول الشحنات في أسواق 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الأردن</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دائرة الإحصاءات العامة: الناتج المحلي الإجمالي والمسوح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الزراعة: الاستراتيجية الوطنية للتنمية الزراعية وإحصاءات الزيتون.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المياه والري وسلطة وادي الأردن: الاستراتيجية الوطنية للمياه وحصص الري.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اتفاقية الأمم المتحدة لمكافحة التصحر، الجفاف بالأرقام 2022: ارتفاع عدد فترات الجفاف ومدتها 29٪ منذ 2000 مقارنة بـ1980–1999.</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الأمم المتحدة للمياه / أكواستات الفاو، مؤشر الهدف 6.4.2: تعريف الإجهاد المائي وحدوده.</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2026-09-20T00:14:00Z</dcterms:created>
  <dcterms:modified xsi:type="dcterms:W3CDTF">2026-09-20T00:14:00Z</dcterms:modified>
</cp:coreProperties>
</file>