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3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المسحوبات المائية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52</c:v>
                </c:pt>
                <c:pt idx="1">
                  <c:v>43</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(ألف طن)</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dPt>
            <c:idx val="4"/>
            <c:invertIfNegative val="0"/>
            <c:bubble3D val="0"/>
            <c:spPr>
              <a:solidFill>
                <a:srgbClr val="4F8663"/>
              </a:solidFill>
              <a:effectLst/>
            </c:spPr>
          </c:dPt>
          <c:cat>
            <c:multiLvlStrRef>
              <c:f>Sheet1!$A$2:$A$6</c:f>
              <c:multiLvlStrCache>
                <c:ptCount val="5"/>
                <c:lvl>
                  <c:pt idx="0">
                    <c:v>طماطم</c:v>
                  </c:pt>
                  <c:pt idx="1">
                    <c:v>بطاطا</c:v>
                  </c:pt>
                  <c:pt idx="2">
                    <c:v>زيتون*</c:v>
                  </c:pt>
                  <c:pt idx="3">
                    <c:v>خيار</c:v>
                  </c:pt>
                  <c:pt idx="4">
                    <c:v>حمضيات</c:v>
                  </c:pt>
                </c:lvl>
              </c:multiLvlStrCache>
            </c:multiLvlStrRef>
          </c:cat>
          <c:val>
            <c:numRef>
              <c:f>Sheet1!$B$2:$B$6</c:f>
              <c:numCache>
                <c:formatCode>General</c:formatCode>
                <c:ptCount val="5"/>
                <c:pt idx="0">
                  <c:v>750</c:v>
                </c:pt>
                <c:pt idx="1">
                  <c:v>180</c:v>
                </c:pt>
                <c:pt idx="2">
                  <c:v>150</c:v>
                </c:pt>
                <c:pt idx="3">
                  <c:v>130</c:v>
                </c:pt>
                <c:pt idx="4">
                  <c:v>100</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للنطاق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للنطاق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reen-solutions-web\scripts\dossiers\drapeaux\jordani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الأردنية الهاشمية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عمّان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خضار الأغوار وزيتون المرتفعات تحت ندرة مائية هيكلية.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الاحتفاظ بالماء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زراعي مصدّر يعمل تحت ندرة مائية قصوى</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م³</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نصيب الفرد سنوياً من المياه المتجددة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100 ألف</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هكتار مروي، معظمها بالري بالتنقيط</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52 %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تذهب إلى الري الزراعي</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تجمع الزراعة الأردنية بين قطاع تصديري مكثّف في الأغوار يعمل بالتنقيط وبحصص مائية مقننة، وزراعة بعلية في المرتفعات يتبع مردودها مطر الموسم مباشرة. هذا الارتهان للماء هو ما يجعل المملكة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ندرة مائية هيكلية، لا أزمة موسمية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i="1" dirty="0">
                <a:solidFill>
                  <a:srgbClr val="6F7D71"/>
                </a:solidFill>
                <a:latin typeface="Arial" pitchFamily="34" charset="0"/>
                <a:ea typeface="Arial" pitchFamily="34" charset="-122"/>
                <a:cs typeface="Arial" pitchFamily="34" charset="-120"/>
              </a:rPr>
              <a:t>أراضٍ مروية في وادي الأردن</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نصيب الفرد من المياه المتجددة أقل من 100 م³ سنوياً، أي دون خُمس عتبة الندرة المائية المطلقة المعتمدة دولياً والبالغة 500 م³.</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الطلب السنوي على المياه يتجاوز الموارد المتجددة بفارق واضح؛ الفجوة تُسدّ من الضخ الجوفي ومن خزانات أحفورية غير متجددة كخزان الديسي.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مساحة المملكة تتلقى أقل من 200 مم من الأمطار سنوياً، وتنزل إلى نحو 50 مم في البادية الشرقية مقابل 400 إلى 600 مم في مرتفعات عجلون وإربد.</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أحواض المياه الجوفية، وفي مقدمتها حوض الأزرق، تُستنزف بمعدل يقارب ضعف حدها الآمن، مع هبوط مستمر في مناسيب الآبار وارتفاع في ملوحتها.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الاستجابة الرسمية — ناقل مياه العقبة وإعادة استخدام أكثر من 90 % من مياه الصرف المعالجة في الري — تعالج جانب العرض. الاحتفاظ بالماء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يستحوذ على أكثر من نصف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الذي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استهلاك الري بنسبة 10 % يوفّر حجماً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حصة مياه الشرب هنا مرتفعة بمقاييس المنطقة بفعل النمو السكاني، ما يجعل أي توسّع زراعي مرهوناً بترشيد ما هو قائم.</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المحاصيل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خمسة محاصيل تشكّل عصب الإنتاج والتصدير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الطماطم والخيار محصولان مرويان موجّهان أساساً إلى أسواق الخليج: فيهما يتحوّل توفير الماء مباشرة إلى هامش.</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إنتاج الزيتون يتذبذب بين موسم وآخر بحكم المعاومة. أما تمور المجهول فحجمها أصغر (نحو 35 ألف طن) لكن قيمتها التصديرية للطن هي الأعلى.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محتفظة بالماء أساسها البوتاسيوم، توضع في منطقة الجذور عند الزراعة أو عند التجديد.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المطر أو الري وتعيده إلى النبات تدريجياً، فتزيل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ومدة أثر مفيد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استنزاف</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مخصّب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مخلبي: لا يفقر مركّب الطين والدبال، ولا يرفع ملوحة التربة ولا محتواها من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حائز شهادتي SOHISCERT والعضوية الأوروبية — شرط للدخول إلى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 إلى 4 عبوات سعة 140 مل للهكتار، متوافق مع تجهيزات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المنتجان يُباعان منفصلين لكنهما صُمّما ليعزز أحدهما الآخر: المادة المحتفظة بالماء تطيل توفّره في منطقة الجذور، والمخصّب يثمّن هذا الماء المتاح دون إرهاق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أحجام تقديرية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المياه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بحذر</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استرشادية، مبنية على المكاسب الموثقة لموادنا المحتفظة بالماء.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والمحصول. الأرقام تعطي حجماً تقريبياً لا أكثر، وهي 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تُجرى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وادي الأردن — الأغوار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35 ألف هكتار مروية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الإنتاج التصديري الشتوي: خضار محمية ومكشوفة موجّهة إلى أسواق الخليج، معظمها مروي بالتنقيط.</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الزراعة دون مستوى سطح البحر بنحو 200 إلى 400 م، مع تبخّر مرتفع طوال الموسم.</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حصص مائية مقننة عبر قناة الملك عبدالله، وجزء متزايد منها مياه صرف معالجة.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المرتفعات الشمالية</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زيتون بعلي — إربد وعجلون وجرش</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نحو نصف مساحة الزيتون في المملكة، وهي زراعة بعلية يتحدد إنتاجها بمطر الموسم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أمطار بين 400 و600 مم سنوياً، لكنها متركزة في أشهر قليلة ومتفاوتة بين سنة وأخرى.</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الاحتفاظ بالماء في منطقة الجذور يمدّ أثر المطر إلى ما بعد توقّفه: هذا هو الرهان هنا.</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المفرق وحوض الأزرق</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ضخ جوفي يقارب ضعف الحد الآمن</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مروية بالكامل من الآبار: خضار مكشوفة وأشجار مثمرة وزيتون مروي في مناخ شبه صحراوي.</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قيود متزايدة على تراخيص الآبار وعلى حصص الضخ، ما يجعل كل متر مكعب موفَّر ذا قيمة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ملوحة مياه الآبار في ارتفاع، وهو ما يستوجب مادة بوتاسية لا صوديومية في منطقة الجذور.</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يُقاس عند كل مرحلة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والمردود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استناداً إلى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i="1"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المستغلة.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تفاوت الأمطار بين سنة وأخرى: موسم رطب قد يحجب فائدة المنتج في المرتفعات البعلية.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تجزّؤ الحيازات وصغر مساحاتها، ما يشتّت قرار الشراء على عدد كبير من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مواد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ضغط على السيولة لدى الحيازات بعد مواسم متتالية من ارتفاع كلفة المياه والمدخلات.</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شاهدة، لتوثيق المكسب حتى في سنة مواتية.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المرور عبر الجمعيات التعاونية واتحادات المزارعين بدل التعامل الفردي.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توثيق فارق التركيبة: بوتاسيوم لا صوديوم، وملاءمة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توزيع الالتزام على الزمن: أثر يدوم 3 إلى 4 سنوات يوزّع الكلفة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حدّثونا عن قطعتكم</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المياه المستهلك اليوم. نعود إليكم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يرتّب أي التزام.</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2026-09-15T12:53:46Z</dcterms:created>
  <dcterms:modified xsi:type="dcterms:W3CDTF">2026-09-15T12:53:46Z</dcterms:modified>
</cp:coreProperties>
</file>