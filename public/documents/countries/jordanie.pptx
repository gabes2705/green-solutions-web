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المسحوبات المائية</c:v>
                </c:pt>
              </c:strCache>
            </c:strRef>
          </c:tx>
          <c:spPr>
            <a:solidFill>
              <a:schemeClr val="accent1"/>
            </a:solidFill>
            <a:ln w="9525" cap="flat">
              <a:solidFill>
                <a:srgbClr val="F9F9F9"/>
              </a:solidFill>
              <a:prstDash val="solid"/>
              <a:round/>
            </a:ln>
            <a:effectLst/>
          </c:spPr>
          <c:dPt>
            <c:idx val="0"/>
            <c:bubble3D val="0"/>
            <c:spPr>
              <a:solidFill>
                <a:srgbClr val="2C6E49"/>
              </a:solidFill>
              <a:effectLst/>
            </c:spPr>
          </c:dPt>
          <c:dPt>
            <c:idx val="1"/>
            <c:bubble3D val="0"/>
            <c:spPr>
              <a:solidFill>
                <a:srgbClr val="D9A441"/>
              </a:solidFill>
              <a:effectLst/>
            </c:spPr>
          </c:dPt>
          <c:dPt>
            <c:idx val="2"/>
            <c:bubble3D val="0"/>
            <c:spPr>
              <a:solidFill>
                <a:srgbClr val="7FA88C"/>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52</c:v>
                </c:pt>
                <c:pt idx="1">
                  <c:v>43</c:v>
                </c:pt>
                <c:pt idx="2">
                  <c:v>5</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(ألف طن)</c:v>
                </c:pt>
              </c:strCache>
            </c:strRef>
          </c:tx>
          <c:spPr>
            <a:solidFill>
              <a:srgbClr val="2C6E49"/>
            </a:solidFill>
            <a:effectLst/>
          </c:spPr>
          <c:invertIfNegative val="0"/>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dPt>
            <c:idx val="0"/>
            <c:invertIfNegative val="0"/>
            <c:bubble3D val="0"/>
            <c:spPr>
              <a:solidFill>
                <a:srgbClr val="2C6E49"/>
              </a:solidFill>
              <a:effectLst/>
            </c:spPr>
          </c:dPt>
          <c:dPt>
            <c:idx val="1"/>
            <c:invertIfNegative val="0"/>
            <c:bubble3D val="0"/>
            <c:spPr>
              <a:solidFill>
                <a:srgbClr val="D9A441"/>
              </a:solidFill>
              <a:effectLst/>
            </c:spPr>
          </c:dPt>
          <c:dPt>
            <c:idx val="2"/>
            <c:invertIfNegative val="0"/>
            <c:bubble3D val="0"/>
            <c:spPr>
              <a:solidFill>
                <a:srgbClr val="7FA88C"/>
              </a:solidFill>
              <a:effectLst/>
            </c:spPr>
          </c:dPt>
          <c:dPt>
            <c:idx val="3"/>
            <c:invertIfNegative val="0"/>
            <c:bubble3D val="0"/>
            <c:spPr>
              <a:solidFill>
                <a:srgbClr val="BE7A3C"/>
              </a:solidFill>
              <a:effectLst/>
            </c:spPr>
          </c:dPt>
          <c:dPt>
            <c:idx val="4"/>
            <c:invertIfNegative val="0"/>
            <c:bubble3D val="0"/>
            <c:spPr>
              <a:solidFill>
                <a:srgbClr val="4F8663"/>
              </a:solidFill>
              <a:effectLst/>
            </c:spPr>
          </c:dPt>
          <c:cat>
            <c:multiLvlStrRef>
              <c:f>Sheet1!$A$2:$A$6</c:f>
              <c:multiLvlStrCache>
                <c:ptCount val="5"/>
                <c:lvl>
                  <c:pt idx="0">
                    <c:v>طماطم</c:v>
                  </c:pt>
                  <c:pt idx="1">
                    <c:v>بطاطا</c:v>
                  </c:pt>
                  <c:pt idx="2">
                    <c:v>زيتون*</c:v>
                  </c:pt>
                  <c:pt idx="3">
                    <c:v>خيار</c:v>
                  </c:pt>
                  <c:pt idx="4">
                    <c:v>حمضيات</c:v>
                  </c:pt>
                </c:lvl>
              </c:multiLvlStrCache>
            </c:multiLvlStrRef>
          </c:cat>
          <c:val>
            <c:numRef>
              <c:f>Sheet1!$B$2:$B$6</c:f>
              <c:numCache>
                <c:formatCode>General</c:formatCode>
                <c:ptCount val="5"/>
                <c:pt idx="0">
                  <c:v>750</c:v>
                </c:pt>
                <c:pt idx="1">
                  <c:v>180</c:v>
                </c:pt>
                <c:pt idx="2">
                  <c:v>150</c:v>
                </c:pt>
                <c:pt idx="3">
                  <c:v>130</c:v>
                </c:pt>
                <c:pt idx="4">
                  <c:v>100</c:v>
                </c:pt>
              </c:numCache>
            </c:numRef>
          </c:val>
        </c:ser>
        <c:dLbls>
          <c:numFmt formatCode="[$-401]0"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للنطاق (%)</c:v>
                </c:pt>
              </c:strCache>
            </c:strRef>
          </c:tx>
          <c:spPr>
            <a:solidFill>
              <a:srgbClr val="2C6E49"/>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Sheet1!$B$2:$B$5</c:f>
              <c:numCache>
                <c:formatCode>General</c:formatCode>
                <c:ptCount val="4"/>
                <c:pt idx="0">
                  <c:v>40</c:v>
                </c:pt>
                <c:pt idx="1">
                  <c:v>50</c:v>
                </c:pt>
                <c:pt idx="2">
                  <c:v>50</c:v>
                </c:pt>
                <c:pt idx="3">
                  <c:v>55</c:v>
                </c:pt>
              </c:numCache>
            </c:numRef>
          </c:val>
        </c:ser>
        <c:ser>
          <c:idx val="1"/>
          <c:order val="1"/>
          <c:tx>
            <c:strRef>
              <c:f>Sheet1!$C$1</c:f>
              <c:strCache>
                <c:ptCount val="1"/>
                <c:pt idx="0">
                  <c:v>الحد الأعلى للنطاق (%)</c:v>
                </c:pt>
              </c:strCache>
            </c:strRef>
          </c:tx>
          <c:spPr>
            <a:solidFill>
              <a:srgbClr val="D9A441"/>
            </a:solidFill>
            <a:effectLst/>
          </c:spPr>
          <c:invertIfNegative val="0"/>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ري بالتنقيط</c:v>
                  </c:pt>
                  <c:pt idx="1">
                    <c:v>ري بالرش</c:v>
                  </c:pt>
                  <c:pt idx="2">
                    <c:v>ري محوري</c:v>
                  </c:pt>
                  <c:pt idx="3">
                    <c:v>ري بالغمر</c:v>
                  </c:pt>
                </c:lvl>
              </c:multiLvlStrCache>
            </c:multiLvlStrRef>
          </c:cat>
          <c:val>
            <c:numRef>
              <c:f>Sheet1!$C$2:$C$5</c:f>
              <c:numCache>
                <c:formatCode>General</c:formatCode>
                <c:ptCount val="4"/>
                <c:pt idx="0">
                  <c:v>55</c:v>
                </c:pt>
                <c:pt idx="1">
                  <c:v>65</c:v>
                </c:pt>
                <c:pt idx="2">
                  <c:v>65</c:v>
                </c:pt>
                <c:pt idx="3">
                  <c:v>70</c:v>
                </c:pt>
              </c:numCache>
            </c:numRef>
          </c:val>
        </c:ser>
        <c:dLbls>
          <c:numFmt formatCode="[$-401]0&quot;%&quot;" sourceLinked="0"/>
          <c:txPr>
            <a:bodyPr/>
            <a:lstStyle/>
            <a:p>
              <a:pPr>
                <a:defRPr b="0" i="0" strike="noStrike" sz="1100" u="none">
                  <a:solidFill>
                    <a:srgbClr val="16412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0DFD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F7D7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jordani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400" b="1" dirty="0">
                <a:solidFill>
                  <a:srgbClr val="FFFFFF"/>
                </a:solidFill>
                <a:latin typeface="Arial" pitchFamily="34" charset="0"/>
                <a:ea typeface="Arial" pitchFamily="34" charset="-122"/>
                <a:cs typeface="Arial" pitchFamily="34" charset="-120"/>
              </a:rPr>
              <a:t>المملكة الأردنية الهاشمية</a:t>
            </a:r>
            <a:endParaRPr lang="en-US" sz="2400" dirty="0"/>
          </a:p>
        </p:txBody>
      </p:sp>
      <p:sp>
        <p:nvSpPr>
          <p:cNvPr id="9" name="Shape 4"/>
          <p:cNvSpPr/>
          <p:nvPr/>
        </p:nvSpPr>
        <p:spPr>
          <a:xfrm>
            <a:off x="8744407" y="2889504"/>
            <a:ext cx="2788920" cy="45720"/>
          </a:xfrm>
          <a:prstGeom prst="rect">
            <a:avLst/>
          </a:prstGeom>
          <a:solidFill>
            <a:srgbClr val="D9A441"/>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D9A441"/>
                </a:solidFill>
                <a:latin typeface="Arial" pitchFamily="34" charset="0"/>
                <a:ea typeface="Arial" pitchFamily="34" charset="-122"/>
                <a:cs typeface="Arial" pitchFamily="34" charset="-120"/>
              </a:rPr>
              <a:t>عمّان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خضار الأغوار وزيتون المرتفعات تحت ندرة مائية هيكلية.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الاحتفاظ بالماء في التربة على مستوى الحقل.</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بلد زراعي مصدّر يعمل تحت ندرة مائية قصوى</a:t>
            </a:r>
            <a:endParaRPr lang="en-US" sz="3000" dirty="0"/>
          </a:p>
        </p:txBody>
      </p:sp>
      <p:sp>
        <p:nvSpPr>
          <p:cNvPr id="4" name="Shape 2"/>
          <p:cNvSpPr/>
          <p:nvPr/>
        </p:nvSpPr>
        <p:spPr>
          <a:xfrm>
            <a:off x="594360" y="1874520"/>
            <a:ext cx="2545004" cy="2514600"/>
          </a:xfrm>
          <a:prstGeom prst="roundRect">
            <a:avLst>
              <a:gd name="adj" fmla="val 3636"/>
            </a:avLst>
          </a:prstGeom>
          <a:solidFill>
            <a:srgbClr val="F2F1E8"/>
          </a:solidFill>
          <a:ln w="9525">
            <a:solidFill>
              <a:srgbClr val="E0DFD0"/>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F2F1E8"/>
          </a:solidFill>
          <a:ln w="9525">
            <a:solidFill>
              <a:srgbClr val="E0DFD0"/>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&lt; 100 م³</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نصيب الفرد سنوياً من المياه المتجددة</a:t>
            </a:r>
            <a:endParaRPr lang="en-US" sz="1250" dirty="0"/>
          </a:p>
        </p:txBody>
      </p:sp>
      <p:sp>
        <p:nvSpPr>
          <p:cNvPr id="10" name="Shape 8"/>
          <p:cNvSpPr/>
          <p:nvPr/>
        </p:nvSpPr>
        <p:spPr>
          <a:xfrm>
            <a:off x="6233008" y="1874520"/>
            <a:ext cx="2545004" cy="2514600"/>
          </a:xfrm>
          <a:prstGeom prst="roundRect">
            <a:avLst>
              <a:gd name="adj" fmla="val 3636"/>
            </a:avLst>
          </a:prstGeom>
          <a:solidFill>
            <a:srgbClr val="F2F1E8"/>
          </a:solidFill>
          <a:ln w="9525">
            <a:solidFill>
              <a:srgbClr val="E0DFD0"/>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100 ألف</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هكتار مروي، معظمها بالري بالتنقيط</a:t>
            </a:r>
            <a:endParaRPr lang="en-US" sz="1250" dirty="0"/>
          </a:p>
        </p:txBody>
      </p:sp>
      <p:sp>
        <p:nvSpPr>
          <p:cNvPr id="13" name="Shape 11"/>
          <p:cNvSpPr/>
          <p:nvPr/>
        </p:nvSpPr>
        <p:spPr>
          <a:xfrm>
            <a:off x="9052331" y="1874520"/>
            <a:ext cx="2545004" cy="2514600"/>
          </a:xfrm>
          <a:prstGeom prst="roundRect">
            <a:avLst>
              <a:gd name="adj" fmla="val 3636"/>
            </a:avLst>
          </a:prstGeom>
          <a:solidFill>
            <a:srgbClr val="F2F1E8"/>
          </a:solidFill>
          <a:ln w="9525">
            <a:solidFill>
              <a:srgbClr val="E0DFD0"/>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2C6E49"/>
                </a:solidFill>
                <a:latin typeface="Arial" pitchFamily="34" charset="0"/>
                <a:ea typeface="Arial" pitchFamily="34" charset="-122"/>
                <a:cs typeface="Arial" pitchFamily="34" charset="-120"/>
              </a:rPr>
              <a:t>≈ 52 %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64239"/>
                </a:solidFill>
                <a:latin typeface="Arial" pitchFamily="34" charset="0"/>
                <a:ea typeface="Arial" pitchFamily="34" charset="-122"/>
                <a:cs typeface="Arial" pitchFamily="34" charset="-120"/>
              </a:rPr>
              <a:t>من المياه المسحوبة تذهب إلى الري الزراعي</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64239"/>
                </a:solidFill>
                <a:latin typeface="Arial" pitchFamily="34" charset="0"/>
                <a:ea typeface="Arial" pitchFamily="34" charset="-122"/>
                <a:cs typeface="Arial" pitchFamily="34" charset="-120"/>
              </a:rPr>
              <a:t>تجمع الزراعة الأردنية بين قطاع تصديري مكثّف في الأغوار يعمل بالتنقيط وبحصص مائية مقننة، وزراعة بعلية في المرتفعات يتبع مردودها مطر الموسم مباشرة. هذا الارتهان للماء هو ما يجعل المملكة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ندرة مائية هيكلية، لا أزمة موسمية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i="1" dirty="0">
                <a:solidFill>
                  <a:srgbClr val="6F7D71"/>
                </a:solidFill>
                <a:latin typeface="Arial" pitchFamily="34" charset="0"/>
                <a:ea typeface="Arial" pitchFamily="34" charset="-122"/>
                <a:cs typeface="Arial" pitchFamily="34" charset="-120"/>
              </a:rPr>
              <a:t>أراضٍ مروية في وادي الأردن</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نصيب الفرد من المياه المتجددة أقل من 100 م³ سنوياً، أي دون خُمس عتبة الندرة المائية المطلقة المعتمدة دولياً والبالغة 500 م³.</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الطلب السنوي على المياه يتجاوز الموارد المتجددة بفارق واضح؛ الفجوة تُسدّ من الضخ الجوفي ومن خزانات أحفورية غير متجددة كخزان الديسي.</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معظم مساحة المملكة تتلقى أقل من 200 مم من الأمطار سنوياً، وتنزل إلى نحو 50 مم في البادية الشرقية مقابل 400 إلى 600 مم في مرتفعات عجلون وإربد.</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أحواض المياه الجوفية، وفي مقدمتها حوض الأزرق، تُستنزف بمعدل يقارب ضعف حدها الآمن، مع هبوط مستمر في مناسيب الآبار وارتفاع في ملوحتها.</a:t>
            </a:r>
            <a:endParaRPr lang="en-US" sz="1400" dirty="0"/>
          </a:p>
          <a:p>
            <a:pPr algn="r" marL="342900" indent="-342900">
              <a:lnSpc>
                <a:spcPct val="122000"/>
              </a:lnSpc>
              <a:spcAft>
                <a:spcPts val="1100"/>
              </a:spcAft>
              <a:buSzPct val="100000"/>
              <a:buChar char="•"/>
            </a:pPr>
            <a:r>
              <a:rPr lang="en-US" sz="1400" dirty="0">
                <a:solidFill>
                  <a:srgbClr val="364239"/>
                </a:solidFill>
                <a:latin typeface="Arial" pitchFamily="34" charset="0"/>
                <a:ea typeface="Arial" pitchFamily="34" charset="-122"/>
                <a:cs typeface="Arial" pitchFamily="34" charset="-120"/>
              </a:rPr>
              <a:t>الاستجابة الرسمية — ناقل مياه العقبة وإعادة استخدام أكثر من 90 % من مياه الصرف المعالجة في الري — تعالج جانب العرض. الاحتفاظ بالماء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الري يستحوذ على أكثر من نصف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ما الذي يعنيه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خفض استهلاك الري بنسبة 10 % يوفّر حجماً أكبر مما يوفّره إلغاء الاستخدام الصناعي بالكامل.</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حصة مياه الشرب هنا مرتفعة بمقاييس المنطقة بفعل النمو السكاني، ما يجعل أي توسّع زراعي مرهوناً بترشيد ما هو قائم.</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المحاصيل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خمسة محاصيل تشكّل عصب الإنتاج والتصدير</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قراءة</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الطماطم والخيار محصولان مرويان موجّهان أساساً إلى أسواق الخليج: فيهما يتحوّل توفير الماء مباشرة إلى هامش.</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 إنتاج الزيتون يتذبذب بين موسم وآخر بحكم المعاومة. أما تمور المجهول فحجمها أصغر (نحو 35 ألف طن) لكن قيمتها التصديرية للطن هي الأعلى.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استجابتنا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مادة محتفظة بالماء أساسها البوتاسيوم، توضع في منطقة الجذور عند الزراعة أو عند التجديد.</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تلتقط ماء المطر أو الري وتعيده إلى النبات تدريجياً، فتزيل الإجهاد المائي في المراحل الحرجة.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قدرة امتصاص تبلغ نحو 300 ضعف وزنها، ومدة أثر مفيد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تتحلل بنسبة 20 إلى 25 % سنوياً، دون تراكم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ECOFERT® — تغذية دون استنزاف</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مخصّب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غير مخلبي: لا يفقر مركّب الطين والدبال، ولا يرفع ملوحة التربة ولا محتواها من النترات.</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حائز شهادتي SOHISCERT والعضوية الأوروبية — شرط للدخول إلى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 1 إلى 4 عبوات سعة 140 مل للهكتار، متوافق مع تجهيزات الري بالتسميد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المنتجان يُباعان منفصلين لكنهما صُمّما ليعزز أحدهما الآخر: المادة المحتفظة بالماء تطيل توفّره في منطقة الجذور، والمخصّب يثمّن هذا الماء المتاح دون إرهاق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أحجام تقديرية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توفير المياه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2F1E8"/>
          </a:solidFill>
          <a:ln w="9525">
            <a:solidFill>
              <a:srgbClr val="E0DFD0"/>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2C6E49"/>
                </a:solidFill>
                <a:latin typeface="Arial" pitchFamily="34" charset="0"/>
                <a:ea typeface="Arial" pitchFamily="34" charset="-122"/>
                <a:cs typeface="Arial" pitchFamily="34" charset="-120"/>
              </a:rPr>
              <a:t>تُقرأ بحذر</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هذه النطاقات تقديرية استرشادية، مبنية على المكاسب الموثقة لموادنا المحتفظة بالماء.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64239"/>
                </a:solidFill>
                <a:latin typeface="Arial" pitchFamily="34" charset="0"/>
                <a:ea typeface="Arial" pitchFamily="34" charset="-122"/>
                <a:cs typeface="Arial" pitchFamily="34" charset="-120"/>
              </a:rPr>
              <a:t>النتيجة الفعلية تتوقف على التربة والمناخ والمحصول. الأرقام تعطي حجماً تقريبياً لا أكثر، وهي لا تشكّل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أين تُجرى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F2F1E8"/>
          </a:solidFill>
          <a:ln w="9525">
            <a:solidFill>
              <a:srgbClr val="E0DFD0"/>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وادي الأردن — الأغوار</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 35 ألف هكتار مروية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قلب الإنتاج التصديري الشتوي: خضار محمية ومكشوفة موجّهة إلى أسواق الخليج، معظمها مروي بالتنقيط.</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الزراعة دون مستوى سطح البحر بنحو 200 إلى 400 م، مع تبخّر مرتفع طوال الموسم.</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حصص مائية مقننة عبر قناة الملك عبدالله، وجزء متزايد منها مياه صرف معالجة.</a:t>
            </a:r>
            <a:endParaRPr lang="en-US" sz="1150" dirty="0"/>
          </a:p>
        </p:txBody>
      </p:sp>
      <p:sp>
        <p:nvSpPr>
          <p:cNvPr id="9" name="Shape 6"/>
          <p:cNvSpPr/>
          <p:nvPr/>
        </p:nvSpPr>
        <p:spPr>
          <a:xfrm>
            <a:off x="4359554" y="1783080"/>
            <a:ext cx="3472586" cy="4069080"/>
          </a:xfrm>
          <a:prstGeom prst="roundRect">
            <a:avLst>
              <a:gd name="adj" fmla="val 2633"/>
            </a:avLst>
          </a:prstGeom>
          <a:solidFill>
            <a:srgbClr val="F2F1E8"/>
          </a:solidFill>
          <a:ln w="9525">
            <a:solidFill>
              <a:srgbClr val="E0DFD0"/>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المرتفعات الشمالية</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زيتون بعلي — إربد وعجلون وجرش</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نحو نصف مساحة الزيتون في المملكة، وهي زراعة بعلية يتحدد إنتاجها بمطر الموسم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أمطار بين 400 و600 مم سنوياً، لكنها متركزة في أشهر قليلة ومتفاوتة بين سنة وأخرى.</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الاحتفاظ بالماء في منطقة الجذور يمدّ أثر المطر إلى ما بعد توقّفه: هذا هو الرهان هنا.</a:t>
            </a:r>
            <a:endParaRPr lang="en-US" sz="1150" dirty="0"/>
          </a:p>
        </p:txBody>
      </p:sp>
      <p:sp>
        <p:nvSpPr>
          <p:cNvPr id="14" name="Shape 10"/>
          <p:cNvSpPr/>
          <p:nvPr/>
        </p:nvSpPr>
        <p:spPr>
          <a:xfrm>
            <a:off x="8124749" y="1783080"/>
            <a:ext cx="3472586" cy="4069080"/>
          </a:xfrm>
          <a:prstGeom prst="roundRect">
            <a:avLst>
              <a:gd name="adj" fmla="val 2633"/>
            </a:avLst>
          </a:prstGeom>
          <a:solidFill>
            <a:srgbClr val="F2F1E8"/>
          </a:solidFill>
          <a:ln w="9525">
            <a:solidFill>
              <a:srgbClr val="E0DFD0"/>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2C6E49"/>
                </a:solidFill>
                <a:latin typeface="Arial" pitchFamily="34" charset="0"/>
                <a:ea typeface="Arial" pitchFamily="34" charset="-122"/>
                <a:cs typeface="Arial" pitchFamily="34" charset="-120"/>
              </a:rPr>
              <a:t>المفرق وحوض الأزرق</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9C6C12"/>
                </a:solidFill>
                <a:latin typeface="Arial" pitchFamily="34" charset="0"/>
                <a:ea typeface="Arial" pitchFamily="34" charset="-122"/>
                <a:cs typeface="Arial" pitchFamily="34" charset="-120"/>
              </a:rPr>
              <a:t>ضخ جوفي يقارب ضعف الحد الآمن</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مزارع مروية بالكامل من الآبار: خضار مكشوفة وأشجار مثمرة وزيتون مروي في مناخ شبه صحراوي.</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قيود متزايدة على تراخيص الآبار وعلى حصص الضخ، ما يجعل كل متر مكعب موفَّر ذا قيمة مباشرة.</a:t>
            </a:r>
            <a:endParaRPr lang="en-US" sz="1150" dirty="0"/>
          </a:p>
          <a:p>
            <a:pPr algn="r" marL="342900" indent="-342900">
              <a:lnSpc>
                <a:spcPct val="116000"/>
              </a:lnSpc>
              <a:spcAft>
                <a:spcPts val="700"/>
              </a:spcAft>
              <a:buSzPct val="100000"/>
              <a:buChar char="•"/>
            </a:pPr>
            <a:r>
              <a:rPr lang="en-US" sz="1150" dirty="0">
                <a:solidFill>
                  <a:srgbClr val="364239"/>
                </a:solidFill>
                <a:latin typeface="Arial" pitchFamily="34" charset="0"/>
                <a:ea typeface="Arial" pitchFamily="34" charset="-122"/>
                <a:cs typeface="Arial" pitchFamily="34" charset="-120"/>
              </a:rPr>
              <a:t>ملوحة مياه الآبار في ارتفاع، وهو ما يستوجب مادة بوتاسية لا صوديومية في منطقة الجذور.</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انتشار على مراحل، يُقاس عند كل مرحلة</a:t>
            </a:r>
            <a:endParaRPr lang="en-US" sz="3000" dirty="0"/>
          </a:p>
        </p:txBody>
      </p:sp>
      <p:sp>
        <p:nvSpPr>
          <p:cNvPr id="4" name="Shape 2"/>
          <p:cNvSpPr/>
          <p:nvPr/>
        </p:nvSpPr>
        <p:spPr>
          <a:xfrm>
            <a:off x="594360" y="1874520"/>
            <a:ext cx="2545004" cy="2834640"/>
          </a:xfrm>
          <a:prstGeom prst="roundRect">
            <a:avLst>
              <a:gd name="adj" fmla="val 3593"/>
            </a:avLst>
          </a:prstGeom>
          <a:solidFill>
            <a:srgbClr val="F2F1E8"/>
          </a:solidFill>
          <a:ln w="9525">
            <a:solidFill>
              <a:srgbClr val="E0DFD0"/>
            </a:solidFill>
            <a:prstDash val="solid"/>
          </a:ln>
        </p:spPr>
      </p:sp>
      <p:sp>
        <p:nvSpPr>
          <p:cNvPr id="5" name="Shape 3"/>
          <p:cNvSpPr/>
          <p:nvPr/>
        </p:nvSpPr>
        <p:spPr>
          <a:xfrm>
            <a:off x="822960" y="2103120"/>
            <a:ext cx="566928" cy="566928"/>
          </a:xfrm>
          <a:prstGeom prst="ellipse">
            <a:avLst/>
          </a:prstGeom>
          <a:solidFill>
            <a:srgbClr val="2C6E49"/>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F2F1E8"/>
          </a:solidFill>
          <a:ln w="9525">
            <a:solidFill>
              <a:srgbClr val="E0DFD0"/>
            </a:solidFill>
            <a:prstDash val="solid"/>
          </a:ln>
        </p:spPr>
      </p:sp>
      <p:sp>
        <p:nvSpPr>
          <p:cNvPr id="10" name="Shape 8"/>
          <p:cNvSpPr/>
          <p:nvPr/>
        </p:nvSpPr>
        <p:spPr>
          <a:xfrm>
            <a:off x="3642284" y="2103120"/>
            <a:ext cx="566928" cy="566928"/>
          </a:xfrm>
          <a:prstGeom prst="ellipse">
            <a:avLst/>
          </a:prstGeom>
          <a:solidFill>
            <a:srgbClr val="2C6E49"/>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F2F1E8"/>
          </a:solidFill>
          <a:ln w="9525">
            <a:solidFill>
              <a:srgbClr val="E0DFD0"/>
            </a:solidFill>
            <a:prstDash val="solid"/>
          </a:ln>
        </p:spPr>
      </p:sp>
      <p:sp>
        <p:nvSpPr>
          <p:cNvPr id="15" name="Shape 13"/>
          <p:cNvSpPr/>
          <p:nvPr/>
        </p:nvSpPr>
        <p:spPr>
          <a:xfrm>
            <a:off x="6461608" y="2103120"/>
            <a:ext cx="566928" cy="566928"/>
          </a:xfrm>
          <a:prstGeom prst="ellipse">
            <a:avLst/>
          </a:prstGeom>
          <a:solidFill>
            <a:srgbClr val="2C6E49"/>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رصد الاستهلاك المائي والمردود على مدى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F2F1E8"/>
          </a:solidFill>
          <a:ln w="9525">
            <a:solidFill>
              <a:srgbClr val="E0DFD0"/>
            </a:solidFill>
            <a:prstDash val="solid"/>
          </a:ln>
        </p:spPr>
      </p:sp>
      <p:sp>
        <p:nvSpPr>
          <p:cNvPr id="20" name="Shape 18"/>
          <p:cNvSpPr/>
          <p:nvPr/>
        </p:nvSpPr>
        <p:spPr>
          <a:xfrm>
            <a:off x="9280931" y="2103120"/>
            <a:ext cx="566928" cy="566928"/>
          </a:xfrm>
          <a:prstGeom prst="ellipse">
            <a:avLst/>
          </a:prstGeom>
          <a:solidFill>
            <a:srgbClr val="2C6E49"/>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2C6E49"/>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64239"/>
                </a:solidFill>
                <a:latin typeface="Arial" pitchFamily="34" charset="0"/>
                <a:ea typeface="Arial" pitchFamily="34" charset="-122"/>
                <a:cs typeface="Arial" pitchFamily="34" charset="-120"/>
              </a:rPr>
              <a:t>تعميم تدريجي على بقية القطع استناداً إلى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i="1" dirty="0">
                <a:solidFill>
                  <a:srgbClr val="6F7D71"/>
                </a:solidFill>
                <a:latin typeface="Arial" pitchFamily="34" charset="0"/>
                <a:ea typeface="Arial" pitchFamily="34" charset="-122"/>
                <a:cs typeface="Arial" pitchFamily="34" charset="-120"/>
              </a:rPr>
              <a:t>قاعدة الجرعة واحدة في كل مكان: 3 غرامات لكل لتر من التربة المستغلة.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5"/>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D9A441"/>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16412B"/>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تفاوت الأمطار بين سنة وأخرى: موسم رطب قد يحجب فائدة المنتج في المرتفعات البعلية.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تجزّؤ الحيازات وصغر مساحاتها، ما يشتّت قرار الشراء على عدد كبير من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منافسة مواد رخيصة أساسها الصوديوم تركت انطباعاً سيئاً لدى المزارعين.</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ضغط على السيولة لدى الحيازات بعد مواسم متتالية من ارتفاع كلفة المياه والمدخلات.</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2C6E49"/>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إجراء التجربة على دورة كاملة مع قطعة شاهدة، لتوثيق المكسب حتى في سنة مواتية.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المرور عبر الجمعيات التعاونية واتحادات المزارعين بدل التعامل الفردي.</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توثيق فارق التركيبة: بوتاسيوم لا صوديوم، وملاءمة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64239"/>
                </a:solidFill>
                <a:latin typeface="Arial" pitchFamily="34" charset="0"/>
                <a:ea typeface="Arial" pitchFamily="34" charset="-122"/>
                <a:cs typeface="Arial" pitchFamily="34" charset="-120"/>
              </a:rPr>
              <a:t>توزيع الالتزام على الزمن: أثر يدوم 3 إلى 4 سنوات يوزّع الكلفة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F2F1E8"/>
          </a:solidFill>
          <a:ln w="9525">
            <a:solidFill>
              <a:srgbClr val="E0DFD0"/>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F7D71"/>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F7D71">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حدّثونا عن قطعتكم</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وأسلوب الري، وطبيعة التربة، وحجم المياه المستهلك اليوم. نعود إليكم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التواصل الأول لا يرتّب أي التزام.</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D9A441"/>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ملف السوق الزراعية الأردنية</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2026-09-14T18:06:24Z</dcterms:created>
  <dcterms:modified xsi:type="dcterms:W3CDTF">2026-09-14T18:06:24Z</dcterms:modified>
</cp:coreProperties>
</file>