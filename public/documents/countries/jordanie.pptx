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المسحوبات المائية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52</c:v>
                </c:pt>
                <c:pt idx="1">
                  <c:v>43</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(ألف طن)</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dPt>
            <c:idx val="4"/>
            <c:invertIfNegative val="0"/>
            <c:bubble3D val="0"/>
            <c:spPr>
              <a:solidFill>
                <a:srgbClr val="4F8663"/>
              </a:solidFill>
              <a:effectLst/>
            </c:spPr>
          </c:dPt>
          <c:cat>
            <c:multiLvlStrRef>
              <c:f>Sheet1!$A$2:$A$6</c:f>
              <c:multiLvlStrCache>
                <c:ptCount val="5"/>
                <c:lvl>
                  <c:pt idx="0">
                    <c:v>طماطم</c:v>
                  </c:pt>
                  <c:pt idx="1">
                    <c:v>بطاطا</c:v>
                  </c:pt>
                  <c:pt idx="2">
                    <c:v>زيتون*</c:v>
                  </c:pt>
                  <c:pt idx="3">
                    <c:v>خيار</c:v>
                  </c:pt>
                  <c:pt idx="4">
                    <c:v>حمضيات</c:v>
                  </c:pt>
                </c:lvl>
              </c:multiLvlStrCache>
            </c:multiLvlStrRef>
          </c:cat>
          <c:val>
            <c:numRef>
              <c:f>Sheet1!$B$2:$B$6</c:f>
              <c:numCache>
                <c:formatCode>General</c:formatCode>
                <c:ptCount val="5"/>
                <c:pt idx="0">
                  <c:v>750</c:v>
                </c:pt>
                <c:pt idx="1">
                  <c:v>180</c:v>
                </c:pt>
                <c:pt idx="2">
                  <c:v>150</c:v>
                </c:pt>
                <c:pt idx="3">
                  <c:v>130</c:v>
                </c:pt>
                <c:pt idx="4">
                  <c:v>100</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Sheet1!$B$2:$B$6</c:f>
              <c:numCache>
                <c:formatCode>General</c:formatCode>
                <c:ptCount val="5"/>
                <c:pt idx="0">
                  <c:v>30</c:v>
                </c:pt>
                <c:pt idx="1">
                  <c:v>20</c:v>
                </c:pt>
                <c:pt idx="2">
                  <c:v>20</c:v>
                </c:pt>
                <c:pt idx="3">
                  <c:v>20</c:v>
                </c:pt>
                <c:pt idx="4">
                  <c:v>20</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Sheet1!$C$2:$C$6</c:f>
              <c:numCache>
                <c:formatCode>General</c:formatCode>
                <c:ptCount val="5"/>
                <c:pt idx="0">
                  <c:v>50</c:v>
                </c:pt>
                <c:pt idx="1">
                  <c:v>40</c:v>
                </c:pt>
                <c:pt idx="2">
                  <c:v>40</c:v>
                </c:pt>
                <c:pt idx="3">
                  <c:v>40</c:v>
                </c:pt>
                <c:pt idx="4">
                  <c:v>40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للنطاق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للنطاق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reen-solutions-web\scripts\dossiers\drapeaux\jordani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الأردنية الهاشمية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عمّان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خضار الأغوار وزيتون المرتفعات تحت ندرة مائية هيكلية.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الاحتفاظ بالماء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زراعي مصدّر يعمل تحت ندرة مائية قصوى</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م³</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نصيب الفرد سنوياً من المياه المتجددة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100 ألف</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هكتار مروي، معظمها بالري بالتنقيط</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52 %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تذهب إلى الري الزراعي</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تجمع الزراعة الأردنية بين قطاع تصديري مكثّف في الأغوار يعمل بالتنقيط وبحصص مائية مقننة، وزراعة بعلية في المرتفعات يتبع مردودها مطر الموسم مباشرة. هذا الارتهان للماء هو ما يجعل المملكة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ندرة مائية هيكلية، لا أزمة موسمية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F7D71"/>
                </a:solidFill>
                <a:latin typeface="Arial" pitchFamily="34" charset="0"/>
                <a:ea typeface="Arial" pitchFamily="34" charset="-122"/>
                <a:cs typeface="Arial" pitchFamily="34" charset="-120"/>
              </a:rPr>
              <a:t>أراضٍ مروية في وادي الأردن</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نصيب الفرد من المياه المتجددة أقل من 100 م³ سنوياً، أي دون خُمس عتبة الندرة المائية المطلقة المعتمدة دولياً والبالغة 500 م³.</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الطلب السنوي على المياه يتجاوز الموارد المتجددة بفارق واضح؛ الفجوة تُسدّ من الضخ الجوفي ومن خزانات أحفورية غير متجددة كخزان الديسي.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مساحة المملكة تتلقى أقل من 200 مم من الأمطار سنوياً، وتنزل إلى نحو 50 مم في البادية الشرقية مقابل 400 إلى 600 مم في مرتفعات عجلون وإربد.</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أحواض المياه الجوفية، وفي مقدمتها حوض الأزرق، تُستنزف بمعدل يقارب ضعف حدها الآمن، مع هبوط مستمر في مناسيب الآبار وارتفاع في ملوحتها.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الاستجابة الرسمية — ناقل مياه العقبة وإعادة استخدام أكثر من 90 % من مياه الصرف المعالجة في الري — تعالج جانب العرض. الاحتفاظ بالماء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يستحوذ على أكثر من نصف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الذي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استهلاك الري بنسبة 10 % يوفّر حجماً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حصة مياه الشرب هنا مرتفعة بمقاييس المنطقة بفعل النمو السكاني، ما يجعل أي توسّع زراعي مرهوناً بترشيد ما هو قائم.</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يستورد حبوبه ويصدّر خضرواته</a:t>
            </a:r>
            <a:endParaRPr lang="en-US" sz="3000" dirty="0"/>
          </a:p>
        </p:txBody>
      </p:sp>
      <p:sp>
        <p:nvSpPr>
          <p:cNvPr id="4" name="Shape 2"/>
          <p:cNvSpPr/>
          <p:nvPr/>
        </p:nvSpPr>
        <p:spPr>
          <a:xfrm>
            <a:off x="594360" y="1874520"/>
            <a:ext cx="3484778"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90 %</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القمح والحبوب المستهلكة مستوردة</a:t>
            </a:r>
            <a:endParaRPr lang="en-US" sz="1250" dirty="0"/>
          </a:p>
        </p:txBody>
      </p:sp>
      <p:sp>
        <p:nvSpPr>
          <p:cNvPr id="7" name="Shape 5"/>
          <p:cNvSpPr/>
          <p:nvPr/>
        </p:nvSpPr>
        <p:spPr>
          <a:xfrm>
            <a:off x="4353458" y="1874520"/>
            <a:ext cx="3484778"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17 مليون</a:t>
            </a:r>
            <a:endParaRPr lang="en-US" sz="30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شجرة زيتون، أهم شجرة مثمرة في المملكة</a:t>
            </a:r>
            <a:endParaRPr lang="en-US" sz="1250" dirty="0"/>
          </a:p>
        </p:txBody>
      </p:sp>
      <p:sp>
        <p:nvSpPr>
          <p:cNvPr id="10" name="Shape 8"/>
          <p:cNvSpPr/>
          <p:nvPr/>
        </p:nvSpPr>
        <p:spPr>
          <a:xfrm>
            <a:off x="8112557" y="1874520"/>
            <a:ext cx="3484778"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2 %</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مساحة المملكة أراضٍ صالحة للزراعة</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تتركز صادرات الأردن الزراعية في الخضروات والفواكه المتجهة أساساً إلى أسواق الخليج، بينما يعتمد على الخارج في القمح والأعلاف. وتضع الاستراتيجية الوطنية للمياه إعادة استخدام المياه المعالجة وترشيد الري في قلب أي توسع زراعي.</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المحاصيل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خمسة محاصيل تشكّل عصب الإنتاج والتصدير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الطماطم والخيار محصولان مرويان موجّهان أساساً إلى أسواق الخليج: فيهما يتحوّل توفير الماء مباشرة إلى هامش.</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إنتاج الزيتون يتذبذب بين موسم وآخر بحكم المعاومة. أما تمور المجهول فحجمها أصغر (نحو 35 ألف طن) لكن قيمتها التصديرية للطن هي الأعلى.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الزيتون: شجرة المرتفعات البعلية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يغطي الزيتون الجزء الأكبر من المساحة المزروعة بالأشجار، في إربد وعجلون وجرش والبلقاء والمفرق.</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البساتين بعلية: تتوقف غلة السنة على أمطار الشتاء، وتتراجع كثيراً في سنوات الجفاف.</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تذبذب الحمل بين سنة وأخرى يُضعف دخل المزارع ويصعّب تثبيت عقود بيع الزيت.</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الغراس الجديدة هي الأكثر عرضة للموت في صيفها الأول دون ري تكميلي.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وضع EVERGREEN® في حفرة الغرس يحتفظ بمياه المطر حول الجذور لأسابيع إضافية.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خضروات وادي الأردن: إنتاج الشتاء للتصدير</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يسمح دفء وادي الأردن بإنتاج الطماطم والخيار والفلفل في الشتاء، حين تكون أسعار التصدير في أعلاها.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يُروى الوادي من قناة الملك عبد الله بمزيج من مياه اليرموك والمياه المعالجة، وبحصص محدودة.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ملوحة المياه والتربة في جنوب الوادي تخفض الإنتاج وتفرض غسل التربة بكميات ماء إضافية.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الري بالتنقيط منتشر، لذلك يأتي أي توفير جديد من الاحتفاظ بالماء في التربة نفسها.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‏NAPEMA® يعالج الآفات دون متبقيات، وهو شرط لقبول الشحنات في أسواق التصدير.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محتفظة بالماء أساسها البوتاسيوم، توضع في منطقة الجذور عند الزراعة أو عند التجديد.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المطر أو الري وتعيده إلى النبات تدريجياً، فتزيل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ومدة أثر مفيد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استنزاف</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مخصّب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مخلبي: لا يفقر مركّب الطين والدبال، ولا يرفع ملوحة التربة ولا محتواها من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حائز شهادتي SOHISCERT والعضوية الأوروبية — شرط للدخول إلى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 إلى 4 عبوات سعة 140 مل للهكتار، متوافق مع تجهيزات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المنتجان يُباعان منفصلين لكنهما صُمّما ليعزز أحدهما الآخر: المادة المحتفظة بالماء تطيل توفّره في منطقة الجذور، والمخصّب يثمّن هذا الماء المتاح دون إرهاق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أحجام تقديرية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المياه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بحذر</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استرشادية، مبنية على المكاسب الموثقة لموادنا المحتفظة بالماء.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والمحصول. الأرقام تعطي حجماً تقريبياً لا أكثر، وهي 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تُجرى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وادي الأردن — الأغوار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35 ألف هكتار مروية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الإنتاج التصديري الشتوي: خضار محمية ومكشوفة موجّهة إلى أسواق الخليج، معظمها مروي بالتنقيط.</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الزراعة دون مستوى سطح البحر بنحو 200 إلى 400 م، مع تبخّر مرتفع طوال الموسم.</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حصص مائية مقننة عبر قناة الملك عبدالله، وجزء متزايد منها مياه صرف معالجة.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المرتفعات الشمالية</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زيتون بعلي — إربد وعجلون وجرش</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نحو نصف مساحة الزيتون في المملكة، وهي زراعة بعلية يتحدد إنتاجها بمطر الموسم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أمطار بين 400 و600 مم سنوياً، لكنها متركزة في أشهر قليلة ومتفاوتة بين سنة وأخرى.</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الاحتفاظ بالماء في منطقة الجذور يمدّ أثر المطر إلى ما بعد توقّفه: هذا هو الرهان هنا.</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المفرق وحوض الأزرق</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ضخ جوفي يقارب ضعف الحد الآمن</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مروية بالكامل من الآبار: خضار مكشوفة وأشجار مثمرة وزيتون مروي في مناخ شبه صحراوي.</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قيود متزايدة على تراخيص الآبار وعلى حصص الضخ، ما يجعل كل متر مكعب موفَّر ذا قيمة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ملوحة مياه الآبار في ارتفاع، وهو ما يستوجب مادة بوتاسية لا صوديومية في منطقة الجذور.</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يُقاس عند كل مرحلة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والمردود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استناداً إلى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المستغلة.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شريك محلي في الأردن</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تفاوت الأمطار بين سنة وأخرى: موسم رطب قد يحجب فائدة المنتج في المرتفعات البعلية.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تجزّؤ الحيازات وصغر مساحاتها، ما يشتّت قرار الشراء على عدد كبير من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مواد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ضغط على السيولة لدى الحيازات بعد مواسم متتالية من ارتفاع كلفة المياه والمدخلات.</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شاهدة، لتوثيق المكسب حتى في سنة مواتية.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المرور عبر الجمعيات التعاونية واتحادات المزارعين بدل التعامل الفردي.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توثيق فارق التركيبة: بوتاسيوم لا صوديوم، وملاءمة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توزيع الالتزام على الزمن: أثر يدوم 3 إلى 4 سنوات يوزّع الكلفة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دائرة الإحصاءات العامة: الناتج المحلي الإجمالي والمسوح الزراعية.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الزراعة: الاستراتيجية الوطنية للتنمية الزراعية وإحصاءات الزيتون.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المياه والري وسلطة وادي الأردن: الاستراتيجية الوطنية للمياه وحصص الري.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حدّثونا عن قطعتكم</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المياه المستهلك اليوم. نعود إليكم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يرتّب أي التزام.</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2026-09-15T22:53:31Z</dcterms:created>
  <dcterms:modified xsi:type="dcterms:W3CDTF">2026-09-15T22:53:31Z</dcterms:modified>
</cp:coreProperties>
</file>