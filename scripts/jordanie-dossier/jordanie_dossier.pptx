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6459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دراسة سوق التنمية الزراعية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4D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المملكة الأردنية الهاشمية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A5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نظرة عامة على السوق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474720" cy="1371600"/>
          </a:xfrm>
          <a:prstGeom prst="rect">
            <a:avLst/>
          </a:prstGeom>
          <a:solidFill>
            <a:srgbClr val="4DB8E8"/>
          </a:solidFill>
          <a:ln w="25400">
            <a:solidFill>
              <a:srgbClr val="1A3A5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188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🌍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1887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الموقع الجغرافي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60020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شرق المتوسط، موقع استراتيجي بين بلاد الشام والعالم العربي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46320" y="1097280"/>
            <a:ext cx="3474720" cy="1371600"/>
          </a:xfrm>
          <a:prstGeom prst="rect">
            <a:avLst/>
          </a:prstGeom>
          <a:solidFill>
            <a:srgbClr val="4DB8E8"/>
          </a:solidFill>
          <a:ln w="25400">
            <a:solidFill>
              <a:srgbClr val="1A3A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29200" y="1188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👥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0" y="11887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السكان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029200" y="160020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ملايين نسمة بمعدل نمو سنوي 2.3%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3474720" cy="1371600"/>
          </a:xfrm>
          <a:prstGeom prst="rect">
            <a:avLst/>
          </a:prstGeom>
          <a:solidFill>
            <a:srgbClr val="4DB8E8"/>
          </a:solidFill>
          <a:ln w="25400">
            <a:solidFill>
              <a:srgbClr val="1A3A5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2560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💼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25603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الاقتصاد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297180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الناتج المحلي الإجمالي: 45 مليار دولار أمريكي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46320" y="2468880"/>
            <a:ext cx="3474720" cy="1371600"/>
          </a:xfrm>
          <a:prstGeom prst="rect">
            <a:avLst/>
          </a:prstGeom>
          <a:solidFill>
            <a:srgbClr val="4DB8E8"/>
          </a:solidFill>
          <a:ln w="25400">
            <a:solidFill>
              <a:srgbClr val="1A3A5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29200" y="2560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🌾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0" y="25603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الزراعة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0" y="297180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3-4% من الناتج المحلي الإجمالي، توظف 4% من القوى العاملة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A5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القطاعات الزراعية الرئيسية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8595360" cy="685800"/>
          </a:xfrm>
          <a:prstGeom prst="rect">
            <a:avLst/>
          </a:prstGeom>
          <a:solidFill>
            <a:srgbClr val="4DB8E8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005840"/>
            <a:ext cx="73152" cy="6858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0789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الحبوب (القمح والشعير)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017520" y="10789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30,000-50,000 طن سنويًا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577840" y="10789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250,000 هكتار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783080"/>
            <a:ext cx="73152" cy="6858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18562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التمر والنخيل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017520" y="18562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80,000 طن سنويًا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577840" y="18562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45,000 هكتار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560320"/>
            <a:ext cx="8595360" cy="685800"/>
          </a:xfrm>
          <a:prstGeom prst="rect">
            <a:avLst/>
          </a:prstGeom>
          <a:solidFill>
            <a:srgbClr val="4DB8E8"/>
          </a:solidFill>
          <a:ln/>
        </p:spPr>
      </p:sp>
      <p:sp>
        <p:nvSpPr>
          <p:cNvPr id="14" name="Shape 12"/>
          <p:cNvSpPr/>
          <p:nvPr/>
        </p:nvSpPr>
        <p:spPr>
          <a:xfrm>
            <a:off x="274320" y="2560320"/>
            <a:ext cx="73152" cy="6858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26334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الخضروات والفواكه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017520" y="26334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600,000 طن سنويًا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577840" y="26334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80,000 هكتار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3337560"/>
            <a:ext cx="73152" cy="6858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" y="34107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الزيتون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3017520" y="34107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150,000 طن سنويًا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577840" y="34107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100,000 هكتار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4114800"/>
            <a:ext cx="8595360" cy="685800"/>
          </a:xfrm>
          <a:prstGeom prst="rect">
            <a:avLst/>
          </a:prstGeom>
          <a:solidFill>
            <a:srgbClr val="4DB8E8"/>
          </a:solidFill>
          <a:ln/>
        </p:spPr>
      </p:sp>
      <p:sp>
        <p:nvSpPr>
          <p:cNvPr id="23" name="Shape 21"/>
          <p:cNvSpPr/>
          <p:nvPr/>
        </p:nvSpPr>
        <p:spPr>
          <a:xfrm>
            <a:off x="274320" y="4114800"/>
            <a:ext cx="73152" cy="6858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48640" y="4187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الحمضيات والمحاصيل البستانية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3017520" y="4187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200,000 طن سنويًا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5577840" y="4187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30,000 هكتار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أنماط استخدام المياه والندرة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1645920"/>
          </a:xfrm>
          <a:prstGeom prst="rect">
            <a:avLst/>
          </a:prstGeom>
          <a:solidFill>
            <a:srgbClr val="4DB8E8"/>
          </a:solidFill>
          <a:ln w="25400">
            <a:solidFill>
              <a:srgbClr val="C6282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801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202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استهلاك المياه الزراعية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2860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من إجمالي المياه المتاحة للاستخدام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46320" y="1005840"/>
            <a:ext cx="3931920" cy="1645920"/>
          </a:xfrm>
          <a:prstGeom prst="rect">
            <a:avLst/>
          </a:prstGeom>
          <a:solidFill>
            <a:srgbClr val="4DB8E8"/>
          </a:solidFill>
          <a:ln w="25400">
            <a:solidFill>
              <a:srgbClr val="C6282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29200" y="12801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 مليار م³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5029200" y="19202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الموارد المائية المتاحة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029200" y="22860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سنويًا (أقل من الدول المجاورة بكثير)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3931920" cy="1645920"/>
          </a:xfrm>
          <a:prstGeom prst="rect">
            <a:avLst/>
          </a:prstGeom>
          <a:solidFill>
            <a:srgbClr val="4DB8E8"/>
          </a:solidFill>
          <a:ln w="25400">
            <a:solidFill>
              <a:srgbClr val="C6282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1089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حرج جدًا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749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تصنيف الإجهاد المائي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41148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الأردن من أكثر دول العالم ندرة للمياه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46320" y="2834640"/>
            <a:ext cx="3931920" cy="1645920"/>
          </a:xfrm>
          <a:prstGeom prst="rect">
            <a:avLst/>
          </a:prstGeom>
          <a:solidFill>
            <a:srgbClr val="4DB8E8"/>
          </a:solidFill>
          <a:ln w="25400">
            <a:solidFill>
              <a:srgbClr val="C6282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29200" y="31089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وادي الأردن، البادية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5029200" y="3749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مناطق الإجهاد الشديد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0" y="41148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مناطق حرجة تتطلب تدخل فوري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E89B3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المناخ والقيود الطبيعية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78992"/>
            <a:ext cx="365760" cy="365760"/>
          </a:xfrm>
          <a:prstGeom prst="circle">
            <a:avLst/>
          </a:prstGeom>
          <a:solidFill>
            <a:srgbClr val="E89B3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65760" y="1051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⚠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1051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الجفاف الشديد والمستمر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132588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معدل الأمطار السنوي 50-300 ملم في معظم المناطق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764792"/>
            <a:ext cx="365760" cy="365760"/>
          </a:xfrm>
          <a:prstGeom prst="circle">
            <a:avLst/>
          </a:prstGeom>
          <a:solidFill>
            <a:srgbClr val="E89B3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6576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⚠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1737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ندرة المياه العميقة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01168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الاستخراج من الآبار يتجاوز التجدد السنوي بنسبة 150%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450592"/>
            <a:ext cx="365760" cy="365760"/>
          </a:xfrm>
          <a:prstGeom prst="circle">
            <a:avLst/>
          </a:prstGeom>
          <a:solidFill>
            <a:srgbClr val="E89B3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657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⚠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2423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التصحر وتدهور الأراضي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269748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136392"/>
            <a:ext cx="365760" cy="365760"/>
          </a:xfrm>
          <a:prstGeom prst="circle">
            <a:avLst/>
          </a:prstGeom>
          <a:solidFill>
            <a:srgbClr val="E89B3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6576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⚠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3108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التغير المناخي والارتفاع الحراري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914400" y="338328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ارتفاع درجات الحرارة يؤثر على المحاصيل بنسبة 20-30%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822192"/>
            <a:ext cx="365760" cy="365760"/>
          </a:xfrm>
          <a:prstGeom prst="circle">
            <a:avLst/>
          </a:prstGeom>
          <a:solidFill>
            <a:srgbClr val="E89B3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365760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⚠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914400" y="3794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الضغط السكاني والهجرة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14400" y="406908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زيادة الطلب على الغذاء وضغط على الموارد الطبيعية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D501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ملاءمة التكنولوجيا والحلول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8595360" cy="777240"/>
          </a:xfrm>
          <a:prstGeom prst="rect">
            <a:avLst/>
          </a:prstGeom>
          <a:solidFill>
            <a:srgbClr val="4DB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0789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الري بالتنقيط والري الحديث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017520" y="1051560"/>
            <a:ext cx="1280160" cy="320040"/>
          </a:xfrm>
          <a:prstGeom prst="rect">
            <a:avLst/>
          </a:prstGeom>
          <a:solidFill>
            <a:srgbClr val="2D501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017520" y="10789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عالي جدًا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480560" y="1078992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 من الأراضي المروية | توفير المياه بنسبة 50-60%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9476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محطات التحلية (البحر والمياه المالحة)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017520" y="1920240"/>
            <a:ext cx="1280160" cy="32004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017520" y="194767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عالي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4480560" y="1947672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محطات رئيسية | إنتاج 200 مليون م³ سنويًا إضافية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2743200"/>
            <a:ext cx="8595360" cy="777240"/>
          </a:xfrm>
          <a:prstGeom prst="rect">
            <a:avLst/>
          </a:prstGeom>
          <a:solidFill>
            <a:srgbClr val="4DB8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281635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معالجة وإعادة استخدام المياه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017520" y="2788920"/>
            <a:ext cx="1280160" cy="32004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017520" y="28163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عالي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4480560" y="2816352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من المياه المعالجة | توفير 500 مليون م³ سنويًا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36850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الطاقة الشمسية لمضخات الري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017520" y="3657600"/>
            <a:ext cx="1280160" cy="320040"/>
          </a:xfrm>
          <a:prstGeom prst="rect">
            <a:avLst/>
          </a:prstGeom>
          <a:solidFill>
            <a:srgbClr val="2D501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017520" y="36850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عالي جدًا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4480560" y="3685032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1000+ محطة | خفض تكاليف الطاقة بنسبة 70%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A5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دراسة حالة: وادي الأردن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الموقع: وادي الأردن - من الشمال إلى جنوب البحر الميت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4023360" cy="45720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3075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التحديات: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82880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أهم منطقة زراعية لكنها تعاني من إجهاد مائي شديد وتدهور التربة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1280160"/>
            <a:ext cx="4023360" cy="457200"/>
          </a:xfrm>
          <a:prstGeom prst="rect">
            <a:avLst/>
          </a:prstGeom>
          <a:solidFill>
            <a:srgbClr val="2D501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846320" y="13075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الحلول: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18288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نظام الري الحديث والتنقيط المتقدم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2402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محطات معالجة المياه وإعادة الاستخدام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265176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حصاد المياه من الأودية الموسمية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30632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إدارة ذكية للموارد المائية والتخطيط الزراعي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4389120"/>
            <a:ext cx="8229600" cy="594360"/>
          </a:xfrm>
          <a:prstGeom prst="rect">
            <a:avLst/>
          </a:prstGeom>
          <a:solidFill>
            <a:srgbClr val="4DB8E8"/>
          </a:solidFill>
          <a:ln w="25400">
            <a:solidFill>
              <a:srgbClr val="1A3A5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45262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A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النتائج: زيادة إنتاجية الأراضي بنسبة 40% مع توفير المياه بنسبة 45%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A5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دراسة حالة: منطقة البحر الميت والسياحة الزراعية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الموقع: محافظة أريحا والبحر الميت - أقل نقطة على الأرض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4023360" cy="45720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3075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التحديات: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82880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ملوحة عالية جدًا، تأثر بانخفاض منسوب البحر الميت، فرص اقتصادية محدودة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1280160"/>
            <a:ext cx="4023360" cy="457200"/>
          </a:xfrm>
          <a:prstGeom prst="rect">
            <a:avLst/>
          </a:prstGeom>
          <a:solidFill>
            <a:srgbClr val="2D501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846320" y="13075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الحلول: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18288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محاصيل متخصصة مقاومة للملح (الأفوكادو، الحمضيات، التمر)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2402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السياحة الزراعية والعلاجات الصحية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265176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تطبيق تقنيات الزراعة المائية المتقدمة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30632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الشراكات مع القطاع السياحي للتسويق المتكامل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4389120"/>
            <a:ext cx="8229600" cy="594360"/>
          </a:xfrm>
          <a:prstGeom prst="rect">
            <a:avLst/>
          </a:prstGeom>
          <a:solidFill>
            <a:srgbClr val="4DB8E8"/>
          </a:solidFill>
          <a:ln w="25400">
            <a:solidFill>
              <a:srgbClr val="1A3A5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45262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A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النتائج: خلق 500-800 فرصة عمل وزيادة دخل المنطقة بنسبة 35%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A5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دراسة حالة: منطقة عمّان والمرتفعات الوسطى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الموقع: محافظات عمّان والزرقاء والمفرق - مناطق جبلية وأمطار محدودة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4023360" cy="45720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3075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التحديات: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82880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فقر الموارد المائية، تقلب المناخ، الفقر الريفي، الهجرة القروية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1280160"/>
            <a:ext cx="4023360" cy="457200"/>
          </a:xfrm>
          <a:prstGeom prst="rect">
            <a:avLst/>
          </a:prstGeom>
          <a:solidFill>
            <a:srgbClr val="2D501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846320" y="13075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الحلول: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18288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تطوير المحاصيل الجافة والزيتون والأشجار المثمرة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2402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برامج الحصاد المائي والخزانات الصغيرة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265176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الثروة الحيوانية المستدامة والدواجن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30632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التعاونيات الزراعية ودعم المزارعين الصغار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4389120"/>
            <a:ext cx="8229600" cy="594360"/>
          </a:xfrm>
          <a:prstGeom prst="rect">
            <a:avLst/>
          </a:prstGeom>
          <a:solidFill>
            <a:srgbClr val="4DB8E8"/>
          </a:solidFill>
          <a:ln w="25400">
            <a:solidFill>
              <a:srgbClr val="1A3A5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45262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A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النتائج: زيادة دخل الأسر الريفية بنسبة 30% وتحسين الأمن الغذائي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A5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البيئة التنظيمية والسياسات الزراعية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52144"/>
            <a:ext cx="274320" cy="274320"/>
          </a:xfrm>
          <a:prstGeom prst="circle">
            <a:avLst/>
          </a:prstGeom>
          <a:solidFill>
            <a:srgbClr val="1A3A52"/>
          </a:solidFill>
          <a:ln/>
        </p:spPr>
      </p:sp>
      <p:sp>
        <p:nvSpPr>
          <p:cNvPr id="5" name="Shape 3"/>
          <p:cNvSpPr/>
          <p:nvPr/>
        </p:nvSpPr>
        <p:spPr>
          <a:xfrm>
            <a:off x="594360" y="1417320"/>
            <a:ext cx="0" cy="521208"/>
          </a:xfrm>
          <a:prstGeom prst="line">
            <a:avLst/>
          </a:prstGeom>
          <a:noFill/>
          <a:ln w="25400">
            <a:solidFill>
              <a:srgbClr val="1A3A5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005840"/>
            <a:ext cx="7772400" cy="612648"/>
          </a:xfrm>
          <a:prstGeom prst="rect">
            <a:avLst/>
          </a:prstGeom>
          <a:solidFill>
            <a:srgbClr val="4DB8E8"/>
          </a:solidFill>
          <a:ln/>
        </p:spPr>
      </p:sp>
      <p:sp>
        <p:nvSpPr>
          <p:cNvPr id="7" name="Shape 5"/>
          <p:cNvSpPr/>
          <p:nvPr/>
        </p:nvSpPr>
        <p:spPr>
          <a:xfrm>
            <a:off x="1097280" y="1078992"/>
            <a:ext cx="1097280" cy="256032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97280" y="10972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2013-2025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2377440" y="1060704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استراتيجية الأمن الغذائي الوطنية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377440" y="1325880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تحسين الاكتفاء الذاتي وكفاءة الموارد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1883664"/>
            <a:ext cx="274320" cy="274320"/>
          </a:xfrm>
          <a:prstGeom prst="circle">
            <a:avLst/>
          </a:prstGeom>
          <a:solidFill>
            <a:srgbClr val="1A3A52"/>
          </a:solidFill>
          <a:ln/>
        </p:spPr>
      </p:sp>
      <p:sp>
        <p:nvSpPr>
          <p:cNvPr id="12" name="Shape 10"/>
          <p:cNvSpPr/>
          <p:nvPr/>
        </p:nvSpPr>
        <p:spPr>
          <a:xfrm>
            <a:off x="594360" y="2148840"/>
            <a:ext cx="0" cy="521208"/>
          </a:xfrm>
          <a:prstGeom prst="line">
            <a:avLst/>
          </a:prstGeom>
          <a:noFill/>
          <a:ln w="25400">
            <a:solidFill>
              <a:srgbClr val="1A3A5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1737360"/>
            <a:ext cx="7772400" cy="612648"/>
          </a:xfrm>
          <a:prstGeom prst="rect">
            <a:avLst/>
          </a:prstGeom>
          <a:solidFill>
            <a:srgbClr val="4DB8E8"/>
          </a:solidFill>
          <a:ln/>
        </p:spPr>
      </p:sp>
      <p:sp>
        <p:nvSpPr>
          <p:cNvPr id="14" name="Shape 12"/>
          <p:cNvSpPr/>
          <p:nvPr/>
        </p:nvSpPr>
        <p:spPr>
          <a:xfrm>
            <a:off x="1097280" y="1810512"/>
            <a:ext cx="1097280" cy="256032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97280" y="18288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2016-2025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2377440" y="1792224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الخطة الوطنية للمياه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2377440" y="2057400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إدارة مستدامة وتقليل الفاقد المائي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615184"/>
            <a:ext cx="274320" cy="274320"/>
          </a:xfrm>
          <a:prstGeom prst="circle">
            <a:avLst/>
          </a:prstGeom>
          <a:solidFill>
            <a:srgbClr val="1A3A52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360" y="2880360"/>
            <a:ext cx="0" cy="521208"/>
          </a:xfrm>
          <a:prstGeom prst="line">
            <a:avLst/>
          </a:prstGeom>
          <a:noFill/>
          <a:ln w="25400">
            <a:solidFill>
              <a:srgbClr val="1A3A5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2468880"/>
            <a:ext cx="7772400" cy="612648"/>
          </a:xfrm>
          <a:prstGeom prst="rect">
            <a:avLst/>
          </a:prstGeom>
          <a:solidFill>
            <a:srgbClr val="4DB8E8"/>
          </a:solidFill>
          <a:ln/>
        </p:spPr>
      </p:sp>
      <p:sp>
        <p:nvSpPr>
          <p:cNvPr id="21" name="Shape 19"/>
          <p:cNvSpPr/>
          <p:nvPr/>
        </p:nvSpPr>
        <p:spPr>
          <a:xfrm>
            <a:off x="1097280" y="2542032"/>
            <a:ext cx="1097280" cy="256032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97280" y="2560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جاري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2377440" y="2523744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برنامج تطوير القطاع الزراعي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2377440" y="2788920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تحديث البنية التحتية والتكنولوجيا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3346704"/>
            <a:ext cx="274320" cy="274320"/>
          </a:xfrm>
          <a:prstGeom prst="circle">
            <a:avLst/>
          </a:prstGeom>
          <a:solidFill>
            <a:srgbClr val="1A3A52"/>
          </a:solidFill>
          <a:ln/>
        </p:spPr>
      </p:sp>
      <p:sp>
        <p:nvSpPr>
          <p:cNvPr id="26" name="Shape 24"/>
          <p:cNvSpPr/>
          <p:nvPr/>
        </p:nvSpPr>
        <p:spPr>
          <a:xfrm>
            <a:off x="594360" y="3611880"/>
            <a:ext cx="0" cy="521208"/>
          </a:xfrm>
          <a:prstGeom prst="line">
            <a:avLst/>
          </a:prstGeom>
          <a:noFill/>
          <a:ln w="25400">
            <a:solidFill>
              <a:srgbClr val="1A3A5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4400" y="3200400"/>
            <a:ext cx="7772400" cy="612648"/>
          </a:xfrm>
          <a:prstGeom prst="rect">
            <a:avLst/>
          </a:prstGeom>
          <a:solidFill>
            <a:srgbClr val="4DB8E8"/>
          </a:solidFill>
          <a:ln/>
        </p:spPr>
      </p:sp>
      <p:sp>
        <p:nvSpPr>
          <p:cNvPr id="28" name="Shape 26"/>
          <p:cNvSpPr/>
          <p:nvPr/>
        </p:nvSpPr>
        <p:spPr>
          <a:xfrm>
            <a:off x="1097280" y="3273552"/>
            <a:ext cx="1097280" cy="256032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1097280" y="32918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2020-2030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2377440" y="3255264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خطة الطاقة والمياه المتجددة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2377440" y="3520440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من الطاقة من مصادر متجددة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7200" y="4078224"/>
            <a:ext cx="274320" cy="274320"/>
          </a:xfrm>
          <a:prstGeom prst="circle">
            <a:avLst/>
          </a:prstGeom>
          <a:solidFill>
            <a:srgbClr val="1A3A52"/>
          </a:solidFill>
          <a:ln/>
        </p:spPr>
      </p:sp>
      <p:sp>
        <p:nvSpPr>
          <p:cNvPr id="33" name="Shape 31"/>
          <p:cNvSpPr/>
          <p:nvPr/>
        </p:nvSpPr>
        <p:spPr>
          <a:xfrm>
            <a:off x="914400" y="3931920"/>
            <a:ext cx="7772400" cy="612648"/>
          </a:xfrm>
          <a:prstGeom prst="rect">
            <a:avLst/>
          </a:prstGeom>
          <a:solidFill>
            <a:srgbClr val="4DB8E8"/>
          </a:solidFill>
          <a:ln/>
        </p:spPr>
      </p:sp>
      <p:sp>
        <p:nvSpPr>
          <p:cNvPr id="34" name="Shape 32"/>
          <p:cNvSpPr/>
          <p:nvPr/>
        </p:nvSpPr>
        <p:spPr>
          <a:xfrm>
            <a:off x="1097280" y="4005072"/>
            <a:ext cx="1097280" cy="256032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1097280" y="40233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2020-2030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2377440" y="3986784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سياسة التكيف مع تغير المناخ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2377440" y="4251960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بناء المرونة الزراعية والاقتصادية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D501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فرص الشراكة والتعاون الدولي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206240" cy="1234440"/>
          </a:xfrm>
          <a:prstGeom prst="rect">
            <a:avLst/>
          </a:prstGeom>
          <a:solidFill>
            <a:srgbClr val="4DB8E8"/>
          </a:solidFill>
          <a:ln w="25400">
            <a:solidFill>
              <a:srgbClr val="2D501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097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تكنولوجيا المياه والتحلية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46304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محطات تحلية متقدمة وإعادة استخدام المياه المعالجة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4206240" cy="1234440"/>
          </a:xfrm>
          <a:prstGeom prst="rect">
            <a:avLst/>
          </a:prstGeom>
          <a:solidFill>
            <a:srgbClr val="4DB8E8"/>
          </a:solidFill>
          <a:ln w="25400">
            <a:solidFill>
              <a:srgbClr val="2D501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37760" y="1097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الطاقة الشمسية الزراعية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146304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مشاريع كبرى للطاقة الشمسية في ضخ الري والمعالجة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2331720"/>
            <a:ext cx="4206240" cy="1234440"/>
          </a:xfrm>
          <a:prstGeom prst="rect">
            <a:avLst/>
          </a:prstGeom>
          <a:solidFill>
            <a:srgbClr val="4DB8E8"/>
          </a:solidFill>
          <a:ln w="25400">
            <a:solidFill>
              <a:srgbClr val="2D501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4231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الزراعة الذكية والابتكار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78892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تطبيقات الذكاء الاصطناعي والمراقبة الدقيقة للموارد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54880" y="2331720"/>
            <a:ext cx="4206240" cy="1234440"/>
          </a:xfrm>
          <a:prstGeom prst="rect">
            <a:avLst/>
          </a:prstGeom>
          <a:solidFill>
            <a:srgbClr val="4DB8E8"/>
          </a:solidFill>
          <a:ln w="25400">
            <a:solidFill>
              <a:srgbClr val="2D501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937760" y="24231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التصدير والقيمة المضافة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937760" y="278892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تطوير منتجات زراعية عالية القيمة للأسواق العالمية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3657600"/>
            <a:ext cx="4206240" cy="1234440"/>
          </a:xfrm>
          <a:prstGeom prst="rect">
            <a:avLst/>
          </a:prstGeom>
          <a:solidFill>
            <a:srgbClr val="4DB8E8"/>
          </a:solidFill>
          <a:ln w="25400">
            <a:solidFill>
              <a:srgbClr val="2D501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7490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البحث والتطوير الزراعي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11480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تطوير أصناف محاصيل مقاومة للجفاف والملح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54880" y="3657600"/>
            <a:ext cx="4206240" cy="1234440"/>
          </a:xfrm>
          <a:prstGeom prst="rect">
            <a:avLst/>
          </a:prstGeom>
          <a:solidFill>
            <a:srgbClr val="4DB8E8"/>
          </a:solidFill>
          <a:ln w="25400">
            <a:solidFill>
              <a:srgbClr val="2D501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937760" y="37490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التدريب والقدرات البشرية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937760" y="411480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برامج تدريب المزارعين على الزراعة الحديثة والمستدامة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A5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حجم الاستثمارات والعوائد المتوقعة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8595360" cy="640080"/>
          </a:xfrm>
          <a:prstGeom prst="rect">
            <a:avLst/>
          </a:prstGeom>
          <a:solidFill>
            <a:srgbClr val="4DB8E8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1828800" cy="4572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111556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150-200 مليون دولار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560320" y="1078992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الاستثمار السنوي المطلوب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2560320" y="132588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لتحديث البنية التحتية والتكنولوجيا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783080"/>
            <a:ext cx="1828800" cy="4572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" y="180136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5-10 سنوات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2560320" y="1764792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الفترة الزمنية للعائد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560320" y="201168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للوصول إلى الاستدامة المالية والبيئية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2377440"/>
            <a:ext cx="8595360" cy="640080"/>
          </a:xfrm>
          <a:prstGeom prst="rect">
            <a:avLst/>
          </a:prstGeom>
          <a:solidFill>
            <a:srgbClr val="4DB8E8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468880"/>
            <a:ext cx="1828800" cy="4572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7200" y="248716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2.0-3.0x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2560320" y="2450592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العائد على الاستثمار المتوقع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2560320" y="269748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خلال 10-15 سنة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3154680"/>
            <a:ext cx="1828800" cy="4572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57200" y="317296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15,000-25,000 فرصة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2560320" y="3136392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خلق فرص العمل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2560320" y="338328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في الزراعة والصناعات ذات الصلة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3A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الخلاصة والتوصيات الاستراتيجية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1887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4A574"/>
                </a:solidFill>
              </a:rPr>
              <a:t>✓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188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الاستثمار الاستراتيجي في تحلية المياه وإعادة الاستخدام لتوسيع الموارد المائية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5544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4A574"/>
                </a:solidFill>
              </a:rPr>
              <a:t>✓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554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تسريع تطبيق تقنيات الري الحديث في وادي الأردن والمناطق الإنتاجية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9202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4A574"/>
                </a:solidFill>
              </a:rPr>
              <a:t>✓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1920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تعزيز دور الطاقة الشمسية في تقليل تكاليف الري والإنتاج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2860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4A574"/>
                </a:solidFill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286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دعم البحث والتطوير لأصناف محاصيل تتحمل الجفاف والملح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26517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4A574"/>
                </a:solidFill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2651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تشجيع الاستثمارات الدولية والشراكات في القطاع الزراعي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30175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4A574"/>
                </a:solidFill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017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تحسين الأمن الغذائي والاكتفاء الذاتي مع الحفاظ على الموارد الطبيعية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2026-09-14T06:52:35Z</dcterms:created>
  <dcterms:modified xsi:type="dcterms:W3CDTF">2026-09-14T06:52:35Z</dcterms:modified>
</cp:coreProperties>
</file>