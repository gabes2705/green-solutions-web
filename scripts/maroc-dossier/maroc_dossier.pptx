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دراسة سوق التنمية الزراعية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CB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المملكة المغربية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نظرة عامة على السوق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1371600"/>
          </a:xfrm>
          <a:prstGeom prst="rect">
            <a:avLst/>
          </a:prstGeom>
          <a:solidFill>
            <a:srgbClr val="4DB8E8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الموقع الجغرافي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00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شمال إفريقيا، موقع استراتيجي بين أوروبا وإفريقيا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474720" cy="1371600"/>
          </a:xfrm>
          <a:prstGeom prst="rect">
            <a:avLst/>
          </a:prstGeom>
          <a:solidFill>
            <a:srgbClr val="4DB8E8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السكان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600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مليون نسمة بمعدل نمو سنوي 1.3%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474720" cy="1371600"/>
          </a:xfrm>
          <a:prstGeom prst="rect">
            <a:avLst/>
          </a:prstGeom>
          <a:solidFill>
            <a:srgbClr val="4DB8E8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الاقتصاد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971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الناتج المحلي الإجمالي: 156 مليار دولار أمريكي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468880"/>
            <a:ext cx="3474720" cy="1371600"/>
          </a:xfrm>
          <a:prstGeom prst="rect">
            <a:avLst/>
          </a:prstGeom>
          <a:solidFill>
            <a:srgbClr val="4DB8E8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🌾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الزراعة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971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12-14% من الناتج المحلي الإجمالي، توظف 13% من القوى العاملة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القطاعات الزراعية الرئيسية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685800"/>
          </a:xfrm>
          <a:prstGeom prst="rect">
            <a:avLst/>
          </a:prstGeom>
          <a:solidFill>
            <a:srgbClr val="E89B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القمح والشعير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ملايين طن سنويًا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 مليون هكتار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73152" cy="685800"/>
          </a:xfrm>
          <a:prstGeom prst="rect">
            <a:avLst/>
          </a:prstGeom>
          <a:solidFill>
            <a:srgbClr val="E89B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الزيتون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900,000 - 1.2 مليون طن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600,000 هكتار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8595360" cy="68580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560320"/>
            <a:ext cx="73152" cy="685800"/>
          </a:xfrm>
          <a:prstGeom prst="rect">
            <a:avLst/>
          </a:prstGeom>
          <a:solidFill>
            <a:srgbClr val="E89B3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التمر والنخيل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160,000 طن سنويًا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هكتار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73152" cy="685800"/>
          </a:xfrm>
          <a:prstGeom prst="rect">
            <a:avLst/>
          </a:prstGeom>
          <a:solidFill>
            <a:srgbClr val="E89B3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الحمضيات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مليون طن سنويًا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410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هكتار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4114800"/>
            <a:ext cx="73152" cy="685800"/>
          </a:xfrm>
          <a:prstGeom prst="rect">
            <a:avLst/>
          </a:prstGeom>
          <a:solidFill>
            <a:srgbClr val="E89B3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اللوز والكروم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 طن سنويًا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هكتار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أنماط استخدام المياه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645920"/>
          </a:xfrm>
          <a:prstGeom prst="rect">
            <a:avLst/>
          </a:prstGeom>
          <a:solidFill>
            <a:srgbClr val="4DB8E8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استهلاك المياه الزراعية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إجمالي المياه المتاحة للاستخدام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1645920"/>
          </a:xfrm>
          <a:prstGeom prst="rect">
            <a:avLst/>
          </a:prstGeom>
          <a:solidFill>
            <a:srgbClr val="4DB8E8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مليار م³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الموارد المائية المتاحة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سنويًا (متوسط، قابل للتقلب)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31920" cy="1645920"/>
          </a:xfrm>
          <a:prstGeom prst="rect">
            <a:avLst/>
          </a:prstGeom>
          <a:solidFill>
            <a:srgbClr val="4DB8E8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عالي جدًا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الضغط المائي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معدل استخراج المياه 115% من المجموع المتجدد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931920" cy="1645920"/>
          </a:xfrm>
          <a:prstGeom prst="rect">
            <a:avLst/>
          </a:prstGeom>
          <a:solidFill>
            <a:srgbClr val="4DB8E8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وادي درعة، الأطلس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مناطق الإجهاد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أعلى المناطق الحرجة للقطاع الزراعي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9B3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المناخ والقيود الطبيعية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365760" cy="365760"/>
          </a:xfrm>
          <a:prstGeom prst="circle">
            <a:avLst/>
          </a:prstGeom>
          <a:solidFill>
            <a:srgbClr val="E89B3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الجفاف المتكرر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325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انخفاض الإنتاج حتى 50% في السنوات الجافة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365760" cy="365760"/>
          </a:xfrm>
          <a:prstGeom prst="circle">
            <a:avLst/>
          </a:prstGeom>
          <a:solidFill>
            <a:srgbClr val="E89B3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الفيضانات الموسمية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0116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خسائر كبيرة في المحاصيل والبنية التحتية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50592"/>
            <a:ext cx="365760" cy="365760"/>
          </a:xfrm>
          <a:prstGeom prst="circle">
            <a:avLst/>
          </a:prstGeom>
          <a:solidFill>
            <a:srgbClr val="E89B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التصحر وتدهور التربة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6974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فقدان إنتاجية الأراضي سنويًا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36392"/>
            <a:ext cx="365760" cy="365760"/>
          </a:xfrm>
          <a:prstGeom prst="circle">
            <a:avLst/>
          </a:prstGeom>
          <a:solidFill>
            <a:srgbClr val="E89B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57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التغير المناخي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3832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ارتفاع درجات الحرارة 1.5 درجة مئوية منذ 1960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365760" cy="365760"/>
          </a:xfrm>
          <a:prstGeom prst="circle">
            <a:avLst/>
          </a:prstGeom>
          <a:solidFill>
            <a:srgbClr val="E89B3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ندرة المياه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0690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تأثر 55% من الأراضي الزراعية بالإجهاد المائي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ملاءمة التكنولوجيا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77724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78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الري بالتنقيط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1051560"/>
            <a:ext cx="1280160" cy="320040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17520" y="1078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عالي جدًا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07899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من الأراضي المروية | توفير المياه بنسبة 40-60%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47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مراقبة التربة الذكية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920240"/>
            <a:ext cx="1280160" cy="3200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17520" y="1947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متوسط إلى عالي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94767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5-10% من المزارعين | تحسين إنتاجية المحاصيل بنسبة 20-30%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8595360" cy="77724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816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الطاقة الشمسية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2788920"/>
            <a:ext cx="1280160" cy="320040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17520" y="2816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عالي جدًا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8163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محطة توليد | خفض تكاليف الطاقة بنسبة 60-70%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685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الزراعة الذكية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3657600"/>
            <a:ext cx="1280160" cy="3200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017520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متوسط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36850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10-15% من المزارعين | زيادة المحاصيل والكفاءة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دراسة حالة: وادي درعة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الموقع: جنوب شرق المغرب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E89B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التحديات: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شح المياه والتصحر والهجرة القروية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الحلول: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تطوير الري الحديث (التنقيط والري بالرش)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إنشاء نظام حصاد المياه والسدود الصغيرة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تعزيز زراعة التمر والنخيل المحلية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63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استخدام الطاقة الشمسية لضخ المياه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4DB8E8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النتائج: زيادة الإنتاجية بنسبة 35% والدخل الفلاحي بنسبة 45%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دراسة حالة: منطقة دكالة الدرعية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الموقع: الدار البيضاء - سيدي بنور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E89B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التحديات: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تدهور التربة والإفراط في استخدام المياه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الحلول: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تطبيق الزراعة المستدامة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برامج تدوير المحاصيل والتسميد الأخضر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نظم الحصاد المائي المتقدمة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63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الإرشاد الزراعي والتدريب المكثف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4DB8E8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النتائج: انخفاض استهلاك المياه بنسبة 30% وزيادة الغلة بنسبة 25%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دراسة حالة: حوض الأطلس المتوسط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الموقع: فاس - إفران - مكناس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E89B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التحديات: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تقلب المناخ والفقر الريفي وقلة البنية التحتية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الحلول: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تطوير الثروة الحيوانية المستدامة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زراعة اللوز والفواكه المحلية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برامج الطاقة المتجددة المجتمعية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63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تعاونيات نسائية للمنتجات المحلية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4DB8E8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النتائج: زيادة دخل الأسر الريفية بنسبة 40% وتحسين الأمن الغذائي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البيئة التنظيمية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52144"/>
            <a:ext cx="274320" cy="274320"/>
          </a:xfrm>
          <a:prstGeom prst="circle">
            <a:avLst/>
          </a:prstGeom>
          <a:solidFill>
            <a:srgbClr val="00897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17320"/>
            <a:ext cx="0" cy="521208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005840"/>
            <a:ext cx="7772400" cy="612648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078992"/>
            <a:ext cx="109728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097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2008-2020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06070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استراتيجية "المغرب الأخضر"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3258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تحديث الزراعة والاستدامة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83664"/>
            <a:ext cx="274320" cy="274320"/>
          </a:xfrm>
          <a:prstGeom prst="circle">
            <a:avLst/>
          </a:prstGeom>
          <a:solidFill>
            <a:srgbClr val="00897B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148840"/>
            <a:ext cx="0" cy="521208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737360"/>
            <a:ext cx="7772400" cy="612648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1810512"/>
            <a:ext cx="109728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1828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جاري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179222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برنامج الري الحديث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05740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نقل 50% من الأراضي للري الحديث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15184"/>
            <a:ext cx="274320" cy="274320"/>
          </a:xfrm>
          <a:prstGeom prst="circle">
            <a:avLst/>
          </a:prstGeom>
          <a:solidFill>
            <a:srgbClr val="00897B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880360"/>
            <a:ext cx="0" cy="521208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2468880"/>
            <a:ext cx="7772400" cy="612648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2542032"/>
            <a:ext cx="109728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97280" y="2560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252374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قانون المياه والطاقة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27889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مستدامة للموارد الطبيعية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346704"/>
            <a:ext cx="274320" cy="274320"/>
          </a:xfrm>
          <a:prstGeom prst="circle">
            <a:avLst/>
          </a:prstGeom>
          <a:solidFill>
            <a:srgbClr val="00897B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611880"/>
            <a:ext cx="0" cy="521208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3200400"/>
            <a:ext cx="7772400" cy="612648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7280" y="3273552"/>
            <a:ext cx="109728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9728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2020-2030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377440" y="325526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الخطة الوطنية للطاقات المتجددة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377440" y="35204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من الكهرباء من الطاقات المتجددة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078224"/>
            <a:ext cx="274320" cy="274320"/>
          </a:xfrm>
          <a:prstGeom prst="circle">
            <a:avLst/>
          </a:prstGeom>
          <a:solidFill>
            <a:srgbClr val="00897B"/>
          </a:solidFill>
          <a:ln/>
        </p:spPr>
      </p:sp>
      <p:sp>
        <p:nvSpPr>
          <p:cNvPr id="33" name="Shape 31"/>
          <p:cNvSpPr/>
          <p:nvPr/>
        </p:nvSpPr>
        <p:spPr>
          <a:xfrm>
            <a:off x="914400" y="3931920"/>
            <a:ext cx="7772400" cy="612648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34" name="Shape 32"/>
          <p:cNvSpPr/>
          <p:nvPr/>
        </p:nvSpPr>
        <p:spPr>
          <a:xfrm>
            <a:off x="1097280" y="4005072"/>
            <a:ext cx="1097280" cy="2560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97280" y="4023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2020-2030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377440" y="398678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خطة التكيف مع التغير المناخي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2377440" y="425196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تعزيز المرونة الزراعية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فرص الشراكة والتعاون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7CB3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نقل التكنولوجيا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الشراكة في الري الذكي وتطبيقات الذكاء الاصطناعي الزراعية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7CB3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الاستثمار في الطاقة الشمسية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463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محطات توليد الطاقة والتخزين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7CB3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المياه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88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مشاريع إعادة استخدام المياه المعالجة والحصاد المائي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7CB3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التدريب والقدرات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788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برامج تدريب المزارعين على الزراعة الحديثة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7CB3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البحث والتطوير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14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أصناف محاصيل مقاومة للجفاف والملح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365760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7CB3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التصدير والقيمة المضافة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4114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سلاسل القيمة وتصنيع المنتجات الزراعية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D501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حجم الاستثمارات والعوائد المتوقعة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828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115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400-500 مليون دولار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0789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الاستثمار السنوي المطلوب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3258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لتحديث الخدمات والبنية التحتية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1828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801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سنوات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17647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الفترة الزمنية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0116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للوصول إلى الاستدامة الكاملة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8595360" cy="64008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487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2.5-3.5x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24505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العائد على الاستثمار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2697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خلال 10-15 سنة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182880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172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50,000-70,000 فرصة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31363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خلق فرص العمل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33832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 الزراعة والمجالات ذات الصلة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5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الخلاصة والتوصيات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</a:rPr>
              <a:t>✓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المضي قدمًا في استثمار تكنولوجيا الري الحديث والمراقبة الذكية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54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تعزيز الاستثمار في الطاقة المتجددة بشكل خاص الطاقة الشمسية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20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تحسين إدارة المياه من خلال أنظمة الحصاد والإعادة استخدام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86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دعم المزارعين الصغار من خلال التدريب والتمويل الميسر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651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تعزيز الشراكات الدولية لنقل التكنولوجيا والخبرات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017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F37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الأصناف المحلية المقاومة للجفاف والتغير المناخي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2026-09-14T06:48:54Z</dcterms:created>
  <dcterms:modified xsi:type="dcterms:W3CDTF">2026-09-14T06:48:54Z</dcterms:modified>
</cp:coreProperties>
</file>