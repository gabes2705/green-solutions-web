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Agricultural Market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Dossier 2026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&amp; Water Sustainability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America, 3.8M sq miles, diverse climates from Pacific to Atlantic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47472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million people with stable 0.6% annual growth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47472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GDP: $27.4 trillion (world's largest economy)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347472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🌾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$400B+ market sector, ~1% of GDP but critical food security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Agricultural Sectors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(Maize)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380-420 million bushels annually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90-95 million acres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1.7-2.1 billion bushels annually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40-45 million acres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56032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2.0-2.3 billion bushels annually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85-90 million acres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million bales annually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12-14 million acres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411480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&amp; Fruits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million tons annually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5.5+ million acres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8B8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&amp; Irrigation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E0F2F1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Water Use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U.S. freshwater consumed in agriculture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645920"/>
          </a:xfrm>
          <a:prstGeom prst="rect">
            <a:avLst/>
          </a:prstGeom>
          <a:solidFill>
            <a:srgbClr val="E0F2F1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million acres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Irrigated Cropland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145+ billion gallons daily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E0F2F1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Regions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California, Texas, Colorado Basin dependent on depleting aquifers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31920" cy="1645920"/>
          </a:xfrm>
          <a:prstGeom prst="rect">
            <a:avLst/>
          </a:prstGeom>
          <a:solidFill>
            <a:srgbClr val="E0F2F1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 km³/year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Depletion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Ogallala Aquifer (High Plains) declining at critical rates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&amp; Environmental Constraints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65760" cy="365760"/>
          </a:xfrm>
          <a:prstGeom prst="circl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Drought Cycles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325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states face recurring multi-year droughts; 2012 Midwest drought reduced corn yields 26%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65760" cy="365760"/>
          </a:xfrm>
          <a:prstGeom prst="circle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Depletion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11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Ogallala Aquifer supplying 8 million acres dropping 2.5-3 feet annually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365760" cy="365760"/>
          </a:xfrm>
          <a:prstGeom prst="circl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 River Compact Crisis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6974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Mead/Powell at historic lows; 4-state compact restricting allocations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36392"/>
            <a:ext cx="365760" cy="365760"/>
          </a:xfrm>
          <a:prstGeom prst="circl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57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Events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383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flooding, hail damage, erratic rainfall affecting yields and infrastructure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365760" cy="365760"/>
          </a:xfrm>
          <a:prstGeom prst="circle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Degradation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690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and nutrient depletion reducing productivity; 24 billion tons soil lost annually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Fit &amp; Adoption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78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Irrigation (Drip/Pivot)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051560"/>
            <a:ext cx="1280160" cy="32004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078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0789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65-70% of irrigated farmland | Save 20-50% water while increasing yields 15-25%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Soil Monitoring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1280160" cy="32004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1752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476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 of large operations | Optimize water delivery, reduce waste, increase efficiency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8595360" cy="7772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788920"/>
            <a:ext cx="1280160" cy="32004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1752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816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 solar-powered wells, 8,000+ wind installations | Cut energy costs 50-70%, reduce emissions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Crop Management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657600"/>
            <a:ext cx="1280160" cy="32004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752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6850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 adoption, growing rapidly | Predict yields, optimize inputs, reduce losses 10-20%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8B8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California Central Valley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Central California, 40% of U.S. vegetables &amp; 1/3 of fruits/nuts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groundwater depletion (subsidence 1 foot/year), surface water shortages, competing urban demand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to drip irrigation and precision watering systems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real-time soil moisture monitoring networks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recycled water and groundwater recharge programs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solar-powered irrigation pumping systems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474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Sustainable farming certification programs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E0F2F1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Reduced water use 25-35%, maintained yields, stabilized aquifer levels in pilot areas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8B8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Texas High Plains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Panhandle &amp; Southern Plains, top cotton &amp; grain production region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Ogallala Aquifer depletion (60+ feet decline since 1960), irrigation dependency, extreme drought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 to center-pivot drip-compatible systems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 to drought-resistant crop varieties (sorghum, peanuts)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crop rotation and cover cropping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soil carbon sequestration programs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474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groundwater banking and surface water partnerships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E0F2F1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Reduced water consumption 30-40%, improved soil health, enhanced climate resilience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8B8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Southwest Colorado Basin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Arizona, Nevada, Utah, Colorado, New Mexico - 7 states dependent on Colorado River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drought reducing water allocations 25-30%, agricultural allocation under pressure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Large-scale adoption of surface drip systems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Fallowing programs with incentive payments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Recharge basin and aquifer storage recovery projects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 markets and trading mechanisms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474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basin-wide management systems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E0F2F1"/>
          </a:solidFill>
          <a:ln w="25400">
            <a:solidFill>
              <a:srgbClr val="1F8B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Saved 1-1.5 million acre-feet annually, stabilized interstate allocations, supported farmer incomes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Governance Environment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274320" cy="274320"/>
          </a:xfrm>
          <a:prstGeom prst="circle">
            <a:avLst/>
          </a:prstGeom>
          <a:solidFill>
            <a:srgbClr val="1F8B8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0" cy="521208"/>
          </a:xfrm>
          <a:prstGeom prst="line">
            <a:avLst/>
          </a:prstGeom>
          <a:noFill/>
          <a:ln w="25400">
            <a:solidFill>
              <a:srgbClr val="1F8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05840"/>
            <a:ext cx="7772400" cy="6126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7899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06070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Act &amp; EPA Regulations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3258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quality, irrigation runoff management, pesticide controls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274320" cy="274320"/>
          </a:xfrm>
          <a:prstGeom prst="circle">
            <a:avLst/>
          </a:prstGeom>
          <a:solidFill>
            <a:srgbClr val="1F8B8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48840"/>
            <a:ext cx="0" cy="521208"/>
          </a:xfrm>
          <a:prstGeom prst="line">
            <a:avLst/>
          </a:prstGeom>
          <a:noFill/>
          <a:ln w="25400">
            <a:solidFill>
              <a:srgbClr val="1F8B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737360"/>
            <a:ext cx="7772400" cy="6126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181051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Historical-Present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179222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Interstate Water Compacts (7 compacts)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0574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Colorado, Rio Grande, Platte, Missouri, Columbia river allocations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274320" cy="274320"/>
          </a:xfrm>
          <a:prstGeom prst="circle">
            <a:avLst/>
          </a:prstGeom>
          <a:solidFill>
            <a:srgbClr val="1F8B8B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880360"/>
            <a:ext cx="0" cy="521208"/>
          </a:xfrm>
          <a:prstGeom prst="line">
            <a:avLst/>
          </a:prstGeom>
          <a:noFill/>
          <a:ln w="25400">
            <a:solidFill>
              <a:srgbClr val="1F8B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468880"/>
            <a:ext cx="7772400" cy="6126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54203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252374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Conservation Programs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27889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$7B+ annually for sustainability, soil health, water conservation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46704"/>
            <a:ext cx="274320" cy="274320"/>
          </a:xfrm>
          <a:prstGeom prst="circle">
            <a:avLst/>
          </a:prstGeom>
          <a:solidFill>
            <a:srgbClr val="1F8B8B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611880"/>
            <a:ext cx="0" cy="521208"/>
          </a:xfrm>
          <a:prstGeom prst="line">
            <a:avLst/>
          </a:prstGeom>
          <a:noFill/>
          <a:ln w="25400">
            <a:solidFill>
              <a:srgbClr val="1F8B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200400"/>
            <a:ext cx="7772400" cy="6126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327355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972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2014+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25526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Water Code &amp; Sustainable Groundwater Management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377440" y="3520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groundwater sustainability plans; local basin management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78224"/>
            <a:ext cx="274320" cy="274320"/>
          </a:xfrm>
          <a:prstGeom prst="circle">
            <a:avLst/>
          </a:prstGeom>
          <a:solidFill>
            <a:srgbClr val="1F8B8B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3931920"/>
            <a:ext cx="7772400" cy="6126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7280" y="400507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9728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2022-2032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398678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Reduction Act (IRA) Climate Investment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377440" y="425196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$20B for agricultural climate adaptation, renewable energy, conservation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Investment Opportunities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2344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Technology Transfer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irrigation systems, smart monitoring platforms, precision application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06240" cy="12344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Solutions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Solar/wind-powered irrigation, energy storage, microgrids for rural farms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Management Services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analytics, hydrological modeling, predictive water demand systems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206240" cy="12344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&amp; Risk Management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bonds, water credits, sustainability-linked lending, drought insurance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206240" cy="12344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Resilience R&amp;D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drought-tolerant varieties, regenerative practices, carbon farming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206240" cy="12344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&amp; Basin Management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114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water management platforms, recharge projects, inter-state coordination tools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&amp; Investment Potential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$15-20 billion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789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Investment Need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3258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water infrastructure upgrades, technology adoption, sustainability transitions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801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 years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7647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011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full water-efficient agriculture transition across water-stressed regions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859536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2-3x returns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4505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ROI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697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10-15 years through yield preservation, cost savings, water trading income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828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100,000-150,000 roles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1363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Creation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383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management specialists, renewable energy technicians, precision agriculture analysts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adoption of precision irrigation and smart water monitoring across water-stressed regions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renewable energy integration for irrigation systems, reducing operational costs and emissions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interstate water management coordination and science-based allocation systems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groundwater recharge and aquifer storage recovery infrastructure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regional water markets and incentive programs for conservation practices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research into drought-resistant crop varieties and regenerative farming methods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2026-09-14T06:49:28Z</dcterms:created>
  <dcterms:modified xsi:type="dcterms:W3CDTF">2026-09-14T06:49:28Z</dcterms:modified>
</cp:coreProperties>
</file>