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8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دراسة سوق التنمية الزراعية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سلطنة عمّان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نظرة عامة على السوق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474720" cy="137160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 الجغرافي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جنوب شرق شبه الجزيرة العربية، موقع استراتيجي على بحر العرب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474720" cy="137160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السكان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مليون نسمة، معدل النمو 2.1% سنويًا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3474720" cy="137160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الاقتصاد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الناتج المحلي الإجمالي: 198 مليار ريال عماني (52 مليار دولار)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468880"/>
            <a:ext cx="3474720" cy="137160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🌾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560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الزراعة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9718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4-5% من الناتج المحلي الإجمالي، توظف 4-5% من القوى العاملة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القطاعات الزراعية الرئيسية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05840"/>
            <a:ext cx="73152" cy="685800"/>
          </a:xfrm>
          <a:prstGeom prst="rect">
            <a:avLst/>
          </a:prstGeom>
          <a:solidFill>
            <a:srgbClr val="F4A4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التمر والنخيل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1078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350,000 - 380,000 طن سنويًا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078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 هكتار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83080"/>
            <a:ext cx="73152" cy="685800"/>
          </a:xfrm>
          <a:prstGeom prst="rect">
            <a:avLst/>
          </a:prstGeom>
          <a:solidFill>
            <a:srgbClr val="F4A4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الليمون والحمضيات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1856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310,000 - 340,000 طن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577840" y="1856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21,000 هكتار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8595360" cy="68580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2560320"/>
            <a:ext cx="73152" cy="685800"/>
          </a:xfrm>
          <a:prstGeom prst="rect">
            <a:avLst/>
          </a:prstGeom>
          <a:solidFill>
            <a:srgbClr val="F4A4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الخضروات (الطماطم والخيار)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180,000 - 200,000 طن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57784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 هكتار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337560"/>
            <a:ext cx="73152" cy="685800"/>
          </a:xfrm>
          <a:prstGeom prst="rect">
            <a:avLst/>
          </a:prstGeom>
          <a:solidFill>
            <a:srgbClr val="F4A46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الفلفل والبصل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410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85,000 - 100,000 طن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577840" y="3410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6,500 هكتار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4114800"/>
            <a:ext cx="73152" cy="685800"/>
          </a:xfrm>
          <a:prstGeom prst="rect">
            <a:avLst/>
          </a:prstGeom>
          <a:solidFill>
            <a:srgbClr val="F4A46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الأعلاف والحبوب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017520" y="4187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90,000 - 120,000 طن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57784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هكتار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أنماط استخدام المياه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استهلاك المياه الزراعية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إجمالي استخدام المياه المتاحة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164592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280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مليار م³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الموارد المائية المتاحة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286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سنويًا (من الينابيع والآبار والأفلاج)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931920" cy="164592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3,100 فلج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الفلج التقليدي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ري تقليدي فريد يروي 25,000 هكتار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931920" cy="164592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عالي جدًا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الضغط المائي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4114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استخراج المياه الجوفية يفوق التجدد بنسبة 25%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المناخ والقيود الطبيعية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365760" cy="365760"/>
          </a:xfrm>
          <a:prstGeom prst="circle">
            <a:avLst/>
          </a:prstGeom>
          <a:solidFill>
            <a:srgbClr val="CC66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6576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051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القحط والجفاف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325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سقوط أمطار محدود جدًا (80-100 ملم سنويًا في الداخل)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365760" cy="365760"/>
          </a:xfrm>
          <a:prstGeom prst="circle">
            <a:avLst/>
          </a:prstGeom>
          <a:solidFill>
            <a:srgbClr val="CC66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57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ندرة المياه الجوفية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116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استنزاف المياه الجوفية بمعدل 25% أعلى من التجدد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365760" cy="365760"/>
          </a:xfrm>
          <a:prstGeom prst="circle">
            <a:avLst/>
          </a:prstGeom>
          <a:solidFill>
            <a:srgbClr val="CC66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ارتفاع درجات الحرارة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6974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تصل إلى 50 درجة مئوية في الصيف، ارتفاع 1.2 درجة منذ 1980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36392"/>
            <a:ext cx="365760" cy="365760"/>
          </a:xfrm>
          <a:prstGeom prst="circle">
            <a:avLst/>
          </a:prstGeom>
          <a:solidFill>
            <a:srgbClr val="CC66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576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تملح التربة والمياه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3832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تأثر 30% من الأراضي الزراعية بالملوحة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22192"/>
            <a:ext cx="365760" cy="365760"/>
          </a:xfrm>
          <a:prstGeom prst="circle">
            <a:avLst/>
          </a:prstGeom>
          <a:solidFill>
            <a:srgbClr val="CC66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!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الرياح والعواصف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0690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فقدان التربة والرطوبة، تآكل البنية التحتية الزراعية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ملاءمة التكنولوجيا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77724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789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الري بالتنقيط والرش المحسّن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17520" y="1051560"/>
            <a:ext cx="1280160" cy="3200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017520" y="1078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عالي جدًا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107899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من الأراضي المروية | توفير المياه 50-70%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47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حصاد المياه الحديث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920240"/>
            <a:ext cx="1280160" cy="3200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17520" y="1947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عالي جدًا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94767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جارٍ التوسع | زيادة توفر المياه بنسبة 15-20%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743200"/>
            <a:ext cx="8595360" cy="77724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8163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الطاقة الشمسية للضخ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788920"/>
            <a:ext cx="1280160" cy="3200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017520" y="2816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عالي جدًا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281635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نظام مثبت | خفض تكاليف الطاقة 60-80%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6850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المراقبة الذكية والبيانات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017520" y="3657600"/>
            <a:ext cx="1280160" cy="3200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017520" y="3685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 إلى عالي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3685032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8-12% من المزارعين | تحسين إنتاجية المحاصيل 25-35%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دراسة حالة: منطقة الداخلية (ولاية نزوى)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الموقع: محافظة الداخلية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التحديات: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ندرة المياه الشديدة والجفاف المستمر وتراجع الإنتاج الزراعي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الحلول: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تطوير نظام الفلج التقليدي مع التكنولوجيا الحديثة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تطبيق الري بالتنقيط في المزارع التجارية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استخدام الطاقة الشمسية لضخ المياه من الآبار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إدخال أصناف نخيل وحمضيات محسّنة ومقاومة للجفاف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النتائج: زيادة الإنتاجية بنسبة 40% وتوفير المياه بنسبة 45% وزيادة دخل المزارعين 38%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دراسة حالة: منطقة ظفار (الخريف الموسمي)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الموقع: محافظة ظفار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التحديات: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تركيز الأمطار في فصل واحد، تقلب الإنتاج، تآكل التربة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الحلول: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بناء خزانات حصاد المياه لتجميع مياه الخريف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تطبيق الزراعة المستدامة والحفاظ على التربة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زراعة محاصيل موسمية متنوعة (الحبوب، الخضروات)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برامج التدريب المكثفة للمزارعين على الممارسات الحديثة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النتائج: استقرار الإنتاج برغم التذبذب المناخي، زيادة إنتاج الخضروات 50%، توفر السلع الغذائية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دراسة حالة: التنمية الزراعية الساحلية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الموقع: مسقط والمنطقة الساحلية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CC66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التحديات: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ارتفاع تكاليف الأراضي، تنافس من الاستخدامات الحضرية، تملح التربة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الحلول: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828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تطوير الزراعة العمودية والدفيئات عالية الكفاءة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240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استخدام تحلية المياه المدعومة بالطاقة الشمسية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51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التركيز على المنتجات عالية القيمة (الخضروات العضوية)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063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الاستثمار في تصنيع وتصدير المنتجات الزراعية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النتائج: إنتاجية أراضي أعلى 5 مرات، توظيف آلاف العمال، زيادة الصادرات الزراعية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البيئة التنظيمية والسياسات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52144"/>
            <a:ext cx="274320" cy="274320"/>
          </a:xfrm>
          <a:prstGeom prst="circle">
            <a:avLst/>
          </a:prstGeom>
          <a:solidFill>
            <a:srgbClr val="0066CC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417320"/>
            <a:ext cx="0" cy="521208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0584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078992"/>
            <a:ext cx="1097280" cy="25603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097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2016-2040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06070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الاستراتيجية الوطنية للزراعة المستدامة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13258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تحقيق الأمن الغذائي والتنمية المستدامة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883664"/>
            <a:ext cx="274320" cy="274320"/>
          </a:xfrm>
          <a:prstGeom prst="circle">
            <a:avLst/>
          </a:prstGeom>
          <a:solidFill>
            <a:srgbClr val="0066C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148840"/>
            <a:ext cx="0" cy="521208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73736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1810512"/>
            <a:ext cx="1097280" cy="25603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1828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جاري (2023-2030)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179222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تطوير الري الحديث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205740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نقل 50% من الأراضي للري الحديث الموفر للمياه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274320" cy="274320"/>
          </a:xfrm>
          <a:prstGeom prst="circle">
            <a:avLst/>
          </a:prstGeom>
          <a:solidFill>
            <a:srgbClr val="0066CC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880360"/>
            <a:ext cx="0" cy="521208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46888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2542032"/>
            <a:ext cx="1097280" cy="25603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2560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2001، محدّث 2020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377440" y="252374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قانون الموارد المائية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377440" y="27889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مستدامة وحماية المياه الجوفية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346704"/>
            <a:ext cx="274320" cy="274320"/>
          </a:xfrm>
          <a:prstGeom prst="circle">
            <a:avLst/>
          </a:prstGeom>
          <a:solidFill>
            <a:srgbClr val="0066CC"/>
          </a:solidFill>
          <a:ln/>
        </p:spPr>
      </p:sp>
      <p:sp>
        <p:nvSpPr>
          <p:cNvPr id="26" name="Shape 24"/>
          <p:cNvSpPr/>
          <p:nvPr/>
        </p:nvSpPr>
        <p:spPr>
          <a:xfrm>
            <a:off x="594360" y="3611880"/>
            <a:ext cx="0" cy="521208"/>
          </a:xfrm>
          <a:prstGeom prst="line">
            <a:avLst/>
          </a:prstGeom>
          <a:noFill/>
          <a:ln w="25400">
            <a:solidFill>
              <a:srgbClr val="0066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320040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3273552"/>
            <a:ext cx="1097280" cy="25603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9728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2020-2030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377440" y="325526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برنامج الطاقة المتجددة الوطني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2377440" y="35204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من الكهرباء من الطاقات المتجددة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078224"/>
            <a:ext cx="274320" cy="274320"/>
          </a:xfrm>
          <a:prstGeom prst="circle">
            <a:avLst/>
          </a:prstGeom>
          <a:solidFill>
            <a:srgbClr val="0066CC"/>
          </a:solidFill>
          <a:ln/>
        </p:spPr>
      </p:sp>
      <p:sp>
        <p:nvSpPr>
          <p:cNvPr id="33" name="Shape 31"/>
          <p:cNvSpPr/>
          <p:nvPr/>
        </p:nvSpPr>
        <p:spPr>
          <a:xfrm>
            <a:off x="914400" y="3931920"/>
            <a:ext cx="7772400" cy="612648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34" name="Shape 32"/>
          <p:cNvSpPr/>
          <p:nvPr/>
        </p:nvSpPr>
        <p:spPr>
          <a:xfrm>
            <a:off x="1097280" y="4005072"/>
            <a:ext cx="1097280" cy="25603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9728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2020-2050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377440" y="398678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التكيف مع التغير المناخي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377440" y="425196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بناء المرونة الزراعية والاقتصادية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فرص الشراكة والتعاون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نقل التكنولوجيا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شراكات في الري الذكي والمراقبة الزراعية والبيانات الزراعية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3776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الطاقة الشمسية الزراعية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محطات الطاقة الشمسية لتحلية المياه والري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المياه المتقدمة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788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مشاريع حصاد المياه وإعادة استخدام المياه المعالجة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البحث والتطوير الزراعي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2788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أصناف نباتية جديدة مقاومة للجفاف والملوحة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65760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التدريب والقدرات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114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برامج تدريب المزارعين على الممارسات الزراعية الحديثة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657600"/>
            <a:ext cx="4206240" cy="1234440"/>
          </a:xfrm>
          <a:prstGeom prst="rect">
            <a:avLst/>
          </a:prstGeom>
          <a:solidFill>
            <a:srgbClr val="4DB8E8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سلاسل القيمة والتصدير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4114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تصنيع وتصدير المنتجات الزراعية عالية الجودة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حجم الاستثمارات والعوائد المتوقعة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115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200-250 مليون ريال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0789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الاستثمار السنوي المطلوب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13258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لتحديث البنية التحتية الزراعية والري (50-65 مليون دولار)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1828800" cy="4572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18013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5-8 سنوات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17647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الفترة الزمنية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0116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للوصول إلى الاستدامة المائية والاقتصادية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8595360" cy="640080"/>
          </a:xfrm>
          <a:prstGeom prst="rect">
            <a:avLst/>
          </a:prstGeom>
          <a:solidFill>
            <a:srgbClr val="4DB8E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2-3x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24505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العائد على الاستثمار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2697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خلال 10-12 سنة من البداية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1828800" cy="4572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172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15,000-20,000 فرصة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313639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خلق فرص العمل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3832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في الزراعة والصناعات الغذائية والتصدير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886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الخلاصة والتوصيات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88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700"/>
                </a:solidFill>
              </a:rPr>
              <a:t>✓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الاستثمار المكثف في تطوير الري الحديث والموفر للمياه بأولوية عالية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700"/>
                </a:solidFill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توسيع استخدام الطاقة الشمسية لضخ المياه وتحليتها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700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وإعادة تأهيل نظام الفلج التقليدي الفريد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700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الاستثمار في البحث عن أصناف محاصيل محسّنة ومقاومة للجفاف والملوحة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651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700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دعم صناعة تحويل وتصدير المنتجات الزراعية (التمر، الحمضيات)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0175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700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تعزيز الشراكات الدولية لنقل التكنولوجيا والخبرات الزراعية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2026-09-14T06:51:35Z</dcterms:created>
  <dcterms:modified xsi:type="dcterms:W3CDTF">2026-09-14T06:51:35Z</dcterms:modified>
</cp:coreProperties>
</file>